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6" r:id="rId2"/>
    <p:sldId id="257" r:id="rId3"/>
    <p:sldId id="283" r:id="rId4"/>
    <p:sldId id="258" r:id="rId5"/>
    <p:sldId id="259" r:id="rId6"/>
    <p:sldId id="260" r:id="rId7"/>
    <p:sldId id="261" r:id="rId8"/>
    <p:sldId id="262" r:id="rId9"/>
    <p:sldId id="266" r:id="rId10"/>
    <p:sldId id="263" r:id="rId11"/>
    <p:sldId id="268" r:id="rId12"/>
    <p:sldId id="264" r:id="rId13"/>
    <p:sldId id="302" r:id="rId14"/>
    <p:sldId id="269" r:id="rId15"/>
    <p:sldId id="286" r:id="rId16"/>
    <p:sldId id="270" r:id="rId17"/>
    <p:sldId id="271" r:id="rId18"/>
    <p:sldId id="272" r:id="rId19"/>
    <p:sldId id="300" r:id="rId20"/>
    <p:sldId id="273" r:id="rId21"/>
    <p:sldId id="274" r:id="rId22"/>
    <p:sldId id="289" r:id="rId23"/>
    <p:sldId id="275" r:id="rId24"/>
    <p:sldId id="276" r:id="rId25"/>
    <p:sldId id="295" r:id="rId26"/>
    <p:sldId id="277" r:id="rId27"/>
    <p:sldId id="278" r:id="rId28"/>
    <p:sldId id="279" r:id="rId29"/>
    <p:sldId id="290" r:id="rId30"/>
    <p:sldId id="280" r:id="rId31"/>
    <p:sldId id="292" r:id="rId32"/>
    <p:sldId id="296" r:id="rId33"/>
    <p:sldId id="297" r:id="rId34"/>
    <p:sldId id="298" r:id="rId35"/>
    <p:sldId id="299" r:id="rId36"/>
    <p:sldId id="301" r:id="rId37"/>
    <p:sldId id="281" r:id="rId38"/>
    <p:sldId id="282" r:id="rId3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CC3527-0CDC-684D-8BBD-823253AFB481}" v="68" dt="2021-09-23T18:01:04.76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98"/>
    <p:restoredTop sz="77997"/>
  </p:normalViewPr>
  <p:slideViewPr>
    <p:cSldViewPr>
      <p:cViewPr varScale="1">
        <p:scale>
          <a:sx n="95" d="100"/>
          <a:sy n="95" d="100"/>
        </p:scale>
        <p:origin x="2416" y="168"/>
      </p:cViewPr>
      <p:guideLst>
        <p:guide orient="horz" pos="2880"/>
        <p:guide pos="216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Sining" userId="704a977d29132bd8" providerId="LiveId" clId="{C5CC3527-0CDC-684D-8BBD-823253AFB481}"/>
    <pc:docChg chg="undo custSel addSld delSld modSld sldOrd modMainMaster">
      <pc:chgData name="Wang Sining" userId="704a977d29132bd8" providerId="LiveId" clId="{C5CC3527-0CDC-684D-8BBD-823253AFB481}" dt="2021-09-23T18:01:37.209" v="1207" actId="478"/>
      <pc:docMkLst>
        <pc:docMk/>
      </pc:docMkLst>
      <pc:sldChg chg="addSp delSp modSp mod">
        <pc:chgData name="Wang Sining" userId="704a977d29132bd8" providerId="LiveId" clId="{C5CC3527-0CDC-684D-8BBD-823253AFB481}" dt="2021-09-23T15:02:03.363" v="256" actId="20577"/>
        <pc:sldMkLst>
          <pc:docMk/>
          <pc:sldMk cId="0" sldId="256"/>
        </pc:sldMkLst>
        <pc:spChg chg="mod">
          <ac:chgData name="Wang Sining" userId="704a977d29132bd8" providerId="LiveId" clId="{C5CC3527-0CDC-684D-8BBD-823253AFB481}" dt="2021-09-21T20:12:26.839" v="61" actId="2085"/>
          <ac:spMkLst>
            <pc:docMk/>
            <pc:sldMk cId="0" sldId="256"/>
            <ac:spMk id="4" creationId="{00000000-0000-0000-0000-000000000000}"/>
          </ac:spMkLst>
        </pc:spChg>
        <pc:spChg chg="add del mod">
          <ac:chgData name="Wang Sining" userId="704a977d29132bd8" providerId="LiveId" clId="{C5CC3527-0CDC-684D-8BBD-823253AFB481}" dt="2021-09-21T20:13:51.159" v="86" actId="478"/>
          <ac:spMkLst>
            <pc:docMk/>
            <pc:sldMk cId="0" sldId="256"/>
            <ac:spMk id="5" creationId="{00000000-0000-0000-0000-000000000000}"/>
          </ac:spMkLst>
        </pc:spChg>
        <pc:spChg chg="mod">
          <ac:chgData name="Wang Sining" userId="704a977d29132bd8" providerId="LiveId" clId="{C5CC3527-0CDC-684D-8BBD-823253AFB481}" dt="2021-09-21T20:12:26.839" v="61" actId="2085"/>
          <ac:spMkLst>
            <pc:docMk/>
            <pc:sldMk cId="0" sldId="256"/>
            <ac:spMk id="6" creationId="{00000000-0000-0000-0000-000000000000}"/>
          </ac:spMkLst>
        </pc:spChg>
        <pc:spChg chg="mod">
          <ac:chgData name="Wang Sining" userId="704a977d29132bd8" providerId="LiveId" clId="{C5CC3527-0CDC-684D-8BBD-823253AFB481}" dt="2021-09-21T20:13:02.824" v="77" actId="1076"/>
          <ac:spMkLst>
            <pc:docMk/>
            <pc:sldMk cId="0" sldId="256"/>
            <ac:spMk id="7" creationId="{00000000-0000-0000-0000-000000000000}"/>
          </ac:spMkLst>
        </pc:spChg>
        <pc:spChg chg="mod">
          <ac:chgData name="Wang Sining" userId="704a977d29132bd8" providerId="LiveId" clId="{C5CC3527-0CDC-684D-8BBD-823253AFB481}" dt="2021-09-23T15:02:03.363" v="256" actId="20577"/>
          <ac:spMkLst>
            <pc:docMk/>
            <pc:sldMk cId="0" sldId="256"/>
            <ac:spMk id="13" creationId="{00000000-0000-0000-0000-000000000000}"/>
          </ac:spMkLst>
        </pc:spChg>
        <pc:spChg chg="add del mod">
          <ac:chgData name="Wang Sining" userId="704a977d29132bd8" providerId="LiveId" clId="{C5CC3527-0CDC-684D-8BBD-823253AFB481}" dt="2021-09-21T20:13:02.341" v="76" actId="767"/>
          <ac:spMkLst>
            <pc:docMk/>
            <pc:sldMk cId="0" sldId="256"/>
            <ac:spMk id="14" creationId="{92F83D84-68F0-F241-85EE-E30032D1E100}"/>
          </ac:spMkLst>
        </pc:spChg>
        <pc:spChg chg="mod">
          <ac:chgData name="Wang Sining" userId="704a977d29132bd8" providerId="LiveId" clId="{C5CC3527-0CDC-684D-8BBD-823253AFB481}" dt="2021-09-21T20:14:38.973" v="94"/>
          <ac:spMkLst>
            <pc:docMk/>
            <pc:sldMk cId="0" sldId="256"/>
            <ac:spMk id="17" creationId="{543BD594-7FCB-C24B-9CF8-6116F04AF190}"/>
          </ac:spMkLst>
        </pc:spChg>
        <pc:spChg chg="mod">
          <ac:chgData name="Wang Sining" userId="704a977d29132bd8" providerId="LiveId" clId="{C5CC3527-0CDC-684D-8BBD-823253AFB481}" dt="2021-09-21T20:14:38.973" v="94"/>
          <ac:spMkLst>
            <pc:docMk/>
            <pc:sldMk cId="0" sldId="256"/>
            <ac:spMk id="18" creationId="{B448093A-2401-B241-9DE1-F4FBB5CDC2F1}"/>
          </ac:spMkLst>
        </pc:spChg>
        <pc:spChg chg="mod">
          <ac:chgData name="Wang Sining" userId="704a977d29132bd8" providerId="LiveId" clId="{C5CC3527-0CDC-684D-8BBD-823253AFB481}" dt="2021-09-21T20:14:38.973" v="94"/>
          <ac:spMkLst>
            <pc:docMk/>
            <pc:sldMk cId="0" sldId="256"/>
            <ac:spMk id="19" creationId="{886E77D7-B14D-6F45-AA1A-F3F01CE43A8C}"/>
          </ac:spMkLst>
        </pc:spChg>
        <pc:grpChg chg="del mod">
          <ac:chgData name="Wang Sining" userId="704a977d29132bd8" providerId="LiveId" clId="{C5CC3527-0CDC-684D-8BBD-823253AFB481}" dt="2021-09-21T20:14:10.322" v="93" actId="478"/>
          <ac:grpSpMkLst>
            <pc:docMk/>
            <pc:sldMk cId="0" sldId="256"/>
            <ac:grpSpMk id="2" creationId="{00000000-0000-0000-0000-000000000000}"/>
          </ac:grpSpMkLst>
        </pc:grpChg>
        <pc:grpChg chg="add mod">
          <ac:chgData name="Wang Sining" userId="704a977d29132bd8" providerId="LiveId" clId="{C5CC3527-0CDC-684D-8BBD-823253AFB481}" dt="2021-09-21T20:14:43.238" v="95" actId="167"/>
          <ac:grpSpMkLst>
            <pc:docMk/>
            <pc:sldMk cId="0" sldId="256"/>
            <ac:grpSpMk id="15" creationId="{CBE39791-72C4-8E45-BA06-CFFA17754E04}"/>
          </ac:grpSpMkLst>
        </pc:grpChg>
        <pc:picChg chg="mod">
          <ac:chgData name="Wang Sining" userId="704a977d29132bd8" providerId="LiveId" clId="{C5CC3527-0CDC-684D-8BBD-823253AFB481}" dt="2021-09-21T20:13:53.147" v="89" actId="1076"/>
          <ac:picMkLst>
            <pc:docMk/>
            <pc:sldMk cId="0" sldId="256"/>
            <ac:picMk id="3" creationId="{00000000-0000-0000-0000-000000000000}"/>
          </ac:picMkLst>
        </pc:picChg>
        <pc:picChg chg="mod">
          <ac:chgData name="Wang Sining" userId="704a977d29132bd8" providerId="LiveId" clId="{C5CC3527-0CDC-684D-8BBD-823253AFB481}" dt="2021-09-21T20:14:38.973" v="94"/>
          <ac:picMkLst>
            <pc:docMk/>
            <pc:sldMk cId="0" sldId="256"/>
            <ac:picMk id="16" creationId="{B9C7916F-ED2A-F249-BAD1-81ED7462F33C}"/>
          </ac:picMkLst>
        </pc:picChg>
      </pc:sldChg>
      <pc:sldChg chg="modSp mod">
        <pc:chgData name="Wang Sining" userId="704a977d29132bd8" providerId="LiveId" clId="{C5CC3527-0CDC-684D-8BBD-823253AFB481}" dt="2021-09-21T20:35:50.559" v="153" actId="20577"/>
        <pc:sldMkLst>
          <pc:docMk/>
          <pc:sldMk cId="0" sldId="257"/>
        </pc:sldMkLst>
        <pc:spChg chg="mod">
          <ac:chgData name="Wang Sining" userId="704a977d29132bd8" providerId="LiveId" clId="{C5CC3527-0CDC-684D-8BBD-823253AFB481}" dt="2021-09-21T20:35:50.559" v="153" actId="20577"/>
          <ac:spMkLst>
            <pc:docMk/>
            <pc:sldMk cId="0" sldId="257"/>
            <ac:spMk id="2" creationId="{00000000-0000-0000-0000-000000000000}"/>
          </ac:spMkLst>
        </pc:spChg>
      </pc:sldChg>
      <pc:sldChg chg="modSp mod">
        <pc:chgData name="Wang Sining" userId="704a977d29132bd8" providerId="LiveId" clId="{C5CC3527-0CDC-684D-8BBD-823253AFB481}" dt="2021-09-23T15:07:23.457" v="266" actId="948"/>
        <pc:sldMkLst>
          <pc:docMk/>
          <pc:sldMk cId="0" sldId="258"/>
        </pc:sldMkLst>
        <pc:spChg chg="mod">
          <ac:chgData name="Wang Sining" userId="704a977d29132bd8" providerId="LiveId" clId="{C5CC3527-0CDC-684D-8BBD-823253AFB481}" dt="2021-09-23T15:07:23.457" v="266" actId="948"/>
          <ac:spMkLst>
            <pc:docMk/>
            <pc:sldMk cId="0" sldId="258"/>
            <ac:spMk id="2" creationId="{00000000-0000-0000-0000-000000000000}"/>
          </ac:spMkLst>
        </pc:spChg>
      </pc:sldChg>
      <pc:sldChg chg="modSp del mod ord">
        <pc:chgData name="Wang Sining" userId="704a977d29132bd8" providerId="LiveId" clId="{C5CC3527-0CDC-684D-8BBD-823253AFB481}" dt="2021-09-23T15:29:27.463" v="287" actId="2696"/>
        <pc:sldMkLst>
          <pc:docMk/>
          <pc:sldMk cId="0" sldId="265"/>
        </pc:sldMkLst>
        <pc:spChg chg="mod">
          <ac:chgData name="Wang Sining" userId="704a977d29132bd8" providerId="LiveId" clId="{C5CC3527-0CDC-684D-8BBD-823253AFB481}" dt="2021-09-23T14:49:19.898" v="252" actId="20577"/>
          <ac:spMkLst>
            <pc:docMk/>
            <pc:sldMk cId="0" sldId="265"/>
            <ac:spMk id="3" creationId="{00000000-0000-0000-0000-000000000000}"/>
          </ac:spMkLst>
        </pc:spChg>
      </pc:sldChg>
      <pc:sldChg chg="modSp mod ord">
        <pc:chgData name="Wang Sining" userId="704a977d29132bd8" providerId="LiveId" clId="{C5CC3527-0CDC-684D-8BBD-823253AFB481}" dt="2021-09-23T15:37:08.954" v="353" actId="207"/>
        <pc:sldMkLst>
          <pc:docMk/>
          <pc:sldMk cId="0" sldId="266"/>
        </pc:sldMkLst>
        <pc:spChg chg="mod">
          <ac:chgData name="Wang Sining" userId="704a977d29132bd8" providerId="LiveId" clId="{C5CC3527-0CDC-684D-8BBD-823253AFB481}" dt="2021-09-23T15:37:08.954" v="353" actId="207"/>
          <ac:spMkLst>
            <pc:docMk/>
            <pc:sldMk cId="0" sldId="266"/>
            <ac:spMk id="2" creationId="{00000000-0000-0000-0000-000000000000}"/>
          </ac:spMkLst>
        </pc:spChg>
        <pc:spChg chg="mod">
          <ac:chgData name="Wang Sining" userId="704a977d29132bd8" providerId="LiveId" clId="{C5CC3527-0CDC-684D-8BBD-823253AFB481}" dt="2021-09-23T14:49:34.179" v="255" actId="20577"/>
          <ac:spMkLst>
            <pc:docMk/>
            <pc:sldMk cId="0" sldId="266"/>
            <ac:spMk id="3" creationId="{00000000-0000-0000-0000-000000000000}"/>
          </ac:spMkLst>
        </pc:spChg>
      </pc:sldChg>
      <pc:sldChg chg="modSp del mod ord">
        <pc:chgData name="Wang Sining" userId="704a977d29132bd8" providerId="LiveId" clId="{C5CC3527-0CDC-684D-8BBD-823253AFB481}" dt="2021-09-23T15:31:20.983" v="337" actId="2696"/>
        <pc:sldMkLst>
          <pc:docMk/>
          <pc:sldMk cId="0" sldId="267"/>
        </pc:sldMkLst>
        <pc:spChg chg="mod">
          <ac:chgData name="Wang Sining" userId="704a977d29132bd8" providerId="LiveId" clId="{C5CC3527-0CDC-684D-8BBD-823253AFB481}" dt="2021-09-23T15:31:07.144" v="328" actId="1076"/>
          <ac:spMkLst>
            <pc:docMk/>
            <pc:sldMk cId="0" sldId="267"/>
            <ac:spMk id="2" creationId="{00000000-0000-0000-0000-000000000000}"/>
          </ac:spMkLst>
        </pc:spChg>
        <pc:spChg chg="mod">
          <ac:chgData name="Wang Sining" userId="704a977d29132bd8" providerId="LiveId" clId="{C5CC3527-0CDC-684D-8BBD-823253AFB481}" dt="2021-09-23T14:49:24.132" v="253" actId="20577"/>
          <ac:spMkLst>
            <pc:docMk/>
            <pc:sldMk cId="0" sldId="267"/>
            <ac:spMk id="3" creationId="{00000000-0000-0000-0000-000000000000}"/>
          </ac:spMkLst>
        </pc:spChg>
      </pc:sldChg>
      <pc:sldChg chg="modSp mod ord">
        <pc:chgData name="Wang Sining" userId="704a977d29132bd8" providerId="LiveId" clId="{C5CC3527-0CDC-684D-8BBD-823253AFB481}" dt="2021-09-23T15:38:28.883" v="370" actId="20578"/>
        <pc:sldMkLst>
          <pc:docMk/>
          <pc:sldMk cId="0" sldId="268"/>
        </pc:sldMkLst>
        <pc:spChg chg="mod">
          <ac:chgData name="Wang Sining" userId="704a977d29132bd8" providerId="LiveId" clId="{C5CC3527-0CDC-684D-8BBD-823253AFB481}" dt="2021-09-23T15:37:01.087" v="352" actId="207"/>
          <ac:spMkLst>
            <pc:docMk/>
            <pc:sldMk cId="0" sldId="268"/>
            <ac:spMk id="2" creationId="{00000000-0000-0000-0000-000000000000}"/>
          </ac:spMkLst>
        </pc:spChg>
        <pc:spChg chg="mod">
          <ac:chgData name="Wang Sining" userId="704a977d29132bd8" providerId="LiveId" clId="{C5CC3527-0CDC-684D-8BBD-823253AFB481}" dt="2021-09-23T14:49:28.966" v="254" actId="20577"/>
          <ac:spMkLst>
            <pc:docMk/>
            <pc:sldMk cId="0" sldId="268"/>
            <ac:spMk id="3" creationId="{00000000-0000-0000-0000-000000000000}"/>
          </ac:spMkLst>
        </pc:spChg>
      </pc:sldChg>
      <pc:sldChg chg="delSp modSp mod">
        <pc:chgData name="Wang Sining" userId="704a977d29132bd8" providerId="LiveId" clId="{C5CC3527-0CDC-684D-8BBD-823253AFB481}" dt="2021-09-23T15:44:04.280" v="389" actId="478"/>
        <pc:sldMkLst>
          <pc:docMk/>
          <pc:sldMk cId="0" sldId="269"/>
        </pc:sldMkLst>
        <pc:spChg chg="del mod">
          <ac:chgData name="Wang Sining" userId="704a977d29132bd8" providerId="LiveId" clId="{C5CC3527-0CDC-684D-8BBD-823253AFB481}" dt="2021-09-23T15:44:04.280" v="389" actId="478"/>
          <ac:spMkLst>
            <pc:docMk/>
            <pc:sldMk cId="0" sldId="269"/>
            <ac:spMk id="2" creationId="{00000000-0000-0000-0000-000000000000}"/>
          </ac:spMkLst>
        </pc:spChg>
      </pc:sldChg>
      <pc:sldChg chg="modSp mod">
        <pc:chgData name="Wang Sining" userId="704a977d29132bd8" providerId="LiveId" clId="{C5CC3527-0CDC-684D-8BBD-823253AFB481}" dt="2021-09-23T17:18:48.280" v="423" actId="255"/>
        <pc:sldMkLst>
          <pc:docMk/>
          <pc:sldMk cId="0" sldId="275"/>
        </pc:sldMkLst>
        <pc:spChg chg="mod">
          <ac:chgData name="Wang Sining" userId="704a977d29132bd8" providerId="LiveId" clId="{C5CC3527-0CDC-684D-8BBD-823253AFB481}" dt="2021-09-23T17:18:48.280" v="423" actId="255"/>
          <ac:spMkLst>
            <pc:docMk/>
            <pc:sldMk cId="0" sldId="275"/>
            <ac:spMk id="2" creationId="{00000000-0000-0000-0000-000000000000}"/>
          </ac:spMkLst>
        </pc:spChg>
      </pc:sldChg>
      <pc:sldChg chg="ord">
        <pc:chgData name="Wang Sining" userId="704a977d29132bd8" providerId="LiveId" clId="{C5CC3527-0CDC-684D-8BBD-823253AFB481}" dt="2021-09-23T18:01:16.817" v="1176" actId="20578"/>
        <pc:sldMkLst>
          <pc:docMk/>
          <pc:sldMk cId="0" sldId="279"/>
        </pc:sldMkLst>
      </pc:sldChg>
      <pc:sldChg chg="modSp mod">
        <pc:chgData name="Wang Sining" userId="704a977d29132bd8" providerId="LiveId" clId="{C5CC3527-0CDC-684D-8BBD-823253AFB481}" dt="2021-09-23T15:07:51.235" v="268" actId="20577"/>
        <pc:sldMkLst>
          <pc:docMk/>
          <pc:sldMk cId="0" sldId="280"/>
        </pc:sldMkLst>
        <pc:spChg chg="mod">
          <ac:chgData name="Wang Sining" userId="704a977d29132bd8" providerId="LiveId" clId="{C5CC3527-0CDC-684D-8BBD-823253AFB481}" dt="2021-09-23T15:07:51.235" v="268" actId="20577"/>
          <ac:spMkLst>
            <pc:docMk/>
            <pc:sldMk cId="0" sldId="280"/>
            <ac:spMk id="3" creationId="{00000000-0000-0000-0000-000000000000}"/>
          </ac:spMkLst>
        </pc:spChg>
      </pc:sldChg>
      <pc:sldChg chg="modSp new mod">
        <pc:chgData name="Wang Sining" userId="704a977d29132bd8" providerId="LiveId" clId="{C5CC3527-0CDC-684D-8BBD-823253AFB481}" dt="2021-09-23T15:06:32.698" v="260" actId="207"/>
        <pc:sldMkLst>
          <pc:docMk/>
          <pc:sldMk cId="3979969572" sldId="283"/>
        </pc:sldMkLst>
        <pc:spChg chg="mod">
          <ac:chgData name="Wang Sining" userId="704a977d29132bd8" providerId="LiveId" clId="{C5CC3527-0CDC-684D-8BBD-823253AFB481}" dt="2021-09-23T14:45:04.276" v="194" actId="255"/>
          <ac:spMkLst>
            <pc:docMk/>
            <pc:sldMk cId="3979969572" sldId="283"/>
            <ac:spMk id="2" creationId="{31EB4B92-7559-D24D-9D4D-05FDACB5DDCC}"/>
          </ac:spMkLst>
        </pc:spChg>
        <pc:spChg chg="mod">
          <ac:chgData name="Wang Sining" userId="704a977d29132bd8" providerId="LiveId" clId="{C5CC3527-0CDC-684D-8BBD-823253AFB481}" dt="2021-09-23T15:06:32.698" v="260" actId="207"/>
          <ac:spMkLst>
            <pc:docMk/>
            <pc:sldMk cId="3979969572" sldId="283"/>
            <ac:spMk id="3" creationId="{9AB5E1F9-1A7A-524F-A9B1-BE73983734CD}"/>
          </ac:spMkLst>
        </pc:spChg>
      </pc:sldChg>
      <pc:sldChg chg="addSp modSp add mod ord modNotes">
        <pc:chgData name="Wang Sining" userId="704a977d29132bd8" providerId="LiveId" clId="{C5CC3527-0CDC-684D-8BBD-823253AFB481}" dt="2021-09-23T15:38:00.846" v="369"/>
        <pc:sldMkLst>
          <pc:docMk/>
          <pc:sldMk cId="155093503" sldId="284"/>
        </pc:sldMkLst>
        <pc:picChg chg="add mod">
          <ac:chgData name="Wang Sining" userId="704a977d29132bd8" providerId="LiveId" clId="{C5CC3527-0CDC-684D-8BBD-823253AFB481}" dt="2021-09-23T15:38:00.710" v="367"/>
          <ac:picMkLst>
            <pc:docMk/>
            <pc:sldMk cId="155093503" sldId="284"/>
            <ac:picMk id="5" creationId="{4B8FAF26-6DEB-B04E-9836-2A7DBA6AA865}"/>
          </ac:picMkLst>
        </pc:picChg>
      </pc:sldChg>
      <pc:sldChg chg="addSp modSp add del mod ord modNotes">
        <pc:chgData name="Wang Sining" userId="704a977d29132bd8" providerId="LiveId" clId="{C5CC3527-0CDC-684D-8BBD-823253AFB481}" dt="2021-09-23T15:36:17.445" v="342" actId="2696"/>
        <pc:sldMkLst>
          <pc:docMk/>
          <pc:sldMk cId="2539793185" sldId="284"/>
        </pc:sldMkLst>
        <pc:picChg chg="add mod">
          <ac:chgData name="Wang Sining" userId="704a977d29132bd8" providerId="LiveId" clId="{C5CC3527-0CDC-684D-8BBD-823253AFB481}" dt="2021-09-23T15:29:17.721" v="284"/>
          <ac:picMkLst>
            <pc:docMk/>
            <pc:sldMk cId="2539793185" sldId="284"/>
            <ac:picMk id="5" creationId="{31C95067-4531-3C43-AFBB-972B423CE0CF}"/>
          </ac:picMkLst>
        </pc:picChg>
      </pc:sldChg>
      <pc:sldChg chg="addSp modSp add mod ord modNotes">
        <pc:chgData name="Wang Sining" userId="704a977d29132bd8" providerId="LiveId" clId="{C5CC3527-0CDC-684D-8BBD-823253AFB481}" dt="2021-09-23T15:39:11.507" v="386"/>
        <pc:sldMkLst>
          <pc:docMk/>
          <pc:sldMk cId="3528649690" sldId="285"/>
        </pc:sldMkLst>
        <pc:picChg chg="add mod">
          <ac:chgData name="Wang Sining" userId="704a977d29132bd8" providerId="LiveId" clId="{C5CC3527-0CDC-684D-8BBD-823253AFB481}" dt="2021-09-23T15:39:11.403" v="384"/>
          <ac:picMkLst>
            <pc:docMk/>
            <pc:sldMk cId="3528649690" sldId="285"/>
            <ac:picMk id="5" creationId="{6FF7C174-F3E7-3A46-8EE8-36611D5F8B47}"/>
          </ac:picMkLst>
        </pc:picChg>
      </pc:sldChg>
      <pc:sldChg chg="modSp add mod">
        <pc:chgData name="Wang Sining" userId="704a977d29132bd8" providerId="LiveId" clId="{C5CC3527-0CDC-684D-8BBD-823253AFB481}" dt="2021-09-23T15:47:23.172" v="406" actId="20577"/>
        <pc:sldMkLst>
          <pc:docMk/>
          <pc:sldMk cId="2602984577" sldId="286"/>
        </pc:sldMkLst>
        <pc:spChg chg="mod">
          <ac:chgData name="Wang Sining" userId="704a977d29132bd8" providerId="LiveId" clId="{C5CC3527-0CDC-684D-8BBD-823253AFB481}" dt="2021-09-23T15:47:23.172" v="406" actId="20577"/>
          <ac:spMkLst>
            <pc:docMk/>
            <pc:sldMk cId="2602984577" sldId="286"/>
            <ac:spMk id="2" creationId="{00000000-0000-0000-0000-000000000000}"/>
          </ac:spMkLst>
        </pc:spChg>
      </pc:sldChg>
      <pc:sldChg chg="addSp modSp add mod ord modNotes">
        <pc:chgData name="Wang Sining" userId="704a977d29132bd8" providerId="LiveId" clId="{C5CC3527-0CDC-684D-8BBD-823253AFB481}" dt="2021-09-23T15:46:59.009" v="405"/>
        <pc:sldMkLst>
          <pc:docMk/>
          <pc:sldMk cId="731606825" sldId="287"/>
        </pc:sldMkLst>
        <pc:picChg chg="add mod">
          <ac:chgData name="Wang Sining" userId="704a977d29132bd8" providerId="LiveId" clId="{C5CC3527-0CDC-684D-8BBD-823253AFB481}" dt="2021-09-23T15:46:58.907" v="403"/>
          <ac:picMkLst>
            <pc:docMk/>
            <pc:sldMk cId="731606825" sldId="287"/>
            <ac:picMk id="5" creationId="{69ED2A76-C746-0D48-96F2-5170F77EE22F}"/>
          </ac:picMkLst>
        </pc:picChg>
      </pc:sldChg>
      <pc:sldChg chg="addSp modSp add mod ord modNotes">
        <pc:chgData name="Wang Sining" userId="704a977d29132bd8" providerId="LiveId" clId="{C5CC3527-0CDC-684D-8BBD-823253AFB481}" dt="2021-09-23T15:48:29.857" v="422"/>
        <pc:sldMkLst>
          <pc:docMk/>
          <pc:sldMk cId="1104519295" sldId="288"/>
        </pc:sldMkLst>
        <pc:picChg chg="add mod">
          <ac:chgData name="Wang Sining" userId="704a977d29132bd8" providerId="LiveId" clId="{C5CC3527-0CDC-684D-8BBD-823253AFB481}" dt="2021-09-23T15:48:29.756" v="420"/>
          <ac:picMkLst>
            <pc:docMk/>
            <pc:sldMk cId="1104519295" sldId="288"/>
            <ac:picMk id="5" creationId="{1BECED3A-0AC2-2342-A67D-9A46F11C4CE5}"/>
          </ac:picMkLst>
        </pc:picChg>
      </pc:sldChg>
      <pc:sldChg chg="addSp delSp modSp new mod">
        <pc:chgData name="Wang Sining" userId="704a977d29132bd8" providerId="LiveId" clId="{C5CC3527-0CDC-684D-8BBD-823253AFB481}" dt="2021-09-23T17:38:11.234" v="1169" actId="20577"/>
        <pc:sldMkLst>
          <pc:docMk/>
          <pc:sldMk cId="567921232" sldId="289"/>
        </pc:sldMkLst>
        <pc:spChg chg="mod">
          <ac:chgData name="Wang Sining" userId="704a977d29132bd8" providerId="LiveId" clId="{C5CC3527-0CDC-684D-8BBD-823253AFB481}" dt="2021-09-23T17:30:21.357" v="775" actId="20577"/>
          <ac:spMkLst>
            <pc:docMk/>
            <pc:sldMk cId="567921232" sldId="289"/>
            <ac:spMk id="2" creationId="{932E97C5-CFC7-024C-84CC-208B6682F819}"/>
          </ac:spMkLst>
        </pc:spChg>
        <pc:spChg chg="del">
          <ac:chgData name="Wang Sining" userId="704a977d29132bd8" providerId="LiveId" clId="{C5CC3527-0CDC-684D-8BBD-823253AFB481}" dt="2021-09-23T17:20:56.549" v="494" actId="478"/>
          <ac:spMkLst>
            <pc:docMk/>
            <pc:sldMk cId="567921232" sldId="289"/>
            <ac:spMk id="3" creationId="{1C0FADC6-170E-C04B-B681-61AB20158B35}"/>
          </ac:spMkLst>
        </pc:spChg>
        <pc:spChg chg="add del mod">
          <ac:chgData name="Wang Sining" userId="704a977d29132bd8" providerId="LiveId" clId="{C5CC3527-0CDC-684D-8BBD-823253AFB481}" dt="2021-09-23T17:27:21.575" v="497"/>
          <ac:spMkLst>
            <pc:docMk/>
            <pc:sldMk cId="567921232" sldId="289"/>
            <ac:spMk id="4" creationId="{2914A8D8-BE86-2D48-BA2E-F5411862DC90}"/>
          </ac:spMkLst>
        </pc:spChg>
        <pc:spChg chg="add mod">
          <ac:chgData name="Wang Sining" userId="704a977d29132bd8" providerId="LiveId" clId="{C5CC3527-0CDC-684D-8BBD-823253AFB481}" dt="2021-09-23T17:35:43.003" v="1130" actId="20577"/>
          <ac:spMkLst>
            <pc:docMk/>
            <pc:sldMk cId="567921232" sldId="289"/>
            <ac:spMk id="5" creationId="{B07BC2DD-52C7-7440-99F0-9E1A8EE5769C}"/>
          </ac:spMkLst>
        </pc:spChg>
        <pc:spChg chg="add del mod">
          <ac:chgData name="Wang Sining" userId="704a977d29132bd8" providerId="LiveId" clId="{C5CC3527-0CDC-684D-8BBD-823253AFB481}" dt="2021-09-23T17:28:46.204" v="620" actId="478"/>
          <ac:spMkLst>
            <pc:docMk/>
            <pc:sldMk cId="567921232" sldId="289"/>
            <ac:spMk id="6" creationId="{68E3B605-0C6B-1345-BE93-71C200BE1F95}"/>
          </ac:spMkLst>
        </pc:spChg>
        <pc:spChg chg="add mod">
          <ac:chgData name="Wang Sining" userId="704a977d29132bd8" providerId="LiveId" clId="{C5CC3527-0CDC-684D-8BBD-823253AFB481}" dt="2021-09-23T17:38:11.234" v="1169" actId="20577"/>
          <ac:spMkLst>
            <pc:docMk/>
            <pc:sldMk cId="567921232" sldId="289"/>
            <ac:spMk id="7" creationId="{5AE89B94-D7D4-0A4F-8BD4-527E2CDC4125}"/>
          </ac:spMkLst>
        </pc:spChg>
        <pc:spChg chg="add mod">
          <ac:chgData name="Wang Sining" userId="704a977d29132bd8" providerId="LiveId" clId="{C5CC3527-0CDC-684D-8BBD-823253AFB481}" dt="2021-09-23T17:38:09.297" v="1167" actId="20577"/>
          <ac:spMkLst>
            <pc:docMk/>
            <pc:sldMk cId="567921232" sldId="289"/>
            <ac:spMk id="8" creationId="{1D900B5A-7090-E646-8F2C-C563F719AC0C}"/>
          </ac:spMkLst>
        </pc:spChg>
      </pc:sldChg>
      <pc:sldChg chg="addSp delSp modSp new del mod">
        <pc:chgData name="Wang Sining" userId="704a977d29132bd8" providerId="LiveId" clId="{C5CC3527-0CDC-684D-8BBD-823253AFB481}" dt="2021-09-23T18:01:12.988" v="1174" actId="2696"/>
        <pc:sldMkLst>
          <pc:docMk/>
          <pc:sldMk cId="1841165724" sldId="290"/>
        </pc:sldMkLst>
        <pc:spChg chg="add del mod">
          <ac:chgData name="Wang Sining" userId="704a977d29132bd8" providerId="LiveId" clId="{C5CC3527-0CDC-684D-8BBD-823253AFB481}" dt="2021-09-23T18:01:08.027" v="1173"/>
          <ac:spMkLst>
            <pc:docMk/>
            <pc:sldMk cId="1841165724" sldId="290"/>
            <ac:spMk id="3" creationId="{A73C491A-DE59-0E4A-851C-891E4E332C7D}"/>
          </ac:spMkLst>
        </pc:spChg>
      </pc:sldChg>
      <pc:sldChg chg="delSp modSp new mod">
        <pc:chgData name="Wang Sining" userId="704a977d29132bd8" providerId="LiveId" clId="{C5CC3527-0CDC-684D-8BBD-823253AFB481}" dt="2021-09-23T18:01:37.209" v="1207" actId="478"/>
        <pc:sldMkLst>
          <pc:docMk/>
          <pc:sldMk cId="2348859582" sldId="290"/>
        </pc:sldMkLst>
        <pc:spChg chg="mod">
          <ac:chgData name="Wang Sining" userId="704a977d29132bd8" providerId="LiveId" clId="{C5CC3527-0CDC-684D-8BBD-823253AFB481}" dt="2021-09-23T18:01:24.950" v="1206" actId="20577"/>
          <ac:spMkLst>
            <pc:docMk/>
            <pc:sldMk cId="2348859582" sldId="290"/>
            <ac:spMk id="2" creationId="{07824497-417B-584C-8DF5-7295C00C7A4A}"/>
          </ac:spMkLst>
        </pc:spChg>
        <pc:spChg chg="del">
          <ac:chgData name="Wang Sining" userId="704a977d29132bd8" providerId="LiveId" clId="{C5CC3527-0CDC-684D-8BBD-823253AFB481}" dt="2021-09-23T18:01:37.209" v="1207" actId="478"/>
          <ac:spMkLst>
            <pc:docMk/>
            <pc:sldMk cId="2348859582" sldId="290"/>
            <ac:spMk id="3" creationId="{3B9D703E-0D51-4545-8A6F-818FA9019BB9}"/>
          </ac:spMkLst>
        </pc:spChg>
      </pc:sldChg>
      <pc:sldMasterChg chg="delSp modSp mod modSldLayout">
        <pc:chgData name="Wang Sining" userId="704a977d29132bd8" providerId="LiveId" clId="{C5CC3527-0CDC-684D-8BBD-823253AFB481}" dt="2021-09-21T20:13:56.871" v="91" actId="1076"/>
        <pc:sldMasterMkLst>
          <pc:docMk/>
          <pc:sldMasterMk cId="0" sldId="2147483648"/>
        </pc:sldMasterMkLst>
        <pc:spChg chg="del mod">
          <ac:chgData name="Wang Sining" userId="704a977d29132bd8" providerId="LiveId" clId="{C5CC3527-0CDC-684D-8BBD-823253AFB481}" dt="2021-09-21T20:10:13.525" v="19" actId="478"/>
          <ac:spMkLst>
            <pc:docMk/>
            <pc:sldMasterMk cId="0" sldId="2147483648"/>
            <ac:spMk id="17" creationId="{00000000-0000-0000-0000-000000000000}"/>
          </ac:spMkLst>
        </pc:spChg>
        <pc:picChg chg="mod">
          <ac:chgData name="Wang Sining" userId="704a977d29132bd8" providerId="LiveId" clId="{C5CC3527-0CDC-684D-8BBD-823253AFB481}" dt="2021-09-21T20:13:56.871" v="91" actId="1076"/>
          <ac:picMkLst>
            <pc:docMk/>
            <pc:sldMasterMk cId="0" sldId="2147483648"/>
            <ac:picMk id="16" creationId="{00000000-0000-0000-0000-000000000000}"/>
          </ac:picMkLst>
        </pc:picChg>
        <pc:sldLayoutChg chg="addSp delSp modSp mod">
          <pc:chgData name="Wang Sining" userId="704a977d29132bd8" providerId="LiveId" clId="{C5CC3527-0CDC-684D-8BBD-823253AFB481}" dt="2021-09-21T20:09:48.279" v="14"/>
          <pc:sldLayoutMkLst>
            <pc:docMk/>
            <pc:sldMasterMk cId="0" sldId="2147483648"/>
            <pc:sldLayoutMk cId="0" sldId="2147483662"/>
          </pc:sldLayoutMkLst>
          <pc:spChg chg="add del mod">
            <ac:chgData name="Wang Sining" userId="704a977d29132bd8" providerId="LiveId" clId="{C5CC3527-0CDC-684D-8BBD-823253AFB481}" dt="2021-09-21T20:09:34.015" v="8"/>
            <ac:spMkLst>
              <pc:docMk/>
              <pc:sldMasterMk cId="0" sldId="2147483648"/>
              <pc:sldLayoutMk cId="0" sldId="2147483662"/>
              <ac:spMk id="7" creationId="{FA3D9597-8890-9741-B4DB-613EF43CEA89}"/>
            </ac:spMkLst>
          </pc:spChg>
          <pc:spChg chg="add del mod">
            <ac:chgData name="Wang Sining" userId="704a977d29132bd8" providerId="LiveId" clId="{C5CC3527-0CDC-684D-8BBD-823253AFB481}" dt="2021-09-21T20:09:46.788" v="12"/>
            <ac:spMkLst>
              <pc:docMk/>
              <pc:sldMasterMk cId="0" sldId="2147483648"/>
              <pc:sldLayoutMk cId="0" sldId="2147483662"/>
              <ac:spMk id="8" creationId="{6FD299A7-76DA-C94E-AFF3-AF3F17182F5B}"/>
            </ac:spMkLst>
          </pc:spChg>
          <pc:spChg chg="add del mod">
            <ac:chgData name="Wang Sining" userId="704a977d29132bd8" providerId="LiveId" clId="{C5CC3527-0CDC-684D-8BBD-823253AFB481}" dt="2021-09-21T20:09:48.279" v="14"/>
            <ac:spMkLst>
              <pc:docMk/>
              <pc:sldMasterMk cId="0" sldId="2147483648"/>
              <pc:sldLayoutMk cId="0" sldId="2147483662"/>
              <ac:spMk id="9" creationId="{85B1F2E1-2193-A54D-85A7-015E850579E8}"/>
            </ac:spMkLst>
          </pc:spChg>
        </pc:sldLayoutChg>
        <pc:sldLayoutChg chg="addSp delSp modSp mod">
          <pc:chgData name="Wang Sining" userId="704a977d29132bd8" providerId="LiveId" clId="{C5CC3527-0CDC-684D-8BBD-823253AFB481}" dt="2021-09-21T20:11:45.398" v="54" actId="478"/>
          <pc:sldLayoutMkLst>
            <pc:docMk/>
            <pc:sldMasterMk cId="0" sldId="2147483648"/>
            <pc:sldLayoutMk cId="0" sldId="2147483664"/>
          </pc:sldLayoutMkLst>
          <pc:spChg chg="add del">
            <ac:chgData name="Wang Sining" userId="704a977d29132bd8" providerId="LiveId" clId="{C5CC3527-0CDC-684D-8BBD-823253AFB481}" dt="2021-09-21T20:11:45.398" v="54" actId="478"/>
            <ac:spMkLst>
              <pc:docMk/>
              <pc:sldMasterMk cId="0" sldId="2147483648"/>
              <pc:sldLayoutMk cId="0" sldId="2147483664"/>
              <ac:spMk id="17" creationId="{00000000-0000-0000-0000-000000000000}"/>
            </ac:spMkLst>
          </pc:spChg>
          <pc:picChg chg="mod">
            <ac:chgData name="Wang Sining" userId="704a977d29132bd8" providerId="LiveId" clId="{C5CC3527-0CDC-684D-8BBD-823253AFB481}" dt="2021-09-21T20:10:26.059" v="24" actId="1076"/>
            <ac:picMkLst>
              <pc:docMk/>
              <pc:sldMasterMk cId="0" sldId="2147483648"/>
              <pc:sldLayoutMk cId="0" sldId="2147483664"/>
              <ac:picMk id="16"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2F65E293-FF06-014D-B54D-ED39F09C8F63}" type="datetimeFigureOut">
              <a:rPr lang="en-US" smtClean="0"/>
              <a:t>7/6/26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ADDE9FBA-CA5C-0548-A381-56276BA9F0AE}" type="slidenum">
              <a:rPr lang="en-US" smtClean="0"/>
              <a:t>‹#›</a:t>
            </a:fld>
            <a:endParaRPr lang="en-US"/>
          </a:p>
        </p:txBody>
      </p:sp>
    </p:spTree>
    <p:extLst>
      <p:ext uri="{BB962C8B-B14F-4D97-AF65-F5344CB8AC3E}">
        <p14:creationId xmlns:p14="http://schemas.microsoft.com/office/powerpoint/2010/main" val="1553847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DE9FBA-CA5C-0548-A381-56276BA9F0AE}" type="slidenum">
              <a:rPr lang="en-US" smtClean="0"/>
              <a:t>1</a:t>
            </a:fld>
            <a:endParaRPr lang="en-US"/>
          </a:p>
        </p:txBody>
      </p:sp>
    </p:spTree>
    <p:extLst>
      <p:ext uri="{BB962C8B-B14F-4D97-AF65-F5344CB8AC3E}">
        <p14:creationId xmlns:p14="http://schemas.microsoft.com/office/powerpoint/2010/main" val="296054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2</a:t>
            </a:fld>
            <a:endParaRPr lang="en-US"/>
          </a:p>
        </p:txBody>
      </p:sp>
    </p:spTree>
    <p:extLst>
      <p:ext uri="{BB962C8B-B14F-4D97-AF65-F5344CB8AC3E}">
        <p14:creationId xmlns:p14="http://schemas.microsoft.com/office/powerpoint/2010/main" val="1765869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3</a:t>
            </a:fld>
            <a:endParaRPr lang="en-US"/>
          </a:p>
        </p:txBody>
      </p:sp>
    </p:spTree>
    <p:extLst>
      <p:ext uri="{BB962C8B-B14F-4D97-AF65-F5344CB8AC3E}">
        <p14:creationId xmlns:p14="http://schemas.microsoft.com/office/powerpoint/2010/main" val="33329486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4</a:t>
            </a:fld>
            <a:endParaRPr lang="en-US"/>
          </a:p>
        </p:txBody>
      </p:sp>
    </p:spTree>
    <p:extLst>
      <p:ext uri="{BB962C8B-B14F-4D97-AF65-F5344CB8AC3E}">
        <p14:creationId xmlns:p14="http://schemas.microsoft.com/office/powerpoint/2010/main" val="13286570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5</a:t>
            </a:fld>
            <a:endParaRPr lang="en-US"/>
          </a:p>
        </p:txBody>
      </p:sp>
    </p:spTree>
    <p:extLst>
      <p:ext uri="{BB962C8B-B14F-4D97-AF65-F5344CB8AC3E}">
        <p14:creationId xmlns:p14="http://schemas.microsoft.com/office/powerpoint/2010/main" val="5300360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6</a:t>
            </a:fld>
            <a:endParaRPr lang="en-US"/>
          </a:p>
        </p:txBody>
      </p:sp>
    </p:spTree>
    <p:extLst>
      <p:ext uri="{BB962C8B-B14F-4D97-AF65-F5344CB8AC3E}">
        <p14:creationId xmlns:p14="http://schemas.microsoft.com/office/powerpoint/2010/main" val="26204985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7</a:t>
            </a:fld>
            <a:endParaRPr lang="en-US"/>
          </a:p>
        </p:txBody>
      </p:sp>
    </p:spTree>
    <p:extLst>
      <p:ext uri="{BB962C8B-B14F-4D97-AF65-F5344CB8AC3E}">
        <p14:creationId xmlns:p14="http://schemas.microsoft.com/office/powerpoint/2010/main" val="2374807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8</a:t>
            </a:fld>
            <a:endParaRPr lang="en-US"/>
          </a:p>
        </p:txBody>
      </p:sp>
    </p:spTree>
    <p:extLst>
      <p:ext uri="{BB962C8B-B14F-4D97-AF65-F5344CB8AC3E}">
        <p14:creationId xmlns:p14="http://schemas.microsoft.com/office/powerpoint/2010/main" val="1742452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9</a:t>
            </a:fld>
            <a:endParaRPr lang="en-US"/>
          </a:p>
        </p:txBody>
      </p:sp>
    </p:spTree>
    <p:extLst>
      <p:ext uri="{BB962C8B-B14F-4D97-AF65-F5344CB8AC3E}">
        <p14:creationId xmlns:p14="http://schemas.microsoft.com/office/powerpoint/2010/main" val="2159368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10</a:t>
            </a:fld>
            <a:endParaRPr lang="en-US"/>
          </a:p>
        </p:txBody>
      </p:sp>
    </p:spTree>
    <p:extLst>
      <p:ext uri="{BB962C8B-B14F-4D97-AF65-F5344CB8AC3E}">
        <p14:creationId xmlns:p14="http://schemas.microsoft.com/office/powerpoint/2010/main" val="575914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11</a:t>
            </a:fld>
            <a:endParaRPr lang="en-US"/>
          </a:p>
        </p:txBody>
      </p:sp>
    </p:spTree>
    <p:extLst>
      <p:ext uri="{BB962C8B-B14F-4D97-AF65-F5344CB8AC3E}">
        <p14:creationId xmlns:p14="http://schemas.microsoft.com/office/powerpoint/2010/main" val="2221738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12</a:t>
            </a:fld>
            <a:endParaRPr lang="en-US"/>
          </a:p>
        </p:txBody>
      </p:sp>
    </p:spTree>
    <p:extLst>
      <p:ext uri="{BB962C8B-B14F-4D97-AF65-F5344CB8AC3E}">
        <p14:creationId xmlns:p14="http://schemas.microsoft.com/office/powerpoint/2010/main" val="14624988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66FF2-3A4A-FDDB-6720-FBD4C9B07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C31FEC-0C36-337B-4141-789EB58C71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EFC5B3-98F2-DA7A-EFEC-0815959A17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4C3006-2B73-03CA-FAF6-681A2E3716AC}"/>
              </a:ext>
            </a:extLst>
          </p:cNvPr>
          <p:cNvSpPr>
            <a:spLocks noGrp="1"/>
          </p:cNvSpPr>
          <p:nvPr>
            <p:ph type="sldNum" sz="quarter" idx="5"/>
          </p:nvPr>
        </p:nvSpPr>
        <p:spPr/>
        <p:txBody>
          <a:bodyPr/>
          <a:lstStyle/>
          <a:p>
            <a:fld id="{ADDE9FBA-CA5C-0548-A381-56276BA9F0AE}" type="slidenum">
              <a:rPr lang="en-US" smtClean="0"/>
              <a:t>13</a:t>
            </a:fld>
            <a:endParaRPr lang="en-US"/>
          </a:p>
        </p:txBody>
      </p:sp>
    </p:spTree>
    <p:extLst>
      <p:ext uri="{BB962C8B-B14F-4D97-AF65-F5344CB8AC3E}">
        <p14:creationId xmlns:p14="http://schemas.microsoft.com/office/powerpoint/2010/main" val="6130837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economics, when we refer to </a:t>
            </a:r>
            <a:r>
              <a:rPr lang="en-US" b="1" dirty="0"/>
              <a:t>"the consumer,"</a:t>
            </a:r>
            <a:r>
              <a:rPr lang="en-US" dirty="0"/>
              <a:t> we are not speaking about a specific individual but rather an </a:t>
            </a:r>
            <a:r>
              <a:rPr lang="en-US" b="1" dirty="0"/>
              <a:t>abstract representation</a:t>
            </a:r>
            <a:r>
              <a:rPr lang="en-US" dirty="0"/>
              <a:t> of all consumers in the market. This abstraction allows us to model aggregate behavior rather than tracking every individual's decision.</a:t>
            </a:r>
          </a:p>
          <a:p>
            <a:r>
              <a:rPr lang="en-US" dirty="0"/>
              <a:t>The </a:t>
            </a:r>
            <a:r>
              <a:rPr lang="en-US" b="1" dirty="0"/>
              <a:t>demand curve</a:t>
            </a:r>
            <a:r>
              <a:rPr lang="en-US" dirty="0"/>
              <a:t>, which slopes downward, captures this collective behavior—showing how, in general, as prices decrease, the quantity demanded increases. Each individual might make different choices, but when we aggregate their decisions, we observe systematic patterns. This is why economists often speak about "the consumer" as if it were a single entity, even though it represents the combined actions of many people.</a:t>
            </a:r>
          </a:p>
          <a:p>
            <a:r>
              <a:rPr lang="en-US" dirty="0"/>
              <a:t>This concept ties closely to </a:t>
            </a:r>
            <a:r>
              <a:rPr lang="en-US" b="1" dirty="0"/>
              <a:t>agent-based thinking</a:t>
            </a:r>
            <a:r>
              <a:rPr lang="en-US" dirty="0"/>
              <a:t> in economics. Just as in </a:t>
            </a:r>
            <a:r>
              <a:rPr lang="en-US" b="1" dirty="0"/>
              <a:t>Agent-Based Models (ABM)</a:t>
            </a:r>
            <a:r>
              <a:rPr lang="en-US" dirty="0"/>
              <a:t>, where individual agents follow rules that lead to emergent behaviors at a larger scale, the consumer in traditional economics functions as a theoretical agent whose behavior encapsulates the purchasing patterns of a population. This abstraction simplifies analysis while still reflecting real-world trends.</a:t>
            </a:r>
          </a:p>
          <a:p>
            <a:endParaRPr lang="en-US" dirty="0"/>
          </a:p>
        </p:txBody>
      </p:sp>
      <p:sp>
        <p:nvSpPr>
          <p:cNvPr id="4" name="Slide Number Placeholder 3"/>
          <p:cNvSpPr>
            <a:spLocks noGrp="1"/>
          </p:cNvSpPr>
          <p:nvPr>
            <p:ph type="sldNum" sz="quarter" idx="5"/>
          </p:nvPr>
        </p:nvSpPr>
        <p:spPr/>
        <p:txBody>
          <a:bodyPr/>
          <a:lstStyle/>
          <a:p>
            <a:fld id="{ADDE9FBA-CA5C-0548-A381-56276BA9F0AE}" type="slidenum">
              <a:rPr lang="en-US" smtClean="0"/>
              <a:t>14</a:t>
            </a:fld>
            <a:endParaRPr lang="en-US"/>
          </a:p>
        </p:txBody>
      </p:sp>
    </p:spTree>
    <p:extLst>
      <p:ext uri="{BB962C8B-B14F-4D97-AF65-F5344CB8AC3E}">
        <p14:creationId xmlns:p14="http://schemas.microsoft.com/office/powerpoint/2010/main" val="37208144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15</a:t>
            </a:fld>
            <a:endParaRPr lang="en-US"/>
          </a:p>
        </p:txBody>
      </p:sp>
    </p:spTree>
    <p:extLst>
      <p:ext uri="{BB962C8B-B14F-4D97-AF65-F5344CB8AC3E}">
        <p14:creationId xmlns:p14="http://schemas.microsoft.com/office/powerpoint/2010/main" val="3096850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16</a:t>
            </a:fld>
            <a:endParaRPr lang="en-US"/>
          </a:p>
        </p:txBody>
      </p:sp>
    </p:spTree>
    <p:extLst>
      <p:ext uri="{BB962C8B-B14F-4D97-AF65-F5344CB8AC3E}">
        <p14:creationId xmlns:p14="http://schemas.microsoft.com/office/powerpoint/2010/main" val="1583008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17</a:t>
            </a:fld>
            <a:endParaRPr lang="en-US"/>
          </a:p>
        </p:txBody>
      </p:sp>
    </p:spTree>
    <p:extLst>
      <p:ext uri="{BB962C8B-B14F-4D97-AF65-F5344CB8AC3E}">
        <p14:creationId xmlns:p14="http://schemas.microsoft.com/office/powerpoint/2010/main" val="22777513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18</a:t>
            </a:fld>
            <a:endParaRPr lang="en-US"/>
          </a:p>
        </p:txBody>
      </p:sp>
    </p:spTree>
    <p:extLst>
      <p:ext uri="{BB962C8B-B14F-4D97-AF65-F5344CB8AC3E}">
        <p14:creationId xmlns:p14="http://schemas.microsoft.com/office/powerpoint/2010/main" val="41248502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9DC06-6ECE-F8D4-D24B-BB41882132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2551C4-7C24-315C-4E41-690E8D3D29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195950-F77E-EDBD-56B4-3AB27890C340}"/>
              </a:ext>
            </a:extLst>
          </p:cNvPr>
          <p:cNvSpPr>
            <a:spLocks noGrp="1"/>
          </p:cNvSpPr>
          <p:nvPr>
            <p:ph type="body" idx="1"/>
          </p:nvPr>
        </p:nvSpPr>
        <p:spPr/>
        <p:txBody>
          <a:bodyPr/>
          <a:lstStyle/>
          <a:p>
            <a:r>
              <a:rPr lang="en-US" dirty="0"/>
              <a:t>Insert coding practice: in python, everything is an object</a:t>
            </a:r>
          </a:p>
        </p:txBody>
      </p:sp>
      <p:sp>
        <p:nvSpPr>
          <p:cNvPr id="4" name="Slide Number Placeholder 3">
            <a:extLst>
              <a:ext uri="{FF2B5EF4-FFF2-40B4-BE49-F238E27FC236}">
                <a16:creationId xmlns:a16="http://schemas.microsoft.com/office/drawing/2014/main" id="{25787C07-A261-9664-4F02-86DF4C37E05C}"/>
              </a:ext>
            </a:extLst>
          </p:cNvPr>
          <p:cNvSpPr>
            <a:spLocks noGrp="1"/>
          </p:cNvSpPr>
          <p:nvPr>
            <p:ph type="sldNum" sz="quarter" idx="5"/>
          </p:nvPr>
        </p:nvSpPr>
        <p:spPr/>
        <p:txBody>
          <a:bodyPr/>
          <a:lstStyle/>
          <a:p>
            <a:fld id="{ADDE9FBA-CA5C-0548-A381-56276BA9F0AE}" type="slidenum">
              <a:rPr lang="en-US" smtClean="0"/>
              <a:t>19</a:t>
            </a:fld>
            <a:endParaRPr lang="en-US"/>
          </a:p>
        </p:txBody>
      </p:sp>
    </p:spTree>
    <p:extLst>
      <p:ext uri="{BB962C8B-B14F-4D97-AF65-F5344CB8AC3E}">
        <p14:creationId xmlns:p14="http://schemas.microsoft.com/office/powerpoint/2010/main" val="41334953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20</a:t>
            </a:fld>
            <a:endParaRPr lang="en-US"/>
          </a:p>
        </p:txBody>
      </p:sp>
    </p:spTree>
    <p:extLst>
      <p:ext uri="{BB962C8B-B14F-4D97-AF65-F5344CB8AC3E}">
        <p14:creationId xmlns:p14="http://schemas.microsoft.com/office/powerpoint/2010/main" val="28548284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21</a:t>
            </a:fld>
            <a:endParaRPr lang="en-US"/>
          </a:p>
        </p:txBody>
      </p:sp>
    </p:spTree>
    <p:extLst>
      <p:ext uri="{BB962C8B-B14F-4D97-AF65-F5344CB8AC3E}">
        <p14:creationId xmlns:p14="http://schemas.microsoft.com/office/powerpoint/2010/main" val="8806379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 coding practice section 2. </a:t>
            </a:r>
            <a:r>
              <a:rPr lang="en-US" dirty="0" err="1"/>
              <a:t>attrites</a:t>
            </a:r>
            <a:endParaRPr lang="en-US" dirty="0"/>
          </a:p>
        </p:txBody>
      </p:sp>
      <p:sp>
        <p:nvSpPr>
          <p:cNvPr id="4" name="Slide Number Placeholder 3"/>
          <p:cNvSpPr>
            <a:spLocks noGrp="1"/>
          </p:cNvSpPr>
          <p:nvPr>
            <p:ph type="sldNum" sz="quarter" idx="5"/>
          </p:nvPr>
        </p:nvSpPr>
        <p:spPr/>
        <p:txBody>
          <a:bodyPr/>
          <a:lstStyle/>
          <a:p>
            <a:fld id="{ADDE9FBA-CA5C-0548-A381-56276BA9F0AE}" type="slidenum">
              <a:rPr lang="en-US" smtClean="0"/>
              <a:t>22</a:t>
            </a:fld>
            <a:endParaRPr lang="en-US"/>
          </a:p>
        </p:txBody>
      </p:sp>
    </p:spTree>
    <p:extLst>
      <p:ext uri="{BB962C8B-B14F-4D97-AF65-F5344CB8AC3E}">
        <p14:creationId xmlns:p14="http://schemas.microsoft.com/office/powerpoint/2010/main" val="12735107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Python, self is a </a:t>
            </a:r>
            <a:r>
              <a:rPr lang="en-US" b="1" dirty="0"/>
              <a:t>reference to the current instance of the class</a:t>
            </a:r>
            <a:r>
              <a:rPr lang="en-US" dirty="0"/>
              <a:t>. It allows methods within a class to access and modify attributes specific to that instance. When defining a method, self must be the first parameter, ensuring the method operates on the correct object.</a:t>
            </a:r>
          </a:p>
          <a:p>
            <a:endParaRPr lang="en-US" dirty="0"/>
          </a:p>
          <a:p>
            <a:endParaRPr lang="en-US" dirty="0"/>
          </a:p>
          <a:p>
            <a:r>
              <a:rPr lang="en-US" b="1" dirty="0"/>
              <a:t>Why is self Important?</a:t>
            </a:r>
          </a:p>
          <a:p>
            <a:pPr>
              <a:buFont typeface="+mj-lt"/>
              <a:buAutoNum type="arabicPeriod"/>
            </a:pPr>
            <a:r>
              <a:rPr lang="en-US" b="1" dirty="0"/>
              <a:t>Links Methods to the Object</a:t>
            </a:r>
            <a:r>
              <a:rPr lang="en-US" dirty="0"/>
              <a:t> → Without self, methods wouldn’t know which object's attributes to modify.</a:t>
            </a:r>
          </a:p>
          <a:p>
            <a:pPr>
              <a:buFont typeface="+mj-lt"/>
              <a:buAutoNum type="arabicPeriod"/>
            </a:pPr>
            <a:r>
              <a:rPr lang="en-US" b="1" dirty="0"/>
              <a:t>Ensures Each Object Has Its Own Data</a:t>
            </a:r>
            <a:r>
              <a:rPr lang="en-US" dirty="0"/>
              <a:t> → Multiple instances of a class can have different attribute values.</a:t>
            </a:r>
          </a:p>
          <a:p>
            <a:pPr>
              <a:buFont typeface="+mj-lt"/>
              <a:buAutoNum type="arabicPeriod"/>
            </a:pPr>
            <a:r>
              <a:rPr lang="en-US" b="1" dirty="0"/>
              <a:t>Maintains Object State</a:t>
            </a:r>
            <a:r>
              <a:rPr lang="en-US" dirty="0"/>
              <a:t> → Methods can access and update the attributes of the specific instance they belong to.</a:t>
            </a:r>
          </a:p>
          <a:p>
            <a:endParaRPr lang="en-US" dirty="0"/>
          </a:p>
        </p:txBody>
      </p:sp>
      <p:sp>
        <p:nvSpPr>
          <p:cNvPr id="4" name="Slide Number Placeholder 3"/>
          <p:cNvSpPr>
            <a:spLocks noGrp="1"/>
          </p:cNvSpPr>
          <p:nvPr>
            <p:ph type="sldNum" sz="quarter" idx="5"/>
          </p:nvPr>
        </p:nvSpPr>
        <p:spPr/>
        <p:txBody>
          <a:bodyPr/>
          <a:lstStyle/>
          <a:p>
            <a:fld id="{ADDE9FBA-CA5C-0548-A381-56276BA9F0AE}" type="slidenum">
              <a:rPr lang="en-US" smtClean="0"/>
              <a:t>23</a:t>
            </a:fld>
            <a:endParaRPr lang="en-US"/>
          </a:p>
        </p:txBody>
      </p:sp>
    </p:spTree>
    <p:extLst>
      <p:ext uri="{BB962C8B-B14F-4D97-AF65-F5344CB8AC3E}">
        <p14:creationId xmlns:p14="http://schemas.microsoft.com/office/powerpoint/2010/main" val="48801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24</a:t>
            </a:fld>
            <a:endParaRPr lang="en-US"/>
          </a:p>
        </p:txBody>
      </p:sp>
    </p:spTree>
    <p:extLst>
      <p:ext uri="{BB962C8B-B14F-4D97-AF65-F5344CB8AC3E}">
        <p14:creationId xmlns:p14="http://schemas.microsoft.com/office/powerpoint/2010/main" val="14831613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coding practice section 3. methods</a:t>
            </a:r>
          </a:p>
        </p:txBody>
      </p:sp>
      <p:sp>
        <p:nvSpPr>
          <p:cNvPr id="4" name="Slide Number Placeholder 3"/>
          <p:cNvSpPr>
            <a:spLocks noGrp="1"/>
          </p:cNvSpPr>
          <p:nvPr>
            <p:ph type="sldNum" sz="quarter" idx="5"/>
          </p:nvPr>
        </p:nvSpPr>
        <p:spPr/>
        <p:txBody>
          <a:bodyPr/>
          <a:lstStyle/>
          <a:p>
            <a:fld id="{ADDE9FBA-CA5C-0548-A381-56276BA9F0AE}" type="slidenum">
              <a:rPr lang="en-US" smtClean="0"/>
              <a:t>25</a:t>
            </a:fld>
            <a:endParaRPr lang="en-US"/>
          </a:p>
        </p:txBody>
      </p:sp>
    </p:spTree>
    <p:extLst>
      <p:ext uri="{BB962C8B-B14F-4D97-AF65-F5344CB8AC3E}">
        <p14:creationId xmlns:p14="http://schemas.microsoft.com/office/powerpoint/2010/main" val="3519921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__</a:t>
            </a:r>
            <a:r>
              <a:rPr lang="en-US" dirty="0" err="1"/>
              <a:t>init</a:t>
            </a:r>
            <a:r>
              <a:rPr lang="en-US" dirty="0"/>
              <a:t>__ method is a </a:t>
            </a:r>
            <a:r>
              <a:rPr lang="en-US" b="1" dirty="0"/>
              <a:t>constructor</a:t>
            </a:r>
            <a:r>
              <a:rPr lang="en-US" dirty="0"/>
              <a:t> that </a:t>
            </a:r>
            <a:r>
              <a:rPr lang="en-US" b="1" dirty="0"/>
              <a:t>initializes</a:t>
            </a:r>
            <a:r>
              <a:rPr lang="en-US" dirty="0"/>
              <a:t> an object’s attributes when an instance of the class is created.</a:t>
            </a:r>
          </a:p>
        </p:txBody>
      </p:sp>
      <p:sp>
        <p:nvSpPr>
          <p:cNvPr id="4" name="Slide Number Placeholder 3"/>
          <p:cNvSpPr>
            <a:spLocks noGrp="1"/>
          </p:cNvSpPr>
          <p:nvPr>
            <p:ph type="sldNum" sz="quarter" idx="5"/>
          </p:nvPr>
        </p:nvSpPr>
        <p:spPr/>
        <p:txBody>
          <a:bodyPr/>
          <a:lstStyle/>
          <a:p>
            <a:fld id="{ADDE9FBA-CA5C-0548-A381-56276BA9F0AE}" type="slidenum">
              <a:rPr lang="en-US" smtClean="0"/>
              <a:t>26</a:t>
            </a:fld>
            <a:endParaRPr lang="en-US"/>
          </a:p>
        </p:txBody>
      </p:sp>
    </p:spTree>
    <p:extLst>
      <p:ext uri="{BB962C8B-B14F-4D97-AF65-F5344CB8AC3E}">
        <p14:creationId xmlns:p14="http://schemas.microsoft.com/office/powerpoint/2010/main" val="39347795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27</a:t>
            </a:fld>
            <a:endParaRPr lang="en-US"/>
          </a:p>
        </p:txBody>
      </p:sp>
    </p:spTree>
    <p:extLst>
      <p:ext uri="{BB962C8B-B14F-4D97-AF65-F5344CB8AC3E}">
        <p14:creationId xmlns:p14="http://schemas.microsoft.com/office/powerpoint/2010/main" val="40999357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28</a:t>
            </a:fld>
            <a:endParaRPr lang="en-US"/>
          </a:p>
        </p:txBody>
      </p:sp>
    </p:spTree>
    <p:extLst>
      <p:ext uri="{BB962C8B-B14F-4D97-AF65-F5344CB8AC3E}">
        <p14:creationId xmlns:p14="http://schemas.microsoft.com/office/powerpoint/2010/main" val="28631842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coding practice section 4. Inheritance</a:t>
            </a:r>
          </a:p>
        </p:txBody>
      </p:sp>
      <p:sp>
        <p:nvSpPr>
          <p:cNvPr id="4" name="Slide Number Placeholder 3"/>
          <p:cNvSpPr>
            <a:spLocks noGrp="1"/>
          </p:cNvSpPr>
          <p:nvPr>
            <p:ph type="sldNum" sz="quarter" idx="5"/>
          </p:nvPr>
        </p:nvSpPr>
        <p:spPr/>
        <p:txBody>
          <a:bodyPr/>
          <a:lstStyle/>
          <a:p>
            <a:fld id="{ADDE9FBA-CA5C-0548-A381-56276BA9F0AE}" type="slidenum">
              <a:rPr lang="en-US" smtClean="0"/>
              <a:t>29</a:t>
            </a:fld>
            <a:endParaRPr lang="en-US"/>
          </a:p>
        </p:txBody>
      </p:sp>
    </p:spTree>
    <p:extLst>
      <p:ext uri="{BB962C8B-B14F-4D97-AF65-F5344CB8AC3E}">
        <p14:creationId xmlns:p14="http://schemas.microsoft.com/office/powerpoint/2010/main" val="13604356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DE9FBA-CA5C-0548-A381-56276BA9F0AE}" type="slidenum">
              <a:rPr lang="en-US" smtClean="0"/>
              <a:t>30</a:t>
            </a:fld>
            <a:endParaRPr lang="en-US"/>
          </a:p>
        </p:txBody>
      </p:sp>
    </p:spTree>
    <p:extLst>
      <p:ext uri="{BB962C8B-B14F-4D97-AF65-F5344CB8AC3E}">
        <p14:creationId xmlns:p14="http://schemas.microsoft.com/office/powerpoint/2010/main" val="10039514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DE9FBA-CA5C-0548-A381-56276BA9F0AE}" type="slidenum">
              <a:rPr lang="en-US" smtClean="0"/>
              <a:t>31</a:t>
            </a:fld>
            <a:endParaRPr lang="en-US"/>
          </a:p>
        </p:txBody>
      </p:sp>
    </p:spTree>
    <p:extLst>
      <p:ext uri="{BB962C8B-B14F-4D97-AF65-F5344CB8AC3E}">
        <p14:creationId xmlns:p14="http://schemas.microsoft.com/office/powerpoint/2010/main" val="17644605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7F070-6623-055E-B07F-1D0A3D2EE5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370E8-43FD-AB78-5CFA-C128287C9D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CAAE11-DBEE-907A-AB49-D2DF3EC2295E}"/>
              </a:ext>
            </a:extLst>
          </p:cNvPr>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It restricts direct access to some details of an object and only exposes necessary functionalities. This principle improves data security and prevents unintended modifications.</a:t>
            </a:r>
            <a:endParaRPr lang="en-US" dirty="0"/>
          </a:p>
        </p:txBody>
      </p:sp>
      <p:sp>
        <p:nvSpPr>
          <p:cNvPr id="4" name="Slide Number Placeholder 3">
            <a:extLst>
              <a:ext uri="{FF2B5EF4-FFF2-40B4-BE49-F238E27FC236}">
                <a16:creationId xmlns:a16="http://schemas.microsoft.com/office/drawing/2014/main" id="{FF7E5360-C873-02FF-AE57-048FB774858E}"/>
              </a:ext>
            </a:extLst>
          </p:cNvPr>
          <p:cNvSpPr>
            <a:spLocks noGrp="1"/>
          </p:cNvSpPr>
          <p:nvPr>
            <p:ph type="sldNum" sz="quarter" idx="5"/>
          </p:nvPr>
        </p:nvSpPr>
        <p:spPr/>
        <p:txBody>
          <a:bodyPr/>
          <a:lstStyle/>
          <a:p>
            <a:fld id="{ADDE9FBA-CA5C-0548-A381-56276BA9F0AE}" type="slidenum">
              <a:rPr lang="en-US" smtClean="0"/>
              <a:t>32</a:t>
            </a:fld>
            <a:endParaRPr lang="en-US"/>
          </a:p>
        </p:txBody>
      </p:sp>
    </p:spTree>
    <p:extLst>
      <p:ext uri="{BB962C8B-B14F-4D97-AF65-F5344CB8AC3E}">
        <p14:creationId xmlns:p14="http://schemas.microsoft.com/office/powerpoint/2010/main" val="3577895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26AF5-0237-2165-E80E-4161659DA3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C7BB9-5629-63FA-6891-1A05A7EACE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AFB3-2930-1FA1-BDB2-4C9B515E65F9}"/>
              </a:ext>
            </a:extLst>
          </p:cNvPr>
          <p:cNvSpPr>
            <a:spLocks noGrp="1"/>
          </p:cNvSpPr>
          <p:nvPr>
            <p:ph type="body" idx="1"/>
          </p:nvPr>
        </p:nvSpPr>
        <p:spPr/>
        <p:txBody>
          <a:bodyPr/>
          <a:lstStyle/>
          <a:p>
            <a:r>
              <a:rPr lang="en-US" dirty="0"/>
              <a:t>A </a:t>
            </a:r>
            <a:r>
              <a:rPr lang="en-US" b="1" dirty="0"/>
              <a:t>Firm</a:t>
            </a:r>
            <a:r>
              <a:rPr lang="en-US" dirty="0"/>
              <a:t> class might inherit from a general </a:t>
            </a:r>
            <a:r>
              <a:rPr lang="en-US" b="1" dirty="0"/>
              <a:t>Agent</a:t>
            </a:r>
            <a:r>
              <a:rPr lang="en-US" dirty="0"/>
              <a:t> class, meaning all firms automatically gain common properties like revenue and costs, but individual firms can have specialized behaviors, such as a </a:t>
            </a:r>
            <a:r>
              <a:rPr lang="en-US" b="1" dirty="0" err="1"/>
              <a:t>ManufacturingFirm</a:t>
            </a:r>
            <a:r>
              <a:rPr lang="en-US" dirty="0"/>
              <a:t> that has a </a:t>
            </a:r>
            <a:r>
              <a:rPr lang="en-US" dirty="0" err="1"/>
              <a:t>produce_goods</a:t>
            </a:r>
            <a:r>
              <a:rPr lang="en-US" dirty="0"/>
              <a:t>() method.</a:t>
            </a:r>
          </a:p>
        </p:txBody>
      </p:sp>
      <p:sp>
        <p:nvSpPr>
          <p:cNvPr id="4" name="Slide Number Placeholder 3">
            <a:extLst>
              <a:ext uri="{FF2B5EF4-FFF2-40B4-BE49-F238E27FC236}">
                <a16:creationId xmlns:a16="http://schemas.microsoft.com/office/drawing/2014/main" id="{EB1A3398-13BA-789C-F26D-1568A74CE003}"/>
              </a:ext>
            </a:extLst>
          </p:cNvPr>
          <p:cNvSpPr>
            <a:spLocks noGrp="1"/>
          </p:cNvSpPr>
          <p:nvPr>
            <p:ph type="sldNum" sz="quarter" idx="5"/>
          </p:nvPr>
        </p:nvSpPr>
        <p:spPr/>
        <p:txBody>
          <a:bodyPr/>
          <a:lstStyle/>
          <a:p>
            <a:fld id="{ADDE9FBA-CA5C-0548-A381-56276BA9F0AE}" type="slidenum">
              <a:rPr lang="en-US" smtClean="0"/>
              <a:t>33</a:t>
            </a:fld>
            <a:endParaRPr lang="en-US"/>
          </a:p>
        </p:txBody>
      </p:sp>
    </p:spTree>
    <p:extLst>
      <p:ext uri="{BB962C8B-B14F-4D97-AF65-F5344CB8AC3E}">
        <p14:creationId xmlns:p14="http://schemas.microsoft.com/office/powerpoint/2010/main" val="13186727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D33DE-59E4-D89F-65ED-C4E00C66F0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0A499-D36F-80BA-9D4E-84CBD42B6B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ED9D3E-BE98-3892-F520-DB0E987B4A91}"/>
              </a:ext>
            </a:extLst>
          </p:cNvPr>
          <p:cNvSpPr>
            <a:spLocks noGrp="1"/>
          </p:cNvSpPr>
          <p:nvPr>
            <p:ph type="body" idx="1"/>
          </p:nvPr>
        </p:nvSpPr>
        <p:spPr/>
        <p:txBody>
          <a:bodyPr/>
          <a:lstStyle/>
          <a:p>
            <a:r>
              <a:rPr lang="en-US" b="1" dirty="0"/>
              <a:t>Example:</a:t>
            </a:r>
            <a:br>
              <a:rPr lang="en-US" dirty="0"/>
            </a:br>
            <a:r>
              <a:rPr lang="en-US" dirty="0"/>
              <a:t>A </a:t>
            </a:r>
            <a:r>
              <a:rPr lang="en-US" b="1" dirty="0"/>
              <a:t>trade()</a:t>
            </a:r>
            <a:r>
              <a:rPr lang="en-US" dirty="0"/>
              <a:t> method could be defined in a general </a:t>
            </a:r>
            <a:r>
              <a:rPr lang="en-US" b="1" dirty="0" err="1"/>
              <a:t>MarketParticipant</a:t>
            </a:r>
            <a:r>
              <a:rPr lang="en-US" dirty="0"/>
              <a:t> class, but its implementation would vary for </a:t>
            </a:r>
            <a:r>
              <a:rPr lang="en-US" b="1" dirty="0"/>
              <a:t>Consumers</a:t>
            </a:r>
            <a:r>
              <a:rPr lang="en-US" dirty="0"/>
              <a:t> (who buy goods) and </a:t>
            </a:r>
            <a:r>
              <a:rPr lang="en-US" b="1" dirty="0"/>
              <a:t>Firms</a:t>
            </a:r>
            <a:r>
              <a:rPr lang="en-US" dirty="0"/>
              <a:t> (who sell goods). This allows different economic agents to interact using the same interface.</a:t>
            </a:r>
          </a:p>
        </p:txBody>
      </p:sp>
      <p:sp>
        <p:nvSpPr>
          <p:cNvPr id="4" name="Slide Number Placeholder 3">
            <a:extLst>
              <a:ext uri="{FF2B5EF4-FFF2-40B4-BE49-F238E27FC236}">
                <a16:creationId xmlns:a16="http://schemas.microsoft.com/office/drawing/2014/main" id="{68B08563-7AE2-EF05-0C9F-3E395E0B46F0}"/>
              </a:ext>
            </a:extLst>
          </p:cNvPr>
          <p:cNvSpPr>
            <a:spLocks noGrp="1"/>
          </p:cNvSpPr>
          <p:nvPr>
            <p:ph type="sldNum" sz="quarter" idx="5"/>
          </p:nvPr>
        </p:nvSpPr>
        <p:spPr/>
        <p:txBody>
          <a:bodyPr/>
          <a:lstStyle/>
          <a:p>
            <a:fld id="{ADDE9FBA-CA5C-0548-A381-56276BA9F0AE}" type="slidenum">
              <a:rPr lang="en-US" smtClean="0"/>
              <a:t>34</a:t>
            </a:fld>
            <a:endParaRPr lang="en-US"/>
          </a:p>
        </p:txBody>
      </p:sp>
    </p:spTree>
    <p:extLst>
      <p:ext uri="{BB962C8B-B14F-4D97-AF65-F5344CB8AC3E}">
        <p14:creationId xmlns:p14="http://schemas.microsoft.com/office/powerpoint/2010/main" val="6663595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84027-E0AB-5D95-F166-5279A5C199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9F2528-C135-F3EA-96DD-AAFBD27DF0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D496F0-F2FE-995A-50B3-DB73B27B0EFA}"/>
              </a:ext>
            </a:extLst>
          </p:cNvPr>
          <p:cNvSpPr>
            <a:spLocks noGrp="1"/>
          </p:cNvSpPr>
          <p:nvPr>
            <p:ph type="body" idx="1"/>
          </p:nvPr>
        </p:nvSpPr>
        <p:spPr/>
        <p:txBody>
          <a:bodyPr/>
          <a:lstStyle/>
          <a:p>
            <a:r>
              <a:rPr lang="en-US" b="1" dirty="0"/>
              <a:t>Example:</a:t>
            </a:r>
            <a:br>
              <a:rPr lang="en-US" dirty="0"/>
            </a:br>
            <a:r>
              <a:rPr lang="en-US" dirty="0"/>
              <a:t>A </a:t>
            </a:r>
            <a:r>
              <a:rPr lang="en-US" b="1" dirty="0" err="1"/>
              <a:t>CentralBank</a:t>
            </a:r>
            <a:r>
              <a:rPr lang="en-US" dirty="0"/>
              <a:t> class may have an abstract method </a:t>
            </a:r>
            <a:r>
              <a:rPr lang="en-US" dirty="0" err="1"/>
              <a:t>adjust_interest_rate</a:t>
            </a:r>
            <a:r>
              <a:rPr lang="en-US" dirty="0"/>
              <a:t>(), which different central banks (e.g., Federal Reserve, European Central Bank) implement based on their policies. This allows economists to simulate different monetary policy approaches without getting into low-level details.</a:t>
            </a:r>
          </a:p>
        </p:txBody>
      </p:sp>
      <p:sp>
        <p:nvSpPr>
          <p:cNvPr id="4" name="Slide Number Placeholder 3">
            <a:extLst>
              <a:ext uri="{FF2B5EF4-FFF2-40B4-BE49-F238E27FC236}">
                <a16:creationId xmlns:a16="http://schemas.microsoft.com/office/drawing/2014/main" id="{B99A2948-C24C-7AC1-98F0-1E0C003FD6E6}"/>
              </a:ext>
            </a:extLst>
          </p:cNvPr>
          <p:cNvSpPr>
            <a:spLocks noGrp="1"/>
          </p:cNvSpPr>
          <p:nvPr>
            <p:ph type="sldNum" sz="quarter" idx="5"/>
          </p:nvPr>
        </p:nvSpPr>
        <p:spPr/>
        <p:txBody>
          <a:bodyPr/>
          <a:lstStyle/>
          <a:p>
            <a:fld id="{ADDE9FBA-CA5C-0548-A381-56276BA9F0AE}" type="slidenum">
              <a:rPr lang="en-US" smtClean="0"/>
              <a:t>35</a:t>
            </a:fld>
            <a:endParaRPr lang="en-US"/>
          </a:p>
        </p:txBody>
      </p:sp>
    </p:spTree>
    <p:extLst>
      <p:ext uri="{BB962C8B-B14F-4D97-AF65-F5344CB8AC3E}">
        <p14:creationId xmlns:p14="http://schemas.microsoft.com/office/powerpoint/2010/main" val="23466950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DE9FBA-CA5C-0548-A381-56276BA9F0AE}" type="slidenum">
              <a:rPr lang="en-US" smtClean="0"/>
              <a:t>36</a:t>
            </a:fld>
            <a:endParaRPr lang="en-US"/>
          </a:p>
        </p:txBody>
      </p:sp>
    </p:spTree>
    <p:extLst>
      <p:ext uri="{BB962C8B-B14F-4D97-AF65-F5344CB8AC3E}">
        <p14:creationId xmlns:p14="http://schemas.microsoft.com/office/powerpoint/2010/main" val="4383513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DE9FBA-CA5C-0548-A381-56276BA9F0AE}" type="slidenum">
              <a:rPr lang="en-US" smtClean="0"/>
              <a:t>37</a:t>
            </a:fld>
            <a:endParaRPr lang="en-US"/>
          </a:p>
        </p:txBody>
      </p:sp>
    </p:spTree>
    <p:extLst>
      <p:ext uri="{BB962C8B-B14F-4D97-AF65-F5344CB8AC3E}">
        <p14:creationId xmlns:p14="http://schemas.microsoft.com/office/powerpoint/2010/main" val="16423397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traditional macroeconomic models that rely on broad equations, ABM takes a bottom-up approach, focusing on individual decision-making and interactions.</a:t>
            </a:r>
          </a:p>
          <a:p>
            <a:r>
              <a:rPr lang="en-US" dirty="0"/>
              <a:t>In an Agent-Based Model, we simulate an economy as a system of interacting agents, such as consumers, firms, or even policymakers. Each agent follows a set of predefined rules, responding to changes in the environment and interacting with others dynamically. This allows us to observe complex behaviors that emerge naturally from individual actions, rather than assuming equilibrium conditions from the start.</a:t>
            </a:r>
          </a:p>
          <a:p>
            <a:r>
              <a:rPr lang="en-US" dirty="0"/>
              <a:t>For example, if we wanted to study consumer spending behavior, we could model each consumer as an independent agent with income, preferences, and decision-making rules. Over time, we would see how different economic policies, such as stimulus checks or tax changes, influence consumer spending patterns. Similarly, firms can be modeled as agents competing in a market, adjusting their prices and production levels based on demand and competitor behavior. This makes ABM a powerful tool for studying market evolution, financial crises, and the effects of regulation.</a:t>
            </a:r>
          </a:p>
          <a:p>
            <a:r>
              <a:rPr lang="en-US" dirty="0"/>
              <a:t>Ultimately, Agent-Based Modeling helps us understand economic interactions in a way that traditional models cannot. It allows researchers and policymakers to test different scenarios and explore the unexpected consequences of economic decisions. By embracing a computational approach, we can analyze dynamic, adaptive systems in a way that is more reflective of real-world economies.</a:t>
            </a:r>
          </a:p>
          <a:p>
            <a:endParaRPr lang="en-US" dirty="0"/>
          </a:p>
          <a:p>
            <a:endParaRPr lang="en-US" dirty="0"/>
          </a:p>
        </p:txBody>
      </p:sp>
      <p:sp>
        <p:nvSpPr>
          <p:cNvPr id="4" name="Slide Number Placeholder 3"/>
          <p:cNvSpPr>
            <a:spLocks noGrp="1"/>
          </p:cNvSpPr>
          <p:nvPr>
            <p:ph type="sldNum" sz="quarter" idx="5"/>
          </p:nvPr>
        </p:nvSpPr>
        <p:spPr/>
        <p:txBody>
          <a:bodyPr/>
          <a:lstStyle/>
          <a:p>
            <a:fld id="{ADDE9FBA-CA5C-0548-A381-56276BA9F0AE}" type="slidenum">
              <a:rPr lang="en-US" smtClean="0"/>
              <a:t>38</a:t>
            </a:fld>
            <a:endParaRPr lang="en-US"/>
          </a:p>
        </p:txBody>
      </p:sp>
    </p:spTree>
    <p:extLst>
      <p:ext uri="{BB962C8B-B14F-4D97-AF65-F5344CB8AC3E}">
        <p14:creationId xmlns:p14="http://schemas.microsoft.com/office/powerpoint/2010/main" val="1673058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68655" y="933624"/>
            <a:ext cx="7806689" cy="574040"/>
          </a:xfrm>
          <a:prstGeom prst="rect">
            <a:avLst/>
          </a:prstGeom>
        </p:spPr>
        <p:txBody>
          <a:bodyPr wrap="square" lIns="0" tIns="0" rIns="0" bIns="0">
            <a:spAutoFit/>
          </a:bodyPr>
          <a:lstStyle>
            <a:lvl1pPr>
              <a:defRPr sz="3600" b="0" i="0">
                <a:solidFill>
                  <a:srgbClr val="3369E8"/>
                </a:solidFill>
                <a:latin typeface="Verdana"/>
                <a:cs typeface="Verdana"/>
              </a:defRPr>
            </a:lvl1pPr>
          </a:lstStyle>
          <a:p>
            <a:endParaRPr dirty="0"/>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7/6/26</a:t>
            </a:fld>
            <a:endParaRPr lang="en-US"/>
          </a:p>
        </p:txBody>
      </p:sp>
      <p:sp>
        <p:nvSpPr>
          <p:cNvPr id="6" name="Holder 6"/>
          <p:cNvSpPr>
            <a:spLocks noGrp="1"/>
          </p:cNvSpPr>
          <p:nvPr>
            <p:ph type="sldNum" sz="quarter" idx="7"/>
          </p:nvPr>
        </p:nvSpPr>
        <p:spPr/>
        <p:txBody>
          <a:bodyPr lIns="0" tIns="0" rIns="0" bIns="0"/>
          <a:lstStyle>
            <a:lvl1pPr>
              <a:defRPr sz="1200" b="0" i="0">
                <a:solidFill>
                  <a:srgbClr val="231F20"/>
                </a:solidFill>
                <a:latin typeface="Arial"/>
                <a:cs typeface="Arial"/>
              </a:defRPr>
            </a:lvl1pPr>
          </a:lstStyle>
          <a:p>
            <a:pPr marL="12700">
              <a:lnSpc>
                <a:spcPts val="1425"/>
              </a:lnSpc>
            </a:pPr>
            <a:r>
              <a:rPr spc="-5" dirty="0"/>
              <a:t>page</a:t>
            </a:r>
            <a:r>
              <a:rPr spc="-50" dirty="0"/>
              <a:t> </a:t>
            </a: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3369E8"/>
                </a:solidFill>
                <a:latin typeface="Verdana"/>
                <a:cs typeface="Verdana"/>
              </a:defRPr>
            </a:lvl1pPr>
          </a:lstStyle>
          <a:p>
            <a:endParaRPr dirty="0"/>
          </a:p>
        </p:txBody>
      </p:sp>
      <p:sp>
        <p:nvSpPr>
          <p:cNvPr id="3" name="Holder 3"/>
          <p:cNvSpPr>
            <a:spLocks noGrp="1"/>
          </p:cNvSpPr>
          <p:nvPr>
            <p:ph type="body" idx="1"/>
          </p:nvPr>
        </p:nvSpPr>
        <p:spPr/>
        <p:txBody>
          <a:bodyPr lIns="0" tIns="0" rIns="0" bIns="0"/>
          <a:lstStyle>
            <a:lvl1pPr>
              <a:defRPr sz="2400" b="0" i="0">
                <a:solidFill>
                  <a:srgbClr val="231F20"/>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7/6/26</a:t>
            </a:fld>
            <a:endParaRPr lang="en-US"/>
          </a:p>
        </p:txBody>
      </p:sp>
      <p:sp>
        <p:nvSpPr>
          <p:cNvPr id="6" name="Holder 6"/>
          <p:cNvSpPr>
            <a:spLocks noGrp="1"/>
          </p:cNvSpPr>
          <p:nvPr>
            <p:ph type="sldNum" sz="quarter" idx="7"/>
          </p:nvPr>
        </p:nvSpPr>
        <p:spPr/>
        <p:txBody>
          <a:bodyPr lIns="0" tIns="0" rIns="0" bIns="0"/>
          <a:lstStyle>
            <a:lvl1pPr>
              <a:defRPr sz="1200" b="0" i="0">
                <a:solidFill>
                  <a:srgbClr val="231F20"/>
                </a:solidFill>
                <a:latin typeface="Arial"/>
                <a:cs typeface="Arial"/>
              </a:defRPr>
            </a:lvl1pPr>
          </a:lstStyle>
          <a:p>
            <a:pPr marL="12700">
              <a:lnSpc>
                <a:spcPts val="1425"/>
              </a:lnSpc>
            </a:pPr>
            <a:r>
              <a:rPr spc="-5" dirty="0"/>
              <a:t>page</a:t>
            </a:r>
            <a:r>
              <a:rPr spc="-50" dirty="0"/>
              <a:t> </a:t>
            </a: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3369E8"/>
                </a:solidFill>
                <a:latin typeface="Verdana"/>
                <a:cs typeface="Verdana"/>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7/6/26</a:t>
            </a:fld>
            <a:endParaRPr lang="en-US"/>
          </a:p>
        </p:txBody>
      </p:sp>
      <p:sp>
        <p:nvSpPr>
          <p:cNvPr id="7" name="Holder 7"/>
          <p:cNvSpPr>
            <a:spLocks noGrp="1"/>
          </p:cNvSpPr>
          <p:nvPr>
            <p:ph type="sldNum" sz="quarter" idx="7"/>
          </p:nvPr>
        </p:nvSpPr>
        <p:spPr/>
        <p:txBody>
          <a:bodyPr lIns="0" tIns="0" rIns="0" bIns="0"/>
          <a:lstStyle>
            <a:lvl1pPr>
              <a:defRPr sz="1200" b="0" i="0">
                <a:solidFill>
                  <a:srgbClr val="231F20"/>
                </a:solidFill>
                <a:latin typeface="Arial"/>
                <a:cs typeface="Arial"/>
              </a:defRPr>
            </a:lvl1pPr>
          </a:lstStyle>
          <a:p>
            <a:pPr marL="12700">
              <a:lnSpc>
                <a:spcPts val="1425"/>
              </a:lnSpc>
            </a:pPr>
            <a:r>
              <a:rPr spc="-5" dirty="0"/>
              <a:t>page</a:t>
            </a:r>
            <a:r>
              <a:rPr spc="-50" dirty="0"/>
              <a:t> </a:t>
            </a: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9159"/>
            <a:ext cx="9125902" cy="1587499"/>
          </a:xfrm>
          <a:prstGeom prst="rect">
            <a:avLst/>
          </a:prstGeom>
        </p:spPr>
      </p:pic>
      <p:sp>
        <p:nvSpPr>
          <p:cNvPr id="18" name="bg object 18"/>
          <p:cNvSpPr/>
          <p:nvPr/>
        </p:nvSpPr>
        <p:spPr>
          <a:xfrm>
            <a:off x="960119" y="1611312"/>
            <a:ext cx="8183880" cy="0"/>
          </a:xfrm>
          <a:custGeom>
            <a:avLst/>
            <a:gdLst/>
            <a:ahLst/>
            <a:cxnLst/>
            <a:rect l="l" t="t" r="r" b="b"/>
            <a:pathLst>
              <a:path w="8183880">
                <a:moveTo>
                  <a:pt x="0" y="0"/>
                </a:moveTo>
                <a:lnTo>
                  <a:pt x="8183880" y="0"/>
                </a:lnTo>
              </a:path>
            </a:pathLst>
          </a:custGeom>
          <a:ln w="50800">
            <a:solidFill>
              <a:srgbClr val="F08D00"/>
            </a:solidFill>
          </a:ln>
        </p:spPr>
        <p:txBody>
          <a:bodyPr wrap="square" lIns="0" tIns="0" rIns="0" bIns="0" rtlCol="0"/>
          <a:lstStyle/>
          <a:p>
            <a:endParaRPr/>
          </a:p>
        </p:txBody>
      </p:sp>
      <p:pic>
        <p:nvPicPr>
          <p:cNvPr id="19" name="bg object 19"/>
          <p:cNvPicPr/>
          <p:nvPr/>
        </p:nvPicPr>
        <p:blipFill>
          <a:blip r:embed="rId3" cstate="print"/>
          <a:stretch>
            <a:fillRect/>
          </a:stretch>
        </p:blipFill>
        <p:spPr>
          <a:xfrm>
            <a:off x="91439" y="6111240"/>
            <a:ext cx="733193" cy="695959"/>
          </a:xfrm>
          <a:prstGeom prst="rect">
            <a:avLst/>
          </a:prstGeom>
        </p:spPr>
      </p:pic>
      <p:pic>
        <p:nvPicPr>
          <p:cNvPr id="20" name="bg object 20"/>
          <p:cNvPicPr/>
          <p:nvPr/>
        </p:nvPicPr>
        <p:blipFill>
          <a:blip r:embed="rId4" cstate="print"/>
          <a:stretch>
            <a:fillRect/>
          </a:stretch>
        </p:blipFill>
        <p:spPr>
          <a:xfrm>
            <a:off x="670559" y="1722120"/>
            <a:ext cx="8046720" cy="4465320"/>
          </a:xfrm>
          <a:prstGeom prst="rect">
            <a:avLst/>
          </a:prstGeom>
        </p:spPr>
      </p:pic>
      <p:sp>
        <p:nvSpPr>
          <p:cNvPr id="2" name="Holder 2"/>
          <p:cNvSpPr>
            <a:spLocks noGrp="1"/>
          </p:cNvSpPr>
          <p:nvPr>
            <p:ph type="title"/>
          </p:nvPr>
        </p:nvSpPr>
        <p:spPr/>
        <p:txBody>
          <a:bodyPr lIns="0" tIns="0" rIns="0" bIns="0"/>
          <a:lstStyle>
            <a:lvl1pPr>
              <a:defRPr sz="3600" b="0" i="0">
                <a:solidFill>
                  <a:srgbClr val="3369E8"/>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7/6/26</a:t>
            </a:fld>
            <a:endParaRPr lang="en-US"/>
          </a:p>
        </p:txBody>
      </p:sp>
      <p:sp>
        <p:nvSpPr>
          <p:cNvPr id="5" name="Holder 5"/>
          <p:cNvSpPr>
            <a:spLocks noGrp="1"/>
          </p:cNvSpPr>
          <p:nvPr>
            <p:ph type="sldNum" sz="quarter" idx="7"/>
          </p:nvPr>
        </p:nvSpPr>
        <p:spPr/>
        <p:txBody>
          <a:bodyPr lIns="0" tIns="0" rIns="0" bIns="0"/>
          <a:lstStyle>
            <a:lvl1pPr>
              <a:defRPr sz="1200" b="0" i="0">
                <a:solidFill>
                  <a:srgbClr val="231F20"/>
                </a:solidFill>
                <a:latin typeface="Arial"/>
                <a:cs typeface="Arial"/>
              </a:defRPr>
            </a:lvl1pPr>
          </a:lstStyle>
          <a:p>
            <a:pPr marL="12700">
              <a:lnSpc>
                <a:spcPts val="1425"/>
              </a:lnSpc>
            </a:pPr>
            <a:r>
              <a:rPr spc="-5" dirty="0"/>
              <a:t>page</a:t>
            </a:r>
            <a:r>
              <a:rPr spc="-50" dirty="0"/>
              <a:t> </a:t>
            </a: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7/6/26</a:t>
            </a:fld>
            <a:endParaRPr lang="en-US"/>
          </a:p>
        </p:txBody>
      </p:sp>
      <p:sp>
        <p:nvSpPr>
          <p:cNvPr id="4" name="Holder 4"/>
          <p:cNvSpPr>
            <a:spLocks noGrp="1"/>
          </p:cNvSpPr>
          <p:nvPr>
            <p:ph type="sldNum" sz="quarter" idx="7"/>
          </p:nvPr>
        </p:nvSpPr>
        <p:spPr/>
        <p:txBody>
          <a:bodyPr lIns="0" tIns="0" rIns="0" bIns="0"/>
          <a:lstStyle>
            <a:lvl1pPr>
              <a:defRPr sz="1200" b="0" i="0">
                <a:solidFill>
                  <a:srgbClr val="231F20"/>
                </a:solidFill>
                <a:latin typeface="Arial"/>
                <a:cs typeface="Arial"/>
              </a:defRPr>
            </a:lvl1pPr>
          </a:lstStyle>
          <a:p>
            <a:pPr marL="12700">
              <a:lnSpc>
                <a:spcPts val="1425"/>
              </a:lnSpc>
            </a:pPr>
            <a:r>
              <a:rPr spc="-5" dirty="0"/>
              <a:t>page</a:t>
            </a:r>
            <a:r>
              <a:rPr spc="-50" dirty="0"/>
              <a:t> </a:t>
            </a:r>
            <a:fld id="{81D60167-4931-47E6-BA6A-407CBD079E47}" type="slidenum">
              <a:rPr dirty="0"/>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0B645-BB55-D941-8BE2-C05E99A93D77}"/>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1000B5-6D40-3C4A-B34D-85BDF975ECFC}"/>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Footer Placeholder 3">
            <a:extLst>
              <a:ext uri="{FF2B5EF4-FFF2-40B4-BE49-F238E27FC236}">
                <a16:creationId xmlns:a16="http://schemas.microsoft.com/office/drawing/2014/main" id="{1E054990-BB47-C247-AE4B-A0E91512E2CE}"/>
              </a:ext>
            </a:extLst>
          </p:cNvPr>
          <p:cNvSpPr>
            <a:spLocks noGrp="1"/>
          </p:cNvSpPr>
          <p:nvPr>
            <p:ph type="ftr" sz="quarter" idx="10"/>
          </p:nvPr>
        </p:nvSpPr>
        <p:spPr/>
        <p:txBody>
          <a:bodyPr/>
          <a:lstStyle/>
          <a:p>
            <a:endParaRPr lang="en-US"/>
          </a:p>
        </p:txBody>
      </p:sp>
      <p:sp>
        <p:nvSpPr>
          <p:cNvPr id="5" name="Date Placeholder 4">
            <a:extLst>
              <a:ext uri="{FF2B5EF4-FFF2-40B4-BE49-F238E27FC236}">
                <a16:creationId xmlns:a16="http://schemas.microsoft.com/office/drawing/2014/main" id="{4EADCDA6-78D5-8E41-B1E5-363404F05656}"/>
              </a:ext>
            </a:extLst>
          </p:cNvPr>
          <p:cNvSpPr>
            <a:spLocks noGrp="1"/>
          </p:cNvSpPr>
          <p:nvPr>
            <p:ph type="dt" sz="half" idx="11"/>
          </p:nvPr>
        </p:nvSpPr>
        <p:spPr/>
        <p:txBody>
          <a:bodyPr/>
          <a:lstStyle/>
          <a:p>
            <a:fld id="{1D8BD707-D9CF-40AE-B4C6-C98DA3205C09}" type="datetimeFigureOut">
              <a:rPr lang="en-US" smtClean="0"/>
              <a:t>7/6/26</a:t>
            </a:fld>
            <a:endParaRPr lang="en-US"/>
          </a:p>
        </p:txBody>
      </p:sp>
      <p:sp>
        <p:nvSpPr>
          <p:cNvPr id="6" name="Slide Number Placeholder 5">
            <a:extLst>
              <a:ext uri="{FF2B5EF4-FFF2-40B4-BE49-F238E27FC236}">
                <a16:creationId xmlns:a16="http://schemas.microsoft.com/office/drawing/2014/main" id="{830A3959-9492-0C4F-B2DC-2AB4A7F094F0}"/>
              </a:ext>
            </a:extLst>
          </p:cNvPr>
          <p:cNvSpPr>
            <a:spLocks noGrp="1"/>
          </p:cNvSpPr>
          <p:nvPr>
            <p:ph type="sldNum" sz="quarter" idx="12"/>
          </p:nvPr>
        </p:nvSpPr>
        <p:spPr/>
        <p:txBody>
          <a:bodyPr/>
          <a:lstStyle/>
          <a:p>
            <a:pPr marL="12700">
              <a:lnSpc>
                <a:spcPts val="1425"/>
              </a:lnSpc>
            </a:pPr>
            <a:r>
              <a:rPr lang="en-US" spc="-5"/>
              <a:t>page</a:t>
            </a:r>
            <a:r>
              <a:rPr lang="en-US" spc="-50"/>
              <a:t> </a:t>
            </a:r>
            <a:fld id="{81D60167-4931-47E6-BA6A-407CBD079E47}" type="slidenum">
              <a:rPr smtClean="0"/>
              <a:t>‹#›</a:t>
            </a:fld>
            <a:endParaRPr dirty="0"/>
          </a:p>
        </p:txBody>
      </p:sp>
    </p:spTree>
    <p:extLst>
      <p:ext uri="{BB962C8B-B14F-4D97-AF65-F5344CB8AC3E}">
        <p14:creationId xmlns:p14="http://schemas.microsoft.com/office/powerpoint/2010/main" val="818324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9939" y="0"/>
            <a:ext cx="9125902" cy="1587499"/>
          </a:xfrm>
          <a:prstGeom prst="rect">
            <a:avLst/>
          </a:prstGeom>
        </p:spPr>
      </p:pic>
      <p:sp>
        <p:nvSpPr>
          <p:cNvPr id="18" name="bg object 18"/>
          <p:cNvSpPr/>
          <p:nvPr/>
        </p:nvSpPr>
        <p:spPr>
          <a:xfrm>
            <a:off x="960119" y="1611312"/>
            <a:ext cx="8183880" cy="0"/>
          </a:xfrm>
          <a:custGeom>
            <a:avLst/>
            <a:gdLst/>
            <a:ahLst/>
            <a:cxnLst/>
            <a:rect l="l" t="t" r="r" b="b"/>
            <a:pathLst>
              <a:path w="8183880">
                <a:moveTo>
                  <a:pt x="0" y="0"/>
                </a:moveTo>
                <a:lnTo>
                  <a:pt x="8183880" y="0"/>
                </a:lnTo>
              </a:path>
            </a:pathLst>
          </a:custGeom>
          <a:ln w="50800">
            <a:solidFill>
              <a:srgbClr val="F08D00"/>
            </a:solidFill>
          </a:ln>
        </p:spPr>
        <p:txBody>
          <a:bodyPr wrap="square" lIns="0" tIns="0" rIns="0" bIns="0" rtlCol="0"/>
          <a:lstStyle/>
          <a:p>
            <a:endParaRPr/>
          </a:p>
        </p:txBody>
      </p:sp>
      <p:sp>
        <p:nvSpPr>
          <p:cNvPr id="2" name="Holder 2"/>
          <p:cNvSpPr>
            <a:spLocks noGrp="1"/>
          </p:cNvSpPr>
          <p:nvPr>
            <p:ph type="title"/>
          </p:nvPr>
        </p:nvSpPr>
        <p:spPr>
          <a:xfrm>
            <a:off x="668655" y="933624"/>
            <a:ext cx="7806689" cy="574040"/>
          </a:xfrm>
          <a:prstGeom prst="rect">
            <a:avLst/>
          </a:prstGeom>
        </p:spPr>
        <p:txBody>
          <a:bodyPr wrap="square" lIns="0" tIns="0" rIns="0" bIns="0">
            <a:spAutoFit/>
          </a:bodyPr>
          <a:lstStyle>
            <a:lvl1pPr>
              <a:defRPr sz="3600" b="0" i="0">
                <a:solidFill>
                  <a:srgbClr val="3369E8"/>
                </a:solidFill>
                <a:latin typeface="Verdana"/>
                <a:cs typeface="Verdana"/>
              </a:defRPr>
            </a:lvl1pPr>
          </a:lstStyle>
          <a:p>
            <a:endParaRPr/>
          </a:p>
        </p:txBody>
      </p:sp>
      <p:sp>
        <p:nvSpPr>
          <p:cNvPr id="3" name="Holder 3"/>
          <p:cNvSpPr>
            <a:spLocks noGrp="1"/>
          </p:cNvSpPr>
          <p:nvPr>
            <p:ph type="body" idx="1"/>
          </p:nvPr>
        </p:nvSpPr>
        <p:spPr>
          <a:xfrm>
            <a:off x="595630" y="1730428"/>
            <a:ext cx="7952739" cy="3683000"/>
          </a:xfrm>
          <a:prstGeom prst="rect">
            <a:avLst/>
          </a:prstGeom>
        </p:spPr>
        <p:txBody>
          <a:bodyPr wrap="square" lIns="0" tIns="0" rIns="0" bIns="0">
            <a:spAutoFit/>
          </a:bodyPr>
          <a:lstStyle>
            <a:lvl1pPr>
              <a:defRPr sz="2400" b="0" i="0">
                <a:solidFill>
                  <a:srgbClr val="231F20"/>
                </a:solidFill>
                <a:latin typeface="Arial"/>
                <a:cs typeface="Aria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7/6/26</a:t>
            </a:fld>
            <a:endParaRPr lang="en-US"/>
          </a:p>
        </p:txBody>
      </p:sp>
      <p:sp>
        <p:nvSpPr>
          <p:cNvPr id="6" name="Holder 6"/>
          <p:cNvSpPr>
            <a:spLocks noGrp="1"/>
          </p:cNvSpPr>
          <p:nvPr>
            <p:ph type="sldNum" sz="quarter" idx="7"/>
          </p:nvPr>
        </p:nvSpPr>
        <p:spPr>
          <a:xfrm>
            <a:off x="8520086" y="6542062"/>
            <a:ext cx="614679" cy="196215"/>
          </a:xfrm>
          <a:prstGeom prst="rect">
            <a:avLst/>
          </a:prstGeom>
        </p:spPr>
        <p:txBody>
          <a:bodyPr wrap="square" lIns="0" tIns="0" rIns="0" bIns="0">
            <a:spAutoFit/>
          </a:bodyPr>
          <a:lstStyle>
            <a:lvl1pPr>
              <a:defRPr sz="1200" b="0" i="0">
                <a:solidFill>
                  <a:srgbClr val="231F20"/>
                </a:solidFill>
                <a:latin typeface="Arial"/>
                <a:cs typeface="Arial"/>
              </a:defRPr>
            </a:lvl1pPr>
          </a:lstStyle>
          <a:p>
            <a:pPr marL="12700">
              <a:lnSpc>
                <a:spcPts val="1425"/>
              </a:lnSpc>
            </a:pPr>
            <a:r>
              <a:rPr spc="-5" dirty="0"/>
              <a:t>page</a:t>
            </a:r>
            <a:r>
              <a:rPr spc="-50" dirty="0"/>
              <a:t> </a:t>
            </a: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6" name="object 3">
            <a:extLst>
              <a:ext uri="{FF2B5EF4-FFF2-40B4-BE49-F238E27FC236}">
                <a16:creationId xmlns:a16="http://schemas.microsoft.com/office/drawing/2014/main" id="{B9C7916F-ED2A-F249-BAD1-81ED7462F33C}"/>
              </a:ext>
            </a:extLst>
          </p:cNvPr>
          <p:cNvPicPr/>
          <p:nvPr/>
        </p:nvPicPr>
        <p:blipFill>
          <a:blip r:embed="rId3" cstate="print"/>
          <a:stretch>
            <a:fillRect/>
          </a:stretch>
        </p:blipFill>
        <p:spPr>
          <a:xfrm>
            <a:off x="-2839" y="2080"/>
            <a:ext cx="9149675" cy="3349624"/>
          </a:xfrm>
          <a:prstGeom prst="rect">
            <a:avLst/>
          </a:prstGeom>
          <a:noFill/>
        </p:spPr>
      </p:pic>
      <p:sp>
        <p:nvSpPr>
          <p:cNvPr id="17" name="object 4">
            <a:extLst>
              <a:ext uri="{FF2B5EF4-FFF2-40B4-BE49-F238E27FC236}">
                <a16:creationId xmlns:a16="http://schemas.microsoft.com/office/drawing/2014/main" id="{543BD594-7FCB-C24B-9CF8-6116F04AF190}"/>
              </a:ext>
            </a:extLst>
          </p:cNvPr>
          <p:cNvSpPr/>
          <p:nvPr/>
        </p:nvSpPr>
        <p:spPr>
          <a:xfrm>
            <a:off x="-2839" y="3345355"/>
            <a:ext cx="9149676" cy="12700"/>
          </a:xfrm>
          <a:custGeom>
            <a:avLst/>
            <a:gdLst/>
            <a:ahLst/>
            <a:cxnLst/>
            <a:rect l="l" t="t" r="r" b="b"/>
            <a:pathLst>
              <a:path w="9137650" h="12700">
                <a:moveTo>
                  <a:pt x="0" y="12700"/>
                </a:moveTo>
                <a:lnTo>
                  <a:pt x="9137650" y="12700"/>
                </a:lnTo>
                <a:lnTo>
                  <a:pt x="9137650" y="0"/>
                </a:lnTo>
                <a:lnTo>
                  <a:pt x="0" y="0"/>
                </a:lnTo>
                <a:lnTo>
                  <a:pt x="0" y="12700"/>
                </a:lnTo>
                <a:close/>
              </a:path>
            </a:pathLst>
          </a:custGeom>
          <a:noFill/>
        </p:spPr>
        <p:txBody>
          <a:bodyPr wrap="square" lIns="0" tIns="0" rIns="0" bIns="0" rtlCol="0"/>
          <a:lstStyle/>
          <a:p>
            <a:endParaRPr/>
          </a:p>
        </p:txBody>
      </p:sp>
      <p:sp>
        <p:nvSpPr>
          <p:cNvPr id="19" name="object 6">
            <a:extLst>
              <a:ext uri="{FF2B5EF4-FFF2-40B4-BE49-F238E27FC236}">
                <a16:creationId xmlns:a16="http://schemas.microsoft.com/office/drawing/2014/main" id="{886E77D7-B14D-6F45-AA1A-F3F01CE43A8C}"/>
              </a:ext>
            </a:extLst>
          </p:cNvPr>
          <p:cNvSpPr/>
          <p:nvPr/>
        </p:nvSpPr>
        <p:spPr>
          <a:xfrm>
            <a:off x="-2839" y="3195223"/>
            <a:ext cx="3128312" cy="0"/>
          </a:xfrm>
          <a:custGeom>
            <a:avLst/>
            <a:gdLst/>
            <a:ahLst/>
            <a:cxnLst/>
            <a:rect l="l" t="t" r="r" b="b"/>
            <a:pathLst>
              <a:path w="3124200">
                <a:moveTo>
                  <a:pt x="0" y="0"/>
                </a:moveTo>
                <a:lnTo>
                  <a:pt x="3124200" y="0"/>
                </a:lnTo>
              </a:path>
            </a:pathLst>
          </a:custGeom>
          <a:noFill/>
          <a:ln w="12700">
            <a:solidFill>
              <a:srgbClr val="3369E8"/>
            </a:solidFill>
          </a:ln>
        </p:spPr>
        <p:txBody>
          <a:bodyPr wrap="square" lIns="0" tIns="0" rIns="0" bIns="0" rtlCol="0"/>
          <a:lstStyle/>
          <a:p>
            <a:endParaRPr/>
          </a:p>
        </p:txBody>
      </p:sp>
      <p:sp>
        <p:nvSpPr>
          <p:cNvPr id="7" name="object 7"/>
          <p:cNvSpPr txBox="1">
            <a:spLocks noGrp="1"/>
          </p:cNvSpPr>
          <p:nvPr>
            <p:ph type="title"/>
          </p:nvPr>
        </p:nvSpPr>
        <p:spPr>
          <a:xfrm>
            <a:off x="3201230" y="2600325"/>
            <a:ext cx="5629910" cy="604520"/>
          </a:xfrm>
          <a:prstGeom prst="rect">
            <a:avLst/>
          </a:prstGeom>
        </p:spPr>
        <p:txBody>
          <a:bodyPr vert="horz" wrap="square" lIns="0" tIns="12700" rIns="0" bIns="0" rtlCol="0">
            <a:spAutoFit/>
          </a:bodyPr>
          <a:lstStyle/>
          <a:p>
            <a:pPr marL="12700">
              <a:lnSpc>
                <a:spcPct val="100000"/>
              </a:lnSpc>
              <a:spcBef>
                <a:spcPts val="100"/>
              </a:spcBef>
            </a:pPr>
            <a:r>
              <a:rPr sz="3800" spc="-5" dirty="0">
                <a:latin typeface="Arial"/>
                <a:cs typeface="Arial"/>
              </a:rPr>
              <a:t>Computational</a:t>
            </a:r>
            <a:r>
              <a:rPr sz="3800" spc="-90" dirty="0">
                <a:latin typeface="Arial"/>
                <a:cs typeface="Arial"/>
              </a:rPr>
              <a:t> </a:t>
            </a:r>
            <a:r>
              <a:rPr sz="3800" dirty="0">
                <a:latin typeface="Arial"/>
                <a:cs typeface="Arial"/>
              </a:rPr>
              <a:t>Economics</a:t>
            </a:r>
          </a:p>
        </p:txBody>
      </p:sp>
      <p:grpSp>
        <p:nvGrpSpPr>
          <p:cNvPr id="8" name="object 8"/>
          <p:cNvGrpSpPr/>
          <p:nvPr/>
        </p:nvGrpSpPr>
        <p:grpSpPr>
          <a:xfrm>
            <a:off x="2978150" y="2571750"/>
            <a:ext cx="152400" cy="628650"/>
            <a:chOff x="2978150" y="2571750"/>
            <a:chExt cx="152400" cy="628650"/>
          </a:xfrm>
        </p:grpSpPr>
        <p:sp>
          <p:nvSpPr>
            <p:cNvPr id="9" name="object 9"/>
            <p:cNvSpPr/>
            <p:nvPr/>
          </p:nvSpPr>
          <p:spPr>
            <a:xfrm>
              <a:off x="3105150" y="2571750"/>
              <a:ext cx="0" cy="619125"/>
            </a:xfrm>
            <a:custGeom>
              <a:avLst/>
              <a:gdLst/>
              <a:ahLst/>
              <a:cxnLst/>
              <a:rect l="l" t="t" r="r" b="b"/>
              <a:pathLst>
                <a:path h="619125">
                  <a:moveTo>
                    <a:pt x="0" y="0"/>
                  </a:moveTo>
                  <a:lnTo>
                    <a:pt x="0" y="619125"/>
                  </a:lnTo>
                </a:path>
              </a:pathLst>
            </a:custGeom>
            <a:ln w="50800">
              <a:solidFill>
                <a:srgbClr val="EDB111"/>
              </a:solidFill>
            </a:ln>
          </p:spPr>
          <p:txBody>
            <a:bodyPr wrap="square" lIns="0" tIns="0" rIns="0" bIns="0" rtlCol="0"/>
            <a:lstStyle/>
            <a:p>
              <a:endParaRPr/>
            </a:p>
          </p:txBody>
        </p:sp>
        <p:sp>
          <p:nvSpPr>
            <p:cNvPr id="10" name="object 10"/>
            <p:cNvSpPr/>
            <p:nvPr/>
          </p:nvSpPr>
          <p:spPr>
            <a:xfrm>
              <a:off x="2990850" y="2711450"/>
              <a:ext cx="0" cy="488950"/>
            </a:xfrm>
            <a:custGeom>
              <a:avLst/>
              <a:gdLst/>
              <a:ahLst/>
              <a:cxnLst/>
              <a:rect l="l" t="t" r="r" b="b"/>
              <a:pathLst>
                <a:path h="488950">
                  <a:moveTo>
                    <a:pt x="0" y="0"/>
                  </a:moveTo>
                  <a:lnTo>
                    <a:pt x="0" y="488950"/>
                  </a:lnTo>
                </a:path>
              </a:pathLst>
            </a:custGeom>
            <a:ln w="25400">
              <a:solidFill>
                <a:srgbClr val="3369E8"/>
              </a:solidFill>
            </a:ln>
          </p:spPr>
          <p:txBody>
            <a:bodyPr wrap="square" lIns="0" tIns="0" rIns="0" bIns="0" rtlCol="0"/>
            <a:lstStyle/>
            <a:p>
              <a:endParaRPr/>
            </a:p>
          </p:txBody>
        </p:sp>
      </p:grpSp>
      <p:sp>
        <p:nvSpPr>
          <p:cNvPr id="13" name="object 13"/>
          <p:cNvSpPr txBox="1"/>
          <p:nvPr/>
        </p:nvSpPr>
        <p:spPr>
          <a:xfrm>
            <a:off x="2160176" y="4114800"/>
            <a:ext cx="6705600" cy="382156"/>
          </a:xfrm>
          <a:prstGeom prst="rect">
            <a:avLst/>
          </a:prstGeom>
        </p:spPr>
        <p:txBody>
          <a:bodyPr vert="horz" wrap="square" lIns="0" tIns="12700" rIns="0" bIns="0" rtlCol="0">
            <a:spAutoFit/>
          </a:bodyPr>
          <a:lstStyle/>
          <a:p>
            <a:pPr marL="12700">
              <a:lnSpc>
                <a:spcPct val="100000"/>
              </a:lnSpc>
              <a:spcBef>
                <a:spcPts val="100"/>
              </a:spcBef>
            </a:pPr>
            <a:r>
              <a:rPr lang="en-US" sz="2400" spc="35" dirty="0">
                <a:solidFill>
                  <a:srgbClr val="231F20"/>
                </a:solidFill>
                <a:latin typeface="Arial"/>
                <a:cs typeface="Arial"/>
              </a:rPr>
              <a:t>Simulating Market Mechanisms from Bottom-Up</a:t>
            </a:r>
            <a:endParaRPr sz="24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52218" y="2251362"/>
            <a:ext cx="6901182" cy="2613536"/>
          </a:xfrm>
          <a:prstGeom prst="rect">
            <a:avLst/>
          </a:prstGeom>
        </p:spPr>
        <p:txBody>
          <a:bodyPr vert="horz" wrap="square" lIns="0" tIns="12700" rIns="0" bIns="0" rtlCol="0">
            <a:spAutoFit/>
          </a:bodyPr>
          <a:lstStyle/>
          <a:p>
            <a:pPr marL="355600" indent="-342900">
              <a:lnSpc>
                <a:spcPct val="100000"/>
              </a:lnSpc>
              <a:buClr>
                <a:schemeClr val="tx2"/>
              </a:buClr>
              <a:buFont typeface="Arial" panose="020B0604020202020204" pitchFamily="34" charset="0"/>
              <a:buChar char="•"/>
            </a:pPr>
            <a:r>
              <a:rPr sz="2400" spc="-5" dirty="0">
                <a:solidFill>
                  <a:srgbClr val="231F20"/>
                </a:solidFill>
                <a:latin typeface="Arial"/>
                <a:cs typeface="Arial"/>
              </a:rPr>
              <a:t>Revisit</a:t>
            </a:r>
            <a:r>
              <a:rPr sz="2400" spc="-25" dirty="0">
                <a:solidFill>
                  <a:srgbClr val="231F20"/>
                </a:solidFill>
                <a:latin typeface="Arial"/>
                <a:cs typeface="Arial"/>
              </a:rPr>
              <a:t> </a:t>
            </a:r>
            <a:r>
              <a:rPr sz="2400" dirty="0">
                <a:solidFill>
                  <a:srgbClr val="231F20"/>
                </a:solidFill>
                <a:latin typeface="Arial"/>
                <a:cs typeface="Arial"/>
              </a:rPr>
              <a:t>the</a:t>
            </a:r>
            <a:r>
              <a:rPr sz="2400" spc="-15" dirty="0">
                <a:solidFill>
                  <a:srgbClr val="231F20"/>
                </a:solidFill>
                <a:latin typeface="Arial"/>
                <a:cs typeface="Arial"/>
              </a:rPr>
              <a:t> </a:t>
            </a:r>
            <a:r>
              <a:rPr sz="2400" dirty="0">
                <a:solidFill>
                  <a:srgbClr val="231F20"/>
                </a:solidFill>
                <a:latin typeface="Arial"/>
                <a:cs typeface="Arial"/>
              </a:rPr>
              <a:t>market</a:t>
            </a:r>
            <a:r>
              <a:rPr sz="2400" spc="-20" dirty="0">
                <a:solidFill>
                  <a:srgbClr val="231F20"/>
                </a:solidFill>
                <a:latin typeface="Arial"/>
                <a:cs typeface="Arial"/>
              </a:rPr>
              <a:t> </a:t>
            </a:r>
            <a:r>
              <a:rPr sz="2400" spc="-5" dirty="0">
                <a:solidFill>
                  <a:schemeClr val="accent6"/>
                </a:solidFill>
                <a:latin typeface="Arial"/>
                <a:cs typeface="Arial"/>
              </a:rPr>
              <a:t>demand/supply</a:t>
            </a:r>
            <a:r>
              <a:rPr sz="2400" spc="-20" dirty="0">
                <a:solidFill>
                  <a:srgbClr val="231F20"/>
                </a:solidFill>
                <a:latin typeface="Arial"/>
                <a:cs typeface="Arial"/>
              </a:rPr>
              <a:t> </a:t>
            </a:r>
            <a:r>
              <a:rPr sz="2400" dirty="0">
                <a:solidFill>
                  <a:srgbClr val="231F20"/>
                </a:solidFill>
                <a:latin typeface="Arial"/>
                <a:cs typeface="Arial"/>
              </a:rPr>
              <a:t>model.</a:t>
            </a:r>
            <a:endParaRPr lang="en-US" sz="2400" dirty="0">
              <a:solidFill>
                <a:srgbClr val="231F20"/>
              </a:solidFill>
              <a:latin typeface="Arial"/>
              <a:cs typeface="Arial"/>
            </a:endParaRPr>
          </a:p>
          <a:p>
            <a:pPr marL="355600" indent="-342900">
              <a:lnSpc>
                <a:spcPct val="100000"/>
              </a:lnSpc>
              <a:buClr>
                <a:schemeClr val="tx2"/>
              </a:buClr>
              <a:buFont typeface="Arial" panose="020B0604020202020204" pitchFamily="34" charset="0"/>
              <a:buChar char="•"/>
            </a:pPr>
            <a:endParaRPr lang="en-US" sz="2400" dirty="0">
              <a:solidFill>
                <a:srgbClr val="231F20"/>
              </a:solidFill>
              <a:latin typeface="Arial"/>
              <a:cs typeface="Arial"/>
            </a:endParaRPr>
          </a:p>
          <a:p>
            <a:pPr marL="355600" indent="-342900">
              <a:lnSpc>
                <a:spcPct val="100000"/>
              </a:lnSpc>
              <a:buClr>
                <a:schemeClr val="tx2"/>
              </a:buClr>
              <a:buFont typeface="Arial" panose="020B0604020202020204" pitchFamily="34" charset="0"/>
              <a:buChar char="•"/>
            </a:pPr>
            <a:r>
              <a:rPr lang="en-US" sz="2400" dirty="0">
                <a:solidFill>
                  <a:srgbClr val="231F20"/>
                </a:solidFill>
                <a:latin typeface="Arial"/>
                <a:cs typeface="Arial"/>
              </a:rPr>
              <a:t>Understand the intuition and key concepts in </a:t>
            </a:r>
            <a:r>
              <a:rPr lang="en-US" sz="2400" dirty="0">
                <a:solidFill>
                  <a:schemeClr val="accent6"/>
                </a:solidFill>
                <a:latin typeface="Arial"/>
                <a:cs typeface="Arial"/>
              </a:rPr>
              <a:t>Object Oriented Programming</a:t>
            </a:r>
            <a:r>
              <a:rPr lang="en-US" sz="2400" dirty="0">
                <a:solidFill>
                  <a:srgbClr val="231F20"/>
                </a:solidFill>
                <a:latin typeface="Arial"/>
                <a:cs typeface="Arial"/>
              </a:rPr>
              <a:t>.</a:t>
            </a:r>
          </a:p>
          <a:p>
            <a:pPr marL="342900" indent="-342900">
              <a:lnSpc>
                <a:spcPct val="100000"/>
              </a:lnSpc>
              <a:spcBef>
                <a:spcPts val="5"/>
              </a:spcBef>
              <a:buClr>
                <a:schemeClr val="tx2"/>
              </a:buClr>
              <a:buFont typeface="Arial" panose="020B0604020202020204" pitchFamily="34" charset="0"/>
              <a:buChar char="•"/>
            </a:pPr>
            <a:endParaRPr sz="2500" dirty="0">
              <a:latin typeface="Arial"/>
              <a:cs typeface="Arial"/>
            </a:endParaRPr>
          </a:p>
          <a:p>
            <a:pPr marL="355600" marR="5080" indent="-342900">
              <a:lnSpc>
                <a:spcPct val="100000"/>
              </a:lnSpc>
              <a:buClr>
                <a:schemeClr val="tx2"/>
              </a:buClr>
              <a:buFont typeface="Arial" panose="020B0604020202020204" pitchFamily="34" charset="0"/>
              <a:buChar char="•"/>
            </a:pPr>
            <a:r>
              <a:rPr sz="2400" dirty="0">
                <a:solidFill>
                  <a:srgbClr val="231F20"/>
                </a:solidFill>
                <a:latin typeface="Arial"/>
                <a:cs typeface="Arial"/>
              </a:rPr>
              <a:t>Be</a:t>
            </a:r>
            <a:r>
              <a:rPr sz="2400" spc="-254" dirty="0">
                <a:solidFill>
                  <a:srgbClr val="231F20"/>
                </a:solidFill>
                <a:latin typeface="Arial"/>
                <a:cs typeface="Arial"/>
              </a:rPr>
              <a:t> </a:t>
            </a:r>
            <a:r>
              <a:rPr sz="2400" spc="-5" dirty="0">
                <a:solidFill>
                  <a:srgbClr val="231F20"/>
                </a:solidFill>
                <a:latin typeface="Arial"/>
                <a:cs typeface="Arial"/>
              </a:rPr>
              <a:t>abl</a:t>
            </a:r>
            <a:r>
              <a:rPr sz="2400" dirty="0">
                <a:solidFill>
                  <a:srgbClr val="231F20"/>
                </a:solidFill>
                <a:latin typeface="Arial"/>
                <a:cs typeface="Arial"/>
              </a:rPr>
              <a:t>e</a:t>
            </a:r>
            <a:r>
              <a:rPr sz="2400" spc="-254" dirty="0">
                <a:solidFill>
                  <a:srgbClr val="231F20"/>
                </a:solidFill>
                <a:latin typeface="Arial"/>
                <a:cs typeface="Arial"/>
              </a:rPr>
              <a:t> </a:t>
            </a:r>
            <a:r>
              <a:rPr sz="2400" dirty="0">
                <a:solidFill>
                  <a:srgbClr val="231F20"/>
                </a:solidFill>
                <a:latin typeface="Arial"/>
                <a:cs typeface="Arial"/>
              </a:rPr>
              <a:t>to</a:t>
            </a:r>
            <a:r>
              <a:rPr sz="2400" spc="-254" dirty="0">
                <a:solidFill>
                  <a:srgbClr val="231F20"/>
                </a:solidFill>
                <a:latin typeface="Arial"/>
                <a:cs typeface="Arial"/>
              </a:rPr>
              <a:t> </a:t>
            </a:r>
            <a:r>
              <a:rPr sz="2400" spc="-5" dirty="0">
                <a:solidFill>
                  <a:srgbClr val="231F20"/>
                </a:solidFill>
                <a:latin typeface="Arial"/>
                <a:cs typeface="Arial"/>
              </a:rPr>
              <a:t>buil</a:t>
            </a:r>
            <a:r>
              <a:rPr sz="2400" dirty="0">
                <a:solidFill>
                  <a:srgbClr val="231F20"/>
                </a:solidFill>
                <a:latin typeface="Arial"/>
                <a:cs typeface="Arial"/>
              </a:rPr>
              <a:t>d</a:t>
            </a:r>
            <a:r>
              <a:rPr sz="2400" spc="-254" dirty="0">
                <a:solidFill>
                  <a:srgbClr val="231F20"/>
                </a:solidFill>
                <a:latin typeface="Arial"/>
                <a:cs typeface="Arial"/>
              </a:rPr>
              <a:t> </a:t>
            </a:r>
            <a:r>
              <a:rPr sz="2400" dirty="0">
                <a:solidFill>
                  <a:srgbClr val="231F20"/>
                </a:solidFill>
                <a:latin typeface="Arial"/>
                <a:cs typeface="Arial"/>
              </a:rPr>
              <a:t>the</a:t>
            </a:r>
            <a:r>
              <a:rPr sz="2400" spc="-254" dirty="0">
                <a:solidFill>
                  <a:srgbClr val="231F20"/>
                </a:solidFill>
                <a:latin typeface="Arial"/>
                <a:cs typeface="Arial"/>
              </a:rPr>
              <a:t> </a:t>
            </a:r>
            <a:r>
              <a:rPr sz="2400" dirty="0">
                <a:solidFill>
                  <a:srgbClr val="231F20"/>
                </a:solidFill>
                <a:latin typeface="Arial"/>
                <a:cs typeface="Arial"/>
              </a:rPr>
              <a:t>market</a:t>
            </a:r>
            <a:r>
              <a:rPr sz="2400" spc="-254" dirty="0">
                <a:solidFill>
                  <a:srgbClr val="231F20"/>
                </a:solidFill>
                <a:latin typeface="Arial"/>
                <a:cs typeface="Arial"/>
              </a:rPr>
              <a:t> </a:t>
            </a:r>
            <a:r>
              <a:rPr sz="2400" spc="-5" dirty="0">
                <a:solidFill>
                  <a:srgbClr val="231F20"/>
                </a:solidFill>
                <a:latin typeface="Arial"/>
                <a:cs typeface="Arial"/>
              </a:rPr>
              <a:t>demand/suppl</a:t>
            </a:r>
            <a:r>
              <a:rPr sz="2400" dirty="0">
                <a:solidFill>
                  <a:srgbClr val="231F20"/>
                </a:solidFill>
                <a:latin typeface="Arial"/>
                <a:cs typeface="Arial"/>
              </a:rPr>
              <a:t>y</a:t>
            </a:r>
            <a:r>
              <a:rPr sz="2400" spc="-254" dirty="0">
                <a:solidFill>
                  <a:srgbClr val="231F20"/>
                </a:solidFill>
                <a:latin typeface="Arial"/>
                <a:cs typeface="Arial"/>
              </a:rPr>
              <a:t> </a:t>
            </a:r>
            <a:r>
              <a:rPr sz="2400" dirty="0">
                <a:solidFill>
                  <a:srgbClr val="231F20"/>
                </a:solidFill>
                <a:latin typeface="Arial"/>
                <a:cs typeface="Arial"/>
              </a:rPr>
              <a:t>model  </a:t>
            </a:r>
            <a:r>
              <a:rPr sz="2400" spc="-5" dirty="0">
                <a:solidFill>
                  <a:srgbClr val="231F20"/>
                </a:solidFill>
                <a:latin typeface="Arial"/>
                <a:cs typeface="Arial"/>
              </a:rPr>
              <a:t>using</a:t>
            </a:r>
            <a:r>
              <a:rPr sz="2400" spc="-10" dirty="0">
                <a:solidFill>
                  <a:srgbClr val="231F20"/>
                </a:solidFill>
                <a:latin typeface="Arial"/>
                <a:cs typeface="Arial"/>
              </a:rPr>
              <a:t> </a:t>
            </a:r>
            <a:r>
              <a:rPr sz="2400" spc="-80" dirty="0">
                <a:solidFill>
                  <a:srgbClr val="231F20"/>
                </a:solidFill>
                <a:latin typeface="Arial"/>
                <a:cs typeface="Arial"/>
              </a:rPr>
              <a:t>OOP</a:t>
            </a:r>
            <a:r>
              <a:rPr lang="en-US" sz="2400" spc="-80" dirty="0">
                <a:solidFill>
                  <a:srgbClr val="231F20"/>
                </a:solidFill>
                <a:latin typeface="Arial"/>
                <a:cs typeface="Arial"/>
              </a:rPr>
              <a:t> and agent-based model</a:t>
            </a:r>
            <a:r>
              <a:rPr sz="2400" spc="-80" dirty="0">
                <a:solidFill>
                  <a:srgbClr val="231F20"/>
                </a:solidFill>
                <a:latin typeface="Arial"/>
                <a:cs typeface="Arial"/>
              </a:rPr>
              <a:t>.</a:t>
            </a:r>
            <a:endParaRPr sz="2400" dirty="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2</a:t>
            </a:fld>
            <a:endParaRPr dirty="0"/>
          </a:p>
        </p:txBody>
      </p:sp>
      <p:sp>
        <p:nvSpPr>
          <p:cNvPr id="3" name="object 3"/>
          <p:cNvSpPr txBox="1">
            <a:spLocks noGrp="1"/>
          </p:cNvSpPr>
          <p:nvPr>
            <p:ph type="title"/>
          </p:nvPr>
        </p:nvSpPr>
        <p:spPr>
          <a:xfrm>
            <a:off x="972819" y="933624"/>
            <a:ext cx="2466340" cy="574040"/>
          </a:xfrm>
          <a:prstGeom prst="rect">
            <a:avLst/>
          </a:prstGeom>
        </p:spPr>
        <p:txBody>
          <a:bodyPr vert="horz" wrap="square" lIns="0" tIns="12700" rIns="0" bIns="0" rtlCol="0">
            <a:spAutoFit/>
          </a:bodyPr>
          <a:lstStyle/>
          <a:p>
            <a:pPr marL="12700">
              <a:lnSpc>
                <a:spcPct val="100000"/>
              </a:lnSpc>
              <a:spcBef>
                <a:spcPts val="100"/>
              </a:spcBef>
            </a:pPr>
            <a:r>
              <a:rPr spc="35" dirty="0"/>
              <a:t>Objecti</a:t>
            </a:r>
            <a:r>
              <a:rPr dirty="0"/>
              <a:t>v</a:t>
            </a:r>
            <a:r>
              <a:rPr spc="35" dirty="0"/>
              <a: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B4B92-7559-D24D-9D4D-05FDACB5DDCC}"/>
              </a:ext>
            </a:extLst>
          </p:cNvPr>
          <p:cNvSpPr>
            <a:spLocks noGrp="1"/>
          </p:cNvSpPr>
          <p:nvPr>
            <p:ph type="title"/>
          </p:nvPr>
        </p:nvSpPr>
        <p:spPr>
          <a:xfrm>
            <a:off x="914400" y="1028803"/>
            <a:ext cx="7806689" cy="492443"/>
          </a:xfrm>
        </p:spPr>
        <p:txBody>
          <a:bodyPr/>
          <a:lstStyle/>
          <a:p>
            <a:r>
              <a:rPr lang="en-US" sz="3200" dirty="0"/>
              <a:t>Economic Studies</a:t>
            </a:r>
          </a:p>
        </p:txBody>
      </p:sp>
      <p:sp>
        <p:nvSpPr>
          <p:cNvPr id="3" name="Text Placeholder 2">
            <a:extLst>
              <a:ext uri="{FF2B5EF4-FFF2-40B4-BE49-F238E27FC236}">
                <a16:creationId xmlns:a16="http://schemas.microsoft.com/office/drawing/2014/main" id="{9AB5E1F9-1A7A-524F-A9B1-BE73983734CD}"/>
              </a:ext>
            </a:extLst>
          </p:cNvPr>
          <p:cNvSpPr>
            <a:spLocks noGrp="1"/>
          </p:cNvSpPr>
          <p:nvPr>
            <p:ph type="body" idx="1"/>
          </p:nvPr>
        </p:nvSpPr>
        <p:spPr>
          <a:xfrm>
            <a:off x="1060450" y="2057400"/>
            <a:ext cx="7806689" cy="3809504"/>
          </a:xfrm>
        </p:spPr>
        <p:txBody>
          <a:bodyPr/>
          <a:lstStyle/>
          <a:p>
            <a:pPr>
              <a:lnSpc>
                <a:spcPct val="150000"/>
              </a:lnSpc>
            </a:pPr>
            <a:r>
              <a:rPr lang="en-US" dirty="0">
                <a:solidFill>
                  <a:schemeClr val="accent6">
                    <a:lumMod val="75000"/>
                  </a:schemeClr>
                </a:solidFill>
              </a:rPr>
              <a:t>Theoretical Study</a:t>
            </a:r>
            <a:r>
              <a:rPr lang="en-US" dirty="0"/>
              <a:t>: economic theory is mostly based on mathematical modelling and rigorous proof that certain conclusions or results can be derived from certain assumptions.</a:t>
            </a:r>
          </a:p>
          <a:p>
            <a:pPr>
              <a:lnSpc>
                <a:spcPct val="150000"/>
              </a:lnSpc>
            </a:pPr>
            <a:endParaRPr lang="en-US" dirty="0"/>
          </a:p>
          <a:p>
            <a:pPr>
              <a:lnSpc>
                <a:spcPct val="150000"/>
              </a:lnSpc>
            </a:pPr>
            <a:r>
              <a:rPr lang="en-US" dirty="0">
                <a:solidFill>
                  <a:srgbClr val="0070C0"/>
                </a:solidFill>
              </a:rPr>
              <a:t>Empirical Study</a:t>
            </a:r>
            <a:r>
              <a:rPr lang="en-US" dirty="0"/>
              <a:t>: empirical work gathers evidence from the real world, usually organized into systematic data sets.</a:t>
            </a:r>
          </a:p>
        </p:txBody>
      </p:sp>
    </p:spTree>
    <p:extLst>
      <p:ext uri="{BB962C8B-B14F-4D97-AF65-F5344CB8AC3E}">
        <p14:creationId xmlns:p14="http://schemas.microsoft.com/office/powerpoint/2010/main" val="397996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82700" y="1821868"/>
            <a:ext cx="5483225" cy="3591496"/>
          </a:xfrm>
          <a:prstGeom prst="rect">
            <a:avLst/>
          </a:prstGeom>
        </p:spPr>
        <p:txBody>
          <a:bodyPr vert="horz" wrap="square" lIns="0" tIns="12700" rIns="0" bIns="0" rtlCol="0">
            <a:spAutoFit/>
          </a:bodyPr>
          <a:lstStyle/>
          <a:p>
            <a:pPr marL="12700">
              <a:lnSpc>
                <a:spcPct val="200000"/>
              </a:lnSpc>
              <a:spcBef>
                <a:spcPts val="100"/>
              </a:spcBef>
            </a:pPr>
            <a:r>
              <a:rPr sz="2400" spc="-5" dirty="0">
                <a:solidFill>
                  <a:srgbClr val="231F20"/>
                </a:solidFill>
                <a:latin typeface="Arial"/>
                <a:cs typeface="Arial"/>
              </a:rPr>
              <a:t>Demand</a:t>
            </a:r>
            <a:r>
              <a:rPr sz="2400" spc="-30" dirty="0">
                <a:solidFill>
                  <a:srgbClr val="231F20"/>
                </a:solidFill>
                <a:latin typeface="Arial"/>
                <a:cs typeface="Arial"/>
              </a:rPr>
              <a:t> </a:t>
            </a:r>
            <a:r>
              <a:rPr sz="2400" spc="-5" dirty="0">
                <a:solidFill>
                  <a:srgbClr val="231F20"/>
                </a:solidFill>
                <a:latin typeface="Arial"/>
                <a:cs typeface="Arial"/>
              </a:rPr>
              <a:t>and</a:t>
            </a:r>
            <a:r>
              <a:rPr sz="2400" spc="-25" dirty="0">
                <a:solidFill>
                  <a:srgbClr val="231F20"/>
                </a:solidFill>
                <a:latin typeface="Arial"/>
                <a:cs typeface="Arial"/>
              </a:rPr>
              <a:t> </a:t>
            </a:r>
            <a:r>
              <a:rPr sz="2400" dirty="0">
                <a:solidFill>
                  <a:srgbClr val="231F20"/>
                </a:solidFill>
                <a:latin typeface="Arial"/>
                <a:cs typeface="Arial"/>
              </a:rPr>
              <a:t>Quantity</a:t>
            </a:r>
            <a:r>
              <a:rPr sz="2400" spc="-20" dirty="0">
                <a:solidFill>
                  <a:srgbClr val="231F20"/>
                </a:solidFill>
                <a:latin typeface="Arial"/>
                <a:cs typeface="Arial"/>
              </a:rPr>
              <a:t> </a:t>
            </a:r>
            <a:r>
              <a:rPr sz="2400" spc="-5" dirty="0">
                <a:solidFill>
                  <a:srgbClr val="231F20"/>
                </a:solidFill>
                <a:latin typeface="Arial"/>
                <a:cs typeface="Arial"/>
              </a:rPr>
              <a:t>Demanded</a:t>
            </a:r>
            <a:endParaRPr sz="2400" dirty="0">
              <a:latin typeface="Arial"/>
              <a:cs typeface="Arial"/>
            </a:endParaRPr>
          </a:p>
          <a:p>
            <a:pPr marL="12700" marR="5080">
              <a:lnSpc>
                <a:spcPct val="200000"/>
              </a:lnSpc>
            </a:pPr>
            <a:r>
              <a:rPr sz="2400" dirty="0">
                <a:solidFill>
                  <a:srgbClr val="231F20"/>
                </a:solidFill>
                <a:latin typeface="Arial"/>
                <a:cs typeface="Arial"/>
              </a:rPr>
              <a:t>Supply </a:t>
            </a:r>
            <a:r>
              <a:rPr sz="2400" spc="-5" dirty="0">
                <a:solidFill>
                  <a:srgbClr val="231F20"/>
                </a:solidFill>
                <a:latin typeface="Arial"/>
                <a:cs typeface="Arial"/>
              </a:rPr>
              <a:t>and </a:t>
            </a:r>
            <a:r>
              <a:rPr sz="2400" dirty="0">
                <a:solidFill>
                  <a:srgbClr val="231F20"/>
                </a:solidFill>
                <a:latin typeface="Arial"/>
                <a:cs typeface="Arial"/>
              </a:rPr>
              <a:t>Quantity Supplied </a:t>
            </a:r>
            <a:r>
              <a:rPr sz="2400" spc="5" dirty="0">
                <a:solidFill>
                  <a:srgbClr val="231F20"/>
                </a:solidFill>
                <a:latin typeface="Arial"/>
                <a:cs typeface="Arial"/>
              </a:rPr>
              <a:t> </a:t>
            </a:r>
            <a:r>
              <a:rPr sz="2400" dirty="0">
                <a:solidFill>
                  <a:srgbClr val="231F20"/>
                </a:solidFill>
                <a:latin typeface="Arial"/>
                <a:cs typeface="Arial"/>
              </a:rPr>
              <a:t>Willingness</a:t>
            </a:r>
            <a:r>
              <a:rPr sz="2400" spc="-20" dirty="0">
                <a:solidFill>
                  <a:srgbClr val="231F20"/>
                </a:solidFill>
                <a:latin typeface="Arial"/>
                <a:cs typeface="Arial"/>
              </a:rPr>
              <a:t> </a:t>
            </a:r>
            <a:r>
              <a:rPr sz="2400" dirty="0">
                <a:solidFill>
                  <a:srgbClr val="231F20"/>
                </a:solidFill>
                <a:latin typeface="Arial"/>
                <a:cs typeface="Arial"/>
              </a:rPr>
              <a:t>to</a:t>
            </a:r>
            <a:r>
              <a:rPr sz="2400" spc="-20" dirty="0">
                <a:solidFill>
                  <a:srgbClr val="231F20"/>
                </a:solidFill>
                <a:latin typeface="Arial"/>
                <a:cs typeface="Arial"/>
              </a:rPr>
              <a:t> </a:t>
            </a:r>
            <a:r>
              <a:rPr sz="2400" dirty="0">
                <a:solidFill>
                  <a:srgbClr val="231F20"/>
                </a:solidFill>
                <a:latin typeface="Arial"/>
                <a:cs typeface="Arial"/>
              </a:rPr>
              <a:t>Pay</a:t>
            </a:r>
            <a:r>
              <a:rPr sz="2400" spc="-20" dirty="0">
                <a:solidFill>
                  <a:srgbClr val="231F20"/>
                </a:solidFill>
                <a:latin typeface="Arial"/>
                <a:cs typeface="Arial"/>
              </a:rPr>
              <a:t> </a:t>
            </a:r>
            <a:r>
              <a:rPr sz="2400" spc="-5" dirty="0">
                <a:solidFill>
                  <a:srgbClr val="231F20"/>
                </a:solidFill>
                <a:latin typeface="Arial"/>
                <a:cs typeface="Arial"/>
              </a:rPr>
              <a:t>and</a:t>
            </a:r>
            <a:r>
              <a:rPr sz="2400" spc="-20" dirty="0">
                <a:solidFill>
                  <a:srgbClr val="231F20"/>
                </a:solidFill>
                <a:latin typeface="Arial"/>
                <a:cs typeface="Arial"/>
              </a:rPr>
              <a:t> </a:t>
            </a:r>
            <a:r>
              <a:rPr sz="2400" dirty="0">
                <a:solidFill>
                  <a:srgbClr val="231F20"/>
                </a:solidFill>
                <a:latin typeface="Arial"/>
                <a:cs typeface="Arial"/>
              </a:rPr>
              <a:t>Opportunity</a:t>
            </a:r>
            <a:r>
              <a:rPr sz="2400" spc="-20" dirty="0">
                <a:solidFill>
                  <a:srgbClr val="231F20"/>
                </a:solidFill>
                <a:latin typeface="Arial"/>
                <a:cs typeface="Arial"/>
              </a:rPr>
              <a:t> </a:t>
            </a:r>
            <a:r>
              <a:rPr sz="2400" spc="-5" dirty="0">
                <a:solidFill>
                  <a:srgbClr val="231F20"/>
                </a:solidFill>
                <a:latin typeface="Arial"/>
                <a:cs typeface="Arial"/>
              </a:rPr>
              <a:t>Cost </a:t>
            </a:r>
            <a:r>
              <a:rPr sz="2400" spc="-650" dirty="0">
                <a:solidFill>
                  <a:srgbClr val="231F20"/>
                </a:solidFill>
                <a:latin typeface="Arial"/>
                <a:cs typeface="Arial"/>
              </a:rPr>
              <a:t> </a:t>
            </a:r>
            <a:r>
              <a:rPr sz="2400" dirty="0">
                <a:solidFill>
                  <a:srgbClr val="231F20"/>
                </a:solidFill>
                <a:latin typeface="Arial"/>
                <a:cs typeface="Arial"/>
              </a:rPr>
              <a:t>Market</a:t>
            </a:r>
            <a:r>
              <a:rPr sz="2400" spc="-5" dirty="0">
                <a:solidFill>
                  <a:srgbClr val="231F20"/>
                </a:solidFill>
                <a:latin typeface="Arial"/>
                <a:cs typeface="Arial"/>
              </a:rPr>
              <a:t> </a:t>
            </a:r>
            <a:r>
              <a:rPr sz="2400" dirty="0">
                <a:solidFill>
                  <a:srgbClr val="231F20"/>
                </a:solidFill>
                <a:latin typeface="Arial"/>
                <a:cs typeface="Arial"/>
              </a:rPr>
              <a:t>Equilibrium</a:t>
            </a:r>
            <a:endParaRPr lang="en-US" sz="2400" dirty="0">
              <a:solidFill>
                <a:srgbClr val="231F20"/>
              </a:solidFill>
              <a:latin typeface="Arial"/>
              <a:cs typeface="Arial"/>
            </a:endParaRPr>
          </a:p>
          <a:p>
            <a:pPr marL="12700">
              <a:lnSpc>
                <a:spcPct val="200000"/>
              </a:lnSpc>
            </a:pPr>
            <a:r>
              <a:rPr sz="2400" dirty="0">
                <a:solidFill>
                  <a:srgbClr val="231F20"/>
                </a:solidFill>
                <a:latin typeface="Arial"/>
                <a:cs typeface="Arial"/>
              </a:rPr>
              <a:t>Economic</a:t>
            </a:r>
            <a:r>
              <a:rPr sz="2400" spc="-135" dirty="0">
                <a:solidFill>
                  <a:srgbClr val="231F20"/>
                </a:solidFill>
                <a:latin typeface="Arial"/>
                <a:cs typeface="Arial"/>
              </a:rPr>
              <a:t> </a:t>
            </a:r>
            <a:r>
              <a:rPr sz="2400" dirty="0">
                <a:solidFill>
                  <a:srgbClr val="231F20"/>
                </a:solidFill>
                <a:latin typeface="Arial"/>
                <a:cs typeface="Arial"/>
              </a:rPr>
              <a:t>Agent</a:t>
            </a:r>
            <a:endParaRPr sz="2400" dirty="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4</a:t>
            </a:fld>
            <a:endParaRPr dirty="0"/>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316230">
              <a:lnSpc>
                <a:spcPct val="100000"/>
              </a:lnSpc>
              <a:spcBef>
                <a:spcPts val="100"/>
              </a:spcBef>
            </a:pPr>
            <a:r>
              <a:rPr spc="15" dirty="0"/>
              <a:t>Review:</a:t>
            </a:r>
            <a:r>
              <a:rPr spc="50" dirty="0"/>
              <a:t> </a:t>
            </a:r>
            <a:r>
              <a:rPr spc="20" dirty="0"/>
              <a:t>The</a:t>
            </a:r>
            <a:r>
              <a:rPr spc="50" dirty="0"/>
              <a:t> </a:t>
            </a:r>
            <a:r>
              <a:rPr spc="20" dirty="0"/>
              <a:t>market</a:t>
            </a:r>
            <a:r>
              <a:rPr spc="55" dirty="0"/>
              <a:t> </a:t>
            </a:r>
            <a:r>
              <a:rPr spc="35" dirty="0"/>
              <a:t>Mechanism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2819" y="933624"/>
            <a:ext cx="1971675" cy="574040"/>
          </a:xfrm>
          <a:prstGeom prst="rect">
            <a:avLst/>
          </a:prstGeom>
        </p:spPr>
        <p:txBody>
          <a:bodyPr vert="horz" wrap="square" lIns="0" tIns="12700" rIns="0" bIns="0" rtlCol="0">
            <a:spAutoFit/>
          </a:bodyPr>
          <a:lstStyle/>
          <a:p>
            <a:pPr marL="12700">
              <a:lnSpc>
                <a:spcPct val="100000"/>
              </a:lnSpc>
              <a:spcBef>
                <a:spcPts val="100"/>
              </a:spcBef>
            </a:pPr>
            <a:r>
              <a:rPr spc="35" dirty="0"/>
              <a:t>Demand</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5</a:t>
            </a:fld>
            <a:endParaRPr dirty="0"/>
          </a:p>
        </p:txBody>
      </p:sp>
      <p:sp>
        <p:nvSpPr>
          <p:cNvPr id="3" name="object 3"/>
          <p:cNvSpPr txBox="1"/>
          <p:nvPr/>
        </p:nvSpPr>
        <p:spPr>
          <a:xfrm>
            <a:off x="1374139" y="2315420"/>
            <a:ext cx="6200140" cy="2546851"/>
          </a:xfrm>
          <a:prstGeom prst="rect">
            <a:avLst/>
          </a:prstGeom>
        </p:spPr>
        <p:txBody>
          <a:bodyPr vert="horz" wrap="square" lIns="0" tIns="12700" rIns="0" bIns="0" rtlCol="0">
            <a:spAutoFit/>
          </a:bodyPr>
          <a:lstStyle/>
          <a:p>
            <a:pPr marL="12700" marR="5080">
              <a:lnSpc>
                <a:spcPct val="100000"/>
              </a:lnSpc>
              <a:spcBef>
                <a:spcPts val="100"/>
              </a:spcBef>
              <a:tabLst>
                <a:tab pos="668020" algn="l"/>
                <a:tab pos="1913889" algn="l"/>
                <a:tab pos="3470910" algn="l"/>
                <a:tab pos="3893820" algn="l"/>
                <a:tab pos="4533900" algn="l"/>
                <a:tab pos="5375275" algn="l"/>
                <a:tab pos="5767705" algn="l"/>
              </a:tabLst>
            </a:pPr>
            <a:r>
              <a:rPr sz="2200" b="1" dirty="0">
                <a:solidFill>
                  <a:srgbClr val="3369E8"/>
                </a:solidFill>
                <a:latin typeface="Arial"/>
                <a:cs typeface="Arial"/>
              </a:rPr>
              <a:t>The	quantity	demanded	of	</a:t>
            </a:r>
            <a:r>
              <a:rPr sz="2200" b="1" spc="-5" dirty="0">
                <a:solidFill>
                  <a:srgbClr val="3369E8"/>
                </a:solidFill>
                <a:latin typeface="Arial"/>
                <a:cs typeface="Arial"/>
              </a:rPr>
              <a:t>an</a:t>
            </a:r>
            <a:r>
              <a:rPr sz="2200" b="1" dirty="0">
                <a:solidFill>
                  <a:srgbClr val="3369E8"/>
                </a:solidFill>
                <a:latin typeface="Arial"/>
                <a:cs typeface="Arial"/>
              </a:rPr>
              <a:t>y	good	is	the  </a:t>
            </a:r>
            <a:r>
              <a:rPr sz="2200" b="1" spc="-5" dirty="0">
                <a:solidFill>
                  <a:srgbClr val="3369E8"/>
                </a:solidFill>
                <a:latin typeface="Arial"/>
                <a:cs typeface="Arial"/>
              </a:rPr>
              <a:t>amount</a:t>
            </a:r>
            <a:r>
              <a:rPr sz="2200" b="1" spc="-55" dirty="0">
                <a:solidFill>
                  <a:srgbClr val="3369E8"/>
                </a:solidFill>
                <a:latin typeface="Arial"/>
                <a:cs typeface="Arial"/>
              </a:rPr>
              <a:t> </a:t>
            </a:r>
            <a:r>
              <a:rPr sz="2200" b="1" dirty="0">
                <a:solidFill>
                  <a:srgbClr val="3369E8"/>
                </a:solidFill>
                <a:latin typeface="Arial"/>
                <a:cs typeface="Arial"/>
              </a:rPr>
              <a:t>of</a:t>
            </a:r>
            <a:r>
              <a:rPr sz="2200" b="1" spc="-50" dirty="0">
                <a:solidFill>
                  <a:srgbClr val="3369E8"/>
                </a:solidFill>
                <a:latin typeface="Arial"/>
                <a:cs typeface="Arial"/>
              </a:rPr>
              <a:t> </a:t>
            </a:r>
            <a:r>
              <a:rPr sz="2200" b="1" dirty="0">
                <a:solidFill>
                  <a:srgbClr val="3369E8"/>
                </a:solidFill>
                <a:latin typeface="Arial"/>
                <a:cs typeface="Arial"/>
              </a:rPr>
              <a:t>the</a:t>
            </a:r>
            <a:r>
              <a:rPr sz="2200" b="1" spc="-50" dirty="0">
                <a:solidFill>
                  <a:srgbClr val="3369E8"/>
                </a:solidFill>
                <a:latin typeface="Arial"/>
                <a:cs typeface="Arial"/>
              </a:rPr>
              <a:t> </a:t>
            </a:r>
            <a:r>
              <a:rPr sz="2200" b="1" dirty="0">
                <a:solidFill>
                  <a:srgbClr val="3369E8"/>
                </a:solidFill>
                <a:latin typeface="Arial"/>
                <a:cs typeface="Arial"/>
              </a:rPr>
              <a:t>good</a:t>
            </a:r>
            <a:r>
              <a:rPr sz="2200" b="1" spc="-50" dirty="0">
                <a:solidFill>
                  <a:srgbClr val="3369E8"/>
                </a:solidFill>
                <a:latin typeface="Arial"/>
                <a:cs typeface="Arial"/>
              </a:rPr>
              <a:t> </a:t>
            </a:r>
            <a:r>
              <a:rPr sz="2200" b="1" dirty="0">
                <a:solidFill>
                  <a:srgbClr val="3369E8"/>
                </a:solidFill>
                <a:latin typeface="Arial"/>
                <a:cs typeface="Arial"/>
              </a:rPr>
              <a:t>that</a:t>
            </a:r>
            <a:r>
              <a:rPr sz="2200" b="1" spc="-50" dirty="0">
                <a:solidFill>
                  <a:srgbClr val="3369E8"/>
                </a:solidFill>
                <a:latin typeface="Arial"/>
                <a:cs typeface="Arial"/>
              </a:rPr>
              <a:t> </a:t>
            </a:r>
            <a:r>
              <a:rPr sz="2200" b="1" dirty="0">
                <a:solidFill>
                  <a:srgbClr val="3369E8"/>
                </a:solidFill>
                <a:latin typeface="Arial"/>
                <a:cs typeface="Arial"/>
              </a:rPr>
              <a:t>buyers</a:t>
            </a:r>
            <a:r>
              <a:rPr sz="2200" b="1" spc="-50" dirty="0">
                <a:solidFill>
                  <a:srgbClr val="3369E8"/>
                </a:solidFill>
                <a:latin typeface="Arial"/>
                <a:cs typeface="Arial"/>
              </a:rPr>
              <a:t> </a:t>
            </a:r>
            <a:r>
              <a:rPr sz="2200" b="1" spc="-5" dirty="0">
                <a:solidFill>
                  <a:srgbClr val="3369E8"/>
                </a:solidFill>
                <a:latin typeface="Arial"/>
                <a:cs typeface="Arial"/>
              </a:rPr>
              <a:t>are</a:t>
            </a:r>
            <a:r>
              <a:rPr sz="2200" b="1" spc="-50" dirty="0">
                <a:solidFill>
                  <a:srgbClr val="3369E8"/>
                </a:solidFill>
                <a:latin typeface="Arial"/>
                <a:cs typeface="Arial"/>
              </a:rPr>
              <a:t> </a:t>
            </a:r>
            <a:r>
              <a:rPr sz="2200" b="1" dirty="0">
                <a:solidFill>
                  <a:srgbClr val="3369E8"/>
                </a:solidFill>
                <a:latin typeface="Arial"/>
                <a:cs typeface="Arial"/>
              </a:rPr>
              <a:t>willing</a:t>
            </a:r>
            <a:r>
              <a:rPr sz="2200" b="1" spc="-50" dirty="0">
                <a:solidFill>
                  <a:srgbClr val="3369E8"/>
                </a:solidFill>
                <a:latin typeface="Arial"/>
                <a:cs typeface="Arial"/>
              </a:rPr>
              <a:t> </a:t>
            </a:r>
            <a:r>
              <a:rPr sz="2200" b="1" spc="-5" dirty="0">
                <a:solidFill>
                  <a:srgbClr val="3369E8"/>
                </a:solidFill>
                <a:latin typeface="Arial"/>
                <a:cs typeface="Arial"/>
              </a:rPr>
              <a:t>and</a:t>
            </a:r>
            <a:endParaRPr sz="2200" dirty="0">
              <a:latin typeface="Arial"/>
              <a:cs typeface="Arial"/>
            </a:endParaRPr>
          </a:p>
          <a:p>
            <a:pPr marL="12700">
              <a:lnSpc>
                <a:spcPct val="100000"/>
              </a:lnSpc>
              <a:spcBef>
                <a:spcPts val="240"/>
              </a:spcBef>
            </a:pPr>
            <a:r>
              <a:rPr sz="2200" b="1" spc="-5" dirty="0">
                <a:solidFill>
                  <a:srgbClr val="3369E8"/>
                </a:solidFill>
                <a:latin typeface="Arial"/>
                <a:cs typeface="Arial"/>
              </a:rPr>
              <a:t>able</a:t>
            </a:r>
            <a:r>
              <a:rPr sz="2200" b="1" spc="-35" dirty="0">
                <a:solidFill>
                  <a:srgbClr val="3369E8"/>
                </a:solidFill>
                <a:latin typeface="Arial"/>
                <a:cs typeface="Arial"/>
              </a:rPr>
              <a:t> </a:t>
            </a:r>
            <a:r>
              <a:rPr sz="2200" b="1" dirty="0">
                <a:solidFill>
                  <a:srgbClr val="3369E8"/>
                </a:solidFill>
                <a:latin typeface="Arial"/>
                <a:cs typeface="Arial"/>
              </a:rPr>
              <a:t>to</a:t>
            </a:r>
            <a:r>
              <a:rPr sz="2200" b="1" spc="-30" dirty="0">
                <a:solidFill>
                  <a:srgbClr val="3369E8"/>
                </a:solidFill>
                <a:latin typeface="Arial"/>
                <a:cs typeface="Arial"/>
              </a:rPr>
              <a:t> </a:t>
            </a:r>
            <a:r>
              <a:rPr sz="2200" b="1" dirty="0">
                <a:solidFill>
                  <a:srgbClr val="3369E8"/>
                </a:solidFill>
                <a:latin typeface="Arial"/>
                <a:cs typeface="Arial"/>
              </a:rPr>
              <a:t>purchase.</a:t>
            </a:r>
            <a:endParaRPr sz="2200" dirty="0">
              <a:latin typeface="Arial"/>
              <a:cs typeface="Arial"/>
            </a:endParaRPr>
          </a:p>
          <a:p>
            <a:pPr>
              <a:lnSpc>
                <a:spcPct val="100000"/>
              </a:lnSpc>
            </a:pPr>
            <a:endParaRPr sz="2400" dirty="0">
              <a:latin typeface="Arial"/>
              <a:cs typeface="Arial"/>
            </a:endParaRPr>
          </a:p>
          <a:p>
            <a:pPr marL="1192530" indent="-266065">
              <a:lnSpc>
                <a:spcPct val="100000"/>
              </a:lnSpc>
              <a:spcBef>
                <a:spcPts val="1600"/>
              </a:spcBef>
              <a:buClr>
                <a:srgbClr val="3369E8"/>
              </a:buClr>
              <a:buSzPct val="150000"/>
              <a:buChar char="•"/>
              <a:tabLst>
                <a:tab pos="1193165" algn="l"/>
              </a:tabLst>
            </a:pPr>
            <a:r>
              <a:rPr sz="2400" spc="-5" dirty="0">
                <a:solidFill>
                  <a:srgbClr val="231F20"/>
                </a:solidFill>
                <a:latin typeface="Arial"/>
                <a:cs typeface="Arial"/>
              </a:rPr>
              <a:t>want</a:t>
            </a:r>
            <a:r>
              <a:rPr sz="2400" spc="-50" dirty="0">
                <a:solidFill>
                  <a:srgbClr val="231F20"/>
                </a:solidFill>
                <a:latin typeface="Arial"/>
                <a:cs typeface="Arial"/>
              </a:rPr>
              <a:t> </a:t>
            </a:r>
            <a:r>
              <a:rPr sz="2400" spc="-5" dirty="0">
                <a:solidFill>
                  <a:srgbClr val="231F20"/>
                </a:solidFill>
                <a:latin typeface="Arial"/>
                <a:cs typeface="Arial"/>
              </a:rPr>
              <a:t>it</a:t>
            </a:r>
            <a:endParaRPr sz="2400" dirty="0">
              <a:latin typeface="Arial"/>
              <a:cs typeface="Arial"/>
            </a:endParaRPr>
          </a:p>
          <a:p>
            <a:pPr marL="1192530" indent="-266065">
              <a:lnSpc>
                <a:spcPct val="100000"/>
              </a:lnSpc>
              <a:spcBef>
                <a:spcPts val="1440"/>
              </a:spcBef>
              <a:buClr>
                <a:srgbClr val="3369E8"/>
              </a:buClr>
              <a:buSzPct val="150000"/>
              <a:buChar char="•"/>
              <a:tabLst>
                <a:tab pos="1193165" algn="l"/>
              </a:tabLst>
            </a:pPr>
            <a:r>
              <a:rPr sz="2400" dirty="0">
                <a:solidFill>
                  <a:srgbClr val="231F20"/>
                </a:solidFill>
                <a:latin typeface="Arial"/>
                <a:cs typeface="Arial"/>
              </a:rPr>
              <a:t>can</a:t>
            </a:r>
            <a:r>
              <a:rPr sz="2400" spc="-30" dirty="0">
                <a:solidFill>
                  <a:srgbClr val="231F20"/>
                </a:solidFill>
                <a:latin typeface="Arial"/>
                <a:cs typeface="Arial"/>
              </a:rPr>
              <a:t> </a:t>
            </a:r>
            <a:r>
              <a:rPr sz="2400" spc="-10" dirty="0">
                <a:solidFill>
                  <a:srgbClr val="231F20"/>
                </a:solidFill>
                <a:latin typeface="Arial"/>
                <a:cs typeface="Arial"/>
              </a:rPr>
              <a:t>afford</a:t>
            </a:r>
            <a:r>
              <a:rPr sz="2400" spc="-30" dirty="0">
                <a:solidFill>
                  <a:srgbClr val="231F20"/>
                </a:solidFill>
                <a:latin typeface="Arial"/>
                <a:cs typeface="Arial"/>
              </a:rPr>
              <a:t> </a:t>
            </a:r>
            <a:r>
              <a:rPr sz="2400" spc="-5" dirty="0">
                <a:solidFill>
                  <a:srgbClr val="231F20"/>
                </a:solidFill>
                <a:latin typeface="Arial"/>
                <a:cs typeface="Arial"/>
              </a:rPr>
              <a:t>it</a:t>
            </a:r>
            <a:endParaRPr sz="2400" dirty="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2819" y="933624"/>
            <a:ext cx="3665220" cy="574040"/>
          </a:xfrm>
          <a:prstGeom prst="rect">
            <a:avLst/>
          </a:prstGeom>
        </p:spPr>
        <p:txBody>
          <a:bodyPr vert="horz" wrap="square" lIns="0" tIns="12700" rIns="0" bIns="0" rtlCol="0">
            <a:spAutoFit/>
          </a:bodyPr>
          <a:lstStyle/>
          <a:p>
            <a:pPr marL="12700">
              <a:lnSpc>
                <a:spcPct val="100000"/>
              </a:lnSpc>
              <a:spcBef>
                <a:spcPts val="100"/>
              </a:spcBef>
            </a:pPr>
            <a:r>
              <a:rPr sz="3600" spc="15" dirty="0">
                <a:solidFill>
                  <a:srgbClr val="3369E8"/>
                </a:solidFill>
                <a:latin typeface="Verdana"/>
                <a:cs typeface="Verdana"/>
              </a:rPr>
              <a:t>Law</a:t>
            </a:r>
            <a:r>
              <a:rPr sz="3600" spc="25" dirty="0">
                <a:solidFill>
                  <a:srgbClr val="3369E8"/>
                </a:solidFill>
                <a:latin typeface="Verdana"/>
                <a:cs typeface="Verdana"/>
              </a:rPr>
              <a:t> </a:t>
            </a:r>
            <a:r>
              <a:rPr sz="3600" spc="15" dirty="0">
                <a:solidFill>
                  <a:srgbClr val="3369E8"/>
                </a:solidFill>
                <a:latin typeface="Verdana"/>
                <a:cs typeface="Verdana"/>
              </a:rPr>
              <a:t>of</a:t>
            </a:r>
            <a:r>
              <a:rPr sz="3600" spc="25" dirty="0">
                <a:solidFill>
                  <a:srgbClr val="3369E8"/>
                </a:solidFill>
                <a:latin typeface="Verdana"/>
                <a:cs typeface="Verdana"/>
              </a:rPr>
              <a:t> </a:t>
            </a:r>
            <a:r>
              <a:rPr sz="3600" spc="35" dirty="0">
                <a:solidFill>
                  <a:srgbClr val="3369E8"/>
                </a:solidFill>
                <a:latin typeface="Verdana"/>
                <a:cs typeface="Verdana"/>
              </a:rPr>
              <a:t>Demand</a:t>
            </a:r>
            <a:endParaRPr sz="3600">
              <a:latin typeface="Verdana"/>
              <a:cs typeface="Verdana"/>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6</a:t>
            </a:fld>
            <a:endParaRPr dirty="0"/>
          </a:p>
        </p:txBody>
      </p:sp>
      <p:sp>
        <p:nvSpPr>
          <p:cNvPr id="3" name="object 3"/>
          <p:cNvSpPr txBox="1"/>
          <p:nvPr/>
        </p:nvSpPr>
        <p:spPr>
          <a:xfrm>
            <a:off x="1468967" y="2586777"/>
            <a:ext cx="5860415" cy="1964705"/>
          </a:xfrm>
          <a:prstGeom prst="rect">
            <a:avLst/>
          </a:prstGeom>
        </p:spPr>
        <p:txBody>
          <a:bodyPr vert="horz" wrap="square" lIns="0" tIns="12700" rIns="0" bIns="0" rtlCol="0">
            <a:spAutoFit/>
          </a:bodyPr>
          <a:lstStyle/>
          <a:p>
            <a:pPr marL="12700" marR="5080">
              <a:lnSpc>
                <a:spcPct val="200000"/>
              </a:lnSpc>
              <a:spcBef>
                <a:spcPts val="100"/>
              </a:spcBef>
            </a:pPr>
            <a:r>
              <a:rPr sz="2200" b="1" dirty="0">
                <a:solidFill>
                  <a:srgbClr val="3369E8"/>
                </a:solidFill>
                <a:latin typeface="Arial"/>
                <a:cs typeface="Arial"/>
              </a:rPr>
              <a:t>The</a:t>
            </a:r>
            <a:r>
              <a:rPr sz="2200" b="1" spc="-40" dirty="0">
                <a:solidFill>
                  <a:srgbClr val="3369E8"/>
                </a:solidFill>
                <a:latin typeface="Arial"/>
                <a:cs typeface="Arial"/>
              </a:rPr>
              <a:t> </a:t>
            </a:r>
            <a:r>
              <a:rPr sz="2200" b="1" spc="-5" dirty="0">
                <a:solidFill>
                  <a:srgbClr val="3369E8"/>
                </a:solidFill>
                <a:latin typeface="Arial"/>
                <a:cs typeface="Arial"/>
              </a:rPr>
              <a:t>claim</a:t>
            </a:r>
            <a:r>
              <a:rPr sz="2200" b="1" spc="-40" dirty="0">
                <a:solidFill>
                  <a:srgbClr val="3369E8"/>
                </a:solidFill>
                <a:latin typeface="Arial"/>
                <a:cs typeface="Arial"/>
              </a:rPr>
              <a:t> </a:t>
            </a:r>
            <a:r>
              <a:rPr sz="2200" b="1" dirty="0">
                <a:solidFill>
                  <a:srgbClr val="3369E8"/>
                </a:solidFill>
                <a:latin typeface="Arial"/>
                <a:cs typeface="Arial"/>
              </a:rPr>
              <a:t>that</a:t>
            </a:r>
            <a:r>
              <a:rPr sz="2200" b="1" spc="-35" dirty="0">
                <a:solidFill>
                  <a:srgbClr val="3369E8"/>
                </a:solidFill>
                <a:latin typeface="Arial"/>
                <a:cs typeface="Arial"/>
              </a:rPr>
              <a:t> </a:t>
            </a:r>
            <a:r>
              <a:rPr sz="2200" b="1" dirty="0">
                <a:solidFill>
                  <a:srgbClr val="D2232A"/>
                </a:solidFill>
                <a:latin typeface="Arial"/>
                <a:cs typeface="Arial"/>
              </a:rPr>
              <a:t>quantity</a:t>
            </a:r>
            <a:r>
              <a:rPr sz="2200" b="1" spc="-35" dirty="0">
                <a:solidFill>
                  <a:srgbClr val="D2232A"/>
                </a:solidFill>
                <a:latin typeface="Arial"/>
                <a:cs typeface="Arial"/>
              </a:rPr>
              <a:t> </a:t>
            </a:r>
            <a:r>
              <a:rPr sz="2200" b="1" dirty="0">
                <a:solidFill>
                  <a:srgbClr val="D2232A"/>
                </a:solidFill>
                <a:latin typeface="Arial"/>
                <a:cs typeface="Arial"/>
              </a:rPr>
              <a:t>demanded</a:t>
            </a:r>
            <a:r>
              <a:rPr sz="2200" b="1" spc="-45" dirty="0">
                <a:solidFill>
                  <a:srgbClr val="D2232A"/>
                </a:solidFill>
                <a:latin typeface="Arial"/>
                <a:cs typeface="Arial"/>
              </a:rPr>
              <a:t> </a:t>
            </a:r>
            <a:r>
              <a:rPr sz="2200" b="1" dirty="0">
                <a:solidFill>
                  <a:srgbClr val="3369E8"/>
                </a:solidFill>
                <a:latin typeface="Arial"/>
                <a:cs typeface="Arial"/>
              </a:rPr>
              <a:t>of</a:t>
            </a:r>
            <a:r>
              <a:rPr sz="2200" b="1" spc="-40" dirty="0">
                <a:solidFill>
                  <a:srgbClr val="3369E8"/>
                </a:solidFill>
                <a:latin typeface="Arial"/>
                <a:cs typeface="Arial"/>
              </a:rPr>
              <a:t> </a:t>
            </a:r>
            <a:r>
              <a:rPr sz="2200" b="1" dirty="0">
                <a:solidFill>
                  <a:srgbClr val="3369E8"/>
                </a:solidFill>
                <a:latin typeface="Arial"/>
                <a:cs typeface="Arial"/>
              </a:rPr>
              <a:t>a</a:t>
            </a:r>
            <a:r>
              <a:rPr sz="2200" b="1" spc="-35" dirty="0">
                <a:solidFill>
                  <a:srgbClr val="3369E8"/>
                </a:solidFill>
                <a:latin typeface="Arial"/>
                <a:cs typeface="Arial"/>
              </a:rPr>
              <a:t> </a:t>
            </a:r>
            <a:r>
              <a:rPr sz="2200" b="1" dirty="0">
                <a:solidFill>
                  <a:srgbClr val="3369E8"/>
                </a:solidFill>
                <a:latin typeface="Arial"/>
                <a:cs typeface="Arial"/>
              </a:rPr>
              <a:t>good </a:t>
            </a:r>
            <a:r>
              <a:rPr sz="2200" b="1" spc="-595" dirty="0">
                <a:solidFill>
                  <a:srgbClr val="3369E8"/>
                </a:solidFill>
                <a:latin typeface="Arial"/>
                <a:cs typeface="Arial"/>
              </a:rPr>
              <a:t> </a:t>
            </a:r>
            <a:r>
              <a:rPr sz="2200" b="1" dirty="0">
                <a:solidFill>
                  <a:srgbClr val="3369E8"/>
                </a:solidFill>
                <a:latin typeface="Arial"/>
                <a:cs typeface="Arial"/>
              </a:rPr>
              <a:t>falls</a:t>
            </a:r>
            <a:r>
              <a:rPr sz="2200" b="1" spc="40" dirty="0">
                <a:solidFill>
                  <a:srgbClr val="3369E8"/>
                </a:solidFill>
                <a:latin typeface="Arial"/>
                <a:cs typeface="Arial"/>
              </a:rPr>
              <a:t> </a:t>
            </a:r>
            <a:r>
              <a:rPr sz="2200" b="1" dirty="0">
                <a:solidFill>
                  <a:srgbClr val="3369E8"/>
                </a:solidFill>
                <a:latin typeface="Arial"/>
                <a:cs typeface="Arial"/>
              </a:rPr>
              <a:t>when</a:t>
            </a:r>
            <a:r>
              <a:rPr sz="2200" b="1" spc="45" dirty="0">
                <a:solidFill>
                  <a:srgbClr val="3369E8"/>
                </a:solidFill>
                <a:latin typeface="Arial"/>
                <a:cs typeface="Arial"/>
              </a:rPr>
              <a:t> </a:t>
            </a:r>
            <a:r>
              <a:rPr sz="2200" b="1" dirty="0">
                <a:solidFill>
                  <a:srgbClr val="3369E8"/>
                </a:solidFill>
                <a:latin typeface="Arial"/>
                <a:cs typeface="Arial"/>
              </a:rPr>
              <a:t>the</a:t>
            </a:r>
            <a:r>
              <a:rPr sz="2200" b="1" spc="40" dirty="0">
                <a:solidFill>
                  <a:srgbClr val="3369E8"/>
                </a:solidFill>
                <a:latin typeface="Arial"/>
                <a:cs typeface="Arial"/>
              </a:rPr>
              <a:t> </a:t>
            </a:r>
            <a:r>
              <a:rPr sz="2200" b="1" dirty="0">
                <a:solidFill>
                  <a:srgbClr val="3369E8"/>
                </a:solidFill>
                <a:latin typeface="Arial"/>
                <a:cs typeface="Arial"/>
              </a:rPr>
              <a:t>price</a:t>
            </a:r>
            <a:r>
              <a:rPr sz="2200" b="1" spc="45" dirty="0">
                <a:solidFill>
                  <a:srgbClr val="3369E8"/>
                </a:solidFill>
                <a:latin typeface="Arial"/>
                <a:cs typeface="Arial"/>
              </a:rPr>
              <a:t> </a:t>
            </a:r>
            <a:r>
              <a:rPr sz="2200" b="1" dirty="0">
                <a:solidFill>
                  <a:srgbClr val="3369E8"/>
                </a:solidFill>
                <a:latin typeface="Arial"/>
                <a:cs typeface="Arial"/>
              </a:rPr>
              <a:t>of</a:t>
            </a:r>
            <a:r>
              <a:rPr sz="2200" b="1" spc="45" dirty="0">
                <a:solidFill>
                  <a:srgbClr val="3369E8"/>
                </a:solidFill>
                <a:latin typeface="Arial"/>
                <a:cs typeface="Arial"/>
              </a:rPr>
              <a:t> </a:t>
            </a:r>
            <a:r>
              <a:rPr sz="2200" b="1" dirty="0">
                <a:solidFill>
                  <a:srgbClr val="3369E8"/>
                </a:solidFill>
                <a:latin typeface="Arial"/>
                <a:cs typeface="Arial"/>
              </a:rPr>
              <a:t>the</a:t>
            </a:r>
            <a:r>
              <a:rPr sz="2200" b="1" spc="40" dirty="0">
                <a:solidFill>
                  <a:srgbClr val="3369E8"/>
                </a:solidFill>
                <a:latin typeface="Arial"/>
                <a:cs typeface="Arial"/>
              </a:rPr>
              <a:t> </a:t>
            </a:r>
            <a:r>
              <a:rPr sz="2200" b="1" dirty="0">
                <a:solidFill>
                  <a:srgbClr val="3369E8"/>
                </a:solidFill>
                <a:latin typeface="Arial"/>
                <a:cs typeface="Arial"/>
              </a:rPr>
              <a:t>good</a:t>
            </a:r>
            <a:r>
              <a:rPr sz="2200" b="1" spc="45" dirty="0">
                <a:solidFill>
                  <a:srgbClr val="3369E8"/>
                </a:solidFill>
                <a:latin typeface="Arial"/>
                <a:cs typeface="Arial"/>
              </a:rPr>
              <a:t> </a:t>
            </a:r>
            <a:r>
              <a:rPr sz="2200" b="1" spc="-5" dirty="0">
                <a:solidFill>
                  <a:srgbClr val="3369E8"/>
                </a:solidFill>
                <a:latin typeface="Arial"/>
                <a:cs typeface="Arial"/>
              </a:rPr>
              <a:t>rises,</a:t>
            </a:r>
            <a:r>
              <a:rPr sz="2200" b="1" spc="45" dirty="0">
                <a:solidFill>
                  <a:srgbClr val="3369E8"/>
                </a:solidFill>
                <a:latin typeface="Arial"/>
                <a:cs typeface="Arial"/>
              </a:rPr>
              <a:t> </a:t>
            </a:r>
            <a:r>
              <a:rPr sz="2200" b="1" dirty="0">
                <a:solidFill>
                  <a:srgbClr val="3369E8"/>
                </a:solidFill>
                <a:latin typeface="Arial"/>
                <a:cs typeface="Arial"/>
              </a:rPr>
              <a:t>other</a:t>
            </a:r>
            <a:endParaRPr sz="2200" dirty="0">
              <a:latin typeface="Arial"/>
              <a:cs typeface="Arial"/>
            </a:endParaRPr>
          </a:p>
          <a:p>
            <a:pPr marL="12700">
              <a:lnSpc>
                <a:spcPct val="200000"/>
              </a:lnSpc>
              <a:spcBef>
                <a:spcPts val="240"/>
              </a:spcBef>
            </a:pPr>
            <a:r>
              <a:rPr sz="2200" b="1" dirty="0">
                <a:solidFill>
                  <a:srgbClr val="3369E8"/>
                </a:solidFill>
                <a:latin typeface="Arial"/>
                <a:cs typeface="Arial"/>
              </a:rPr>
              <a:t>things</a:t>
            </a:r>
            <a:r>
              <a:rPr sz="2200" b="1" spc="-50" dirty="0">
                <a:solidFill>
                  <a:srgbClr val="3369E8"/>
                </a:solidFill>
                <a:latin typeface="Arial"/>
                <a:cs typeface="Arial"/>
              </a:rPr>
              <a:t> </a:t>
            </a:r>
            <a:r>
              <a:rPr sz="2200" b="1" spc="-5" dirty="0">
                <a:solidFill>
                  <a:srgbClr val="3369E8"/>
                </a:solidFill>
                <a:latin typeface="Arial"/>
                <a:cs typeface="Arial"/>
              </a:rPr>
              <a:t>equal.</a:t>
            </a:r>
            <a:endParaRPr sz="2200" dirty="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82700" y="1821868"/>
            <a:ext cx="6492875" cy="2585720"/>
          </a:xfrm>
          <a:prstGeom prst="rect">
            <a:avLst/>
          </a:prstGeom>
        </p:spPr>
        <p:txBody>
          <a:bodyPr vert="horz" wrap="square" lIns="0" tIns="12700" rIns="0" bIns="0" rtlCol="0">
            <a:spAutoFit/>
          </a:bodyPr>
          <a:lstStyle/>
          <a:p>
            <a:pPr marL="12700" marR="5080" algn="just">
              <a:lnSpc>
                <a:spcPct val="100000"/>
              </a:lnSpc>
              <a:spcBef>
                <a:spcPts val="100"/>
              </a:spcBef>
            </a:pPr>
            <a:r>
              <a:rPr sz="2400" dirty="0">
                <a:solidFill>
                  <a:srgbClr val="231F20"/>
                </a:solidFill>
                <a:latin typeface="Arial"/>
                <a:cs typeface="Arial"/>
              </a:rPr>
              <a:t>The</a:t>
            </a:r>
            <a:r>
              <a:rPr sz="2400" spc="-70" dirty="0">
                <a:solidFill>
                  <a:srgbClr val="231F20"/>
                </a:solidFill>
                <a:latin typeface="Arial"/>
                <a:cs typeface="Arial"/>
              </a:rPr>
              <a:t> </a:t>
            </a:r>
            <a:r>
              <a:rPr sz="2400" spc="-5" dirty="0">
                <a:solidFill>
                  <a:srgbClr val="3369E8"/>
                </a:solidFill>
                <a:latin typeface="Arial"/>
                <a:cs typeface="Arial"/>
              </a:rPr>
              <a:t>quantity</a:t>
            </a:r>
            <a:r>
              <a:rPr sz="2400" spc="-70" dirty="0">
                <a:solidFill>
                  <a:srgbClr val="3369E8"/>
                </a:solidFill>
                <a:latin typeface="Arial"/>
                <a:cs typeface="Arial"/>
              </a:rPr>
              <a:t> </a:t>
            </a:r>
            <a:r>
              <a:rPr sz="2400" spc="-5" dirty="0">
                <a:solidFill>
                  <a:srgbClr val="3369E8"/>
                </a:solidFill>
                <a:latin typeface="Arial"/>
                <a:cs typeface="Arial"/>
              </a:rPr>
              <a:t>demanded</a:t>
            </a:r>
            <a:r>
              <a:rPr sz="2400" spc="-60" dirty="0">
                <a:solidFill>
                  <a:srgbClr val="3369E8"/>
                </a:solidFill>
                <a:latin typeface="Arial"/>
                <a:cs typeface="Arial"/>
              </a:rPr>
              <a:t> </a:t>
            </a:r>
            <a:r>
              <a:rPr sz="2400" spc="-5" dirty="0">
                <a:solidFill>
                  <a:srgbClr val="231F20"/>
                </a:solidFill>
                <a:latin typeface="Arial"/>
                <a:cs typeface="Arial"/>
              </a:rPr>
              <a:t>is</a:t>
            </a:r>
            <a:r>
              <a:rPr sz="2400" spc="-70" dirty="0">
                <a:solidFill>
                  <a:srgbClr val="231F20"/>
                </a:solidFill>
                <a:latin typeface="Arial"/>
                <a:cs typeface="Arial"/>
              </a:rPr>
              <a:t> </a:t>
            </a:r>
            <a:r>
              <a:rPr sz="2400" dirty="0">
                <a:solidFill>
                  <a:srgbClr val="231F20"/>
                </a:solidFill>
                <a:latin typeface="Arial"/>
                <a:cs typeface="Arial"/>
              </a:rPr>
              <a:t>the</a:t>
            </a:r>
            <a:r>
              <a:rPr sz="2400" spc="-65" dirty="0">
                <a:solidFill>
                  <a:srgbClr val="231F20"/>
                </a:solidFill>
                <a:latin typeface="Arial"/>
                <a:cs typeface="Arial"/>
              </a:rPr>
              <a:t> </a:t>
            </a:r>
            <a:r>
              <a:rPr sz="2400" spc="-5" dirty="0">
                <a:solidFill>
                  <a:srgbClr val="231F20"/>
                </a:solidFill>
                <a:latin typeface="Arial"/>
                <a:cs typeface="Arial"/>
              </a:rPr>
              <a:t>quantity</a:t>
            </a:r>
            <a:r>
              <a:rPr sz="2400" spc="-65" dirty="0">
                <a:solidFill>
                  <a:srgbClr val="231F20"/>
                </a:solidFill>
                <a:latin typeface="Arial"/>
                <a:cs typeface="Arial"/>
              </a:rPr>
              <a:t> </a:t>
            </a:r>
            <a:r>
              <a:rPr sz="2400" spc="-5" dirty="0">
                <a:solidFill>
                  <a:srgbClr val="231F20"/>
                </a:solidFill>
                <a:latin typeface="Arial"/>
                <a:cs typeface="Arial"/>
              </a:rPr>
              <a:t>of</a:t>
            </a:r>
            <a:r>
              <a:rPr sz="2400" spc="-70" dirty="0">
                <a:solidFill>
                  <a:srgbClr val="231F20"/>
                </a:solidFill>
                <a:latin typeface="Arial"/>
                <a:cs typeface="Arial"/>
              </a:rPr>
              <a:t> </a:t>
            </a:r>
            <a:r>
              <a:rPr sz="2400" dirty="0">
                <a:solidFill>
                  <a:srgbClr val="231F20"/>
                </a:solidFill>
                <a:latin typeface="Arial"/>
                <a:cs typeface="Arial"/>
              </a:rPr>
              <a:t>a</a:t>
            </a:r>
            <a:r>
              <a:rPr sz="2400" spc="-70" dirty="0">
                <a:solidFill>
                  <a:srgbClr val="231F20"/>
                </a:solidFill>
                <a:latin typeface="Arial"/>
                <a:cs typeface="Arial"/>
              </a:rPr>
              <a:t> </a:t>
            </a:r>
            <a:r>
              <a:rPr sz="2400" spc="-5" dirty="0">
                <a:solidFill>
                  <a:srgbClr val="231F20"/>
                </a:solidFill>
                <a:latin typeface="Arial"/>
                <a:cs typeface="Arial"/>
              </a:rPr>
              <a:t>good </a:t>
            </a:r>
            <a:r>
              <a:rPr sz="2400" spc="-655" dirty="0">
                <a:solidFill>
                  <a:srgbClr val="231F20"/>
                </a:solidFill>
                <a:latin typeface="Arial"/>
                <a:cs typeface="Arial"/>
              </a:rPr>
              <a:t> </a:t>
            </a:r>
            <a:r>
              <a:rPr sz="2400" spc="-5" dirty="0">
                <a:solidFill>
                  <a:srgbClr val="231F20"/>
                </a:solidFill>
                <a:latin typeface="Arial"/>
                <a:cs typeface="Arial"/>
              </a:rPr>
              <a:t>or</a:t>
            </a:r>
            <a:r>
              <a:rPr sz="2400" spc="-70" dirty="0">
                <a:solidFill>
                  <a:srgbClr val="231F20"/>
                </a:solidFill>
                <a:latin typeface="Arial"/>
                <a:cs typeface="Arial"/>
              </a:rPr>
              <a:t> </a:t>
            </a:r>
            <a:r>
              <a:rPr sz="2400" dirty="0">
                <a:solidFill>
                  <a:srgbClr val="231F20"/>
                </a:solidFill>
                <a:latin typeface="Arial"/>
                <a:cs typeface="Arial"/>
              </a:rPr>
              <a:t>service</a:t>
            </a:r>
            <a:r>
              <a:rPr sz="2400" spc="-65" dirty="0">
                <a:solidFill>
                  <a:srgbClr val="231F20"/>
                </a:solidFill>
                <a:latin typeface="Arial"/>
                <a:cs typeface="Arial"/>
              </a:rPr>
              <a:t> </a:t>
            </a:r>
            <a:r>
              <a:rPr sz="2400" dirty="0">
                <a:solidFill>
                  <a:srgbClr val="231F20"/>
                </a:solidFill>
                <a:latin typeface="Arial"/>
                <a:cs typeface="Arial"/>
              </a:rPr>
              <a:t>that</a:t>
            </a:r>
            <a:r>
              <a:rPr sz="2400" spc="-65" dirty="0">
                <a:solidFill>
                  <a:srgbClr val="231F20"/>
                </a:solidFill>
                <a:latin typeface="Arial"/>
                <a:cs typeface="Arial"/>
              </a:rPr>
              <a:t> </a:t>
            </a:r>
            <a:r>
              <a:rPr sz="2400" dirty="0">
                <a:solidFill>
                  <a:srgbClr val="231F20"/>
                </a:solidFill>
                <a:latin typeface="Arial"/>
                <a:cs typeface="Arial"/>
              </a:rPr>
              <a:t>consumers</a:t>
            </a:r>
            <a:r>
              <a:rPr sz="2400" spc="-65" dirty="0">
                <a:solidFill>
                  <a:srgbClr val="231F20"/>
                </a:solidFill>
                <a:latin typeface="Arial"/>
                <a:cs typeface="Arial"/>
              </a:rPr>
              <a:t> </a:t>
            </a:r>
            <a:r>
              <a:rPr sz="2400" spc="-5" dirty="0">
                <a:solidFill>
                  <a:srgbClr val="231F20"/>
                </a:solidFill>
                <a:latin typeface="Arial"/>
                <a:cs typeface="Arial"/>
              </a:rPr>
              <a:t>are</a:t>
            </a:r>
            <a:r>
              <a:rPr sz="2400" spc="-65" dirty="0">
                <a:solidFill>
                  <a:srgbClr val="231F20"/>
                </a:solidFill>
                <a:latin typeface="Arial"/>
                <a:cs typeface="Arial"/>
              </a:rPr>
              <a:t> </a:t>
            </a:r>
            <a:r>
              <a:rPr sz="2400" spc="-5" dirty="0">
                <a:solidFill>
                  <a:srgbClr val="231F20"/>
                </a:solidFill>
                <a:latin typeface="Arial"/>
                <a:cs typeface="Arial"/>
              </a:rPr>
              <a:t>willing</a:t>
            </a:r>
            <a:r>
              <a:rPr sz="2400" spc="-65" dirty="0">
                <a:solidFill>
                  <a:srgbClr val="231F20"/>
                </a:solidFill>
                <a:latin typeface="Arial"/>
                <a:cs typeface="Arial"/>
              </a:rPr>
              <a:t> </a:t>
            </a:r>
            <a:r>
              <a:rPr sz="2400" spc="-5" dirty="0">
                <a:solidFill>
                  <a:srgbClr val="231F20"/>
                </a:solidFill>
                <a:latin typeface="Arial"/>
                <a:cs typeface="Arial"/>
              </a:rPr>
              <a:t>and</a:t>
            </a:r>
            <a:r>
              <a:rPr sz="2400" spc="-60" dirty="0">
                <a:solidFill>
                  <a:srgbClr val="231F20"/>
                </a:solidFill>
                <a:latin typeface="Arial"/>
                <a:cs typeface="Arial"/>
              </a:rPr>
              <a:t> </a:t>
            </a:r>
            <a:r>
              <a:rPr sz="2400" spc="-5" dirty="0">
                <a:solidFill>
                  <a:srgbClr val="231F20"/>
                </a:solidFill>
                <a:latin typeface="Arial"/>
                <a:cs typeface="Arial"/>
              </a:rPr>
              <a:t>able</a:t>
            </a:r>
            <a:r>
              <a:rPr sz="2400" spc="-65" dirty="0">
                <a:solidFill>
                  <a:srgbClr val="231F20"/>
                </a:solidFill>
                <a:latin typeface="Arial"/>
                <a:cs typeface="Arial"/>
              </a:rPr>
              <a:t> </a:t>
            </a:r>
            <a:r>
              <a:rPr sz="2400" dirty="0">
                <a:solidFill>
                  <a:srgbClr val="231F20"/>
                </a:solidFill>
                <a:latin typeface="Arial"/>
                <a:cs typeface="Arial"/>
              </a:rPr>
              <a:t>to </a:t>
            </a:r>
            <a:r>
              <a:rPr sz="2400" spc="-655" dirty="0">
                <a:solidFill>
                  <a:srgbClr val="231F20"/>
                </a:solidFill>
                <a:latin typeface="Arial"/>
                <a:cs typeface="Arial"/>
              </a:rPr>
              <a:t> </a:t>
            </a:r>
            <a:r>
              <a:rPr sz="2400" spc="-5" dirty="0">
                <a:solidFill>
                  <a:srgbClr val="231F20"/>
                </a:solidFill>
                <a:latin typeface="Arial"/>
                <a:cs typeface="Arial"/>
              </a:rPr>
              <a:t>purchase during </a:t>
            </a:r>
            <a:r>
              <a:rPr sz="2400" dirty="0">
                <a:solidFill>
                  <a:srgbClr val="231F20"/>
                </a:solidFill>
                <a:latin typeface="Arial"/>
                <a:cs typeface="Arial"/>
              </a:rPr>
              <a:t>a </a:t>
            </a:r>
            <a:r>
              <a:rPr sz="2400" spc="-5" dirty="0">
                <a:solidFill>
                  <a:srgbClr val="231F20"/>
                </a:solidFill>
                <a:latin typeface="Arial"/>
                <a:cs typeface="Arial"/>
              </a:rPr>
              <a:t>given </a:t>
            </a:r>
            <a:r>
              <a:rPr sz="2400" dirty="0">
                <a:solidFill>
                  <a:srgbClr val="231F20"/>
                </a:solidFill>
                <a:latin typeface="Arial"/>
                <a:cs typeface="Arial"/>
              </a:rPr>
              <a:t>time </a:t>
            </a:r>
            <a:r>
              <a:rPr sz="2400" spc="-5" dirty="0">
                <a:solidFill>
                  <a:srgbClr val="231F20"/>
                </a:solidFill>
                <a:latin typeface="Arial"/>
                <a:cs typeface="Arial"/>
              </a:rPr>
              <a:t>period </a:t>
            </a:r>
            <a:r>
              <a:rPr sz="2400" spc="-5" dirty="0">
                <a:solidFill>
                  <a:srgbClr val="F08D00"/>
                </a:solidFill>
                <a:latin typeface="Arial"/>
                <a:cs typeface="Arial"/>
              </a:rPr>
              <a:t>at </a:t>
            </a:r>
            <a:r>
              <a:rPr sz="2400" dirty="0">
                <a:solidFill>
                  <a:srgbClr val="F08D00"/>
                </a:solidFill>
                <a:latin typeface="Arial"/>
                <a:cs typeface="Arial"/>
              </a:rPr>
              <a:t>a certain </a:t>
            </a:r>
            <a:r>
              <a:rPr sz="2400" spc="-655" dirty="0">
                <a:solidFill>
                  <a:srgbClr val="F08D00"/>
                </a:solidFill>
                <a:latin typeface="Arial"/>
                <a:cs typeface="Arial"/>
              </a:rPr>
              <a:t> </a:t>
            </a:r>
            <a:r>
              <a:rPr sz="2400" spc="-5" dirty="0">
                <a:solidFill>
                  <a:srgbClr val="F08D00"/>
                </a:solidFill>
                <a:latin typeface="Arial"/>
                <a:cs typeface="Arial"/>
              </a:rPr>
              <a:t>price</a:t>
            </a:r>
            <a:r>
              <a:rPr sz="2400" spc="-5" dirty="0">
                <a:solidFill>
                  <a:srgbClr val="231F20"/>
                </a:solidFill>
                <a:latin typeface="Arial"/>
                <a:cs typeface="Arial"/>
              </a:rPr>
              <a:t>.</a:t>
            </a:r>
            <a:endParaRPr sz="2400">
              <a:latin typeface="Arial"/>
              <a:cs typeface="Arial"/>
            </a:endParaRPr>
          </a:p>
          <a:p>
            <a:pPr>
              <a:lnSpc>
                <a:spcPct val="100000"/>
              </a:lnSpc>
              <a:spcBef>
                <a:spcPts val="5"/>
              </a:spcBef>
            </a:pPr>
            <a:endParaRPr sz="2500">
              <a:latin typeface="Arial"/>
              <a:cs typeface="Arial"/>
            </a:endParaRPr>
          </a:p>
          <a:p>
            <a:pPr marL="12700" marR="5715" algn="just">
              <a:lnSpc>
                <a:spcPct val="100000"/>
              </a:lnSpc>
            </a:pPr>
            <a:r>
              <a:rPr sz="2400" dirty="0">
                <a:solidFill>
                  <a:srgbClr val="231F20"/>
                </a:solidFill>
                <a:latin typeface="Arial"/>
                <a:cs typeface="Arial"/>
              </a:rPr>
              <a:t>This</a:t>
            </a:r>
            <a:r>
              <a:rPr sz="2400" spc="-100" dirty="0">
                <a:solidFill>
                  <a:srgbClr val="231F20"/>
                </a:solidFill>
                <a:latin typeface="Arial"/>
                <a:cs typeface="Arial"/>
              </a:rPr>
              <a:t> </a:t>
            </a:r>
            <a:r>
              <a:rPr sz="2400" dirty="0">
                <a:solidFill>
                  <a:srgbClr val="231F20"/>
                </a:solidFill>
                <a:latin typeface="Arial"/>
                <a:cs typeface="Arial"/>
              </a:rPr>
              <a:t>change</a:t>
            </a:r>
            <a:r>
              <a:rPr sz="2400" spc="-95" dirty="0">
                <a:solidFill>
                  <a:srgbClr val="231F20"/>
                </a:solidFill>
                <a:latin typeface="Arial"/>
                <a:cs typeface="Arial"/>
              </a:rPr>
              <a:t> </a:t>
            </a:r>
            <a:r>
              <a:rPr sz="2400" spc="-5" dirty="0">
                <a:solidFill>
                  <a:srgbClr val="231F20"/>
                </a:solidFill>
                <a:latin typeface="Arial"/>
                <a:cs typeface="Arial"/>
              </a:rPr>
              <a:t>is</a:t>
            </a:r>
            <a:r>
              <a:rPr sz="2400" spc="-95" dirty="0">
                <a:solidFill>
                  <a:srgbClr val="231F20"/>
                </a:solidFill>
                <a:latin typeface="Arial"/>
                <a:cs typeface="Arial"/>
              </a:rPr>
              <a:t> </a:t>
            </a:r>
            <a:r>
              <a:rPr sz="2400" spc="-5" dirty="0">
                <a:solidFill>
                  <a:srgbClr val="231F20"/>
                </a:solidFill>
                <a:latin typeface="Arial"/>
                <a:cs typeface="Arial"/>
              </a:rPr>
              <a:t>often</a:t>
            </a:r>
            <a:r>
              <a:rPr sz="2400" spc="-95" dirty="0">
                <a:solidFill>
                  <a:srgbClr val="231F20"/>
                </a:solidFill>
                <a:latin typeface="Arial"/>
                <a:cs typeface="Arial"/>
              </a:rPr>
              <a:t> </a:t>
            </a:r>
            <a:r>
              <a:rPr sz="2400" spc="-5" dirty="0">
                <a:solidFill>
                  <a:srgbClr val="231F20"/>
                </a:solidFill>
                <a:latin typeface="Arial"/>
                <a:cs typeface="Arial"/>
              </a:rPr>
              <a:t>described</a:t>
            </a:r>
            <a:r>
              <a:rPr sz="2400" spc="-100" dirty="0">
                <a:solidFill>
                  <a:srgbClr val="231F20"/>
                </a:solidFill>
                <a:latin typeface="Arial"/>
                <a:cs typeface="Arial"/>
              </a:rPr>
              <a:t> </a:t>
            </a:r>
            <a:r>
              <a:rPr sz="2400" spc="-5" dirty="0">
                <a:solidFill>
                  <a:srgbClr val="231F20"/>
                </a:solidFill>
                <a:latin typeface="Arial"/>
                <a:cs typeface="Arial"/>
              </a:rPr>
              <a:t>as</a:t>
            </a:r>
            <a:r>
              <a:rPr sz="2400" spc="-95" dirty="0">
                <a:solidFill>
                  <a:srgbClr val="231F20"/>
                </a:solidFill>
                <a:latin typeface="Arial"/>
                <a:cs typeface="Arial"/>
              </a:rPr>
              <a:t> </a:t>
            </a:r>
            <a:r>
              <a:rPr sz="2400" dirty="0">
                <a:solidFill>
                  <a:srgbClr val="231F20"/>
                </a:solidFill>
                <a:latin typeface="Arial"/>
                <a:cs typeface="Arial"/>
              </a:rPr>
              <a:t>“moving</a:t>
            </a:r>
            <a:r>
              <a:rPr sz="2400" spc="-90" dirty="0">
                <a:solidFill>
                  <a:srgbClr val="231F20"/>
                </a:solidFill>
                <a:latin typeface="Arial"/>
                <a:cs typeface="Arial"/>
              </a:rPr>
              <a:t> </a:t>
            </a:r>
            <a:r>
              <a:rPr sz="2400" spc="-5" dirty="0">
                <a:solidFill>
                  <a:srgbClr val="231F20"/>
                </a:solidFill>
                <a:latin typeface="Arial"/>
                <a:cs typeface="Arial"/>
              </a:rPr>
              <a:t>along </a:t>
            </a:r>
            <a:r>
              <a:rPr sz="2400" spc="-655" dirty="0">
                <a:solidFill>
                  <a:srgbClr val="231F20"/>
                </a:solidFill>
                <a:latin typeface="Arial"/>
                <a:cs typeface="Arial"/>
              </a:rPr>
              <a:t> </a:t>
            </a:r>
            <a:r>
              <a:rPr sz="2400" dirty="0">
                <a:solidFill>
                  <a:srgbClr val="231F20"/>
                </a:solidFill>
                <a:latin typeface="Arial"/>
                <a:cs typeface="Arial"/>
              </a:rPr>
              <a:t>“</a:t>
            </a:r>
            <a:r>
              <a:rPr sz="2400" spc="-5" dirty="0">
                <a:solidFill>
                  <a:srgbClr val="231F20"/>
                </a:solidFill>
                <a:latin typeface="Arial"/>
                <a:cs typeface="Arial"/>
              </a:rPr>
              <a:t> </a:t>
            </a:r>
            <a:r>
              <a:rPr sz="2400" dirty="0">
                <a:solidFill>
                  <a:srgbClr val="231F20"/>
                </a:solidFill>
                <a:latin typeface="Arial"/>
                <a:cs typeface="Arial"/>
              </a:rPr>
              <a:t>the </a:t>
            </a:r>
            <a:r>
              <a:rPr sz="2400" spc="-5" dirty="0">
                <a:solidFill>
                  <a:srgbClr val="231F20"/>
                </a:solidFill>
                <a:latin typeface="Arial"/>
                <a:cs typeface="Arial"/>
              </a:rPr>
              <a:t>demand</a:t>
            </a:r>
            <a:r>
              <a:rPr sz="2400" spc="-10" dirty="0">
                <a:solidFill>
                  <a:srgbClr val="231F20"/>
                </a:solidFill>
                <a:latin typeface="Arial"/>
                <a:cs typeface="Arial"/>
              </a:rPr>
              <a:t> </a:t>
            </a:r>
            <a:r>
              <a:rPr sz="2400" dirty="0">
                <a:solidFill>
                  <a:srgbClr val="231F20"/>
                </a:solidFill>
                <a:latin typeface="Arial"/>
                <a:cs typeface="Arial"/>
              </a:rPr>
              <a:t>curve.</a:t>
            </a:r>
            <a:endParaRPr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7</a:t>
            </a:fld>
            <a:endParaRPr dirty="0"/>
          </a:p>
        </p:txBody>
      </p:sp>
      <p:sp>
        <p:nvSpPr>
          <p:cNvPr id="3" name="object 3"/>
          <p:cNvSpPr txBox="1">
            <a:spLocks noGrp="1"/>
          </p:cNvSpPr>
          <p:nvPr>
            <p:ph type="title"/>
          </p:nvPr>
        </p:nvSpPr>
        <p:spPr>
          <a:xfrm>
            <a:off x="972819" y="933624"/>
            <a:ext cx="4707890" cy="574040"/>
          </a:xfrm>
          <a:prstGeom prst="rect">
            <a:avLst/>
          </a:prstGeom>
        </p:spPr>
        <p:txBody>
          <a:bodyPr vert="horz" wrap="square" lIns="0" tIns="12700" rIns="0" bIns="0" rtlCol="0">
            <a:spAutoFit/>
          </a:bodyPr>
          <a:lstStyle/>
          <a:p>
            <a:pPr marL="12700">
              <a:lnSpc>
                <a:spcPct val="100000"/>
              </a:lnSpc>
              <a:spcBef>
                <a:spcPts val="100"/>
              </a:spcBef>
            </a:pPr>
            <a:r>
              <a:rPr spc="25" dirty="0"/>
              <a:t>Quantity</a:t>
            </a:r>
            <a:r>
              <a:rPr spc="5" dirty="0"/>
              <a:t> </a:t>
            </a:r>
            <a:r>
              <a:rPr spc="35" dirty="0"/>
              <a:t>Demanded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8326" y="556910"/>
            <a:ext cx="4418965" cy="1122680"/>
          </a:xfrm>
          <a:prstGeom prst="rect">
            <a:avLst/>
          </a:prstGeom>
        </p:spPr>
        <p:txBody>
          <a:bodyPr vert="horz" wrap="square" lIns="0" tIns="12700" rIns="0" bIns="0" rtlCol="0">
            <a:spAutoFit/>
          </a:bodyPr>
          <a:lstStyle/>
          <a:p>
            <a:pPr marL="12700" marR="5080">
              <a:lnSpc>
                <a:spcPct val="100000"/>
              </a:lnSpc>
              <a:spcBef>
                <a:spcPts val="100"/>
              </a:spcBef>
            </a:pPr>
            <a:r>
              <a:rPr spc="25" dirty="0"/>
              <a:t>Examine</a:t>
            </a:r>
            <a:r>
              <a:rPr spc="50" dirty="0"/>
              <a:t> </a:t>
            </a:r>
            <a:r>
              <a:rPr spc="25" dirty="0"/>
              <a:t>Shifts</a:t>
            </a:r>
            <a:r>
              <a:rPr spc="55" dirty="0"/>
              <a:t> </a:t>
            </a:r>
            <a:r>
              <a:rPr spc="30" dirty="0"/>
              <a:t>in </a:t>
            </a:r>
            <a:r>
              <a:rPr spc="35" dirty="0"/>
              <a:t> </a:t>
            </a:r>
            <a:r>
              <a:rPr spc="20" dirty="0"/>
              <a:t>the</a:t>
            </a:r>
            <a:r>
              <a:rPr spc="40" dirty="0"/>
              <a:t> </a:t>
            </a:r>
            <a:r>
              <a:rPr spc="25" dirty="0"/>
              <a:t>Demand</a:t>
            </a:r>
            <a:r>
              <a:rPr spc="40" dirty="0"/>
              <a:t> </a:t>
            </a:r>
            <a:r>
              <a:rPr spc="20" dirty="0"/>
              <a:t>Curve</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8</a:t>
            </a:fld>
            <a:endParaRPr dirty="0"/>
          </a:p>
        </p:txBody>
      </p:sp>
      <p:sp>
        <p:nvSpPr>
          <p:cNvPr id="3" name="object 3"/>
          <p:cNvSpPr txBox="1"/>
          <p:nvPr/>
        </p:nvSpPr>
        <p:spPr>
          <a:xfrm>
            <a:off x="1325562" y="2075180"/>
            <a:ext cx="6492875" cy="4061433"/>
          </a:xfrm>
          <a:prstGeom prst="rect">
            <a:avLst/>
          </a:prstGeom>
        </p:spPr>
        <p:txBody>
          <a:bodyPr vert="horz" wrap="square" lIns="0" tIns="12700" rIns="0" bIns="0" rtlCol="0">
            <a:spAutoFit/>
          </a:bodyPr>
          <a:lstStyle/>
          <a:p>
            <a:pPr marL="355600" marR="5715" indent="-342900" algn="just">
              <a:lnSpc>
                <a:spcPct val="150000"/>
              </a:lnSpc>
              <a:spcBef>
                <a:spcPts val="100"/>
              </a:spcBef>
              <a:buClr>
                <a:srgbClr val="25408F"/>
              </a:buClr>
              <a:buSzPct val="81818"/>
              <a:buFont typeface="Arial" panose="020B0604020202020204" pitchFamily="34" charset="0"/>
              <a:buChar char="•"/>
              <a:tabLst>
                <a:tab pos="146050" algn="l"/>
              </a:tabLst>
            </a:pPr>
            <a:r>
              <a:rPr sz="2200" dirty="0">
                <a:solidFill>
                  <a:srgbClr val="231F20"/>
                </a:solidFill>
                <a:latin typeface="Arial"/>
                <a:cs typeface="Arial"/>
              </a:rPr>
              <a:t>The</a:t>
            </a:r>
            <a:r>
              <a:rPr sz="2200" spc="-114" dirty="0">
                <a:solidFill>
                  <a:srgbClr val="231F20"/>
                </a:solidFill>
                <a:latin typeface="Arial"/>
                <a:cs typeface="Arial"/>
              </a:rPr>
              <a:t> </a:t>
            </a:r>
            <a:r>
              <a:rPr sz="2200" spc="-5" dirty="0">
                <a:solidFill>
                  <a:srgbClr val="231F20"/>
                </a:solidFill>
                <a:latin typeface="Arial"/>
                <a:cs typeface="Arial"/>
              </a:rPr>
              <a:t>demand</a:t>
            </a:r>
            <a:r>
              <a:rPr sz="2200" spc="-114" dirty="0">
                <a:solidFill>
                  <a:srgbClr val="231F20"/>
                </a:solidFill>
                <a:latin typeface="Arial"/>
                <a:cs typeface="Arial"/>
              </a:rPr>
              <a:t> </a:t>
            </a:r>
            <a:r>
              <a:rPr sz="2200" dirty="0">
                <a:solidFill>
                  <a:srgbClr val="231F20"/>
                </a:solidFill>
                <a:latin typeface="Arial"/>
                <a:cs typeface="Arial"/>
              </a:rPr>
              <a:t>curve</a:t>
            </a:r>
            <a:r>
              <a:rPr sz="2200" spc="-110" dirty="0">
                <a:solidFill>
                  <a:srgbClr val="231F20"/>
                </a:solidFill>
                <a:latin typeface="Arial"/>
                <a:cs typeface="Arial"/>
              </a:rPr>
              <a:t> </a:t>
            </a:r>
            <a:r>
              <a:rPr sz="2200" dirty="0">
                <a:solidFill>
                  <a:srgbClr val="231F20"/>
                </a:solidFill>
                <a:latin typeface="Arial"/>
                <a:cs typeface="Arial"/>
              </a:rPr>
              <a:t>shows</a:t>
            </a:r>
            <a:r>
              <a:rPr sz="2200" spc="-114" dirty="0">
                <a:solidFill>
                  <a:srgbClr val="231F20"/>
                </a:solidFill>
                <a:latin typeface="Arial"/>
                <a:cs typeface="Arial"/>
              </a:rPr>
              <a:t> </a:t>
            </a:r>
            <a:r>
              <a:rPr sz="2200" spc="-5" dirty="0">
                <a:solidFill>
                  <a:srgbClr val="231F20"/>
                </a:solidFill>
                <a:latin typeface="Arial"/>
                <a:cs typeface="Arial"/>
              </a:rPr>
              <a:t>how</a:t>
            </a:r>
            <a:r>
              <a:rPr sz="2200" spc="-114" dirty="0">
                <a:solidFill>
                  <a:srgbClr val="231F20"/>
                </a:solidFill>
                <a:latin typeface="Arial"/>
                <a:cs typeface="Arial"/>
              </a:rPr>
              <a:t> </a:t>
            </a:r>
            <a:r>
              <a:rPr sz="2200" spc="-5" dirty="0">
                <a:solidFill>
                  <a:srgbClr val="231F20"/>
                </a:solidFill>
                <a:latin typeface="Arial"/>
                <a:cs typeface="Arial"/>
              </a:rPr>
              <a:t>price</a:t>
            </a:r>
            <a:r>
              <a:rPr sz="2200" spc="-110" dirty="0">
                <a:solidFill>
                  <a:srgbClr val="231F20"/>
                </a:solidFill>
                <a:latin typeface="Arial"/>
                <a:cs typeface="Arial"/>
              </a:rPr>
              <a:t> </a:t>
            </a:r>
            <a:r>
              <a:rPr sz="2200" spc="-10" dirty="0">
                <a:solidFill>
                  <a:srgbClr val="231F20"/>
                </a:solidFill>
                <a:latin typeface="Arial"/>
                <a:cs typeface="Arial"/>
              </a:rPr>
              <a:t>affects</a:t>
            </a:r>
            <a:r>
              <a:rPr sz="2200" spc="-114" dirty="0">
                <a:solidFill>
                  <a:srgbClr val="231F20"/>
                </a:solidFill>
                <a:latin typeface="Arial"/>
                <a:cs typeface="Arial"/>
              </a:rPr>
              <a:t> </a:t>
            </a:r>
            <a:r>
              <a:rPr sz="2200" spc="-5" dirty="0">
                <a:solidFill>
                  <a:srgbClr val="231F20"/>
                </a:solidFill>
                <a:latin typeface="Arial"/>
                <a:cs typeface="Arial"/>
              </a:rPr>
              <a:t>quantity </a:t>
            </a:r>
            <a:r>
              <a:rPr sz="2200" spc="-600" dirty="0">
                <a:solidFill>
                  <a:srgbClr val="231F20"/>
                </a:solidFill>
                <a:latin typeface="Arial"/>
                <a:cs typeface="Arial"/>
              </a:rPr>
              <a:t> </a:t>
            </a:r>
            <a:r>
              <a:rPr sz="2200" spc="-5" dirty="0">
                <a:solidFill>
                  <a:srgbClr val="231F20"/>
                </a:solidFill>
                <a:latin typeface="Arial"/>
                <a:cs typeface="Arial"/>
              </a:rPr>
              <a:t>demanded,</a:t>
            </a:r>
            <a:r>
              <a:rPr sz="2200" spc="-10" dirty="0">
                <a:solidFill>
                  <a:srgbClr val="231F20"/>
                </a:solidFill>
                <a:latin typeface="Arial"/>
                <a:cs typeface="Arial"/>
              </a:rPr>
              <a:t> </a:t>
            </a:r>
            <a:r>
              <a:rPr sz="2200" spc="-5" dirty="0">
                <a:solidFill>
                  <a:srgbClr val="231F20"/>
                </a:solidFill>
                <a:latin typeface="Arial"/>
                <a:cs typeface="Arial"/>
              </a:rPr>
              <a:t>other</a:t>
            </a:r>
            <a:r>
              <a:rPr sz="2200" spc="-10" dirty="0">
                <a:solidFill>
                  <a:srgbClr val="231F20"/>
                </a:solidFill>
                <a:latin typeface="Arial"/>
                <a:cs typeface="Arial"/>
              </a:rPr>
              <a:t> </a:t>
            </a:r>
            <a:r>
              <a:rPr sz="2200" dirty="0">
                <a:solidFill>
                  <a:srgbClr val="231F20"/>
                </a:solidFill>
                <a:latin typeface="Arial"/>
                <a:cs typeface="Arial"/>
              </a:rPr>
              <a:t>things </a:t>
            </a:r>
            <a:r>
              <a:rPr sz="2200" spc="-5" dirty="0">
                <a:solidFill>
                  <a:srgbClr val="231F20"/>
                </a:solidFill>
                <a:latin typeface="Arial"/>
                <a:cs typeface="Arial"/>
              </a:rPr>
              <a:t>being</a:t>
            </a:r>
            <a:r>
              <a:rPr sz="2200" spc="-10" dirty="0">
                <a:solidFill>
                  <a:srgbClr val="231F20"/>
                </a:solidFill>
                <a:latin typeface="Arial"/>
                <a:cs typeface="Arial"/>
              </a:rPr>
              <a:t> </a:t>
            </a:r>
            <a:r>
              <a:rPr sz="2200" spc="-5" dirty="0">
                <a:solidFill>
                  <a:srgbClr val="231F20"/>
                </a:solidFill>
                <a:latin typeface="Arial"/>
                <a:cs typeface="Arial"/>
              </a:rPr>
              <a:t>equal.</a:t>
            </a:r>
            <a:endParaRPr sz="2200" dirty="0">
              <a:latin typeface="Arial"/>
              <a:cs typeface="Arial"/>
            </a:endParaRPr>
          </a:p>
          <a:p>
            <a:pPr>
              <a:lnSpc>
                <a:spcPct val="150000"/>
              </a:lnSpc>
              <a:spcBef>
                <a:spcPts val="50"/>
              </a:spcBef>
              <a:buClr>
                <a:srgbClr val="25408F"/>
              </a:buClr>
              <a:buFont typeface="Arial"/>
              <a:buChar char="•"/>
            </a:pPr>
            <a:endParaRPr sz="2250" dirty="0">
              <a:latin typeface="Arial"/>
              <a:cs typeface="Arial"/>
            </a:endParaRPr>
          </a:p>
          <a:p>
            <a:pPr marL="355600" marR="5080" indent="-342900" algn="just">
              <a:lnSpc>
                <a:spcPct val="150000"/>
              </a:lnSpc>
              <a:buClr>
                <a:srgbClr val="25408F"/>
              </a:buClr>
              <a:buSzPct val="81818"/>
              <a:buFont typeface="Arial" panose="020B0604020202020204" pitchFamily="34" charset="0"/>
              <a:buChar char="•"/>
              <a:tabLst>
                <a:tab pos="168275" algn="l"/>
              </a:tabLst>
            </a:pPr>
            <a:r>
              <a:rPr sz="2200" dirty="0">
                <a:solidFill>
                  <a:srgbClr val="231F20"/>
                </a:solidFill>
                <a:latin typeface="Arial"/>
                <a:cs typeface="Arial"/>
              </a:rPr>
              <a:t>These “other things” </a:t>
            </a:r>
            <a:r>
              <a:rPr sz="2200" spc="-5" dirty="0">
                <a:solidFill>
                  <a:srgbClr val="231F20"/>
                </a:solidFill>
                <a:latin typeface="Arial"/>
                <a:cs typeface="Arial"/>
              </a:rPr>
              <a:t>are non-price determinants of </a:t>
            </a:r>
            <a:r>
              <a:rPr sz="2200" dirty="0">
                <a:solidFill>
                  <a:srgbClr val="231F20"/>
                </a:solidFill>
                <a:latin typeface="Arial"/>
                <a:cs typeface="Arial"/>
              </a:rPr>
              <a:t> </a:t>
            </a:r>
            <a:r>
              <a:rPr sz="2200" spc="-5" dirty="0">
                <a:solidFill>
                  <a:srgbClr val="231F20"/>
                </a:solidFill>
                <a:latin typeface="Arial"/>
                <a:cs typeface="Arial"/>
              </a:rPr>
              <a:t>demand </a:t>
            </a:r>
            <a:r>
              <a:rPr sz="2200" dirty="0">
                <a:solidFill>
                  <a:srgbClr val="231F20"/>
                </a:solidFill>
                <a:latin typeface="Arial"/>
                <a:cs typeface="Arial"/>
              </a:rPr>
              <a:t>(i.e., things that </a:t>
            </a:r>
            <a:r>
              <a:rPr sz="2200" spc="-5" dirty="0">
                <a:solidFill>
                  <a:srgbClr val="231F20"/>
                </a:solidFill>
                <a:latin typeface="Arial"/>
                <a:cs typeface="Arial"/>
              </a:rPr>
              <a:t>determine buyers’ demand </a:t>
            </a:r>
            <a:r>
              <a:rPr sz="2200" dirty="0">
                <a:solidFill>
                  <a:srgbClr val="231F20"/>
                </a:solidFill>
                <a:latin typeface="Arial"/>
                <a:cs typeface="Arial"/>
              </a:rPr>
              <a:t> for</a:t>
            </a:r>
            <a:r>
              <a:rPr sz="2200" spc="-5" dirty="0">
                <a:solidFill>
                  <a:srgbClr val="231F20"/>
                </a:solidFill>
                <a:latin typeface="Arial"/>
                <a:cs typeface="Arial"/>
              </a:rPr>
              <a:t> </a:t>
            </a:r>
            <a:r>
              <a:rPr sz="2200" dirty="0">
                <a:solidFill>
                  <a:srgbClr val="231F20"/>
                </a:solidFill>
                <a:latin typeface="Arial"/>
                <a:cs typeface="Arial"/>
              </a:rPr>
              <a:t>a</a:t>
            </a:r>
            <a:r>
              <a:rPr sz="2200" spc="-10" dirty="0">
                <a:solidFill>
                  <a:srgbClr val="231F20"/>
                </a:solidFill>
                <a:latin typeface="Arial"/>
                <a:cs typeface="Arial"/>
              </a:rPr>
              <a:t> </a:t>
            </a:r>
            <a:r>
              <a:rPr sz="2200" spc="-5" dirty="0">
                <a:solidFill>
                  <a:srgbClr val="231F20"/>
                </a:solidFill>
                <a:latin typeface="Arial"/>
                <a:cs typeface="Arial"/>
              </a:rPr>
              <a:t>good, other</a:t>
            </a:r>
            <a:r>
              <a:rPr sz="2200" spc="-10" dirty="0">
                <a:solidFill>
                  <a:srgbClr val="231F20"/>
                </a:solidFill>
                <a:latin typeface="Arial"/>
                <a:cs typeface="Arial"/>
              </a:rPr>
              <a:t> </a:t>
            </a:r>
            <a:r>
              <a:rPr sz="2200" dirty="0">
                <a:solidFill>
                  <a:srgbClr val="231F20"/>
                </a:solidFill>
                <a:latin typeface="Arial"/>
                <a:cs typeface="Arial"/>
              </a:rPr>
              <a:t>than</a:t>
            </a:r>
            <a:r>
              <a:rPr sz="2200" spc="-5" dirty="0">
                <a:solidFill>
                  <a:srgbClr val="231F20"/>
                </a:solidFill>
                <a:latin typeface="Arial"/>
                <a:cs typeface="Arial"/>
              </a:rPr>
              <a:t> </a:t>
            </a:r>
            <a:r>
              <a:rPr sz="2200" dirty="0">
                <a:solidFill>
                  <a:srgbClr val="231F20"/>
                </a:solidFill>
                <a:latin typeface="Arial"/>
                <a:cs typeface="Arial"/>
              </a:rPr>
              <a:t>the </a:t>
            </a:r>
            <a:r>
              <a:rPr sz="2200" spc="-10" dirty="0">
                <a:solidFill>
                  <a:srgbClr val="231F20"/>
                </a:solidFill>
                <a:latin typeface="Arial"/>
                <a:cs typeface="Arial"/>
              </a:rPr>
              <a:t>good’s</a:t>
            </a:r>
            <a:r>
              <a:rPr sz="2200" spc="-5" dirty="0">
                <a:solidFill>
                  <a:srgbClr val="231F20"/>
                </a:solidFill>
                <a:latin typeface="Arial"/>
                <a:cs typeface="Arial"/>
              </a:rPr>
              <a:t> price).</a:t>
            </a:r>
            <a:endParaRPr sz="2200" dirty="0">
              <a:latin typeface="Arial"/>
              <a:cs typeface="Arial"/>
            </a:endParaRPr>
          </a:p>
          <a:p>
            <a:pPr>
              <a:lnSpc>
                <a:spcPct val="150000"/>
              </a:lnSpc>
              <a:spcBef>
                <a:spcPts val="55"/>
              </a:spcBef>
              <a:buClr>
                <a:srgbClr val="25408F"/>
              </a:buClr>
              <a:buFont typeface="Arial"/>
              <a:buChar char="•"/>
            </a:pPr>
            <a:endParaRPr sz="2250" dirty="0">
              <a:latin typeface="Arial"/>
              <a:cs typeface="Arial"/>
            </a:endParaRPr>
          </a:p>
          <a:p>
            <a:pPr marL="354965" indent="-342900" algn="just">
              <a:lnSpc>
                <a:spcPct val="150000"/>
              </a:lnSpc>
              <a:buClr>
                <a:srgbClr val="25408F"/>
              </a:buClr>
              <a:buSzPct val="81818"/>
              <a:buFont typeface="Arial" panose="020B0604020202020204" pitchFamily="34" charset="0"/>
              <a:buChar char="•"/>
              <a:tabLst>
                <a:tab pos="156845" algn="l"/>
              </a:tabLst>
            </a:pPr>
            <a:r>
              <a:rPr sz="2200" spc="-5" dirty="0">
                <a:solidFill>
                  <a:srgbClr val="231F20"/>
                </a:solidFill>
                <a:latin typeface="Arial"/>
                <a:cs typeface="Arial"/>
              </a:rPr>
              <a:t>Changes</a:t>
            </a:r>
            <a:r>
              <a:rPr sz="2200" spc="-20" dirty="0">
                <a:solidFill>
                  <a:srgbClr val="231F20"/>
                </a:solidFill>
                <a:latin typeface="Arial"/>
                <a:cs typeface="Arial"/>
              </a:rPr>
              <a:t> </a:t>
            </a:r>
            <a:r>
              <a:rPr sz="2200" spc="-5" dirty="0">
                <a:solidFill>
                  <a:srgbClr val="231F20"/>
                </a:solidFill>
                <a:latin typeface="Arial"/>
                <a:cs typeface="Arial"/>
              </a:rPr>
              <a:t>in</a:t>
            </a:r>
            <a:r>
              <a:rPr sz="2200" spc="-15" dirty="0">
                <a:solidFill>
                  <a:srgbClr val="231F20"/>
                </a:solidFill>
                <a:latin typeface="Arial"/>
                <a:cs typeface="Arial"/>
              </a:rPr>
              <a:t> </a:t>
            </a:r>
            <a:r>
              <a:rPr sz="2200" dirty="0">
                <a:solidFill>
                  <a:srgbClr val="231F20"/>
                </a:solidFill>
                <a:latin typeface="Arial"/>
                <a:cs typeface="Arial"/>
              </a:rPr>
              <a:t>them</a:t>
            </a:r>
            <a:r>
              <a:rPr sz="2200" spc="-15" dirty="0">
                <a:solidFill>
                  <a:srgbClr val="231F20"/>
                </a:solidFill>
                <a:latin typeface="Arial"/>
                <a:cs typeface="Arial"/>
              </a:rPr>
              <a:t> </a:t>
            </a:r>
            <a:r>
              <a:rPr sz="2200" dirty="0">
                <a:solidFill>
                  <a:srgbClr val="231F20"/>
                </a:solidFill>
                <a:latin typeface="Arial"/>
                <a:cs typeface="Arial"/>
              </a:rPr>
              <a:t>shift</a:t>
            </a:r>
            <a:r>
              <a:rPr sz="2200" spc="-10" dirty="0">
                <a:solidFill>
                  <a:srgbClr val="231F20"/>
                </a:solidFill>
                <a:latin typeface="Arial"/>
                <a:cs typeface="Arial"/>
              </a:rPr>
              <a:t> </a:t>
            </a:r>
            <a:r>
              <a:rPr sz="2200" dirty="0">
                <a:solidFill>
                  <a:srgbClr val="231F20"/>
                </a:solidFill>
                <a:latin typeface="Arial"/>
                <a:cs typeface="Arial"/>
              </a:rPr>
              <a:t>the</a:t>
            </a:r>
            <a:r>
              <a:rPr sz="2200" spc="-15" dirty="0">
                <a:solidFill>
                  <a:srgbClr val="231F20"/>
                </a:solidFill>
                <a:latin typeface="Arial"/>
                <a:cs typeface="Arial"/>
              </a:rPr>
              <a:t> </a:t>
            </a:r>
            <a:r>
              <a:rPr sz="2200" b="1" i="1" dirty="0">
                <a:solidFill>
                  <a:srgbClr val="231F20"/>
                </a:solidFill>
                <a:latin typeface="Arial-BoldItalicMT"/>
                <a:cs typeface="Arial-BoldItalicMT"/>
              </a:rPr>
              <a:t>D</a:t>
            </a:r>
            <a:r>
              <a:rPr sz="2200" b="1" i="1" spc="-15" dirty="0">
                <a:solidFill>
                  <a:srgbClr val="231F20"/>
                </a:solidFill>
                <a:latin typeface="Arial-BoldItalicMT"/>
                <a:cs typeface="Arial-BoldItalicMT"/>
              </a:rPr>
              <a:t> </a:t>
            </a:r>
            <a:r>
              <a:rPr sz="2200" dirty="0">
                <a:solidFill>
                  <a:srgbClr val="231F20"/>
                </a:solidFill>
                <a:latin typeface="Arial"/>
                <a:cs typeface="Arial"/>
              </a:rPr>
              <a:t>curve.</a:t>
            </a:r>
            <a:endParaRPr sz="2200" dirty="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66800" y="2133600"/>
            <a:ext cx="8246744" cy="1136208"/>
          </a:xfrm>
          <a:prstGeom prst="rect">
            <a:avLst/>
          </a:prstGeom>
        </p:spPr>
        <p:txBody>
          <a:bodyPr vert="horz" wrap="square" lIns="0" tIns="12700" rIns="0" bIns="0" rtlCol="0">
            <a:spAutoFit/>
          </a:bodyPr>
          <a:lstStyle/>
          <a:p>
            <a:pPr marL="12700" marR="5080">
              <a:lnSpc>
                <a:spcPct val="100000"/>
              </a:lnSpc>
              <a:spcBef>
                <a:spcPts val="100"/>
              </a:spcBef>
              <a:tabLst>
                <a:tab pos="1028700" algn="l"/>
                <a:tab pos="1908175" algn="l"/>
                <a:tab pos="2297430" algn="l"/>
                <a:tab pos="3855085" algn="l"/>
                <a:tab pos="5327650" algn="l"/>
                <a:tab pos="5716270" algn="l"/>
              </a:tabLst>
            </a:pPr>
            <a:r>
              <a:rPr sz="2400" dirty="0">
                <a:solidFill>
                  <a:srgbClr val="231F20"/>
                </a:solidFill>
                <a:latin typeface="Arial"/>
                <a:cs typeface="Arial"/>
              </a:rPr>
              <a:t>When</a:t>
            </a:r>
            <a:r>
              <a:rPr lang="en-US" sz="2400" dirty="0">
                <a:solidFill>
                  <a:srgbClr val="231F20"/>
                </a:solidFill>
                <a:latin typeface="Arial"/>
                <a:cs typeface="Arial"/>
              </a:rPr>
              <a:t> </a:t>
            </a:r>
            <a:r>
              <a:rPr sz="2400" spc="-5" dirty="0">
                <a:solidFill>
                  <a:srgbClr val="231F20"/>
                </a:solidFill>
                <a:latin typeface="Arial"/>
                <a:cs typeface="Arial"/>
              </a:rPr>
              <a:t>do</a:t>
            </a:r>
            <a:r>
              <a:rPr lang="en-US" sz="2400" spc="-5" dirty="0">
                <a:solidFill>
                  <a:srgbClr val="231F20"/>
                </a:solidFill>
                <a:latin typeface="Arial"/>
                <a:cs typeface="Arial"/>
              </a:rPr>
              <a:t>es a </a:t>
            </a:r>
            <a:r>
              <a:rPr sz="2400" dirty="0">
                <a:solidFill>
                  <a:srgbClr val="231F20"/>
                </a:solidFill>
                <a:latin typeface="Arial"/>
                <a:cs typeface="Arial"/>
              </a:rPr>
              <a:t>consumer</a:t>
            </a:r>
            <a:r>
              <a:rPr lang="en-US" sz="2400" dirty="0">
                <a:solidFill>
                  <a:srgbClr val="231F20"/>
                </a:solidFill>
                <a:latin typeface="Arial"/>
                <a:cs typeface="Arial"/>
              </a:rPr>
              <a:t> </a:t>
            </a:r>
            <a:r>
              <a:rPr sz="2400" spc="-5" dirty="0">
                <a:solidFill>
                  <a:srgbClr val="231F20"/>
                </a:solidFill>
                <a:latin typeface="Arial"/>
                <a:cs typeface="Arial"/>
              </a:rPr>
              <a:t>purchas</a:t>
            </a:r>
            <a:r>
              <a:rPr sz="2400" dirty="0">
                <a:solidFill>
                  <a:srgbClr val="231F20"/>
                </a:solidFill>
                <a:latin typeface="Arial"/>
                <a:cs typeface="Arial"/>
              </a:rPr>
              <a:t>e</a:t>
            </a:r>
            <a:r>
              <a:rPr lang="en-US" sz="2400" dirty="0">
                <a:solidFill>
                  <a:srgbClr val="231F20"/>
                </a:solidFill>
                <a:latin typeface="Arial"/>
                <a:cs typeface="Arial"/>
              </a:rPr>
              <a:t>s </a:t>
            </a:r>
            <a:r>
              <a:rPr sz="2400" dirty="0">
                <a:solidFill>
                  <a:srgbClr val="231F20"/>
                </a:solidFill>
                <a:latin typeface="Arial"/>
                <a:cs typeface="Arial"/>
              </a:rPr>
              <a:t>a</a:t>
            </a:r>
            <a:r>
              <a:rPr lang="en-US" sz="2400" dirty="0">
                <a:solidFill>
                  <a:srgbClr val="231F20"/>
                </a:solidFill>
                <a:latin typeface="Arial"/>
                <a:cs typeface="Arial"/>
              </a:rPr>
              <a:t> </a:t>
            </a:r>
            <a:r>
              <a:rPr sz="2400" spc="-5" dirty="0">
                <a:solidFill>
                  <a:srgbClr val="231F20"/>
                </a:solidFill>
                <a:latin typeface="Arial"/>
                <a:cs typeface="Arial"/>
              </a:rPr>
              <a:t>good</a:t>
            </a:r>
            <a:r>
              <a:rPr lang="en-US" sz="2400" spc="-5" dirty="0">
                <a:solidFill>
                  <a:srgbClr val="231F20"/>
                </a:solidFill>
                <a:latin typeface="Arial"/>
                <a:cs typeface="Arial"/>
              </a:rPr>
              <a:t> or </a:t>
            </a:r>
            <a:r>
              <a:rPr sz="2400" dirty="0">
                <a:solidFill>
                  <a:srgbClr val="231F20"/>
                </a:solidFill>
                <a:latin typeface="Arial"/>
                <a:cs typeface="Arial"/>
              </a:rPr>
              <a:t>service?</a:t>
            </a:r>
            <a:endParaRPr sz="2400" dirty="0">
              <a:latin typeface="Arial"/>
              <a:cs typeface="Arial"/>
            </a:endParaRPr>
          </a:p>
          <a:p>
            <a:pPr>
              <a:lnSpc>
                <a:spcPct val="100000"/>
              </a:lnSpc>
              <a:spcBef>
                <a:spcPts val="5"/>
              </a:spcBef>
            </a:pPr>
            <a:endParaRPr sz="2500" dirty="0">
              <a:latin typeface="Arial"/>
              <a:cs typeface="Arial"/>
            </a:endParaRPr>
          </a:p>
          <a:p>
            <a:pPr marL="469900">
              <a:lnSpc>
                <a:spcPct val="100000"/>
              </a:lnSpc>
            </a:pPr>
            <a:r>
              <a:rPr sz="2400" dirty="0">
                <a:solidFill>
                  <a:srgbClr val="0070C0"/>
                </a:solidFill>
                <a:latin typeface="Arial"/>
                <a:cs typeface="Arial"/>
              </a:rPr>
              <a:t>Willingness</a:t>
            </a:r>
            <a:r>
              <a:rPr sz="2400" spc="-60" dirty="0">
                <a:solidFill>
                  <a:srgbClr val="0070C0"/>
                </a:solidFill>
                <a:latin typeface="Arial"/>
                <a:cs typeface="Arial"/>
              </a:rPr>
              <a:t> </a:t>
            </a:r>
            <a:r>
              <a:rPr sz="2400" spc="-135" dirty="0">
                <a:solidFill>
                  <a:srgbClr val="0070C0"/>
                </a:solidFill>
                <a:latin typeface="Arial"/>
                <a:cs typeface="Arial"/>
              </a:rPr>
              <a:t>To</a:t>
            </a:r>
            <a:r>
              <a:rPr sz="2400" spc="-20" dirty="0">
                <a:solidFill>
                  <a:srgbClr val="0070C0"/>
                </a:solidFill>
                <a:latin typeface="Arial"/>
                <a:cs typeface="Arial"/>
              </a:rPr>
              <a:t> </a:t>
            </a:r>
            <a:r>
              <a:rPr sz="2400" dirty="0">
                <a:solidFill>
                  <a:srgbClr val="0070C0"/>
                </a:solidFill>
                <a:latin typeface="Arial"/>
                <a:cs typeface="Arial"/>
              </a:rPr>
              <a:t>Pay</a:t>
            </a:r>
            <a:r>
              <a:rPr sz="2400" spc="-15" dirty="0">
                <a:solidFill>
                  <a:srgbClr val="0070C0"/>
                </a:solidFill>
                <a:latin typeface="Arial"/>
                <a:cs typeface="Arial"/>
              </a:rPr>
              <a:t> </a:t>
            </a:r>
            <a:r>
              <a:rPr sz="2400" dirty="0">
                <a:solidFill>
                  <a:srgbClr val="231F20"/>
                </a:solidFill>
                <a:latin typeface="Arial"/>
                <a:cs typeface="Arial"/>
              </a:rPr>
              <a:t>&gt;</a:t>
            </a:r>
            <a:r>
              <a:rPr sz="2400" spc="-15" dirty="0">
                <a:solidFill>
                  <a:srgbClr val="231F20"/>
                </a:solidFill>
                <a:latin typeface="Arial"/>
                <a:cs typeface="Arial"/>
              </a:rPr>
              <a:t> </a:t>
            </a:r>
            <a:r>
              <a:rPr sz="2400" dirty="0">
                <a:solidFill>
                  <a:srgbClr val="C00000"/>
                </a:solidFill>
                <a:latin typeface="Arial"/>
                <a:cs typeface="Arial"/>
              </a:rPr>
              <a:t>Market</a:t>
            </a:r>
            <a:r>
              <a:rPr sz="2400" spc="-20" dirty="0">
                <a:solidFill>
                  <a:srgbClr val="C00000"/>
                </a:solidFill>
                <a:latin typeface="Arial"/>
                <a:cs typeface="Arial"/>
              </a:rPr>
              <a:t> </a:t>
            </a:r>
            <a:r>
              <a:rPr sz="2400" dirty="0">
                <a:solidFill>
                  <a:srgbClr val="C00000"/>
                </a:solidFill>
                <a:latin typeface="Arial"/>
                <a:cs typeface="Arial"/>
              </a:rPr>
              <a:t>Price</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9</a:t>
            </a:fld>
            <a:endParaRPr dirty="0"/>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316230">
              <a:lnSpc>
                <a:spcPct val="100000"/>
              </a:lnSpc>
              <a:spcBef>
                <a:spcPts val="100"/>
              </a:spcBef>
            </a:pPr>
            <a:r>
              <a:rPr spc="20" dirty="0"/>
              <a:t>The</a:t>
            </a:r>
            <a:r>
              <a:rPr spc="50" dirty="0"/>
              <a:t> </a:t>
            </a:r>
            <a:r>
              <a:rPr spc="20" dirty="0"/>
              <a:t>market</a:t>
            </a:r>
            <a:r>
              <a:rPr spc="55" dirty="0"/>
              <a:t> </a:t>
            </a:r>
            <a:r>
              <a:rPr spc="35" dirty="0"/>
              <a:t>Mechanism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6025" y="2553388"/>
            <a:ext cx="3870960" cy="112268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231F20"/>
                </a:solidFill>
                <a:latin typeface="Arial"/>
                <a:cs typeface="Arial"/>
              </a:rPr>
              <a:t>Change</a:t>
            </a:r>
            <a:r>
              <a:rPr sz="2400" spc="-35" dirty="0">
                <a:solidFill>
                  <a:srgbClr val="231F20"/>
                </a:solidFill>
                <a:latin typeface="Arial"/>
                <a:cs typeface="Arial"/>
              </a:rPr>
              <a:t> </a:t>
            </a:r>
            <a:r>
              <a:rPr sz="2400" spc="-5" dirty="0">
                <a:solidFill>
                  <a:srgbClr val="231F20"/>
                </a:solidFill>
                <a:latin typeface="Arial"/>
                <a:cs typeface="Arial"/>
              </a:rPr>
              <a:t>in</a:t>
            </a:r>
            <a:r>
              <a:rPr sz="2400" spc="-30" dirty="0">
                <a:solidFill>
                  <a:srgbClr val="231F20"/>
                </a:solidFill>
                <a:latin typeface="Arial"/>
                <a:cs typeface="Arial"/>
              </a:rPr>
              <a:t> </a:t>
            </a:r>
            <a:r>
              <a:rPr sz="2400" spc="-5" dirty="0">
                <a:solidFill>
                  <a:srgbClr val="231F20"/>
                </a:solidFill>
                <a:latin typeface="Arial"/>
                <a:cs typeface="Arial"/>
              </a:rPr>
              <a:t>quantity</a:t>
            </a:r>
            <a:r>
              <a:rPr sz="2400" spc="-30" dirty="0">
                <a:solidFill>
                  <a:srgbClr val="231F20"/>
                </a:solidFill>
                <a:latin typeface="Arial"/>
                <a:cs typeface="Arial"/>
              </a:rPr>
              <a:t> </a:t>
            </a:r>
            <a:r>
              <a:rPr sz="2400" dirty="0">
                <a:solidFill>
                  <a:srgbClr val="231F20"/>
                </a:solidFill>
                <a:latin typeface="Arial"/>
                <a:cs typeface="Arial"/>
              </a:rPr>
              <a:t>supplied.</a:t>
            </a:r>
            <a:endParaRPr sz="2400">
              <a:latin typeface="Arial"/>
              <a:cs typeface="Arial"/>
            </a:endParaRPr>
          </a:p>
          <a:p>
            <a:pPr>
              <a:lnSpc>
                <a:spcPct val="100000"/>
              </a:lnSpc>
              <a:spcBef>
                <a:spcPts val="5"/>
              </a:spcBef>
            </a:pPr>
            <a:endParaRPr sz="2500">
              <a:latin typeface="Arial"/>
              <a:cs typeface="Arial"/>
            </a:endParaRPr>
          </a:p>
          <a:p>
            <a:pPr marL="12700">
              <a:lnSpc>
                <a:spcPct val="100000"/>
              </a:lnSpc>
            </a:pPr>
            <a:r>
              <a:rPr sz="2400" dirty="0">
                <a:solidFill>
                  <a:srgbClr val="231F20"/>
                </a:solidFill>
                <a:latin typeface="Arial"/>
                <a:cs typeface="Arial"/>
              </a:rPr>
              <a:t>Shift</a:t>
            </a:r>
            <a:r>
              <a:rPr sz="2400" spc="-25" dirty="0">
                <a:solidFill>
                  <a:srgbClr val="231F20"/>
                </a:solidFill>
                <a:latin typeface="Arial"/>
                <a:cs typeface="Arial"/>
              </a:rPr>
              <a:t> </a:t>
            </a:r>
            <a:r>
              <a:rPr sz="2400" dirty="0">
                <a:solidFill>
                  <a:srgbClr val="231F20"/>
                </a:solidFill>
                <a:latin typeface="Arial"/>
                <a:cs typeface="Arial"/>
              </a:rPr>
              <a:t>the</a:t>
            </a:r>
            <a:r>
              <a:rPr sz="2400" spc="-25" dirty="0">
                <a:solidFill>
                  <a:srgbClr val="231F20"/>
                </a:solidFill>
                <a:latin typeface="Arial"/>
                <a:cs typeface="Arial"/>
              </a:rPr>
              <a:t> </a:t>
            </a:r>
            <a:r>
              <a:rPr sz="2400" dirty="0">
                <a:solidFill>
                  <a:srgbClr val="231F20"/>
                </a:solidFill>
                <a:latin typeface="Arial"/>
                <a:cs typeface="Arial"/>
              </a:rPr>
              <a:t>supply</a:t>
            </a:r>
            <a:r>
              <a:rPr sz="2400" spc="-25" dirty="0">
                <a:solidFill>
                  <a:srgbClr val="231F20"/>
                </a:solidFill>
                <a:latin typeface="Arial"/>
                <a:cs typeface="Arial"/>
              </a:rPr>
              <a:t> </a:t>
            </a:r>
            <a:r>
              <a:rPr sz="2400" dirty="0">
                <a:solidFill>
                  <a:srgbClr val="231F20"/>
                </a:solidFill>
                <a:latin typeface="Arial"/>
                <a:cs typeface="Arial"/>
              </a:rPr>
              <a:t>curve.</a:t>
            </a:r>
            <a:endParaRPr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10</a:t>
            </a:fld>
            <a:endParaRPr dirty="0"/>
          </a:p>
        </p:txBody>
      </p:sp>
      <p:sp>
        <p:nvSpPr>
          <p:cNvPr id="3" name="object 3"/>
          <p:cNvSpPr txBox="1">
            <a:spLocks noGrp="1"/>
          </p:cNvSpPr>
          <p:nvPr>
            <p:ph type="title"/>
          </p:nvPr>
        </p:nvSpPr>
        <p:spPr>
          <a:xfrm>
            <a:off x="972819" y="933624"/>
            <a:ext cx="6268085" cy="574040"/>
          </a:xfrm>
          <a:prstGeom prst="rect">
            <a:avLst/>
          </a:prstGeom>
        </p:spPr>
        <p:txBody>
          <a:bodyPr vert="horz" wrap="square" lIns="0" tIns="12700" rIns="0" bIns="0" rtlCol="0">
            <a:spAutoFit/>
          </a:bodyPr>
          <a:lstStyle/>
          <a:p>
            <a:pPr marL="12700">
              <a:lnSpc>
                <a:spcPct val="100000"/>
              </a:lnSpc>
              <a:spcBef>
                <a:spcPts val="100"/>
              </a:spcBef>
            </a:pPr>
            <a:r>
              <a:rPr spc="30" dirty="0"/>
              <a:t>Similar</a:t>
            </a:r>
            <a:r>
              <a:rPr spc="55" dirty="0"/>
              <a:t> </a:t>
            </a:r>
            <a:r>
              <a:rPr spc="15" dirty="0"/>
              <a:t>on</a:t>
            </a:r>
            <a:r>
              <a:rPr spc="55" dirty="0"/>
              <a:t> </a:t>
            </a:r>
            <a:r>
              <a:rPr spc="20" dirty="0"/>
              <a:t>the</a:t>
            </a:r>
            <a:r>
              <a:rPr spc="55" dirty="0"/>
              <a:t> </a:t>
            </a:r>
            <a:r>
              <a:rPr spc="25" dirty="0"/>
              <a:t>Supply</a:t>
            </a:r>
            <a:r>
              <a:rPr spc="55" dirty="0"/>
              <a:t> </a:t>
            </a:r>
            <a:r>
              <a:rPr spc="35" dirty="0"/>
              <a:t>Side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6772" y="2860896"/>
            <a:ext cx="8229600" cy="1136208"/>
          </a:xfrm>
          <a:prstGeom prst="rect">
            <a:avLst/>
          </a:prstGeom>
        </p:spPr>
        <p:txBody>
          <a:bodyPr vert="horz" wrap="square" lIns="0" tIns="12700" rIns="0" bIns="0" rtlCol="0">
            <a:spAutoFit/>
          </a:bodyPr>
          <a:lstStyle/>
          <a:p>
            <a:pPr marL="12700" marR="5080">
              <a:lnSpc>
                <a:spcPct val="100000"/>
              </a:lnSpc>
              <a:spcBef>
                <a:spcPts val="100"/>
              </a:spcBef>
            </a:pPr>
            <a:r>
              <a:rPr sz="2400" dirty="0">
                <a:solidFill>
                  <a:srgbClr val="231F20"/>
                </a:solidFill>
                <a:latin typeface="Arial"/>
                <a:cs typeface="Arial"/>
              </a:rPr>
              <a:t>When</a:t>
            </a:r>
            <a:r>
              <a:rPr sz="2400" spc="295" dirty="0">
                <a:solidFill>
                  <a:srgbClr val="231F20"/>
                </a:solidFill>
                <a:latin typeface="Arial"/>
                <a:cs typeface="Arial"/>
              </a:rPr>
              <a:t> </a:t>
            </a:r>
            <a:r>
              <a:rPr sz="2400" spc="-5" dirty="0">
                <a:solidFill>
                  <a:srgbClr val="231F20"/>
                </a:solidFill>
                <a:latin typeface="Arial"/>
                <a:cs typeface="Arial"/>
              </a:rPr>
              <a:t>do</a:t>
            </a:r>
            <a:r>
              <a:rPr sz="2400" spc="300" dirty="0">
                <a:solidFill>
                  <a:srgbClr val="231F20"/>
                </a:solidFill>
                <a:latin typeface="Arial"/>
                <a:cs typeface="Arial"/>
              </a:rPr>
              <a:t> </a:t>
            </a:r>
            <a:r>
              <a:rPr sz="2400" dirty="0">
                <a:solidFill>
                  <a:srgbClr val="231F20"/>
                </a:solidFill>
                <a:latin typeface="Arial"/>
                <a:cs typeface="Arial"/>
              </a:rPr>
              <a:t>a</a:t>
            </a:r>
            <a:r>
              <a:rPr sz="2400" spc="300" dirty="0">
                <a:solidFill>
                  <a:srgbClr val="231F20"/>
                </a:solidFill>
                <a:latin typeface="Arial"/>
                <a:cs typeface="Arial"/>
              </a:rPr>
              <a:t> </a:t>
            </a:r>
            <a:r>
              <a:rPr sz="2400" spc="-5" dirty="0">
                <a:solidFill>
                  <a:srgbClr val="231F20"/>
                </a:solidFill>
                <a:latin typeface="Arial"/>
                <a:cs typeface="Arial"/>
              </a:rPr>
              <a:t>producer</a:t>
            </a:r>
            <a:r>
              <a:rPr lang="en-US" sz="2400" spc="-5" dirty="0">
                <a:solidFill>
                  <a:srgbClr val="231F20"/>
                </a:solidFill>
                <a:latin typeface="Arial"/>
                <a:cs typeface="Arial"/>
              </a:rPr>
              <a:t>s</a:t>
            </a:r>
            <a:r>
              <a:rPr sz="2400" spc="300" dirty="0">
                <a:solidFill>
                  <a:srgbClr val="231F20"/>
                </a:solidFill>
                <a:latin typeface="Arial"/>
                <a:cs typeface="Arial"/>
              </a:rPr>
              <a:t> </a:t>
            </a:r>
            <a:r>
              <a:rPr sz="2400" dirty="0">
                <a:solidFill>
                  <a:srgbClr val="231F20"/>
                </a:solidFill>
                <a:latin typeface="Arial"/>
                <a:cs typeface="Arial"/>
              </a:rPr>
              <a:t>make</a:t>
            </a:r>
            <a:r>
              <a:rPr sz="2400" spc="300" dirty="0">
                <a:solidFill>
                  <a:srgbClr val="231F20"/>
                </a:solidFill>
                <a:latin typeface="Arial"/>
                <a:cs typeface="Arial"/>
              </a:rPr>
              <a:t> </a:t>
            </a:r>
            <a:r>
              <a:rPr sz="2400" spc="-5" dirty="0">
                <a:solidFill>
                  <a:srgbClr val="231F20"/>
                </a:solidFill>
                <a:latin typeface="Arial"/>
                <a:cs typeface="Arial"/>
              </a:rPr>
              <a:t>and</a:t>
            </a:r>
            <a:r>
              <a:rPr sz="2400" spc="300" dirty="0">
                <a:solidFill>
                  <a:srgbClr val="231F20"/>
                </a:solidFill>
                <a:latin typeface="Arial"/>
                <a:cs typeface="Arial"/>
              </a:rPr>
              <a:t> </a:t>
            </a:r>
            <a:r>
              <a:rPr sz="2400" dirty="0">
                <a:solidFill>
                  <a:srgbClr val="231F20"/>
                </a:solidFill>
                <a:latin typeface="Arial"/>
                <a:cs typeface="Arial"/>
              </a:rPr>
              <a:t>sell</a:t>
            </a:r>
            <a:r>
              <a:rPr sz="2400" spc="300" dirty="0">
                <a:solidFill>
                  <a:srgbClr val="231F20"/>
                </a:solidFill>
                <a:latin typeface="Arial"/>
                <a:cs typeface="Arial"/>
              </a:rPr>
              <a:t> </a:t>
            </a:r>
            <a:r>
              <a:rPr sz="2400" dirty="0">
                <a:solidFill>
                  <a:srgbClr val="231F20"/>
                </a:solidFill>
                <a:latin typeface="Arial"/>
                <a:cs typeface="Arial"/>
              </a:rPr>
              <a:t>a</a:t>
            </a:r>
            <a:r>
              <a:rPr sz="2400" spc="300" dirty="0">
                <a:solidFill>
                  <a:srgbClr val="231F20"/>
                </a:solidFill>
                <a:latin typeface="Arial"/>
                <a:cs typeface="Arial"/>
              </a:rPr>
              <a:t> </a:t>
            </a:r>
            <a:r>
              <a:rPr sz="2400" spc="-5" dirty="0">
                <a:solidFill>
                  <a:srgbClr val="231F20"/>
                </a:solidFill>
                <a:latin typeface="Arial"/>
                <a:cs typeface="Arial"/>
              </a:rPr>
              <a:t>good</a:t>
            </a:r>
            <a:r>
              <a:rPr lang="en-US" sz="2400" spc="-5" dirty="0">
                <a:solidFill>
                  <a:srgbClr val="231F20"/>
                </a:solidFill>
                <a:latin typeface="Arial"/>
                <a:cs typeface="Arial"/>
              </a:rPr>
              <a:t> or </a:t>
            </a:r>
            <a:r>
              <a:rPr sz="2400" spc="-5" dirty="0">
                <a:solidFill>
                  <a:srgbClr val="231F20"/>
                </a:solidFill>
                <a:latin typeface="Arial"/>
                <a:cs typeface="Arial"/>
              </a:rPr>
              <a:t> </a:t>
            </a:r>
            <a:r>
              <a:rPr sz="2400" spc="-655" dirty="0">
                <a:solidFill>
                  <a:srgbClr val="231F20"/>
                </a:solidFill>
                <a:latin typeface="Arial"/>
                <a:cs typeface="Arial"/>
              </a:rPr>
              <a:t> </a:t>
            </a:r>
            <a:r>
              <a:rPr sz="2400" dirty="0">
                <a:solidFill>
                  <a:srgbClr val="231F20"/>
                </a:solidFill>
                <a:latin typeface="Arial"/>
                <a:cs typeface="Arial"/>
              </a:rPr>
              <a:t>service?</a:t>
            </a:r>
            <a:endParaRPr sz="2400" dirty="0">
              <a:latin typeface="Arial"/>
              <a:cs typeface="Arial"/>
            </a:endParaRPr>
          </a:p>
          <a:p>
            <a:pPr>
              <a:lnSpc>
                <a:spcPct val="100000"/>
              </a:lnSpc>
              <a:spcBef>
                <a:spcPts val="5"/>
              </a:spcBef>
            </a:pPr>
            <a:endParaRPr sz="2500" dirty="0">
              <a:latin typeface="Arial"/>
              <a:cs typeface="Arial"/>
            </a:endParaRPr>
          </a:p>
          <a:p>
            <a:pPr marL="469900">
              <a:lnSpc>
                <a:spcPct val="100000"/>
              </a:lnSpc>
            </a:pPr>
            <a:r>
              <a:rPr sz="2400" dirty="0">
                <a:solidFill>
                  <a:schemeClr val="accent6"/>
                </a:solidFill>
                <a:latin typeface="Arial"/>
                <a:cs typeface="Arial"/>
              </a:rPr>
              <a:t>Opportunity</a:t>
            </a:r>
            <a:r>
              <a:rPr sz="2400" spc="-20" dirty="0">
                <a:solidFill>
                  <a:schemeClr val="accent6"/>
                </a:solidFill>
                <a:latin typeface="Arial"/>
                <a:cs typeface="Arial"/>
              </a:rPr>
              <a:t> </a:t>
            </a:r>
            <a:r>
              <a:rPr sz="2400" spc="-5" dirty="0">
                <a:solidFill>
                  <a:schemeClr val="accent6"/>
                </a:solidFill>
                <a:latin typeface="Arial"/>
                <a:cs typeface="Arial"/>
              </a:rPr>
              <a:t>Cost</a:t>
            </a:r>
            <a:r>
              <a:rPr sz="2400" spc="-25" dirty="0">
                <a:solidFill>
                  <a:schemeClr val="accent6"/>
                </a:solidFill>
                <a:latin typeface="Arial"/>
                <a:cs typeface="Arial"/>
              </a:rPr>
              <a:t> </a:t>
            </a:r>
            <a:r>
              <a:rPr sz="2400" dirty="0">
                <a:solidFill>
                  <a:srgbClr val="231F20"/>
                </a:solidFill>
                <a:latin typeface="Arial"/>
                <a:cs typeface="Arial"/>
              </a:rPr>
              <a:t>&lt;</a:t>
            </a:r>
            <a:r>
              <a:rPr sz="2400" spc="-15" dirty="0">
                <a:solidFill>
                  <a:srgbClr val="231F20"/>
                </a:solidFill>
                <a:latin typeface="Arial"/>
                <a:cs typeface="Arial"/>
              </a:rPr>
              <a:t> </a:t>
            </a:r>
            <a:r>
              <a:rPr sz="2400" dirty="0">
                <a:solidFill>
                  <a:srgbClr val="C00000"/>
                </a:solidFill>
                <a:latin typeface="Arial"/>
                <a:cs typeface="Arial"/>
              </a:rPr>
              <a:t>Market</a:t>
            </a:r>
            <a:r>
              <a:rPr sz="2400" spc="-20" dirty="0">
                <a:solidFill>
                  <a:srgbClr val="C00000"/>
                </a:solidFill>
                <a:latin typeface="Arial"/>
                <a:cs typeface="Arial"/>
              </a:rPr>
              <a:t> </a:t>
            </a:r>
            <a:r>
              <a:rPr sz="2400" dirty="0">
                <a:solidFill>
                  <a:srgbClr val="C00000"/>
                </a:solidFill>
                <a:latin typeface="Arial"/>
                <a:cs typeface="Arial"/>
              </a:rPr>
              <a:t>Price</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11</a:t>
            </a:fld>
            <a:endParaRPr dirty="0"/>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316230">
              <a:lnSpc>
                <a:spcPct val="100000"/>
              </a:lnSpc>
              <a:spcBef>
                <a:spcPts val="100"/>
              </a:spcBef>
            </a:pPr>
            <a:r>
              <a:rPr spc="20" dirty="0"/>
              <a:t>The</a:t>
            </a:r>
            <a:r>
              <a:rPr spc="50" dirty="0"/>
              <a:t> </a:t>
            </a:r>
            <a:r>
              <a:rPr spc="20" dirty="0"/>
              <a:t>market</a:t>
            </a:r>
            <a:r>
              <a:rPr spc="55" dirty="0"/>
              <a:t> </a:t>
            </a:r>
            <a:r>
              <a:rPr spc="35" dirty="0"/>
              <a:t>Mechanism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2819" y="933624"/>
            <a:ext cx="7443470" cy="574040"/>
          </a:xfrm>
          <a:prstGeom prst="rect">
            <a:avLst/>
          </a:prstGeom>
        </p:spPr>
        <p:txBody>
          <a:bodyPr vert="horz" wrap="square" lIns="0" tIns="12700" rIns="0" bIns="0" rtlCol="0">
            <a:spAutoFit/>
          </a:bodyPr>
          <a:lstStyle/>
          <a:p>
            <a:pPr marL="12700">
              <a:lnSpc>
                <a:spcPct val="100000"/>
              </a:lnSpc>
              <a:spcBef>
                <a:spcPts val="100"/>
              </a:spcBef>
            </a:pPr>
            <a:r>
              <a:rPr spc="15" dirty="0"/>
              <a:t>Review:</a:t>
            </a:r>
            <a:r>
              <a:rPr spc="50" dirty="0"/>
              <a:t> </a:t>
            </a:r>
            <a:r>
              <a:rPr spc="20" dirty="0"/>
              <a:t>The</a:t>
            </a:r>
            <a:r>
              <a:rPr spc="50" dirty="0"/>
              <a:t> </a:t>
            </a:r>
            <a:r>
              <a:rPr spc="20" dirty="0"/>
              <a:t>Market</a:t>
            </a:r>
            <a:r>
              <a:rPr spc="55" dirty="0"/>
              <a:t> </a:t>
            </a:r>
            <a:r>
              <a:rPr spc="35" dirty="0"/>
              <a:t>Mechanism</a:t>
            </a:r>
          </a:p>
        </p:txBody>
      </p:sp>
      <p:sp>
        <p:nvSpPr>
          <p:cNvPr id="3" name="object 3"/>
          <p:cNvSpPr txBox="1"/>
          <p:nvPr/>
        </p:nvSpPr>
        <p:spPr>
          <a:xfrm>
            <a:off x="1130300" y="1862783"/>
            <a:ext cx="546735" cy="299720"/>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231F20"/>
                </a:solidFill>
                <a:latin typeface="Arial"/>
                <a:cs typeface="Arial"/>
              </a:rPr>
              <a:t>Price</a:t>
            </a:r>
            <a:endParaRPr sz="1800">
              <a:latin typeface="Arial"/>
              <a:cs typeface="Arial"/>
            </a:endParaRPr>
          </a:p>
        </p:txBody>
      </p:sp>
      <p:grpSp>
        <p:nvGrpSpPr>
          <p:cNvPr id="4" name="object 4"/>
          <p:cNvGrpSpPr/>
          <p:nvPr/>
        </p:nvGrpSpPr>
        <p:grpSpPr>
          <a:xfrm>
            <a:off x="1817574" y="2098476"/>
            <a:ext cx="5647055" cy="3538220"/>
            <a:chOff x="1817574" y="2098476"/>
            <a:chExt cx="5647055" cy="3538220"/>
          </a:xfrm>
        </p:grpSpPr>
        <p:sp>
          <p:nvSpPr>
            <p:cNvPr id="5" name="object 5"/>
            <p:cNvSpPr/>
            <p:nvPr/>
          </p:nvSpPr>
          <p:spPr>
            <a:xfrm>
              <a:off x="1847850" y="5582941"/>
              <a:ext cx="5610860" cy="0"/>
            </a:xfrm>
            <a:custGeom>
              <a:avLst/>
              <a:gdLst/>
              <a:ahLst/>
              <a:cxnLst/>
              <a:rect l="l" t="t" r="r" b="b"/>
              <a:pathLst>
                <a:path w="5610859">
                  <a:moveTo>
                    <a:pt x="0" y="0"/>
                  </a:moveTo>
                  <a:lnTo>
                    <a:pt x="5610428" y="0"/>
                  </a:lnTo>
                </a:path>
              </a:pathLst>
            </a:custGeom>
            <a:ln w="12700">
              <a:solidFill>
                <a:srgbClr val="231F20"/>
              </a:solidFill>
            </a:ln>
          </p:spPr>
          <p:txBody>
            <a:bodyPr wrap="square" lIns="0" tIns="0" rIns="0" bIns="0" rtlCol="0"/>
            <a:lstStyle/>
            <a:p>
              <a:endParaRPr/>
            </a:p>
          </p:txBody>
        </p:sp>
        <p:sp>
          <p:nvSpPr>
            <p:cNvPr id="6" name="object 6"/>
            <p:cNvSpPr/>
            <p:nvPr/>
          </p:nvSpPr>
          <p:spPr>
            <a:xfrm>
              <a:off x="7407409" y="5535652"/>
              <a:ext cx="51435" cy="94615"/>
            </a:xfrm>
            <a:custGeom>
              <a:avLst/>
              <a:gdLst/>
              <a:ahLst/>
              <a:cxnLst/>
              <a:rect l="l" t="t" r="r" b="b"/>
              <a:pathLst>
                <a:path w="51434" h="94614">
                  <a:moveTo>
                    <a:pt x="0" y="0"/>
                  </a:moveTo>
                  <a:lnTo>
                    <a:pt x="50863" y="47294"/>
                  </a:lnTo>
                  <a:lnTo>
                    <a:pt x="0" y="94576"/>
                  </a:lnTo>
                </a:path>
              </a:pathLst>
            </a:custGeom>
            <a:ln w="12700">
              <a:solidFill>
                <a:srgbClr val="231F20"/>
              </a:solidFill>
            </a:ln>
          </p:spPr>
          <p:txBody>
            <a:bodyPr wrap="square" lIns="0" tIns="0" rIns="0" bIns="0" rtlCol="0"/>
            <a:lstStyle/>
            <a:p>
              <a:endParaRPr/>
            </a:p>
          </p:txBody>
        </p:sp>
        <p:sp>
          <p:nvSpPr>
            <p:cNvPr id="7" name="object 7"/>
            <p:cNvSpPr/>
            <p:nvPr/>
          </p:nvSpPr>
          <p:spPr>
            <a:xfrm>
              <a:off x="1871215" y="2104829"/>
              <a:ext cx="0" cy="3510915"/>
            </a:xfrm>
            <a:custGeom>
              <a:avLst/>
              <a:gdLst/>
              <a:ahLst/>
              <a:cxnLst/>
              <a:rect l="l" t="t" r="r" b="b"/>
              <a:pathLst>
                <a:path h="3510915">
                  <a:moveTo>
                    <a:pt x="0" y="3510838"/>
                  </a:moveTo>
                  <a:lnTo>
                    <a:pt x="0" y="0"/>
                  </a:lnTo>
                </a:path>
              </a:pathLst>
            </a:custGeom>
            <a:ln w="12700">
              <a:solidFill>
                <a:srgbClr val="231F20"/>
              </a:solidFill>
            </a:ln>
          </p:spPr>
          <p:txBody>
            <a:bodyPr wrap="square" lIns="0" tIns="0" rIns="0" bIns="0" rtlCol="0"/>
            <a:lstStyle/>
            <a:p>
              <a:endParaRPr/>
            </a:p>
          </p:txBody>
        </p:sp>
        <p:sp>
          <p:nvSpPr>
            <p:cNvPr id="8" name="object 8"/>
            <p:cNvSpPr/>
            <p:nvPr/>
          </p:nvSpPr>
          <p:spPr>
            <a:xfrm>
              <a:off x="1823924" y="2104826"/>
              <a:ext cx="94615" cy="51435"/>
            </a:xfrm>
            <a:custGeom>
              <a:avLst/>
              <a:gdLst/>
              <a:ahLst/>
              <a:cxnLst/>
              <a:rect l="l" t="t" r="r" b="b"/>
              <a:pathLst>
                <a:path w="94614" h="51435">
                  <a:moveTo>
                    <a:pt x="0" y="50863"/>
                  </a:moveTo>
                  <a:lnTo>
                    <a:pt x="47294" y="0"/>
                  </a:lnTo>
                  <a:lnTo>
                    <a:pt x="94576" y="50863"/>
                  </a:lnTo>
                </a:path>
              </a:pathLst>
            </a:custGeom>
            <a:ln w="12700">
              <a:solidFill>
                <a:srgbClr val="231F20"/>
              </a:solidFill>
            </a:ln>
          </p:spPr>
          <p:txBody>
            <a:bodyPr wrap="square" lIns="0" tIns="0" rIns="0" bIns="0" rtlCol="0"/>
            <a:lstStyle/>
            <a:p>
              <a:endParaRPr/>
            </a:p>
          </p:txBody>
        </p:sp>
        <p:sp>
          <p:nvSpPr>
            <p:cNvPr id="9" name="object 9"/>
            <p:cNvSpPr/>
            <p:nvPr/>
          </p:nvSpPr>
          <p:spPr>
            <a:xfrm>
              <a:off x="1892251" y="2576465"/>
              <a:ext cx="4803775" cy="3008630"/>
            </a:xfrm>
            <a:custGeom>
              <a:avLst/>
              <a:gdLst/>
              <a:ahLst/>
              <a:cxnLst/>
              <a:rect l="l" t="t" r="r" b="b"/>
              <a:pathLst>
                <a:path w="4803775" h="3008629">
                  <a:moveTo>
                    <a:pt x="0" y="0"/>
                  </a:moveTo>
                  <a:lnTo>
                    <a:pt x="4803241" y="3008083"/>
                  </a:lnTo>
                </a:path>
              </a:pathLst>
            </a:custGeom>
            <a:ln w="38100">
              <a:solidFill>
                <a:srgbClr val="3369E8"/>
              </a:solidFill>
            </a:ln>
          </p:spPr>
          <p:txBody>
            <a:bodyPr wrap="square" lIns="0" tIns="0" rIns="0" bIns="0" rtlCol="0"/>
            <a:lstStyle/>
            <a:p>
              <a:endParaRPr/>
            </a:p>
          </p:txBody>
        </p:sp>
        <p:sp>
          <p:nvSpPr>
            <p:cNvPr id="10" name="object 10"/>
            <p:cNvSpPr/>
            <p:nvPr/>
          </p:nvSpPr>
          <p:spPr>
            <a:xfrm>
              <a:off x="2112841" y="2454786"/>
              <a:ext cx="4752975" cy="2820670"/>
            </a:xfrm>
            <a:custGeom>
              <a:avLst/>
              <a:gdLst/>
              <a:ahLst/>
              <a:cxnLst/>
              <a:rect l="l" t="t" r="r" b="b"/>
              <a:pathLst>
                <a:path w="4752975" h="2820670">
                  <a:moveTo>
                    <a:pt x="0" y="2820289"/>
                  </a:moveTo>
                  <a:lnTo>
                    <a:pt x="4752555" y="0"/>
                  </a:lnTo>
                </a:path>
              </a:pathLst>
            </a:custGeom>
            <a:ln w="38100">
              <a:solidFill>
                <a:srgbClr val="EDB111"/>
              </a:solidFill>
            </a:ln>
          </p:spPr>
          <p:txBody>
            <a:bodyPr wrap="square" lIns="0" tIns="0" rIns="0" bIns="0" rtlCol="0"/>
            <a:lstStyle/>
            <a:p>
              <a:endParaRPr/>
            </a:p>
          </p:txBody>
        </p:sp>
        <p:sp>
          <p:nvSpPr>
            <p:cNvPr id="11" name="object 11"/>
            <p:cNvSpPr/>
            <p:nvPr/>
          </p:nvSpPr>
          <p:spPr>
            <a:xfrm>
              <a:off x="1882140" y="4030436"/>
              <a:ext cx="2320290" cy="0"/>
            </a:xfrm>
            <a:custGeom>
              <a:avLst/>
              <a:gdLst/>
              <a:ahLst/>
              <a:cxnLst/>
              <a:rect l="l" t="t" r="r" b="b"/>
              <a:pathLst>
                <a:path w="2320290">
                  <a:moveTo>
                    <a:pt x="0" y="0"/>
                  </a:moveTo>
                  <a:lnTo>
                    <a:pt x="2319743" y="0"/>
                  </a:lnTo>
                </a:path>
              </a:pathLst>
            </a:custGeom>
            <a:ln w="12700">
              <a:solidFill>
                <a:srgbClr val="939598"/>
              </a:solidFill>
              <a:prstDash val="lgDash"/>
            </a:ln>
          </p:spPr>
          <p:txBody>
            <a:bodyPr wrap="square" lIns="0" tIns="0" rIns="0" bIns="0" rtlCol="0"/>
            <a:lstStyle/>
            <a:p>
              <a:endParaRPr/>
            </a:p>
          </p:txBody>
        </p:sp>
        <p:sp>
          <p:nvSpPr>
            <p:cNvPr id="12" name="object 12"/>
            <p:cNvSpPr/>
            <p:nvPr/>
          </p:nvSpPr>
          <p:spPr>
            <a:xfrm>
              <a:off x="4219122" y="4071256"/>
              <a:ext cx="0" cy="1517015"/>
            </a:xfrm>
            <a:custGeom>
              <a:avLst/>
              <a:gdLst/>
              <a:ahLst/>
              <a:cxnLst/>
              <a:rect l="l" t="t" r="r" b="b"/>
              <a:pathLst>
                <a:path h="1517014">
                  <a:moveTo>
                    <a:pt x="0" y="0"/>
                  </a:moveTo>
                  <a:lnTo>
                    <a:pt x="0" y="1516748"/>
                  </a:lnTo>
                </a:path>
              </a:pathLst>
            </a:custGeom>
            <a:ln w="12700">
              <a:solidFill>
                <a:srgbClr val="939598"/>
              </a:solidFill>
              <a:prstDash val="lgDash"/>
            </a:ln>
          </p:spPr>
          <p:txBody>
            <a:bodyPr wrap="square" lIns="0" tIns="0" rIns="0" bIns="0" rtlCol="0"/>
            <a:lstStyle/>
            <a:p>
              <a:endParaRPr/>
            </a:p>
          </p:txBody>
        </p:sp>
        <p:pic>
          <p:nvPicPr>
            <p:cNvPr id="13" name="object 13"/>
            <p:cNvPicPr/>
            <p:nvPr/>
          </p:nvPicPr>
          <p:blipFill>
            <a:blip r:embed="rId3" cstate="print"/>
            <a:stretch>
              <a:fillRect/>
            </a:stretch>
          </p:blipFill>
          <p:spPr>
            <a:xfrm>
              <a:off x="4173220" y="3975100"/>
              <a:ext cx="98425" cy="103022"/>
            </a:xfrm>
            <a:prstGeom prst="rect">
              <a:avLst/>
            </a:prstGeom>
          </p:spPr>
        </p:pic>
      </p:grpSp>
      <p:sp>
        <p:nvSpPr>
          <p:cNvPr id="14" name="object 14"/>
          <p:cNvSpPr txBox="1"/>
          <p:nvPr/>
        </p:nvSpPr>
        <p:spPr>
          <a:xfrm>
            <a:off x="6969125" y="5618355"/>
            <a:ext cx="877569" cy="299720"/>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231F20"/>
                </a:solidFill>
                <a:latin typeface="Arial"/>
                <a:cs typeface="Arial"/>
              </a:rPr>
              <a:t>Quantity</a:t>
            </a:r>
            <a:endParaRPr sz="1800">
              <a:latin typeface="Arial"/>
              <a:cs typeface="Arial"/>
            </a:endParaRPr>
          </a:p>
        </p:txBody>
      </p:sp>
      <p:sp>
        <p:nvSpPr>
          <p:cNvPr id="20" name="object 20"/>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12</a:t>
            </a:fld>
            <a:endParaRPr dirty="0"/>
          </a:p>
        </p:txBody>
      </p:sp>
      <p:sp>
        <p:nvSpPr>
          <p:cNvPr id="15" name="object 15"/>
          <p:cNvSpPr txBox="1"/>
          <p:nvPr/>
        </p:nvSpPr>
        <p:spPr>
          <a:xfrm>
            <a:off x="4511675" y="3872286"/>
            <a:ext cx="1511935" cy="299720"/>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D40F24"/>
                </a:solidFill>
                <a:latin typeface="Arial"/>
                <a:cs typeface="Arial"/>
              </a:rPr>
              <a:t>EQUILIBRIUM</a:t>
            </a:r>
            <a:endParaRPr sz="1800">
              <a:latin typeface="Arial"/>
              <a:cs typeface="Arial"/>
            </a:endParaRPr>
          </a:p>
        </p:txBody>
      </p:sp>
      <p:sp>
        <p:nvSpPr>
          <p:cNvPr id="16" name="object 16"/>
          <p:cNvSpPr txBox="1"/>
          <p:nvPr/>
        </p:nvSpPr>
        <p:spPr>
          <a:xfrm>
            <a:off x="3873500" y="5614727"/>
            <a:ext cx="328295" cy="299720"/>
          </a:xfrm>
          <a:prstGeom prst="rect">
            <a:avLst/>
          </a:prstGeom>
        </p:spPr>
        <p:txBody>
          <a:bodyPr vert="horz" wrap="square" lIns="0" tIns="12700" rIns="0" bIns="0" rtlCol="0">
            <a:spAutoFit/>
          </a:bodyPr>
          <a:lstStyle/>
          <a:p>
            <a:pPr marL="38100">
              <a:lnSpc>
                <a:spcPct val="100000"/>
              </a:lnSpc>
              <a:spcBef>
                <a:spcPts val="100"/>
              </a:spcBef>
            </a:pPr>
            <a:r>
              <a:rPr sz="1800" i="1" dirty="0">
                <a:solidFill>
                  <a:srgbClr val="231F20"/>
                </a:solidFill>
                <a:latin typeface="Arial"/>
                <a:cs typeface="Arial"/>
              </a:rPr>
              <a:t>Q</a:t>
            </a:r>
            <a:r>
              <a:rPr sz="1575" i="1" baseline="-31746" dirty="0">
                <a:solidFill>
                  <a:srgbClr val="231F20"/>
                </a:solidFill>
                <a:latin typeface="Arial"/>
                <a:cs typeface="Arial"/>
              </a:rPr>
              <a:t>e</a:t>
            </a:r>
            <a:endParaRPr sz="1575" baseline="-31746">
              <a:latin typeface="Arial"/>
              <a:cs typeface="Arial"/>
            </a:endParaRPr>
          </a:p>
        </p:txBody>
      </p:sp>
      <p:sp>
        <p:nvSpPr>
          <p:cNvPr id="17" name="object 17"/>
          <p:cNvSpPr txBox="1"/>
          <p:nvPr/>
        </p:nvSpPr>
        <p:spPr>
          <a:xfrm>
            <a:off x="1495425" y="3839902"/>
            <a:ext cx="302895" cy="299720"/>
          </a:xfrm>
          <a:prstGeom prst="rect">
            <a:avLst/>
          </a:prstGeom>
        </p:spPr>
        <p:txBody>
          <a:bodyPr vert="horz" wrap="square" lIns="0" tIns="12700" rIns="0" bIns="0" rtlCol="0">
            <a:spAutoFit/>
          </a:bodyPr>
          <a:lstStyle/>
          <a:p>
            <a:pPr marL="38100">
              <a:lnSpc>
                <a:spcPct val="100000"/>
              </a:lnSpc>
              <a:spcBef>
                <a:spcPts val="100"/>
              </a:spcBef>
            </a:pPr>
            <a:r>
              <a:rPr sz="1800" i="1" dirty="0">
                <a:solidFill>
                  <a:srgbClr val="231F20"/>
                </a:solidFill>
                <a:latin typeface="Arial"/>
                <a:cs typeface="Arial"/>
              </a:rPr>
              <a:t>P</a:t>
            </a:r>
            <a:r>
              <a:rPr sz="1575" i="1" baseline="-31746" dirty="0">
                <a:solidFill>
                  <a:srgbClr val="231F20"/>
                </a:solidFill>
                <a:latin typeface="Arial"/>
                <a:cs typeface="Arial"/>
              </a:rPr>
              <a:t>e</a:t>
            </a:r>
            <a:endParaRPr sz="1575" baseline="-31746">
              <a:latin typeface="Arial"/>
              <a:cs typeface="Arial"/>
            </a:endParaRPr>
          </a:p>
        </p:txBody>
      </p:sp>
      <p:sp>
        <p:nvSpPr>
          <p:cNvPr id="18" name="object 18"/>
          <p:cNvSpPr txBox="1"/>
          <p:nvPr/>
        </p:nvSpPr>
        <p:spPr>
          <a:xfrm>
            <a:off x="6181271" y="4744777"/>
            <a:ext cx="889635" cy="299720"/>
          </a:xfrm>
          <a:prstGeom prst="rect">
            <a:avLst/>
          </a:prstGeom>
        </p:spPr>
        <p:txBody>
          <a:bodyPr vert="horz" wrap="square" lIns="0" tIns="12700" rIns="0" bIns="0" rtlCol="0">
            <a:spAutoFit/>
          </a:bodyPr>
          <a:lstStyle/>
          <a:p>
            <a:pPr marL="12700">
              <a:lnSpc>
                <a:spcPct val="100000"/>
              </a:lnSpc>
              <a:spcBef>
                <a:spcPts val="100"/>
              </a:spcBef>
            </a:pPr>
            <a:r>
              <a:rPr sz="1800" i="1" spc="-5" dirty="0">
                <a:solidFill>
                  <a:srgbClr val="231F20"/>
                </a:solidFill>
                <a:latin typeface="Arial"/>
                <a:cs typeface="Arial"/>
              </a:rPr>
              <a:t>Demand</a:t>
            </a:r>
            <a:endParaRPr sz="1800">
              <a:latin typeface="Arial"/>
              <a:cs typeface="Arial"/>
            </a:endParaRPr>
          </a:p>
        </p:txBody>
      </p:sp>
      <p:sp>
        <p:nvSpPr>
          <p:cNvPr id="19" name="object 19"/>
          <p:cNvSpPr txBox="1"/>
          <p:nvPr/>
        </p:nvSpPr>
        <p:spPr>
          <a:xfrm>
            <a:off x="6016625" y="2963602"/>
            <a:ext cx="724535" cy="299720"/>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231F20"/>
                </a:solidFill>
                <a:latin typeface="Arial"/>
                <a:cs typeface="Arial"/>
              </a:rPr>
              <a:t>Supply</a:t>
            </a:r>
            <a:endParaRPr sz="180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3C7D3-73F8-531C-BD55-507FD43558E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0A0B5E6-79F3-5C1F-6EC2-142CFA0CED72}"/>
              </a:ext>
            </a:extLst>
          </p:cNvPr>
          <p:cNvSpPr txBox="1"/>
          <p:nvPr/>
        </p:nvSpPr>
        <p:spPr>
          <a:xfrm>
            <a:off x="1143000" y="2514600"/>
            <a:ext cx="6199828" cy="1606337"/>
          </a:xfrm>
          <a:prstGeom prst="rect">
            <a:avLst/>
          </a:prstGeom>
        </p:spPr>
        <p:txBody>
          <a:bodyPr vert="horz" wrap="square" lIns="0" tIns="12700" rIns="0" bIns="0" rtlCol="0">
            <a:spAutoFit/>
          </a:bodyPr>
          <a:lstStyle/>
          <a:p>
            <a:pPr marL="12700" marR="5080">
              <a:lnSpc>
                <a:spcPct val="150000"/>
              </a:lnSpc>
              <a:spcBef>
                <a:spcPts val="100"/>
              </a:spcBef>
            </a:pPr>
            <a:r>
              <a:rPr lang="en-US" sz="2400" dirty="0">
                <a:latin typeface="Arial"/>
                <a:cs typeface="Arial"/>
              </a:rPr>
              <a:t>When we refer to “</a:t>
            </a:r>
            <a:r>
              <a:rPr lang="en-US" sz="2400" dirty="0">
                <a:solidFill>
                  <a:srgbClr val="0070C0"/>
                </a:solidFill>
                <a:latin typeface="Arial"/>
                <a:cs typeface="Arial"/>
              </a:rPr>
              <a:t>The Consumer</a:t>
            </a:r>
            <a:r>
              <a:rPr lang="en-US" sz="2400" dirty="0">
                <a:latin typeface="Arial"/>
                <a:cs typeface="Arial"/>
              </a:rPr>
              <a:t>”, are we referring to an individual consumer or a group of people known as consumers?</a:t>
            </a:r>
            <a:endParaRPr sz="2400" dirty="0">
              <a:latin typeface="Arial"/>
              <a:cs typeface="Arial"/>
            </a:endParaRPr>
          </a:p>
        </p:txBody>
      </p:sp>
      <p:sp>
        <p:nvSpPr>
          <p:cNvPr id="4" name="object 4">
            <a:extLst>
              <a:ext uri="{FF2B5EF4-FFF2-40B4-BE49-F238E27FC236}">
                <a16:creationId xmlns:a16="http://schemas.microsoft.com/office/drawing/2014/main" id="{BACAEE4F-E4EA-B4A8-AFDB-A980BF31DF2C}"/>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13</a:t>
            </a:fld>
            <a:endParaRPr dirty="0"/>
          </a:p>
        </p:txBody>
      </p:sp>
      <p:sp>
        <p:nvSpPr>
          <p:cNvPr id="3" name="object 3">
            <a:extLst>
              <a:ext uri="{FF2B5EF4-FFF2-40B4-BE49-F238E27FC236}">
                <a16:creationId xmlns:a16="http://schemas.microsoft.com/office/drawing/2014/main" id="{3F4B6AC1-5B46-9194-157E-FB7227BC9D04}"/>
              </a:ext>
            </a:extLst>
          </p:cNvPr>
          <p:cNvSpPr txBox="1">
            <a:spLocks noGrp="1"/>
          </p:cNvSpPr>
          <p:nvPr>
            <p:ph type="title"/>
          </p:nvPr>
        </p:nvSpPr>
        <p:spPr>
          <a:prstGeom prst="rect">
            <a:avLst/>
          </a:prstGeom>
        </p:spPr>
        <p:txBody>
          <a:bodyPr vert="horz" wrap="square" lIns="0" tIns="12700" rIns="0" bIns="0" rtlCol="0">
            <a:spAutoFit/>
          </a:bodyPr>
          <a:lstStyle/>
          <a:p>
            <a:pPr marL="316230">
              <a:lnSpc>
                <a:spcPct val="100000"/>
              </a:lnSpc>
              <a:spcBef>
                <a:spcPts val="100"/>
              </a:spcBef>
            </a:pPr>
            <a:r>
              <a:rPr spc="20" dirty="0"/>
              <a:t>The</a:t>
            </a:r>
            <a:r>
              <a:rPr spc="50" dirty="0"/>
              <a:t> </a:t>
            </a:r>
            <a:r>
              <a:rPr spc="20" dirty="0"/>
              <a:t>market</a:t>
            </a:r>
            <a:r>
              <a:rPr spc="55" dirty="0"/>
              <a:t> </a:t>
            </a:r>
            <a:r>
              <a:rPr spc="35" dirty="0"/>
              <a:t>Mechanism</a:t>
            </a:r>
          </a:p>
        </p:txBody>
      </p:sp>
    </p:spTree>
    <p:extLst>
      <p:ext uri="{BB962C8B-B14F-4D97-AF65-F5344CB8AC3E}">
        <p14:creationId xmlns:p14="http://schemas.microsoft.com/office/powerpoint/2010/main" val="3058962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14</a:t>
            </a:fld>
            <a:endParaRPr dirty="0"/>
          </a:p>
        </p:txBody>
      </p:sp>
      <p:sp>
        <p:nvSpPr>
          <p:cNvPr id="3" name="object 3"/>
          <p:cNvSpPr txBox="1">
            <a:spLocks noGrp="1"/>
          </p:cNvSpPr>
          <p:nvPr>
            <p:ph type="title"/>
          </p:nvPr>
        </p:nvSpPr>
        <p:spPr>
          <a:xfrm>
            <a:off x="972819" y="933624"/>
            <a:ext cx="7057390" cy="574040"/>
          </a:xfrm>
          <a:prstGeom prst="rect">
            <a:avLst/>
          </a:prstGeom>
        </p:spPr>
        <p:txBody>
          <a:bodyPr vert="horz" wrap="square" lIns="0" tIns="12700" rIns="0" bIns="0" rtlCol="0">
            <a:spAutoFit/>
          </a:bodyPr>
          <a:lstStyle/>
          <a:p>
            <a:pPr marL="12700">
              <a:lnSpc>
                <a:spcPct val="100000"/>
              </a:lnSpc>
              <a:spcBef>
                <a:spcPts val="100"/>
              </a:spcBef>
            </a:pPr>
            <a:r>
              <a:rPr spc="25" dirty="0"/>
              <a:t>What</a:t>
            </a:r>
            <a:r>
              <a:rPr spc="50" dirty="0"/>
              <a:t> </a:t>
            </a:r>
            <a:r>
              <a:rPr spc="15" dirty="0"/>
              <a:t>is</a:t>
            </a:r>
            <a:r>
              <a:rPr spc="50" dirty="0"/>
              <a:t> </a:t>
            </a:r>
            <a:r>
              <a:rPr spc="15" dirty="0"/>
              <a:t>an</a:t>
            </a:r>
            <a:r>
              <a:rPr spc="55" dirty="0"/>
              <a:t> </a:t>
            </a:r>
            <a:r>
              <a:rPr spc="30" dirty="0"/>
              <a:t>economic</a:t>
            </a:r>
            <a:r>
              <a:rPr spc="50" dirty="0"/>
              <a:t> </a:t>
            </a:r>
            <a:r>
              <a:rPr spc="35" dirty="0"/>
              <a:t>"agent"?</a:t>
            </a:r>
          </a:p>
        </p:txBody>
      </p:sp>
      <p:sp>
        <p:nvSpPr>
          <p:cNvPr id="5" name="object 2">
            <a:extLst>
              <a:ext uri="{FF2B5EF4-FFF2-40B4-BE49-F238E27FC236}">
                <a16:creationId xmlns:a16="http://schemas.microsoft.com/office/drawing/2014/main" id="{BD68B527-9C71-54EC-30A6-A1A9425FF5C5}"/>
              </a:ext>
            </a:extLst>
          </p:cNvPr>
          <p:cNvSpPr txBox="1"/>
          <p:nvPr/>
        </p:nvSpPr>
        <p:spPr>
          <a:xfrm>
            <a:off x="1401600" y="2057400"/>
            <a:ext cx="6199828" cy="1052339"/>
          </a:xfrm>
          <a:prstGeom prst="rect">
            <a:avLst/>
          </a:prstGeom>
        </p:spPr>
        <p:txBody>
          <a:bodyPr vert="horz" wrap="square" lIns="0" tIns="12700" rIns="0" bIns="0" rtlCol="0">
            <a:spAutoFit/>
          </a:bodyPr>
          <a:lstStyle/>
          <a:p>
            <a:pPr marL="12700" marR="5080">
              <a:lnSpc>
                <a:spcPct val="150000"/>
              </a:lnSpc>
              <a:spcBef>
                <a:spcPts val="100"/>
              </a:spcBef>
            </a:pPr>
            <a:r>
              <a:rPr lang="en-US" sz="2400" dirty="0">
                <a:solidFill>
                  <a:srgbClr val="0070C0"/>
                </a:solidFill>
                <a:latin typeface="Arial"/>
                <a:cs typeface="Arial"/>
              </a:rPr>
              <a:t>The Consumer</a:t>
            </a:r>
            <a:r>
              <a:rPr lang="en-US" sz="2400" dirty="0">
                <a:latin typeface="Arial"/>
                <a:cs typeface="Arial"/>
              </a:rPr>
              <a:t> = abstract representation of all consumers in the market </a:t>
            </a:r>
            <a:endParaRPr sz="2400" dirty="0">
              <a:latin typeface="Arial"/>
              <a:cs typeface="Arial"/>
            </a:endParaRPr>
          </a:p>
        </p:txBody>
      </p:sp>
      <p:sp>
        <p:nvSpPr>
          <p:cNvPr id="6" name="object 2">
            <a:extLst>
              <a:ext uri="{FF2B5EF4-FFF2-40B4-BE49-F238E27FC236}">
                <a16:creationId xmlns:a16="http://schemas.microsoft.com/office/drawing/2014/main" id="{DE7F12A9-DC17-69D8-6D90-11EF67EFF9D8}"/>
              </a:ext>
            </a:extLst>
          </p:cNvPr>
          <p:cNvSpPr txBox="1"/>
          <p:nvPr/>
        </p:nvSpPr>
        <p:spPr>
          <a:xfrm>
            <a:off x="1395422" y="3886200"/>
            <a:ext cx="6199828" cy="1052339"/>
          </a:xfrm>
          <a:prstGeom prst="rect">
            <a:avLst/>
          </a:prstGeom>
        </p:spPr>
        <p:txBody>
          <a:bodyPr vert="horz" wrap="square" lIns="0" tIns="12700" rIns="0" bIns="0" rtlCol="0">
            <a:spAutoFit/>
          </a:bodyPr>
          <a:lstStyle/>
          <a:p>
            <a:pPr marL="12700" marR="5080">
              <a:lnSpc>
                <a:spcPct val="150000"/>
              </a:lnSpc>
              <a:spcBef>
                <a:spcPts val="100"/>
              </a:spcBef>
            </a:pPr>
            <a:r>
              <a:rPr lang="en-US" sz="2400" dirty="0">
                <a:solidFill>
                  <a:srgbClr val="FFC000"/>
                </a:solidFill>
                <a:latin typeface="Arial"/>
                <a:cs typeface="Arial"/>
              </a:rPr>
              <a:t>The Producer </a:t>
            </a:r>
            <a:r>
              <a:rPr lang="en-US" sz="2400" dirty="0">
                <a:latin typeface="Arial"/>
                <a:cs typeface="Arial"/>
              </a:rPr>
              <a:t>= abstract representation of all producers in the market </a:t>
            </a:r>
            <a:endParaRPr sz="2400" dirty="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02041" y="1905000"/>
            <a:ext cx="6798945" cy="2257028"/>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231F20"/>
                </a:solidFill>
                <a:latin typeface="Arial"/>
                <a:cs typeface="Arial"/>
              </a:rPr>
              <a:t>Define</a:t>
            </a:r>
            <a:r>
              <a:rPr sz="2400" spc="-35" dirty="0">
                <a:solidFill>
                  <a:srgbClr val="231F20"/>
                </a:solidFill>
                <a:latin typeface="Arial"/>
                <a:cs typeface="Arial"/>
              </a:rPr>
              <a:t> </a:t>
            </a:r>
            <a:r>
              <a:rPr sz="2400" dirty="0">
                <a:solidFill>
                  <a:srgbClr val="231F20"/>
                </a:solidFill>
                <a:latin typeface="Arial"/>
                <a:cs typeface="Arial"/>
              </a:rPr>
              <a:t>the</a:t>
            </a:r>
            <a:r>
              <a:rPr sz="2400" spc="-25" dirty="0">
                <a:solidFill>
                  <a:srgbClr val="231F20"/>
                </a:solidFill>
                <a:latin typeface="Arial"/>
                <a:cs typeface="Arial"/>
              </a:rPr>
              <a:t> </a:t>
            </a:r>
            <a:r>
              <a:rPr sz="2400" spc="-5" dirty="0">
                <a:solidFill>
                  <a:srgbClr val="F08D00"/>
                </a:solidFill>
                <a:latin typeface="Arial"/>
                <a:cs typeface="Arial"/>
              </a:rPr>
              <a:t>agent</a:t>
            </a:r>
            <a:r>
              <a:rPr sz="2400" spc="-5" dirty="0">
                <a:solidFill>
                  <a:srgbClr val="231F20"/>
                </a:solidFill>
                <a:latin typeface="Arial"/>
                <a:cs typeface="Arial"/>
              </a:rPr>
              <a:t>:</a:t>
            </a:r>
            <a:endParaRPr lang="en-US" sz="2400" spc="-5" dirty="0">
              <a:solidFill>
                <a:srgbClr val="231F20"/>
              </a:solidFill>
              <a:latin typeface="Arial"/>
              <a:cs typeface="Arial"/>
            </a:endParaRPr>
          </a:p>
          <a:p>
            <a:pPr marL="12700">
              <a:lnSpc>
                <a:spcPct val="100000"/>
              </a:lnSpc>
              <a:spcBef>
                <a:spcPts val="100"/>
              </a:spcBef>
            </a:pPr>
            <a:endParaRPr sz="2400" dirty="0">
              <a:latin typeface="Arial"/>
              <a:cs typeface="Arial"/>
            </a:endParaRPr>
          </a:p>
          <a:p>
            <a:pPr marL="661035" indent="-191770">
              <a:lnSpc>
                <a:spcPct val="100000"/>
              </a:lnSpc>
              <a:buClr>
                <a:srgbClr val="4785EC"/>
              </a:buClr>
              <a:buChar char="•"/>
              <a:tabLst>
                <a:tab pos="661670" algn="l"/>
              </a:tabLst>
            </a:pPr>
            <a:r>
              <a:rPr lang="en-US" sz="2400" dirty="0">
                <a:solidFill>
                  <a:srgbClr val="231F20"/>
                </a:solidFill>
                <a:latin typeface="Arial"/>
                <a:cs typeface="Arial"/>
              </a:rPr>
              <a:t>Abstract concept</a:t>
            </a:r>
          </a:p>
          <a:p>
            <a:pPr marL="661035" indent="-191770">
              <a:lnSpc>
                <a:spcPct val="100000"/>
              </a:lnSpc>
              <a:buClr>
                <a:srgbClr val="4785EC"/>
              </a:buClr>
              <a:buChar char="•"/>
              <a:tabLst>
                <a:tab pos="661670" algn="l"/>
              </a:tabLst>
            </a:pPr>
            <a:r>
              <a:rPr lang="en-US" sz="2400" dirty="0">
                <a:solidFill>
                  <a:srgbClr val="231F20"/>
                </a:solidFill>
                <a:latin typeface="Arial"/>
                <a:cs typeface="Arial"/>
              </a:rPr>
              <a:t>R</a:t>
            </a:r>
            <a:r>
              <a:rPr sz="2400" dirty="0">
                <a:solidFill>
                  <a:srgbClr val="231F20"/>
                </a:solidFill>
                <a:latin typeface="Arial"/>
                <a:cs typeface="Arial"/>
              </a:rPr>
              <a:t>epresent</a:t>
            </a:r>
            <a:r>
              <a:rPr lang="en-US" sz="2400" dirty="0">
                <a:solidFill>
                  <a:srgbClr val="231F20"/>
                </a:solidFill>
                <a:latin typeface="Arial"/>
                <a:cs typeface="Arial"/>
              </a:rPr>
              <a:t>s</a:t>
            </a:r>
            <a:r>
              <a:rPr sz="2400" spc="-15" dirty="0">
                <a:solidFill>
                  <a:srgbClr val="231F20"/>
                </a:solidFill>
                <a:latin typeface="Arial"/>
                <a:cs typeface="Arial"/>
              </a:rPr>
              <a:t> </a:t>
            </a:r>
            <a:r>
              <a:rPr sz="2400" dirty="0">
                <a:solidFill>
                  <a:srgbClr val="231F20"/>
                </a:solidFill>
                <a:latin typeface="Arial"/>
                <a:cs typeface="Arial"/>
              </a:rPr>
              <a:t>some</a:t>
            </a:r>
            <a:r>
              <a:rPr sz="2400" spc="-15" dirty="0">
                <a:solidFill>
                  <a:srgbClr val="231F20"/>
                </a:solidFill>
                <a:latin typeface="Arial"/>
                <a:cs typeface="Arial"/>
              </a:rPr>
              <a:t> </a:t>
            </a:r>
            <a:r>
              <a:rPr sz="2400" spc="-5" dirty="0">
                <a:solidFill>
                  <a:srgbClr val="231F20"/>
                </a:solidFill>
                <a:latin typeface="Arial"/>
                <a:cs typeface="Arial"/>
              </a:rPr>
              <a:t>aspect</a:t>
            </a:r>
            <a:r>
              <a:rPr sz="2400" spc="-20" dirty="0">
                <a:solidFill>
                  <a:srgbClr val="231F20"/>
                </a:solidFill>
                <a:latin typeface="Arial"/>
                <a:cs typeface="Arial"/>
              </a:rPr>
              <a:t> </a:t>
            </a:r>
            <a:r>
              <a:rPr sz="2400" spc="-5" dirty="0">
                <a:solidFill>
                  <a:srgbClr val="231F20"/>
                </a:solidFill>
                <a:latin typeface="Arial"/>
                <a:cs typeface="Arial"/>
              </a:rPr>
              <a:t>of</a:t>
            </a:r>
            <a:r>
              <a:rPr sz="2400" spc="-20" dirty="0">
                <a:solidFill>
                  <a:srgbClr val="231F20"/>
                </a:solidFill>
                <a:latin typeface="Arial"/>
                <a:cs typeface="Arial"/>
              </a:rPr>
              <a:t> </a:t>
            </a:r>
            <a:r>
              <a:rPr sz="2400" dirty="0">
                <a:solidFill>
                  <a:srgbClr val="231F20"/>
                </a:solidFill>
                <a:latin typeface="Arial"/>
                <a:cs typeface="Arial"/>
              </a:rPr>
              <a:t>the</a:t>
            </a:r>
            <a:r>
              <a:rPr sz="2400" spc="-15" dirty="0">
                <a:solidFill>
                  <a:srgbClr val="231F20"/>
                </a:solidFill>
                <a:latin typeface="Arial"/>
                <a:cs typeface="Arial"/>
              </a:rPr>
              <a:t> </a:t>
            </a:r>
            <a:r>
              <a:rPr sz="2400" spc="-5" dirty="0">
                <a:solidFill>
                  <a:srgbClr val="231F20"/>
                </a:solidFill>
                <a:latin typeface="Arial"/>
                <a:cs typeface="Arial"/>
              </a:rPr>
              <a:t>economy</a:t>
            </a:r>
            <a:endParaRPr sz="2400" dirty="0">
              <a:latin typeface="Arial"/>
              <a:cs typeface="Arial"/>
            </a:endParaRPr>
          </a:p>
          <a:p>
            <a:pPr marL="661035" indent="-191770">
              <a:lnSpc>
                <a:spcPct val="100000"/>
              </a:lnSpc>
              <a:buClr>
                <a:srgbClr val="4785EC"/>
              </a:buClr>
              <a:buChar char="•"/>
              <a:tabLst>
                <a:tab pos="661670" algn="l"/>
              </a:tabLst>
            </a:pPr>
            <a:r>
              <a:rPr lang="en-US" sz="2400" spc="-5" dirty="0">
                <a:solidFill>
                  <a:srgbClr val="231F20"/>
                </a:solidFill>
                <a:latin typeface="Arial"/>
                <a:cs typeface="Arial"/>
              </a:rPr>
              <a:t>H</a:t>
            </a:r>
            <a:r>
              <a:rPr sz="2400" spc="-5" dirty="0">
                <a:solidFill>
                  <a:srgbClr val="231F20"/>
                </a:solidFill>
                <a:latin typeface="Arial"/>
                <a:cs typeface="Arial"/>
              </a:rPr>
              <a:t>as</a:t>
            </a:r>
            <a:r>
              <a:rPr sz="2400" spc="-20" dirty="0">
                <a:solidFill>
                  <a:srgbClr val="231F20"/>
                </a:solidFill>
                <a:latin typeface="Arial"/>
                <a:cs typeface="Arial"/>
              </a:rPr>
              <a:t> </a:t>
            </a:r>
            <a:r>
              <a:rPr sz="2400" dirty="0">
                <a:solidFill>
                  <a:srgbClr val="231F20"/>
                </a:solidFill>
                <a:latin typeface="Arial"/>
                <a:cs typeface="Arial"/>
              </a:rPr>
              <a:t>"status"</a:t>
            </a:r>
            <a:r>
              <a:rPr sz="2400" spc="-10" dirty="0">
                <a:solidFill>
                  <a:srgbClr val="231F20"/>
                </a:solidFill>
                <a:latin typeface="Arial"/>
                <a:cs typeface="Arial"/>
              </a:rPr>
              <a:t> </a:t>
            </a:r>
            <a:r>
              <a:rPr sz="2400" spc="-5" dirty="0">
                <a:solidFill>
                  <a:srgbClr val="231F20"/>
                </a:solidFill>
                <a:latin typeface="Arial"/>
                <a:cs typeface="Arial"/>
              </a:rPr>
              <a:t>and</a:t>
            </a:r>
            <a:r>
              <a:rPr sz="2400" spc="-20" dirty="0">
                <a:solidFill>
                  <a:srgbClr val="231F20"/>
                </a:solidFill>
                <a:latin typeface="Arial"/>
                <a:cs typeface="Arial"/>
              </a:rPr>
              <a:t> </a:t>
            </a:r>
            <a:r>
              <a:rPr sz="2400" dirty="0">
                <a:solidFill>
                  <a:srgbClr val="231F20"/>
                </a:solidFill>
                <a:latin typeface="Arial"/>
                <a:cs typeface="Arial"/>
              </a:rPr>
              <a:t>"behavior"</a:t>
            </a:r>
            <a:endParaRPr sz="2400" dirty="0">
              <a:latin typeface="Arial"/>
              <a:cs typeface="Arial"/>
            </a:endParaRPr>
          </a:p>
          <a:p>
            <a:pPr>
              <a:lnSpc>
                <a:spcPct val="100000"/>
              </a:lnSpc>
              <a:spcBef>
                <a:spcPts val="5"/>
              </a:spcBef>
            </a:pPr>
            <a:endParaRPr sz="2500" dirty="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15</a:t>
            </a:fld>
            <a:endParaRPr dirty="0"/>
          </a:p>
        </p:txBody>
      </p:sp>
      <p:sp>
        <p:nvSpPr>
          <p:cNvPr id="3" name="object 3"/>
          <p:cNvSpPr txBox="1">
            <a:spLocks noGrp="1"/>
          </p:cNvSpPr>
          <p:nvPr>
            <p:ph type="title"/>
          </p:nvPr>
        </p:nvSpPr>
        <p:spPr>
          <a:xfrm>
            <a:off x="972819" y="933624"/>
            <a:ext cx="7057390" cy="574040"/>
          </a:xfrm>
          <a:prstGeom prst="rect">
            <a:avLst/>
          </a:prstGeom>
        </p:spPr>
        <p:txBody>
          <a:bodyPr vert="horz" wrap="square" lIns="0" tIns="12700" rIns="0" bIns="0" rtlCol="0">
            <a:spAutoFit/>
          </a:bodyPr>
          <a:lstStyle/>
          <a:p>
            <a:pPr marL="12700">
              <a:lnSpc>
                <a:spcPct val="100000"/>
              </a:lnSpc>
              <a:spcBef>
                <a:spcPts val="100"/>
              </a:spcBef>
            </a:pPr>
            <a:r>
              <a:rPr spc="25" dirty="0"/>
              <a:t>What</a:t>
            </a:r>
            <a:r>
              <a:rPr spc="50" dirty="0"/>
              <a:t> </a:t>
            </a:r>
            <a:r>
              <a:rPr spc="15" dirty="0"/>
              <a:t>is</a:t>
            </a:r>
            <a:r>
              <a:rPr spc="50" dirty="0"/>
              <a:t> </a:t>
            </a:r>
            <a:r>
              <a:rPr spc="15" dirty="0"/>
              <a:t>an</a:t>
            </a:r>
            <a:r>
              <a:rPr spc="55" dirty="0"/>
              <a:t> </a:t>
            </a:r>
            <a:r>
              <a:rPr spc="30" dirty="0"/>
              <a:t>economic</a:t>
            </a:r>
            <a:r>
              <a:rPr spc="50" dirty="0"/>
              <a:t> </a:t>
            </a:r>
            <a:r>
              <a:rPr spc="35" dirty="0"/>
              <a:t>"agent"?</a:t>
            </a:r>
          </a:p>
        </p:txBody>
      </p:sp>
    </p:spTree>
    <p:extLst>
      <p:ext uri="{BB962C8B-B14F-4D97-AF65-F5344CB8AC3E}">
        <p14:creationId xmlns:p14="http://schemas.microsoft.com/office/powerpoint/2010/main" val="2602984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5060" y="1809403"/>
            <a:ext cx="7340600" cy="4234493"/>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231F20"/>
                </a:solidFill>
                <a:latin typeface="Arial"/>
                <a:cs typeface="Arial"/>
              </a:rPr>
              <a:t>Define</a:t>
            </a:r>
            <a:r>
              <a:rPr sz="2400" spc="-35" dirty="0">
                <a:solidFill>
                  <a:srgbClr val="231F20"/>
                </a:solidFill>
                <a:latin typeface="Arial"/>
                <a:cs typeface="Arial"/>
              </a:rPr>
              <a:t> </a:t>
            </a:r>
            <a:r>
              <a:rPr sz="2400" dirty="0">
                <a:solidFill>
                  <a:srgbClr val="231F20"/>
                </a:solidFill>
                <a:latin typeface="Arial"/>
                <a:cs typeface="Arial"/>
              </a:rPr>
              <a:t>the</a:t>
            </a:r>
            <a:r>
              <a:rPr sz="2400" spc="-25" dirty="0">
                <a:solidFill>
                  <a:srgbClr val="231F20"/>
                </a:solidFill>
                <a:latin typeface="Arial"/>
                <a:cs typeface="Arial"/>
              </a:rPr>
              <a:t> </a:t>
            </a:r>
            <a:r>
              <a:rPr sz="2400" spc="-5" dirty="0">
                <a:solidFill>
                  <a:srgbClr val="F08D00"/>
                </a:solidFill>
                <a:latin typeface="Arial"/>
                <a:cs typeface="Arial"/>
              </a:rPr>
              <a:t>agent</a:t>
            </a:r>
            <a:r>
              <a:rPr sz="2400" spc="-5" dirty="0">
                <a:solidFill>
                  <a:srgbClr val="231F20"/>
                </a:solidFill>
                <a:latin typeface="Arial"/>
                <a:cs typeface="Arial"/>
              </a:rPr>
              <a:t>:</a:t>
            </a:r>
            <a:endParaRPr lang="en-US" sz="2400" spc="-5" dirty="0">
              <a:solidFill>
                <a:srgbClr val="231F20"/>
              </a:solidFill>
              <a:latin typeface="Arial"/>
              <a:cs typeface="Arial"/>
            </a:endParaRPr>
          </a:p>
          <a:p>
            <a:pPr marL="12700">
              <a:lnSpc>
                <a:spcPct val="100000"/>
              </a:lnSpc>
              <a:spcBef>
                <a:spcPts val="100"/>
              </a:spcBef>
            </a:pPr>
            <a:endParaRPr sz="2400" dirty="0">
              <a:latin typeface="Arial"/>
              <a:cs typeface="Arial"/>
            </a:endParaRPr>
          </a:p>
          <a:p>
            <a:pPr marL="661035" indent="-191770">
              <a:lnSpc>
                <a:spcPct val="100000"/>
              </a:lnSpc>
              <a:buClr>
                <a:srgbClr val="4785EC"/>
              </a:buClr>
              <a:buChar char="•"/>
              <a:tabLst>
                <a:tab pos="661670" algn="l"/>
              </a:tabLst>
            </a:pPr>
            <a:r>
              <a:rPr lang="en-US" sz="2400" dirty="0">
                <a:solidFill>
                  <a:srgbClr val="231F20"/>
                </a:solidFill>
                <a:latin typeface="Arial"/>
                <a:cs typeface="Arial"/>
              </a:rPr>
              <a:t>Abstract concept</a:t>
            </a:r>
          </a:p>
          <a:p>
            <a:pPr marL="661035" indent="-191770">
              <a:lnSpc>
                <a:spcPct val="100000"/>
              </a:lnSpc>
              <a:buClr>
                <a:srgbClr val="4785EC"/>
              </a:buClr>
              <a:buChar char="•"/>
              <a:tabLst>
                <a:tab pos="661670" algn="l"/>
              </a:tabLst>
            </a:pPr>
            <a:r>
              <a:rPr lang="en-US" sz="2400" dirty="0">
                <a:solidFill>
                  <a:srgbClr val="231F20"/>
                </a:solidFill>
                <a:latin typeface="Arial"/>
                <a:cs typeface="Arial"/>
              </a:rPr>
              <a:t>R</a:t>
            </a:r>
            <a:r>
              <a:rPr sz="2400" dirty="0">
                <a:solidFill>
                  <a:srgbClr val="231F20"/>
                </a:solidFill>
                <a:latin typeface="Arial"/>
                <a:cs typeface="Arial"/>
              </a:rPr>
              <a:t>epresent</a:t>
            </a:r>
            <a:r>
              <a:rPr lang="en-US" sz="2400" dirty="0">
                <a:solidFill>
                  <a:srgbClr val="231F20"/>
                </a:solidFill>
                <a:latin typeface="Arial"/>
                <a:cs typeface="Arial"/>
              </a:rPr>
              <a:t>s</a:t>
            </a:r>
            <a:r>
              <a:rPr sz="2400" spc="-15" dirty="0">
                <a:solidFill>
                  <a:srgbClr val="231F20"/>
                </a:solidFill>
                <a:latin typeface="Arial"/>
                <a:cs typeface="Arial"/>
              </a:rPr>
              <a:t> </a:t>
            </a:r>
            <a:r>
              <a:rPr sz="2400" dirty="0">
                <a:solidFill>
                  <a:srgbClr val="231F20"/>
                </a:solidFill>
                <a:latin typeface="Arial"/>
                <a:cs typeface="Arial"/>
              </a:rPr>
              <a:t>some</a:t>
            </a:r>
            <a:r>
              <a:rPr sz="2400" spc="-15" dirty="0">
                <a:solidFill>
                  <a:srgbClr val="231F20"/>
                </a:solidFill>
                <a:latin typeface="Arial"/>
                <a:cs typeface="Arial"/>
              </a:rPr>
              <a:t> </a:t>
            </a:r>
            <a:r>
              <a:rPr sz="2400" spc="-5" dirty="0">
                <a:solidFill>
                  <a:srgbClr val="231F20"/>
                </a:solidFill>
                <a:latin typeface="Arial"/>
                <a:cs typeface="Arial"/>
              </a:rPr>
              <a:t>aspect</a:t>
            </a:r>
            <a:r>
              <a:rPr sz="2400" spc="-20" dirty="0">
                <a:solidFill>
                  <a:srgbClr val="231F20"/>
                </a:solidFill>
                <a:latin typeface="Arial"/>
                <a:cs typeface="Arial"/>
              </a:rPr>
              <a:t> </a:t>
            </a:r>
            <a:r>
              <a:rPr sz="2400" spc="-5" dirty="0">
                <a:solidFill>
                  <a:srgbClr val="231F20"/>
                </a:solidFill>
                <a:latin typeface="Arial"/>
                <a:cs typeface="Arial"/>
              </a:rPr>
              <a:t>of</a:t>
            </a:r>
            <a:r>
              <a:rPr sz="2400" spc="-20" dirty="0">
                <a:solidFill>
                  <a:srgbClr val="231F20"/>
                </a:solidFill>
                <a:latin typeface="Arial"/>
                <a:cs typeface="Arial"/>
              </a:rPr>
              <a:t> </a:t>
            </a:r>
            <a:r>
              <a:rPr sz="2400" dirty="0">
                <a:solidFill>
                  <a:srgbClr val="231F20"/>
                </a:solidFill>
                <a:latin typeface="Arial"/>
                <a:cs typeface="Arial"/>
              </a:rPr>
              <a:t>the</a:t>
            </a:r>
            <a:r>
              <a:rPr sz="2400" spc="-15" dirty="0">
                <a:solidFill>
                  <a:srgbClr val="231F20"/>
                </a:solidFill>
                <a:latin typeface="Arial"/>
                <a:cs typeface="Arial"/>
              </a:rPr>
              <a:t> </a:t>
            </a:r>
            <a:r>
              <a:rPr sz="2400" spc="-5" dirty="0">
                <a:solidFill>
                  <a:srgbClr val="231F20"/>
                </a:solidFill>
                <a:latin typeface="Arial"/>
                <a:cs typeface="Arial"/>
              </a:rPr>
              <a:t>economy</a:t>
            </a:r>
            <a:endParaRPr sz="2400" dirty="0">
              <a:latin typeface="Arial"/>
              <a:cs typeface="Arial"/>
            </a:endParaRPr>
          </a:p>
          <a:p>
            <a:pPr marL="661035" indent="-191770">
              <a:lnSpc>
                <a:spcPct val="100000"/>
              </a:lnSpc>
              <a:buClr>
                <a:srgbClr val="4785EC"/>
              </a:buClr>
              <a:buChar char="•"/>
              <a:tabLst>
                <a:tab pos="661670" algn="l"/>
              </a:tabLst>
            </a:pPr>
            <a:r>
              <a:rPr lang="en-US" sz="2400" spc="-5" dirty="0">
                <a:solidFill>
                  <a:srgbClr val="231F20"/>
                </a:solidFill>
                <a:latin typeface="Arial"/>
                <a:cs typeface="Arial"/>
              </a:rPr>
              <a:t>H</a:t>
            </a:r>
            <a:r>
              <a:rPr sz="2400" spc="-5" dirty="0">
                <a:solidFill>
                  <a:srgbClr val="231F20"/>
                </a:solidFill>
                <a:latin typeface="Arial"/>
                <a:cs typeface="Arial"/>
              </a:rPr>
              <a:t>as</a:t>
            </a:r>
            <a:r>
              <a:rPr sz="2400" spc="-15" dirty="0">
                <a:solidFill>
                  <a:srgbClr val="231F20"/>
                </a:solidFill>
                <a:latin typeface="Arial"/>
                <a:cs typeface="Arial"/>
              </a:rPr>
              <a:t> </a:t>
            </a:r>
            <a:r>
              <a:rPr sz="2400" dirty="0">
                <a:solidFill>
                  <a:srgbClr val="231F20"/>
                </a:solidFill>
                <a:latin typeface="Arial"/>
                <a:cs typeface="Arial"/>
              </a:rPr>
              <a:t>"status"</a:t>
            </a:r>
            <a:r>
              <a:rPr sz="2400" spc="-15" dirty="0">
                <a:solidFill>
                  <a:srgbClr val="231F20"/>
                </a:solidFill>
                <a:latin typeface="Arial"/>
                <a:cs typeface="Arial"/>
              </a:rPr>
              <a:t> </a:t>
            </a:r>
            <a:r>
              <a:rPr sz="2400" spc="-5" dirty="0">
                <a:solidFill>
                  <a:srgbClr val="231F20"/>
                </a:solidFill>
                <a:latin typeface="Arial"/>
                <a:cs typeface="Arial"/>
              </a:rPr>
              <a:t>and</a:t>
            </a:r>
            <a:r>
              <a:rPr sz="2400" spc="-15" dirty="0">
                <a:solidFill>
                  <a:srgbClr val="231F20"/>
                </a:solidFill>
                <a:latin typeface="Arial"/>
                <a:cs typeface="Arial"/>
              </a:rPr>
              <a:t> </a:t>
            </a:r>
            <a:r>
              <a:rPr sz="2400" dirty="0">
                <a:solidFill>
                  <a:srgbClr val="231F20"/>
                </a:solidFill>
                <a:latin typeface="Arial"/>
                <a:cs typeface="Arial"/>
              </a:rPr>
              <a:t>"behavior"</a:t>
            </a:r>
            <a:endParaRPr sz="2400" dirty="0">
              <a:latin typeface="Arial"/>
              <a:cs typeface="Arial"/>
            </a:endParaRPr>
          </a:p>
          <a:p>
            <a:pPr>
              <a:lnSpc>
                <a:spcPct val="100000"/>
              </a:lnSpc>
              <a:spcBef>
                <a:spcPts val="5"/>
              </a:spcBef>
            </a:pPr>
            <a:endParaRPr sz="2500" dirty="0">
              <a:latin typeface="Arial"/>
              <a:cs typeface="Arial"/>
            </a:endParaRPr>
          </a:p>
          <a:p>
            <a:pPr marL="12700">
              <a:lnSpc>
                <a:spcPct val="100000"/>
              </a:lnSpc>
            </a:pPr>
            <a:r>
              <a:rPr sz="2400" spc="-5" dirty="0">
                <a:solidFill>
                  <a:srgbClr val="231F20"/>
                </a:solidFill>
                <a:latin typeface="Arial"/>
                <a:cs typeface="Arial"/>
              </a:rPr>
              <a:t>How</a:t>
            </a:r>
            <a:r>
              <a:rPr sz="2400" spc="-20" dirty="0">
                <a:solidFill>
                  <a:srgbClr val="231F20"/>
                </a:solidFill>
                <a:latin typeface="Arial"/>
                <a:cs typeface="Arial"/>
              </a:rPr>
              <a:t> </a:t>
            </a:r>
            <a:r>
              <a:rPr sz="2400" dirty="0">
                <a:solidFill>
                  <a:srgbClr val="231F20"/>
                </a:solidFill>
                <a:latin typeface="Arial"/>
                <a:cs typeface="Arial"/>
              </a:rPr>
              <a:t>to</a:t>
            </a:r>
            <a:r>
              <a:rPr sz="2400" spc="-15" dirty="0">
                <a:solidFill>
                  <a:srgbClr val="231F20"/>
                </a:solidFill>
                <a:latin typeface="Arial"/>
                <a:cs typeface="Arial"/>
              </a:rPr>
              <a:t> </a:t>
            </a:r>
            <a:r>
              <a:rPr sz="2400" spc="-5" dirty="0">
                <a:solidFill>
                  <a:srgbClr val="231F20"/>
                </a:solidFill>
                <a:latin typeface="Arial"/>
                <a:cs typeface="Arial"/>
              </a:rPr>
              <a:t>describe</a:t>
            </a:r>
            <a:r>
              <a:rPr sz="2400" spc="-20" dirty="0">
                <a:solidFill>
                  <a:srgbClr val="231F20"/>
                </a:solidFill>
                <a:latin typeface="Arial"/>
                <a:cs typeface="Arial"/>
              </a:rPr>
              <a:t> </a:t>
            </a:r>
            <a:r>
              <a:rPr sz="2400" dirty="0">
                <a:solidFill>
                  <a:srgbClr val="231F20"/>
                </a:solidFill>
                <a:latin typeface="Arial"/>
                <a:cs typeface="Arial"/>
              </a:rPr>
              <a:t>the</a:t>
            </a:r>
            <a:r>
              <a:rPr sz="2400" spc="-10" dirty="0">
                <a:solidFill>
                  <a:srgbClr val="231F20"/>
                </a:solidFill>
                <a:latin typeface="Arial"/>
                <a:cs typeface="Arial"/>
              </a:rPr>
              <a:t> </a:t>
            </a:r>
            <a:r>
              <a:rPr sz="2400" spc="-5" dirty="0">
                <a:solidFill>
                  <a:srgbClr val="231F20"/>
                </a:solidFill>
                <a:latin typeface="Arial"/>
                <a:cs typeface="Arial"/>
              </a:rPr>
              <a:t>economic</a:t>
            </a:r>
            <a:r>
              <a:rPr sz="2400" spc="-20" dirty="0">
                <a:solidFill>
                  <a:srgbClr val="231F20"/>
                </a:solidFill>
                <a:latin typeface="Arial"/>
                <a:cs typeface="Arial"/>
              </a:rPr>
              <a:t> </a:t>
            </a:r>
            <a:r>
              <a:rPr sz="2400" spc="-5" dirty="0">
                <a:solidFill>
                  <a:srgbClr val="231F20"/>
                </a:solidFill>
                <a:latin typeface="Arial"/>
                <a:cs typeface="Arial"/>
              </a:rPr>
              <a:t>agent?</a:t>
            </a:r>
            <a:endParaRPr sz="2400" dirty="0">
              <a:latin typeface="Arial"/>
              <a:cs typeface="Arial"/>
            </a:endParaRPr>
          </a:p>
          <a:p>
            <a:pPr>
              <a:lnSpc>
                <a:spcPct val="100000"/>
              </a:lnSpc>
              <a:spcBef>
                <a:spcPts val="40"/>
              </a:spcBef>
            </a:pPr>
            <a:endParaRPr sz="2400" dirty="0">
              <a:latin typeface="Arial"/>
              <a:cs typeface="Arial"/>
            </a:endParaRPr>
          </a:p>
          <a:p>
            <a:pPr marL="12700">
              <a:lnSpc>
                <a:spcPct val="100000"/>
              </a:lnSpc>
            </a:pPr>
            <a:r>
              <a:rPr sz="2000" spc="-5" dirty="0">
                <a:solidFill>
                  <a:srgbClr val="231F20"/>
                </a:solidFill>
                <a:latin typeface="Arial"/>
                <a:cs typeface="Arial"/>
              </a:rPr>
              <a:t>Let's</a:t>
            </a:r>
            <a:r>
              <a:rPr sz="2000" spc="-20" dirty="0">
                <a:solidFill>
                  <a:srgbClr val="231F20"/>
                </a:solidFill>
                <a:latin typeface="Arial"/>
                <a:cs typeface="Arial"/>
              </a:rPr>
              <a:t> </a:t>
            </a:r>
            <a:r>
              <a:rPr sz="2000" spc="-5" dirty="0">
                <a:solidFill>
                  <a:srgbClr val="231F20"/>
                </a:solidFill>
                <a:latin typeface="Arial"/>
                <a:cs typeface="Arial"/>
              </a:rPr>
              <a:t>use</a:t>
            </a:r>
            <a:r>
              <a:rPr sz="2000" spc="-15" dirty="0">
                <a:solidFill>
                  <a:srgbClr val="231F20"/>
                </a:solidFill>
                <a:latin typeface="Arial"/>
                <a:cs typeface="Arial"/>
              </a:rPr>
              <a:t> </a:t>
            </a:r>
            <a:r>
              <a:rPr sz="2000" dirty="0">
                <a:solidFill>
                  <a:srgbClr val="231F20"/>
                </a:solidFill>
                <a:latin typeface="Arial"/>
                <a:cs typeface="Arial"/>
              </a:rPr>
              <a:t>a</a:t>
            </a:r>
            <a:r>
              <a:rPr sz="2000" spc="-15" dirty="0">
                <a:solidFill>
                  <a:srgbClr val="231F20"/>
                </a:solidFill>
                <a:latin typeface="Arial"/>
                <a:cs typeface="Arial"/>
              </a:rPr>
              <a:t> </a:t>
            </a:r>
            <a:r>
              <a:rPr sz="2000" dirty="0">
                <a:solidFill>
                  <a:srgbClr val="231F20"/>
                </a:solidFill>
                <a:latin typeface="Arial"/>
                <a:cs typeface="Arial"/>
              </a:rPr>
              <a:t>"blueprint"</a:t>
            </a:r>
            <a:r>
              <a:rPr sz="2000" spc="-10" dirty="0">
                <a:solidFill>
                  <a:srgbClr val="231F20"/>
                </a:solidFill>
                <a:latin typeface="Arial"/>
                <a:cs typeface="Arial"/>
              </a:rPr>
              <a:t> </a:t>
            </a:r>
            <a:r>
              <a:rPr sz="2000" dirty="0">
                <a:solidFill>
                  <a:srgbClr val="231F20"/>
                </a:solidFill>
                <a:latin typeface="Arial"/>
                <a:cs typeface="Arial"/>
              </a:rPr>
              <a:t>to</a:t>
            </a:r>
            <a:r>
              <a:rPr sz="2000" spc="-10" dirty="0">
                <a:solidFill>
                  <a:srgbClr val="231F20"/>
                </a:solidFill>
                <a:latin typeface="Arial"/>
                <a:cs typeface="Arial"/>
              </a:rPr>
              <a:t> </a:t>
            </a:r>
            <a:r>
              <a:rPr sz="2000" spc="-5" dirty="0">
                <a:solidFill>
                  <a:srgbClr val="231F20"/>
                </a:solidFill>
                <a:latin typeface="Arial"/>
                <a:cs typeface="Arial"/>
              </a:rPr>
              <a:t>define</a:t>
            </a:r>
            <a:r>
              <a:rPr sz="2000" spc="-15" dirty="0">
                <a:solidFill>
                  <a:srgbClr val="231F20"/>
                </a:solidFill>
                <a:latin typeface="Arial"/>
                <a:cs typeface="Arial"/>
              </a:rPr>
              <a:t> </a:t>
            </a:r>
            <a:r>
              <a:rPr sz="2000" dirty="0">
                <a:solidFill>
                  <a:srgbClr val="231F20"/>
                </a:solidFill>
                <a:latin typeface="Arial"/>
                <a:cs typeface="Arial"/>
              </a:rPr>
              <a:t>the</a:t>
            </a:r>
            <a:r>
              <a:rPr sz="2000" spc="-10" dirty="0">
                <a:solidFill>
                  <a:srgbClr val="231F20"/>
                </a:solidFill>
                <a:latin typeface="Arial"/>
                <a:cs typeface="Arial"/>
              </a:rPr>
              <a:t> </a:t>
            </a:r>
            <a:r>
              <a:rPr sz="2000" dirty="0">
                <a:solidFill>
                  <a:srgbClr val="231F20"/>
                </a:solidFill>
                <a:latin typeface="Arial"/>
                <a:cs typeface="Arial"/>
              </a:rPr>
              <a:t>characteristics:</a:t>
            </a:r>
            <a:endParaRPr sz="2000" dirty="0">
              <a:latin typeface="Arial"/>
              <a:cs typeface="Arial"/>
            </a:endParaRPr>
          </a:p>
          <a:p>
            <a:pPr>
              <a:lnSpc>
                <a:spcPct val="100000"/>
              </a:lnSpc>
              <a:spcBef>
                <a:spcPts val="20"/>
              </a:spcBef>
            </a:pPr>
            <a:endParaRPr sz="2450" dirty="0">
              <a:latin typeface="Arial"/>
              <a:cs typeface="Arial"/>
            </a:endParaRPr>
          </a:p>
          <a:p>
            <a:pPr marL="469900">
              <a:lnSpc>
                <a:spcPct val="100000"/>
              </a:lnSpc>
            </a:pPr>
            <a:r>
              <a:rPr sz="1800" dirty="0">
                <a:solidFill>
                  <a:srgbClr val="3369E8"/>
                </a:solidFill>
                <a:latin typeface="Arial"/>
                <a:cs typeface="Arial"/>
              </a:rPr>
              <a:t>status</a:t>
            </a:r>
            <a:r>
              <a:rPr sz="1800" dirty="0">
                <a:solidFill>
                  <a:srgbClr val="231F20"/>
                </a:solidFill>
                <a:latin typeface="Arial"/>
                <a:cs typeface="Arial"/>
              </a:rPr>
              <a:t>:</a:t>
            </a:r>
            <a:r>
              <a:rPr sz="1800" spc="-15" dirty="0">
                <a:solidFill>
                  <a:srgbClr val="231F20"/>
                </a:solidFill>
                <a:latin typeface="Arial"/>
                <a:cs typeface="Arial"/>
              </a:rPr>
              <a:t> </a:t>
            </a:r>
            <a:r>
              <a:rPr sz="1800" spc="-5" dirty="0">
                <a:solidFill>
                  <a:srgbClr val="231F20"/>
                </a:solidFill>
                <a:latin typeface="Arial"/>
                <a:cs typeface="Arial"/>
              </a:rPr>
              <a:t>name,</a:t>
            </a:r>
            <a:r>
              <a:rPr sz="1800" spc="-20" dirty="0">
                <a:solidFill>
                  <a:srgbClr val="231F20"/>
                </a:solidFill>
                <a:latin typeface="Arial"/>
                <a:cs typeface="Arial"/>
              </a:rPr>
              <a:t> </a:t>
            </a:r>
            <a:r>
              <a:rPr sz="1800" dirty="0">
                <a:solidFill>
                  <a:srgbClr val="231F20"/>
                </a:solidFill>
                <a:latin typeface="Arial"/>
                <a:cs typeface="Arial"/>
              </a:rPr>
              <a:t>sex,</a:t>
            </a:r>
            <a:r>
              <a:rPr sz="1800" spc="-15" dirty="0">
                <a:solidFill>
                  <a:srgbClr val="231F20"/>
                </a:solidFill>
                <a:latin typeface="Arial"/>
                <a:cs typeface="Arial"/>
              </a:rPr>
              <a:t> </a:t>
            </a:r>
            <a:r>
              <a:rPr sz="1800" spc="-5" dirty="0">
                <a:solidFill>
                  <a:srgbClr val="231F20"/>
                </a:solidFill>
                <a:latin typeface="Arial"/>
                <a:cs typeface="Arial"/>
              </a:rPr>
              <a:t>occupation,</a:t>
            </a:r>
            <a:r>
              <a:rPr sz="1800" spc="-15" dirty="0">
                <a:solidFill>
                  <a:srgbClr val="231F20"/>
                </a:solidFill>
                <a:latin typeface="Arial"/>
                <a:cs typeface="Arial"/>
              </a:rPr>
              <a:t> </a:t>
            </a:r>
            <a:r>
              <a:rPr sz="1800" spc="-5" dirty="0">
                <a:solidFill>
                  <a:srgbClr val="231F20"/>
                </a:solidFill>
                <a:latin typeface="Arial"/>
                <a:cs typeface="Arial"/>
              </a:rPr>
              <a:t>budget,</a:t>
            </a:r>
            <a:r>
              <a:rPr sz="1800" spc="-20" dirty="0">
                <a:solidFill>
                  <a:srgbClr val="231F20"/>
                </a:solidFill>
                <a:latin typeface="Arial"/>
                <a:cs typeface="Arial"/>
              </a:rPr>
              <a:t> </a:t>
            </a:r>
            <a:r>
              <a:rPr sz="1800" spc="-5" dirty="0">
                <a:solidFill>
                  <a:srgbClr val="231F20"/>
                </a:solidFill>
                <a:latin typeface="Arial"/>
                <a:cs typeface="Arial"/>
              </a:rPr>
              <a:t>education</a:t>
            </a:r>
            <a:endParaRPr sz="1800" dirty="0">
              <a:latin typeface="Arial"/>
              <a:cs typeface="Arial"/>
            </a:endParaRPr>
          </a:p>
          <a:p>
            <a:pPr marL="469900">
              <a:lnSpc>
                <a:spcPct val="100000"/>
              </a:lnSpc>
            </a:pPr>
            <a:r>
              <a:rPr sz="1800" spc="-5" dirty="0">
                <a:solidFill>
                  <a:srgbClr val="D2232A"/>
                </a:solidFill>
                <a:latin typeface="Arial"/>
                <a:cs typeface="Arial"/>
              </a:rPr>
              <a:t>behavio</a:t>
            </a:r>
            <a:r>
              <a:rPr sz="1800" dirty="0">
                <a:solidFill>
                  <a:srgbClr val="D2232A"/>
                </a:solidFill>
                <a:latin typeface="Arial"/>
                <a:cs typeface="Arial"/>
              </a:rPr>
              <a:t>r</a:t>
            </a:r>
            <a:r>
              <a:rPr sz="1800" dirty="0">
                <a:solidFill>
                  <a:srgbClr val="231F20"/>
                </a:solidFill>
                <a:latin typeface="Arial"/>
                <a:cs typeface="Arial"/>
              </a:rPr>
              <a:t>:</a:t>
            </a:r>
            <a:r>
              <a:rPr sz="1800" spc="-110" dirty="0">
                <a:solidFill>
                  <a:srgbClr val="231F20"/>
                </a:solidFill>
                <a:latin typeface="Arial"/>
                <a:cs typeface="Arial"/>
              </a:rPr>
              <a:t> </a:t>
            </a:r>
            <a:r>
              <a:rPr sz="1800" spc="-5" dirty="0">
                <a:solidFill>
                  <a:srgbClr val="231F20"/>
                </a:solidFill>
                <a:latin typeface="Arial"/>
                <a:cs typeface="Arial"/>
              </a:rPr>
              <a:t>g</a:t>
            </a:r>
            <a:r>
              <a:rPr sz="1800" dirty="0">
                <a:solidFill>
                  <a:srgbClr val="231F20"/>
                </a:solidFill>
                <a:latin typeface="Arial"/>
                <a:cs typeface="Arial"/>
              </a:rPr>
              <a:t>o</a:t>
            </a:r>
            <a:r>
              <a:rPr sz="1800" spc="-110" dirty="0">
                <a:solidFill>
                  <a:srgbClr val="231F20"/>
                </a:solidFill>
                <a:latin typeface="Arial"/>
                <a:cs typeface="Arial"/>
              </a:rPr>
              <a:t> </a:t>
            </a:r>
            <a:r>
              <a:rPr sz="1800" dirty="0">
                <a:solidFill>
                  <a:srgbClr val="231F20"/>
                </a:solidFill>
                <a:latin typeface="Arial"/>
                <a:cs typeface="Arial"/>
              </a:rPr>
              <a:t>to</a:t>
            </a:r>
            <a:r>
              <a:rPr sz="1800" spc="-110" dirty="0">
                <a:solidFill>
                  <a:srgbClr val="231F20"/>
                </a:solidFill>
                <a:latin typeface="Arial"/>
                <a:cs typeface="Arial"/>
              </a:rPr>
              <a:t> </a:t>
            </a:r>
            <a:r>
              <a:rPr sz="1800" dirty="0">
                <a:solidFill>
                  <a:srgbClr val="231F20"/>
                </a:solidFill>
                <a:latin typeface="Arial"/>
                <a:cs typeface="Arial"/>
              </a:rPr>
              <a:t>school,</a:t>
            </a:r>
            <a:r>
              <a:rPr sz="1800" spc="-105" dirty="0">
                <a:solidFill>
                  <a:srgbClr val="231F20"/>
                </a:solidFill>
                <a:latin typeface="Arial"/>
                <a:cs typeface="Arial"/>
              </a:rPr>
              <a:t> </a:t>
            </a:r>
            <a:r>
              <a:rPr sz="1800" spc="-5" dirty="0">
                <a:solidFill>
                  <a:srgbClr val="231F20"/>
                </a:solidFill>
                <a:latin typeface="Arial"/>
                <a:cs typeface="Arial"/>
              </a:rPr>
              <a:t>jo</a:t>
            </a:r>
            <a:r>
              <a:rPr sz="1800" dirty="0">
                <a:solidFill>
                  <a:srgbClr val="231F20"/>
                </a:solidFill>
                <a:latin typeface="Arial"/>
                <a:cs typeface="Arial"/>
              </a:rPr>
              <a:t>b</a:t>
            </a:r>
            <a:r>
              <a:rPr sz="1800" spc="-110" dirty="0">
                <a:solidFill>
                  <a:srgbClr val="231F20"/>
                </a:solidFill>
                <a:latin typeface="Arial"/>
                <a:cs typeface="Arial"/>
              </a:rPr>
              <a:t> </a:t>
            </a:r>
            <a:r>
              <a:rPr sz="1800" dirty="0">
                <a:solidFill>
                  <a:srgbClr val="231F20"/>
                </a:solidFill>
                <a:latin typeface="Arial"/>
                <a:cs typeface="Arial"/>
              </a:rPr>
              <a:t>search,</a:t>
            </a:r>
            <a:r>
              <a:rPr sz="1800" spc="-110" dirty="0">
                <a:solidFill>
                  <a:srgbClr val="231F20"/>
                </a:solidFill>
                <a:latin typeface="Arial"/>
                <a:cs typeface="Arial"/>
              </a:rPr>
              <a:t> </a:t>
            </a:r>
            <a:r>
              <a:rPr sz="1800" dirty="0">
                <a:solidFill>
                  <a:srgbClr val="231F20"/>
                </a:solidFill>
                <a:latin typeface="Arial"/>
                <a:cs typeface="Arial"/>
              </a:rPr>
              <a:t>make</a:t>
            </a:r>
            <a:r>
              <a:rPr sz="1800" spc="-110" dirty="0">
                <a:solidFill>
                  <a:srgbClr val="231F20"/>
                </a:solidFill>
                <a:latin typeface="Arial"/>
                <a:cs typeface="Arial"/>
              </a:rPr>
              <a:t> </a:t>
            </a:r>
            <a:r>
              <a:rPr sz="1800" dirty="0">
                <a:solidFill>
                  <a:srgbClr val="231F20"/>
                </a:solidFill>
                <a:latin typeface="Arial"/>
                <a:cs typeface="Arial"/>
              </a:rPr>
              <a:t>mone</a:t>
            </a:r>
            <a:r>
              <a:rPr sz="1800" spc="-135" dirty="0">
                <a:solidFill>
                  <a:srgbClr val="231F20"/>
                </a:solidFill>
                <a:latin typeface="Arial"/>
                <a:cs typeface="Arial"/>
              </a:rPr>
              <a:t>y</a:t>
            </a:r>
            <a:r>
              <a:rPr sz="1800" dirty="0">
                <a:solidFill>
                  <a:srgbClr val="231F20"/>
                </a:solidFill>
                <a:latin typeface="Arial"/>
                <a:cs typeface="Arial"/>
              </a:rPr>
              <a:t>,</a:t>
            </a:r>
            <a:r>
              <a:rPr sz="1800" spc="-110" dirty="0">
                <a:solidFill>
                  <a:srgbClr val="231F20"/>
                </a:solidFill>
                <a:latin typeface="Arial"/>
                <a:cs typeface="Arial"/>
              </a:rPr>
              <a:t> </a:t>
            </a:r>
            <a:r>
              <a:rPr sz="1800" dirty="0">
                <a:solidFill>
                  <a:srgbClr val="231F20"/>
                </a:solidFill>
                <a:latin typeface="Arial"/>
                <a:cs typeface="Arial"/>
              </a:rPr>
              <a:t>maximize</a:t>
            </a:r>
            <a:r>
              <a:rPr sz="1800" spc="-105" dirty="0">
                <a:solidFill>
                  <a:srgbClr val="231F20"/>
                </a:solidFill>
                <a:latin typeface="Arial"/>
                <a:cs typeface="Arial"/>
              </a:rPr>
              <a:t> </a:t>
            </a:r>
            <a:r>
              <a:rPr sz="1800" spc="-5" dirty="0">
                <a:solidFill>
                  <a:srgbClr val="231F20"/>
                </a:solidFill>
                <a:latin typeface="Arial"/>
                <a:cs typeface="Arial"/>
              </a:rPr>
              <a:t>utilit</a:t>
            </a:r>
            <a:r>
              <a:rPr sz="1800" spc="-135" dirty="0">
                <a:solidFill>
                  <a:srgbClr val="231F20"/>
                </a:solidFill>
                <a:latin typeface="Arial"/>
                <a:cs typeface="Arial"/>
              </a:rPr>
              <a:t>y</a:t>
            </a:r>
            <a:r>
              <a:rPr sz="1800" dirty="0">
                <a:solidFill>
                  <a:srgbClr val="231F20"/>
                </a:solidFill>
                <a:latin typeface="Arial"/>
                <a:cs typeface="Arial"/>
              </a:rPr>
              <a:t>,</a:t>
            </a:r>
            <a:r>
              <a:rPr sz="1800" spc="-110" dirty="0">
                <a:solidFill>
                  <a:srgbClr val="231F20"/>
                </a:solidFill>
                <a:latin typeface="Arial"/>
                <a:cs typeface="Arial"/>
              </a:rPr>
              <a:t> </a:t>
            </a:r>
            <a:r>
              <a:rPr sz="1800" spc="-5" dirty="0">
                <a:solidFill>
                  <a:srgbClr val="231F20"/>
                </a:solidFill>
                <a:latin typeface="Arial"/>
                <a:cs typeface="Arial"/>
              </a:rPr>
              <a:t>etc.</a:t>
            </a:r>
            <a:endParaRPr sz="1800" dirty="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16</a:t>
            </a:fld>
            <a:endParaRPr dirty="0"/>
          </a:p>
        </p:txBody>
      </p:sp>
      <p:sp>
        <p:nvSpPr>
          <p:cNvPr id="3" name="object 3"/>
          <p:cNvSpPr txBox="1">
            <a:spLocks noGrp="1"/>
          </p:cNvSpPr>
          <p:nvPr>
            <p:ph type="title"/>
          </p:nvPr>
        </p:nvSpPr>
        <p:spPr>
          <a:xfrm>
            <a:off x="972819" y="933624"/>
            <a:ext cx="7057390" cy="574040"/>
          </a:xfrm>
          <a:prstGeom prst="rect">
            <a:avLst/>
          </a:prstGeom>
        </p:spPr>
        <p:txBody>
          <a:bodyPr vert="horz" wrap="square" lIns="0" tIns="12700" rIns="0" bIns="0" rtlCol="0">
            <a:spAutoFit/>
          </a:bodyPr>
          <a:lstStyle/>
          <a:p>
            <a:pPr marL="12700">
              <a:lnSpc>
                <a:spcPct val="100000"/>
              </a:lnSpc>
              <a:spcBef>
                <a:spcPts val="100"/>
              </a:spcBef>
            </a:pPr>
            <a:r>
              <a:rPr spc="25" dirty="0"/>
              <a:t>What</a:t>
            </a:r>
            <a:r>
              <a:rPr spc="50" dirty="0"/>
              <a:t> </a:t>
            </a:r>
            <a:r>
              <a:rPr spc="15" dirty="0"/>
              <a:t>is</a:t>
            </a:r>
            <a:r>
              <a:rPr spc="50" dirty="0"/>
              <a:t> </a:t>
            </a:r>
            <a:r>
              <a:rPr spc="15" dirty="0"/>
              <a:t>an</a:t>
            </a:r>
            <a:r>
              <a:rPr spc="55" dirty="0"/>
              <a:t> </a:t>
            </a:r>
            <a:r>
              <a:rPr spc="30" dirty="0"/>
              <a:t>economic</a:t>
            </a:r>
            <a:r>
              <a:rPr spc="50" dirty="0"/>
              <a:t> </a:t>
            </a:r>
            <a:r>
              <a:rPr spc="35" dirty="0"/>
              <a:t>"agent"?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22862" y="2484808"/>
            <a:ext cx="6492875" cy="1531573"/>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231F20"/>
                </a:solidFill>
                <a:latin typeface="Arial"/>
                <a:cs typeface="Arial"/>
              </a:rPr>
              <a:t>Based</a:t>
            </a:r>
            <a:r>
              <a:rPr sz="2400" spc="-25" dirty="0">
                <a:solidFill>
                  <a:srgbClr val="231F20"/>
                </a:solidFill>
                <a:latin typeface="Arial"/>
                <a:cs typeface="Arial"/>
              </a:rPr>
              <a:t> </a:t>
            </a:r>
            <a:r>
              <a:rPr sz="2400" spc="-5" dirty="0">
                <a:solidFill>
                  <a:srgbClr val="231F20"/>
                </a:solidFill>
                <a:latin typeface="Arial"/>
                <a:cs typeface="Arial"/>
              </a:rPr>
              <a:t>on</a:t>
            </a:r>
            <a:r>
              <a:rPr sz="2400" spc="-25" dirty="0">
                <a:solidFill>
                  <a:srgbClr val="231F20"/>
                </a:solidFill>
                <a:latin typeface="Arial"/>
                <a:cs typeface="Arial"/>
              </a:rPr>
              <a:t> </a:t>
            </a:r>
            <a:r>
              <a:rPr sz="2400" dirty="0">
                <a:solidFill>
                  <a:srgbClr val="231F20"/>
                </a:solidFill>
                <a:latin typeface="Arial"/>
                <a:cs typeface="Arial"/>
              </a:rPr>
              <a:t>the</a:t>
            </a:r>
            <a:r>
              <a:rPr sz="2400" spc="-20" dirty="0">
                <a:solidFill>
                  <a:srgbClr val="231F20"/>
                </a:solidFill>
                <a:latin typeface="Arial"/>
                <a:cs typeface="Arial"/>
              </a:rPr>
              <a:t> </a:t>
            </a:r>
            <a:r>
              <a:rPr sz="2400" spc="-5" dirty="0">
                <a:solidFill>
                  <a:srgbClr val="231F20"/>
                </a:solidFill>
                <a:latin typeface="Arial"/>
                <a:cs typeface="Arial"/>
              </a:rPr>
              <a:t>economic</a:t>
            </a:r>
            <a:r>
              <a:rPr sz="2400" spc="-25" dirty="0">
                <a:solidFill>
                  <a:srgbClr val="231F20"/>
                </a:solidFill>
                <a:latin typeface="Arial"/>
                <a:cs typeface="Arial"/>
              </a:rPr>
              <a:t> </a:t>
            </a:r>
            <a:r>
              <a:rPr sz="2400" spc="-5" dirty="0">
                <a:solidFill>
                  <a:srgbClr val="231F20"/>
                </a:solidFill>
                <a:latin typeface="Arial"/>
                <a:cs typeface="Arial"/>
              </a:rPr>
              <a:t>agent</a:t>
            </a:r>
            <a:r>
              <a:rPr sz="2400" spc="-20" dirty="0">
                <a:solidFill>
                  <a:srgbClr val="231F20"/>
                </a:solidFill>
                <a:latin typeface="Arial"/>
                <a:cs typeface="Arial"/>
              </a:rPr>
              <a:t> </a:t>
            </a:r>
            <a:r>
              <a:rPr sz="2400" spc="-5" dirty="0">
                <a:solidFill>
                  <a:srgbClr val="231F20"/>
                </a:solidFill>
                <a:latin typeface="Arial"/>
                <a:cs typeface="Arial"/>
              </a:rPr>
              <a:t>blueprint,</a:t>
            </a:r>
            <a:r>
              <a:rPr sz="2400" spc="-25" dirty="0">
                <a:solidFill>
                  <a:srgbClr val="231F20"/>
                </a:solidFill>
                <a:latin typeface="Arial"/>
                <a:cs typeface="Arial"/>
              </a:rPr>
              <a:t> </a:t>
            </a:r>
            <a:r>
              <a:rPr sz="2400" dirty="0">
                <a:solidFill>
                  <a:srgbClr val="231F20"/>
                </a:solidFill>
                <a:latin typeface="Arial"/>
                <a:cs typeface="Arial"/>
              </a:rPr>
              <a:t>specific</a:t>
            </a:r>
            <a:endParaRPr sz="2400" dirty="0">
              <a:latin typeface="Arial"/>
              <a:cs typeface="Arial"/>
            </a:endParaRPr>
          </a:p>
          <a:p>
            <a:pPr marL="12700" marR="5080">
              <a:lnSpc>
                <a:spcPct val="166700"/>
              </a:lnSpc>
            </a:pPr>
            <a:r>
              <a:rPr sz="2400" spc="-5" dirty="0">
                <a:solidFill>
                  <a:srgbClr val="231F20"/>
                </a:solidFill>
                <a:latin typeface="Arial"/>
                <a:cs typeface="Arial"/>
              </a:rPr>
              <a:t>agents</a:t>
            </a:r>
            <a:r>
              <a:rPr sz="2400" spc="-30" dirty="0">
                <a:solidFill>
                  <a:srgbClr val="231F20"/>
                </a:solidFill>
                <a:latin typeface="Arial"/>
                <a:cs typeface="Arial"/>
              </a:rPr>
              <a:t> </a:t>
            </a:r>
            <a:r>
              <a:rPr sz="2400" dirty="0">
                <a:solidFill>
                  <a:srgbClr val="231F20"/>
                </a:solidFill>
                <a:latin typeface="Arial"/>
                <a:cs typeface="Arial"/>
              </a:rPr>
              <a:t>can</a:t>
            </a:r>
            <a:r>
              <a:rPr sz="2400" spc="-25" dirty="0">
                <a:solidFill>
                  <a:srgbClr val="231F20"/>
                </a:solidFill>
                <a:latin typeface="Arial"/>
                <a:cs typeface="Arial"/>
              </a:rPr>
              <a:t> </a:t>
            </a:r>
            <a:r>
              <a:rPr sz="2400" spc="-5" dirty="0">
                <a:solidFill>
                  <a:srgbClr val="231F20"/>
                </a:solidFill>
                <a:latin typeface="Arial"/>
                <a:cs typeface="Arial"/>
              </a:rPr>
              <a:t>have</a:t>
            </a:r>
            <a:r>
              <a:rPr sz="2400" spc="-30" dirty="0">
                <a:solidFill>
                  <a:srgbClr val="231F20"/>
                </a:solidFill>
                <a:latin typeface="Arial"/>
                <a:cs typeface="Arial"/>
              </a:rPr>
              <a:t> </a:t>
            </a:r>
            <a:r>
              <a:rPr sz="2400" spc="-10" dirty="0">
                <a:solidFill>
                  <a:srgbClr val="231F20"/>
                </a:solidFill>
                <a:latin typeface="Arial"/>
                <a:cs typeface="Arial"/>
              </a:rPr>
              <a:t>different</a:t>
            </a:r>
            <a:r>
              <a:rPr sz="2400" spc="-25" dirty="0">
                <a:solidFill>
                  <a:srgbClr val="231F20"/>
                </a:solidFill>
                <a:latin typeface="Arial"/>
                <a:cs typeface="Arial"/>
              </a:rPr>
              <a:t> </a:t>
            </a:r>
            <a:r>
              <a:rPr lang="en-US" sz="2400" dirty="0">
                <a:solidFill>
                  <a:srgbClr val="231F20"/>
                </a:solidFill>
                <a:latin typeface="Arial"/>
                <a:cs typeface="Arial"/>
              </a:rPr>
              <a:t>status and</a:t>
            </a:r>
            <a:r>
              <a:rPr sz="2400" spc="-25" dirty="0">
                <a:solidFill>
                  <a:srgbClr val="231F20"/>
                </a:solidFill>
                <a:latin typeface="Arial"/>
                <a:cs typeface="Arial"/>
              </a:rPr>
              <a:t> </a:t>
            </a:r>
            <a:r>
              <a:rPr sz="2400" dirty="0">
                <a:solidFill>
                  <a:srgbClr val="231F20"/>
                </a:solidFill>
                <a:latin typeface="Arial"/>
                <a:cs typeface="Arial"/>
              </a:rPr>
              <a:t>may</a:t>
            </a:r>
            <a:r>
              <a:rPr sz="2400" spc="-25" dirty="0">
                <a:solidFill>
                  <a:srgbClr val="231F20"/>
                </a:solidFill>
                <a:latin typeface="Arial"/>
                <a:cs typeface="Arial"/>
              </a:rPr>
              <a:t> </a:t>
            </a:r>
            <a:r>
              <a:rPr sz="2400" dirty="0">
                <a:solidFill>
                  <a:srgbClr val="231F20"/>
                </a:solidFill>
                <a:latin typeface="Arial"/>
                <a:cs typeface="Arial"/>
              </a:rPr>
              <a:t>make </a:t>
            </a:r>
            <a:r>
              <a:rPr sz="2400" spc="-655" dirty="0">
                <a:solidFill>
                  <a:srgbClr val="231F20"/>
                </a:solidFill>
                <a:latin typeface="Arial"/>
                <a:cs typeface="Arial"/>
              </a:rPr>
              <a:t> </a:t>
            </a:r>
            <a:r>
              <a:rPr sz="2400" spc="-5" dirty="0">
                <a:solidFill>
                  <a:srgbClr val="231F20"/>
                </a:solidFill>
                <a:latin typeface="Arial"/>
                <a:cs typeface="Arial"/>
              </a:rPr>
              <a:t>decisions</a:t>
            </a:r>
            <a:r>
              <a:rPr sz="2400" spc="-10" dirty="0">
                <a:solidFill>
                  <a:srgbClr val="231F20"/>
                </a:solidFill>
                <a:latin typeface="Arial"/>
                <a:cs typeface="Arial"/>
              </a:rPr>
              <a:t> </a:t>
            </a:r>
            <a:r>
              <a:rPr sz="2400" spc="-5" dirty="0">
                <a:solidFill>
                  <a:srgbClr val="231F20"/>
                </a:solidFill>
                <a:latin typeface="Arial"/>
                <a:cs typeface="Arial"/>
              </a:rPr>
              <a:t>in </a:t>
            </a:r>
            <a:r>
              <a:rPr sz="2400" spc="-10" dirty="0">
                <a:solidFill>
                  <a:srgbClr val="231F20"/>
                </a:solidFill>
                <a:latin typeface="Arial"/>
                <a:cs typeface="Arial"/>
              </a:rPr>
              <a:t>different</a:t>
            </a:r>
            <a:r>
              <a:rPr sz="2400" spc="-5" dirty="0">
                <a:solidFill>
                  <a:srgbClr val="231F20"/>
                </a:solidFill>
                <a:latin typeface="Arial"/>
                <a:cs typeface="Arial"/>
              </a:rPr>
              <a:t> </a:t>
            </a:r>
            <a:r>
              <a:rPr sz="2400" dirty="0">
                <a:solidFill>
                  <a:srgbClr val="231F20"/>
                </a:solidFill>
                <a:latin typeface="Arial"/>
                <a:cs typeface="Arial"/>
              </a:rPr>
              <a:t>manners.</a:t>
            </a:r>
            <a:endParaRPr sz="2400" dirty="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17</a:t>
            </a:fld>
            <a:endParaRPr dirty="0"/>
          </a:p>
        </p:txBody>
      </p:sp>
      <p:sp>
        <p:nvSpPr>
          <p:cNvPr id="3" name="object 3"/>
          <p:cNvSpPr txBox="1"/>
          <p:nvPr/>
        </p:nvSpPr>
        <p:spPr>
          <a:xfrm>
            <a:off x="972819" y="933624"/>
            <a:ext cx="7057390" cy="574040"/>
          </a:xfrm>
          <a:prstGeom prst="rect">
            <a:avLst/>
          </a:prstGeom>
        </p:spPr>
        <p:txBody>
          <a:bodyPr vert="horz" wrap="square" lIns="0" tIns="12700" rIns="0" bIns="0" rtlCol="0">
            <a:spAutoFit/>
          </a:bodyPr>
          <a:lstStyle/>
          <a:p>
            <a:pPr marL="12700">
              <a:lnSpc>
                <a:spcPct val="100000"/>
              </a:lnSpc>
              <a:spcBef>
                <a:spcPts val="100"/>
              </a:spcBef>
            </a:pPr>
            <a:r>
              <a:rPr sz="3600" spc="25" dirty="0">
                <a:solidFill>
                  <a:srgbClr val="3369E8"/>
                </a:solidFill>
                <a:latin typeface="Verdana"/>
                <a:cs typeface="Verdana"/>
              </a:rPr>
              <a:t>What</a:t>
            </a:r>
            <a:r>
              <a:rPr sz="3600" spc="50" dirty="0">
                <a:solidFill>
                  <a:srgbClr val="3369E8"/>
                </a:solidFill>
                <a:latin typeface="Verdana"/>
                <a:cs typeface="Verdana"/>
              </a:rPr>
              <a:t> </a:t>
            </a:r>
            <a:r>
              <a:rPr sz="3600" spc="15" dirty="0">
                <a:solidFill>
                  <a:srgbClr val="3369E8"/>
                </a:solidFill>
                <a:latin typeface="Verdana"/>
                <a:cs typeface="Verdana"/>
              </a:rPr>
              <a:t>is</a:t>
            </a:r>
            <a:r>
              <a:rPr sz="3600" spc="50" dirty="0">
                <a:solidFill>
                  <a:srgbClr val="3369E8"/>
                </a:solidFill>
                <a:latin typeface="Verdana"/>
                <a:cs typeface="Verdana"/>
              </a:rPr>
              <a:t> </a:t>
            </a:r>
            <a:r>
              <a:rPr sz="3600" spc="15" dirty="0">
                <a:solidFill>
                  <a:srgbClr val="3369E8"/>
                </a:solidFill>
                <a:latin typeface="Verdana"/>
                <a:cs typeface="Verdana"/>
              </a:rPr>
              <a:t>an</a:t>
            </a:r>
            <a:r>
              <a:rPr sz="3600" spc="55" dirty="0">
                <a:solidFill>
                  <a:srgbClr val="3369E8"/>
                </a:solidFill>
                <a:latin typeface="Verdana"/>
                <a:cs typeface="Verdana"/>
              </a:rPr>
              <a:t> </a:t>
            </a:r>
            <a:r>
              <a:rPr sz="3600" spc="30" dirty="0">
                <a:solidFill>
                  <a:srgbClr val="3369E8"/>
                </a:solidFill>
                <a:latin typeface="Verdana"/>
                <a:cs typeface="Verdana"/>
              </a:rPr>
              <a:t>economic</a:t>
            </a:r>
            <a:r>
              <a:rPr sz="3600" spc="50" dirty="0">
                <a:solidFill>
                  <a:srgbClr val="3369E8"/>
                </a:solidFill>
                <a:latin typeface="Verdana"/>
                <a:cs typeface="Verdana"/>
              </a:rPr>
              <a:t> </a:t>
            </a:r>
            <a:r>
              <a:rPr sz="3600" spc="35" dirty="0">
                <a:solidFill>
                  <a:srgbClr val="3369E8"/>
                </a:solidFill>
                <a:latin typeface="Verdana"/>
                <a:cs typeface="Verdana"/>
              </a:rPr>
              <a:t>"agent"?</a:t>
            </a:r>
            <a:endParaRPr sz="3600">
              <a:latin typeface="Verdana"/>
              <a:cs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25562" y="2057400"/>
            <a:ext cx="6492875" cy="2951480"/>
          </a:xfrm>
          <a:prstGeom prst="rect">
            <a:avLst/>
          </a:prstGeom>
        </p:spPr>
        <p:txBody>
          <a:bodyPr vert="horz" wrap="square" lIns="0" tIns="12700" rIns="0" bIns="0" rtlCol="0">
            <a:spAutoFit/>
          </a:bodyPr>
          <a:lstStyle/>
          <a:p>
            <a:pPr marL="12700" marR="5080">
              <a:lnSpc>
                <a:spcPct val="100000"/>
              </a:lnSpc>
              <a:spcBef>
                <a:spcPts val="100"/>
              </a:spcBef>
            </a:pPr>
            <a:r>
              <a:rPr sz="2400" dirty="0">
                <a:solidFill>
                  <a:srgbClr val="3369E8"/>
                </a:solidFill>
                <a:latin typeface="Arial"/>
                <a:cs typeface="Arial"/>
              </a:rPr>
              <a:t>Object</a:t>
            </a:r>
            <a:r>
              <a:rPr sz="2400" spc="-55" dirty="0">
                <a:solidFill>
                  <a:srgbClr val="3369E8"/>
                </a:solidFill>
                <a:latin typeface="Arial"/>
                <a:cs typeface="Arial"/>
              </a:rPr>
              <a:t> </a:t>
            </a:r>
            <a:r>
              <a:rPr sz="2400" dirty="0">
                <a:solidFill>
                  <a:srgbClr val="3369E8"/>
                </a:solidFill>
                <a:latin typeface="Arial"/>
                <a:cs typeface="Arial"/>
              </a:rPr>
              <a:t>Oriented</a:t>
            </a:r>
            <a:r>
              <a:rPr sz="2400" spc="-55" dirty="0">
                <a:solidFill>
                  <a:srgbClr val="3369E8"/>
                </a:solidFill>
                <a:latin typeface="Arial"/>
                <a:cs typeface="Arial"/>
              </a:rPr>
              <a:t> </a:t>
            </a:r>
            <a:r>
              <a:rPr sz="2400" dirty="0">
                <a:solidFill>
                  <a:srgbClr val="3369E8"/>
                </a:solidFill>
                <a:latin typeface="Arial"/>
                <a:cs typeface="Arial"/>
              </a:rPr>
              <a:t>Programming</a:t>
            </a:r>
            <a:r>
              <a:rPr sz="2400" spc="-60" dirty="0">
                <a:solidFill>
                  <a:srgbClr val="3369E8"/>
                </a:solidFill>
                <a:latin typeface="Arial"/>
                <a:cs typeface="Arial"/>
              </a:rPr>
              <a:t> </a:t>
            </a:r>
            <a:r>
              <a:rPr sz="2400" spc="-5" dirty="0">
                <a:solidFill>
                  <a:srgbClr val="231F20"/>
                </a:solidFill>
                <a:latin typeface="Arial"/>
                <a:cs typeface="Arial"/>
              </a:rPr>
              <a:t>help</a:t>
            </a:r>
            <a:r>
              <a:rPr sz="2400" spc="-55" dirty="0">
                <a:solidFill>
                  <a:srgbClr val="231F20"/>
                </a:solidFill>
                <a:latin typeface="Arial"/>
                <a:cs typeface="Arial"/>
              </a:rPr>
              <a:t> </a:t>
            </a:r>
            <a:r>
              <a:rPr sz="2400" spc="-5" dirty="0">
                <a:solidFill>
                  <a:srgbClr val="231F20"/>
                </a:solidFill>
                <a:latin typeface="Arial"/>
                <a:cs typeface="Arial"/>
              </a:rPr>
              <a:t>us</a:t>
            </a:r>
            <a:r>
              <a:rPr sz="2400" spc="-50" dirty="0">
                <a:solidFill>
                  <a:srgbClr val="231F20"/>
                </a:solidFill>
                <a:latin typeface="Arial"/>
                <a:cs typeface="Arial"/>
              </a:rPr>
              <a:t> </a:t>
            </a:r>
            <a:r>
              <a:rPr sz="2400" dirty="0">
                <a:solidFill>
                  <a:srgbClr val="231F20"/>
                </a:solidFill>
                <a:latin typeface="Arial"/>
                <a:cs typeface="Arial"/>
              </a:rPr>
              <a:t>represent </a:t>
            </a:r>
            <a:r>
              <a:rPr sz="2400" spc="-655" dirty="0">
                <a:solidFill>
                  <a:srgbClr val="231F20"/>
                </a:solidFill>
                <a:latin typeface="Arial"/>
                <a:cs typeface="Arial"/>
              </a:rPr>
              <a:t> </a:t>
            </a:r>
            <a:r>
              <a:rPr sz="2400" dirty="0">
                <a:solidFill>
                  <a:srgbClr val="231F20"/>
                </a:solidFill>
                <a:latin typeface="Arial"/>
                <a:cs typeface="Arial"/>
              </a:rPr>
              <a:t>things</a:t>
            </a:r>
            <a:r>
              <a:rPr sz="2400" spc="-10" dirty="0">
                <a:solidFill>
                  <a:srgbClr val="231F20"/>
                </a:solidFill>
                <a:latin typeface="Arial"/>
                <a:cs typeface="Arial"/>
              </a:rPr>
              <a:t> </a:t>
            </a:r>
            <a:r>
              <a:rPr sz="2400" spc="-5" dirty="0">
                <a:solidFill>
                  <a:srgbClr val="231F20"/>
                </a:solidFill>
                <a:latin typeface="Arial"/>
                <a:cs typeface="Arial"/>
              </a:rPr>
              <a:t>in</a:t>
            </a:r>
            <a:r>
              <a:rPr sz="2400" spc="-15" dirty="0">
                <a:solidFill>
                  <a:srgbClr val="231F20"/>
                </a:solidFill>
                <a:latin typeface="Arial"/>
                <a:cs typeface="Arial"/>
              </a:rPr>
              <a:t> </a:t>
            </a:r>
            <a:r>
              <a:rPr sz="2400" spc="-5" dirty="0">
                <a:solidFill>
                  <a:srgbClr val="231F20"/>
                </a:solidFill>
                <a:latin typeface="Arial"/>
                <a:cs typeface="Arial"/>
              </a:rPr>
              <a:t>our</a:t>
            </a:r>
            <a:r>
              <a:rPr sz="2400" spc="-10" dirty="0">
                <a:solidFill>
                  <a:srgbClr val="231F20"/>
                </a:solidFill>
                <a:latin typeface="Arial"/>
                <a:cs typeface="Arial"/>
              </a:rPr>
              <a:t> </a:t>
            </a:r>
            <a:r>
              <a:rPr sz="2400" dirty="0">
                <a:solidFill>
                  <a:srgbClr val="231F20"/>
                </a:solidFill>
                <a:latin typeface="Arial"/>
                <a:cs typeface="Arial"/>
              </a:rPr>
              <a:t>code.</a:t>
            </a:r>
            <a:r>
              <a:rPr sz="2400" spc="-55" dirty="0">
                <a:solidFill>
                  <a:srgbClr val="231F20"/>
                </a:solidFill>
                <a:latin typeface="Arial"/>
                <a:cs typeface="Arial"/>
              </a:rPr>
              <a:t> </a:t>
            </a:r>
            <a:r>
              <a:rPr sz="2400" dirty="0">
                <a:solidFill>
                  <a:srgbClr val="231F20"/>
                </a:solidFill>
                <a:latin typeface="Arial"/>
                <a:cs typeface="Arial"/>
              </a:rPr>
              <a:t>The</a:t>
            </a:r>
            <a:r>
              <a:rPr sz="2400" spc="-5" dirty="0">
                <a:solidFill>
                  <a:srgbClr val="231F20"/>
                </a:solidFill>
                <a:latin typeface="Arial"/>
                <a:cs typeface="Arial"/>
              </a:rPr>
              <a:t> </a:t>
            </a:r>
            <a:r>
              <a:rPr sz="2400" dirty="0">
                <a:solidFill>
                  <a:srgbClr val="231F20"/>
                </a:solidFill>
                <a:latin typeface="Arial"/>
                <a:cs typeface="Arial"/>
              </a:rPr>
              <a:t>two</a:t>
            </a:r>
            <a:r>
              <a:rPr sz="2400" spc="-10" dirty="0">
                <a:solidFill>
                  <a:srgbClr val="231F20"/>
                </a:solidFill>
                <a:latin typeface="Arial"/>
                <a:cs typeface="Arial"/>
              </a:rPr>
              <a:t> </a:t>
            </a:r>
            <a:r>
              <a:rPr sz="2400" dirty="0">
                <a:solidFill>
                  <a:srgbClr val="231F20"/>
                </a:solidFill>
                <a:latin typeface="Arial"/>
                <a:cs typeface="Arial"/>
              </a:rPr>
              <a:t>major</a:t>
            </a:r>
            <a:r>
              <a:rPr sz="2400" spc="-10" dirty="0">
                <a:solidFill>
                  <a:srgbClr val="231F20"/>
                </a:solidFill>
                <a:latin typeface="Arial"/>
                <a:cs typeface="Arial"/>
              </a:rPr>
              <a:t> </a:t>
            </a:r>
            <a:r>
              <a:rPr sz="2400" spc="-5" dirty="0">
                <a:solidFill>
                  <a:srgbClr val="231F20"/>
                </a:solidFill>
                <a:latin typeface="Arial"/>
                <a:cs typeface="Arial"/>
              </a:rPr>
              <a:t>aspects</a:t>
            </a:r>
            <a:r>
              <a:rPr sz="2400" spc="-10" dirty="0">
                <a:solidFill>
                  <a:srgbClr val="231F20"/>
                </a:solidFill>
                <a:latin typeface="Arial"/>
                <a:cs typeface="Arial"/>
              </a:rPr>
              <a:t> </a:t>
            </a:r>
            <a:r>
              <a:rPr sz="2400" spc="-5" dirty="0">
                <a:solidFill>
                  <a:srgbClr val="231F20"/>
                </a:solidFill>
                <a:latin typeface="Arial"/>
                <a:cs typeface="Arial"/>
              </a:rPr>
              <a:t>are:</a:t>
            </a:r>
            <a:endParaRPr sz="2400" dirty="0">
              <a:latin typeface="Arial"/>
              <a:cs typeface="Arial"/>
            </a:endParaRPr>
          </a:p>
          <a:p>
            <a:pPr>
              <a:lnSpc>
                <a:spcPct val="100000"/>
              </a:lnSpc>
              <a:spcBef>
                <a:spcPts val="5"/>
              </a:spcBef>
            </a:pPr>
            <a:endParaRPr sz="2500" dirty="0">
              <a:latin typeface="Arial"/>
              <a:cs typeface="Arial"/>
            </a:endParaRPr>
          </a:p>
          <a:p>
            <a:pPr marL="203835" indent="-191770">
              <a:lnSpc>
                <a:spcPct val="100000"/>
              </a:lnSpc>
              <a:buClr>
                <a:srgbClr val="4785EC"/>
              </a:buClr>
              <a:buFont typeface="Arial"/>
              <a:buChar char="•"/>
              <a:tabLst>
                <a:tab pos="204470" algn="l"/>
              </a:tabLst>
            </a:pPr>
            <a:r>
              <a:rPr sz="2400" b="1" spc="-5" dirty="0">
                <a:solidFill>
                  <a:srgbClr val="3369E8"/>
                </a:solidFill>
                <a:latin typeface="Arial"/>
                <a:cs typeface="Arial"/>
              </a:rPr>
              <a:t>Class</a:t>
            </a:r>
            <a:r>
              <a:rPr sz="2400" spc="-5" dirty="0">
                <a:solidFill>
                  <a:srgbClr val="231F20"/>
                </a:solidFill>
                <a:latin typeface="Arial"/>
                <a:cs typeface="Arial"/>
              </a:rPr>
              <a:t>:</a:t>
            </a:r>
            <a:r>
              <a:rPr sz="2400" spc="-15" dirty="0">
                <a:solidFill>
                  <a:srgbClr val="231F20"/>
                </a:solidFill>
                <a:latin typeface="Arial"/>
                <a:cs typeface="Arial"/>
              </a:rPr>
              <a:t> </a:t>
            </a:r>
            <a:r>
              <a:rPr sz="2400" dirty="0">
                <a:solidFill>
                  <a:srgbClr val="231F20"/>
                </a:solidFill>
                <a:latin typeface="Arial"/>
                <a:cs typeface="Arial"/>
              </a:rPr>
              <a:t>a</a:t>
            </a:r>
            <a:r>
              <a:rPr sz="2400" spc="-20" dirty="0">
                <a:solidFill>
                  <a:srgbClr val="231F20"/>
                </a:solidFill>
                <a:latin typeface="Arial"/>
                <a:cs typeface="Arial"/>
              </a:rPr>
              <a:t> </a:t>
            </a:r>
            <a:r>
              <a:rPr sz="2400" spc="-5" dirty="0">
                <a:solidFill>
                  <a:srgbClr val="231F20"/>
                </a:solidFill>
                <a:latin typeface="Arial"/>
                <a:cs typeface="Arial"/>
              </a:rPr>
              <a:t>blueprint</a:t>
            </a:r>
            <a:r>
              <a:rPr sz="2400" spc="-20" dirty="0">
                <a:solidFill>
                  <a:srgbClr val="231F20"/>
                </a:solidFill>
                <a:latin typeface="Arial"/>
                <a:cs typeface="Arial"/>
              </a:rPr>
              <a:t> </a:t>
            </a:r>
            <a:r>
              <a:rPr sz="2400" dirty="0">
                <a:solidFill>
                  <a:srgbClr val="231F20"/>
                </a:solidFill>
                <a:latin typeface="Arial"/>
                <a:cs typeface="Arial"/>
              </a:rPr>
              <a:t>for</a:t>
            </a:r>
            <a:r>
              <a:rPr sz="2400" spc="-10" dirty="0">
                <a:solidFill>
                  <a:srgbClr val="231F20"/>
                </a:solidFill>
                <a:latin typeface="Arial"/>
                <a:cs typeface="Arial"/>
              </a:rPr>
              <a:t> </a:t>
            </a:r>
            <a:r>
              <a:rPr sz="2400" dirty="0">
                <a:solidFill>
                  <a:srgbClr val="231F20"/>
                </a:solidFill>
                <a:latin typeface="Arial"/>
                <a:cs typeface="Arial"/>
              </a:rPr>
              <a:t>creating</a:t>
            </a:r>
            <a:r>
              <a:rPr sz="2400" spc="-15" dirty="0">
                <a:solidFill>
                  <a:srgbClr val="231F20"/>
                </a:solidFill>
                <a:latin typeface="Arial"/>
                <a:cs typeface="Arial"/>
              </a:rPr>
              <a:t> </a:t>
            </a:r>
            <a:r>
              <a:rPr sz="2400" spc="-5" dirty="0">
                <a:solidFill>
                  <a:srgbClr val="231F20"/>
                </a:solidFill>
                <a:latin typeface="Arial"/>
                <a:cs typeface="Arial"/>
              </a:rPr>
              <a:t>objects</a:t>
            </a:r>
            <a:endParaRPr sz="2400" dirty="0">
              <a:latin typeface="Arial"/>
              <a:cs typeface="Arial"/>
            </a:endParaRPr>
          </a:p>
          <a:p>
            <a:pPr marL="469900">
              <a:lnSpc>
                <a:spcPct val="100000"/>
              </a:lnSpc>
            </a:pPr>
            <a:r>
              <a:rPr sz="2400" spc="-5" dirty="0">
                <a:solidFill>
                  <a:srgbClr val="231F20"/>
                </a:solidFill>
                <a:latin typeface="Arial"/>
                <a:cs typeface="Arial"/>
              </a:rPr>
              <a:t>e.g.,</a:t>
            </a:r>
            <a:r>
              <a:rPr sz="2400" spc="-15" dirty="0">
                <a:solidFill>
                  <a:srgbClr val="231F20"/>
                </a:solidFill>
                <a:latin typeface="Arial"/>
                <a:cs typeface="Arial"/>
              </a:rPr>
              <a:t> </a:t>
            </a:r>
            <a:r>
              <a:rPr sz="2400" dirty="0">
                <a:solidFill>
                  <a:srgbClr val="231F20"/>
                </a:solidFill>
                <a:latin typeface="Arial"/>
                <a:cs typeface="Arial"/>
              </a:rPr>
              <a:t>the</a:t>
            </a:r>
            <a:r>
              <a:rPr sz="2400" spc="-10" dirty="0">
                <a:solidFill>
                  <a:srgbClr val="231F20"/>
                </a:solidFill>
                <a:latin typeface="Arial"/>
                <a:cs typeface="Arial"/>
              </a:rPr>
              <a:t> </a:t>
            </a:r>
            <a:r>
              <a:rPr sz="2400" spc="-5" dirty="0">
                <a:solidFill>
                  <a:srgbClr val="231F20"/>
                </a:solidFill>
                <a:latin typeface="Arial"/>
                <a:cs typeface="Arial"/>
              </a:rPr>
              <a:t>economic</a:t>
            </a:r>
            <a:r>
              <a:rPr sz="2400" spc="-15" dirty="0">
                <a:solidFill>
                  <a:srgbClr val="231F20"/>
                </a:solidFill>
                <a:latin typeface="Arial"/>
                <a:cs typeface="Arial"/>
              </a:rPr>
              <a:t> </a:t>
            </a:r>
            <a:r>
              <a:rPr sz="2400" spc="-5" dirty="0">
                <a:solidFill>
                  <a:srgbClr val="231F20"/>
                </a:solidFill>
                <a:latin typeface="Arial"/>
                <a:cs typeface="Arial"/>
              </a:rPr>
              <a:t>agent</a:t>
            </a:r>
            <a:r>
              <a:rPr sz="2400" spc="-15" dirty="0">
                <a:solidFill>
                  <a:srgbClr val="231F20"/>
                </a:solidFill>
                <a:latin typeface="Arial"/>
                <a:cs typeface="Arial"/>
              </a:rPr>
              <a:t> </a:t>
            </a:r>
            <a:r>
              <a:rPr sz="2400" dirty="0">
                <a:solidFill>
                  <a:srgbClr val="231F20"/>
                </a:solidFill>
                <a:latin typeface="Arial"/>
                <a:cs typeface="Arial"/>
              </a:rPr>
              <a:t>can</a:t>
            </a:r>
            <a:r>
              <a:rPr sz="2400" spc="-10" dirty="0">
                <a:solidFill>
                  <a:srgbClr val="231F20"/>
                </a:solidFill>
                <a:latin typeface="Arial"/>
                <a:cs typeface="Arial"/>
              </a:rPr>
              <a:t> </a:t>
            </a:r>
            <a:r>
              <a:rPr sz="2400" spc="-5" dirty="0">
                <a:solidFill>
                  <a:srgbClr val="231F20"/>
                </a:solidFill>
                <a:latin typeface="Arial"/>
                <a:cs typeface="Arial"/>
              </a:rPr>
              <a:t>be</a:t>
            </a:r>
            <a:r>
              <a:rPr sz="2400" spc="-15" dirty="0">
                <a:solidFill>
                  <a:srgbClr val="231F20"/>
                </a:solidFill>
                <a:latin typeface="Arial"/>
                <a:cs typeface="Arial"/>
              </a:rPr>
              <a:t> </a:t>
            </a:r>
            <a:r>
              <a:rPr sz="2400" dirty="0">
                <a:solidFill>
                  <a:srgbClr val="231F20"/>
                </a:solidFill>
                <a:latin typeface="Arial"/>
                <a:cs typeface="Arial"/>
              </a:rPr>
              <a:t>a</a:t>
            </a:r>
            <a:r>
              <a:rPr sz="2400" spc="-15" dirty="0">
                <a:solidFill>
                  <a:srgbClr val="231F20"/>
                </a:solidFill>
                <a:latin typeface="Arial"/>
                <a:cs typeface="Arial"/>
              </a:rPr>
              <a:t> </a:t>
            </a:r>
            <a:r>
              <a:rPr sz="2400" dirty="0">
                <a:solidFill>
                  <a:srgbClr val="231F20"/>
                </a:solidFill>
                <a:latin typeface="Arial"/>
                <a:cs typeface="Arial"/>
              </a:rPr>
              <a:t>"class"</a:t>
            </a:r>
            <a:endParaRPr sz="2400" dirty="0">
              <a:latin typeface="Arial"/>
              <a:cs typeface="Arial"/>
            </a:endParaRPr>
          </a:p>
          <a:p>
            <a:pPr>
              <a:lnSpc>
                <a:spcPct val="100000"/>
              </a:lnSpc>
              <a:spcBef>
                <a:spcPts val="5"/>
              </a:spcBef>
            </a:pPr>
            <a:endParaRPr sz="2500" dirty="0">
              <a:latin typeface="Arial"/>
              <a:cs typeface="Arial"/>
            </a:endParaRPr>
          </a:p>
          <a:p>
            <a:pPr marL="203835" indent="-191770">
              <a:lnSpc>
                <a:spcPct val="100000"/>
              </a:lnSpc>
              <a:buClr>
                <a:srgbClr val="4785EC"/>
              </a:buClr>
              <a:buFont typeface="Arial"/>
              <a:buChar char="•"/>
              <a:tabLst>
                <a:tab pos="204470" algn="l"/>
              </a:tabLst>
            </a:pPr>
            <a:r>
              <a:rPr sz="2400" b="1" spc="-5" dirty="0">
                <a:solidFill>
                  <a:srgbClr val="3369E8"/>
                </a:solidFill>
                <a:latin typeface="Arial"/>
                <a:cs typeface="Arial"/>
              </a:rPr>
              <a:t>Object</a:t>
            </a:r>
            <a:r>
              <a:rPr sz="2400" spc="-5" dirty="0">
                <a:solidFill>
                  <a:srgbClr val="231F20"/>
                </a:solidFill>
                <a:latin typeface="Arial"/>
                <a:cs typeface="Arial"/>
              </a:rPr>
              <a:t>:</a:t>
            </a:r>
            <a:r>
              <a:rPr sz="2400" spc="-10" dirty="0">
                <a:solidFill>
                  <a:srgbClr val="231F20"/>
                </a:solidFill>
                <a:latin typeface="Arial"/>
                <a:cs typeface="Arial"/>
              </a:rPr>
              <a:t> </a:t>
            </a:r>
            <a:r>
              <a:rPr sz="2400" spc="-5" dirty="0">
                <a:solidFill>
                  <a:srgbClr val="231F20"/>
                </a:solidFill>
                <a:latin typeface="Arial"/>
                <a:cs typeface="Arial"/>
              </a:rPr>
              <a:t>an</a:t>
            </a:r>
            <a:r>
              <a:rPr sz="2400" spc="-15" dirty="0">
                <a:solidFill>
                  <a:srgbClr val="231F20"/>
                </a:solidFill>
                <a:latin typeface="Arial"/>
                <a:cs typeface="Arial"/>
              </a:rPr>
              <a:t> </a:t>
            </a:r>
            <a:r>
              <a:rPr sz="2400" spc="-5" dirty="0">
                <a:solidFill>
                  <a:srgbClr val="231F20"/>
                </a:solidFill>
                <a:latin typeface="Arial"/>
                <a:cs typeface="Arial"/>
              </a:rPr>
              <a:t>instance</a:t>
            </a:r>
            <a:r>
              <a:rPr sz="2400" spc="-15" dirty="0">
                <a:solidFill>
                  <a:srgbClr val="231F20"/>
                </a:solidFill>
                <a:latin typeface="Arial"/>
                <a:cs typeface="Arial"/>
              </a:rPr>
              <a:t> </a:t>
            </a:r>
            <a:r>
              <a:rPr sz="2400" spc="-5" dirty="0">
                <a:solidFill>
                  <a:srgbClr val="231F20"/>
                </a:solidFill>
                <a:latin typeface="Arial"/>
                <a:cs typeface="Arial"/>
              </a:rPr>
              <a:t>of</a:t>
            </a:r>
            <a:r>
              <a:rPr sz="2400" spc="-15" dirty="0">
                <a:solidFill>
                  <a:srgbClr val="231F20"/>
                </a:solidFill>
                <a:latin typeface="Arial"/>
                <a:cs typeface="Arial"/>
              </a:rPr>
              <a:t> </a:t>
            </a:r>
            <a:r>
              <a:rPr sz="2400" dirty="0">
                <a:solidFill>
                  <a:srgbClr val="231F20"/>
                </a:solidFill>
                <a:latin typeface="Arial"/>
                <a:cs typeface="Arial"/>
              </a:rPr>
              <a:t>the</a:t>
            </a:r>
            <a:r>
              <a:rPr sz="2400" spc="-5" dirty="0">
                <a:solidFill>
                  <a:srgbClr val="231F20"/>
                </a:solidFill>
                <a:latin typeface="Arial"/>
                <a:cs typeface="Arial"/>
              </a:rPr>
              <a:t> </a:t>
            </a:r>
            <a:r>
              <a:rPr sz="2400" dirty="0">
                <a:solidFill>
                  <a:srgbClr val="231F20"/>
                </a:solidFill>
                <a:latin typeface="Arial"/>
                <a:cs typeface="Arial"/>
              </a:rPr>
              <a:t>class</a:t>
            </a:r>
            <a:endParaRPr sz="2400" dirty="0">
              <a:latin typeface="Arial"/>
              <a:cs typeface="Arial"/>
            </a:endParaRPr>
          </a:p>
          <a:p>
            <a:pPr marL="469900">
              <a:lnSpc>
                <a:spcPct val="100000"/>
              </a:lnSpc>
            </a:pPr>
            <a:r>
              <a:rPr sz="2400" spc="-5" dirty="0">
                <a:solidFill>
                  <a:srgbClr val="231F20"/>
                </a:solidFill>
                <a:latin typeface="Arial"/>
                <a:cs typeface="Arial"/>
              </a:rPr>
              <a:t>e.g.,</a:t>
            </a:r>
            <a:r>
              <a:rPr sz="2400" spc="-155" dirty="0">
                <a:solidFill>
                  <a:srgbClr val="231F20"/>
                </a:solidFill>
                <a:latin typeface="Arial"/>
                <a:cs typeface="Arial"/>
              </a:rPr>
              <a:t> </a:t>
            </a:r>
            <a:r>
              <a:rPr sz="2400" dirty="0">
                <a:solidFill>
                  <a:srgbClr val="231F20"/>
                </a:solidFill>
                <a:latin typeface="Arial"/>
                <a:cs typeface="Arial"/>
              </a:rPr>
              <a:t>the</a:t>
            </a:r>
            <a:r>
              <a:rPr sz="2400" spc="-145" dirty="0">
                <a:solidFill>
                  <a:srgbClr val="231F20"/>
                </a:solidFill>
                <a:latin typeface="Arial"/>
                <a:cs typeface="Arial"/>
              </a:rPr>
              <a:t> </a:t>
            </a:r>
            <a:r>
              <a:rPr sz="2400" dirty="0">
                <a:solidFill>
                  <a:srgbClr val="231F20"/>
                </a:solidFill>
                <a:latin typeface="Arial"/>
                <a:cs typeface="Arial"/>
              </a:rPr>
              <a:t>specific</a:t>
            </a:r>
            <a:r>
              <a:rPr sz="2400" spc="-145" dirty="0">
                <a:solidFill>
                  <a:srgbClr val="231F20"/>
                </a:solidFill>
                <a:latin typeface="Arial"/>
                <a:cs typeface="Arial"/>
              </a:rPr>
              <a:t> </a:t>
            </a:r>
            <a:r>
              <a:rPr sz="2400" spc="-5" dirty="0">
                <a:solidFill>
                  <a:srgbClr val="231F20"/>
                </a:solidFill>
                <a:latin typeface="Arial"/>
                <a:cs typeface="Arial"/>
              </a:rPr>
              <a:t>example</a:t>
            </a:r>
            <a:r>
              <a:rPr sz="2400" spc="-145" dirty="0">
                <a:solidFill>
                  <a:srgbClr val="231F20"/>
                </a:solidFill>
                <a:latin typeface="Arial"/>
                <a:cs typeface="Arial"/>
              </a:rPr>
              <a:t> </a:t>
            </a:r>
            <a:r>
              <a:rPr sz="2400" spc="-5" dirty="0">
                <a:solidFill>
                  <a:srgbClr val="231F20"/>
                </a:solidFill>
                <a:latin typeface="Arial"/>
                <a:cs typeface="Arial"/>
              </a:rPr>
              <a:t>agent</a:t>
            </a:r>
            <a:r>
              <a:rPr sz="2400" spc="-145" dirty="0">
                <a:solidFill>
                  <a:srgbClr val="231F20"/>
                </a:solidFill>
                <a:latin typeface="Arial"/>
                <a:cs typeface="Arial"/>
              </a:rPr>
              <a:t> </a:t>
            </a:r>
            <a:r>
              <a:rPr sz="2400" spc="-5" dirty="0">
                <a:solidFill>
                  <a:srgbClr val="231F20"/>
                </a:solidFill>
                <a:latin typeface="Arial"/>
                <a:cs typeface="Arial"/>
              </a:rPr>
              <a:t>is</a:t>
            </a:r>
            <a:r>
              <a:rPr sz="2400" spc="-145" dirty="0">
                <a:solidFill>
                  <a:srgbClr val="231F20"/>
                </a:solidFill>
                <a:latin typeface="Arial"/>
                <a:cs typeface="Arial"/>
              </a:rPr>
              <a:t> </a:t>
            </a:r>
            <a:r>
              <a:rPr sz="2400" spc="-5" dirty="0">
                <a:solidFill>
                  <a:srgbClr val="231F20"/>
                </a:solidFill>
                <a:latin typeface="Arial"/>
                <a:cs typeface="Arial"/>
              </a:rPr>
              <a:t>an</a:t>
            </a:r>
            <a:r>
              <a:rPr sz="2400" spc="-145" dirty="0">
                <a:solidFill>
                  <a:srgbClr val="231F20"/>
                </a:solidFill>
                <a:latin typeface="Arial"/>
                <a:cs typeface="Arial"/>
              </a:rPr>
              <a:t> </a:t>
            </a:r>
            <a:r>
              <a:rPr sz="2400" dirty="0">
                <a:solidFill>
                  <a:srgbClr val="231F20"/>
                </a:solidFill>
                <a:latin typeface="Arial"/>
                <a:cs typeface="Arial"/>
              </a:rPr>
              <a:t>"object"</a:t>
            </a:r>
            <a:endParaRPr sz="2400" dirty="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18</a:t>
            </a:fld>
            <a:endParaRPr dirty="0"/>
          </a:p>
        </p:txBody>
      </p:sp>
      <p:sp>
        <p:nvSpPr>
          <p:cNvPr id="3" name="object 3"/>
          <p:cNvSpPr txBox="1">
            <a:spLocks noGrp="1"/>
          </p:cNvSpPr>
          <p:nvPr>
            <p:ph type="title"/>
          </p:nvPr>
        </p:nvSpPr>
        <p:spPr>
          <a:xfrm>
            <a:off x="972819" y="933624"/>
            <a:ext cx="7026275" cy="574040"/>
          </a:xfrm>
          <a:prstGeom prst="rect">
            <a:avLst/>
          </a:prstGeom>
        </p:spPr>
        <p:txBody>
          <a:bodyPr vert="horz" wrap="square" lIns="0" tIns="12700" rIns="0" bIns="0" rtlCol="0">
            <a:spAutoFit/>
          </a:bodyPr>
          <a:lstStyle/>
          <a:p>
            <a:pPr marL="12700">
              <a:lnSpc>
                <a:spcPct val="100000"/>
              </a:lnSpc>
              <a:spcBef>
                <a:spcPts val="100"/>
              </a:spcBef>
            </a:pPr>
            <a:r>
              <a:rPr spc="25" dirty="0"/>
              <a:t>Object</a:t>
            </a:r>
            <a:r>
              <a:rPr spc="55" dirty="0"/>
              <a:t> </a:t>
            </a:r>
            <a:r>
              <a:rPr spc="30" dirty="0"/>
              <a:t>Oriented</a:t>
            </a:r>
            <a:r>
              <a:rPr spc="60" dirty="0"/>
              <a:t> </a:t>
            </a:r>
            <a:r>
              <a:rPr spc="25" dirty="0"/>
              <a:t>Programming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BEEAE-F480-AA7B-7FFB-502E0215D38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F96B440-47DF-8728-88CD-9B423E7EB6F9}"/>
              </a:ext>
            </a:extLst>
          </p:cNvPr>
          <p:cNvSpPr txBox="1"/>
          <p:nvPr/>
        </p:nvSpPr>
        <p:spPr>
          <a:xfrm>
            <a:off x="1325562" y="2057400"/>
            <a:ext cx="6492875" cy="3268331"/>
          </a:xfrm>
          <a:prstGeom prst="rect">
            <a:avLst/>
          </a:prstGeom>
        </p:spPr>
        <p:txBody>
          <a:bodyPr vert="horz" wrap="square" lIns="0" tIns="12700" rIns="0" bIns="0" rtlCol="0">
            <a:spAutoFit/>
          </a:bodyPr>
          <a:lstStyle/>
          <a:p>
            <a:pPr marL="12700" marR="5080">
              <a:lnSpc>
                <a:spcPct val="150000"/>
              </a:lnSpc>
              <a:spcBef>
                <a:spcPts val="100"/>
              </a:spcBef>
            </a:pPr>
            <a:r>
              <a:rPr lang="en-US" sz="2400" dirty="0">
                <a:solidFill>
                  <a:srgbClr val="3369E8"/>
                </a:solidFill>
                <a:latin typeface="Arial"/>
                <a:cs typeface="Arial"/>
              </a:rPr>
              <a:t>Object</a:t>
            </a:r>
            <a:r>
              <a:rPr lang="en-US" sz="2400" spc="-55" dirty="0">
                <a:solidFill>
                  <a:srgbClr val="3369E8"/>
                </a:solidFill>
                <a:latin typeface="Arial"/>
                <a:cs typeface="Arial"/>
              </a:rPr>
              <a:t> </a:t>
            </a:r>
            <a:r>
              <a:rPr lang="en-US" sz="2400" dirty="0">
                <a:solidFill>
                  <a:srgbClr val="3369E8"/>
                </a:solidFill>
                <a:latin typeface="Arial"/>
                <a:cs typeface="Arial"/>
              </a:rPr>
              <a:t>Oriented</a:t>
            </a:r>
            <a:r>
              <a:rPr lang="en-US" sz="2400" spc="-55" dirty="0">
                <a:solidFill>
                  <a:srgbClr val="3369E8"/>
                </a:solidFill>
                <a:latin typeface="Arial"/>
                <a:cs typeface="Arial"/>
              </a:rPr>
              <a:t> </a:t>
            </a:r>
            <a:r>
              <a:rPr lang="en-US" sz="2400" dirty="0">
                <a:solidFill>
                  <a:srgbClr val="3369E8"/>
                </a:solidFill>
                <a:latin typeface="Arial"/>
                <a:cs typeface="Arial"/>
              </a:rPr>
              <a:t>Programming</a:t>
            </a:r>
            <a:r>
              <a:rPr lang="en-US" sz="2400" spc="-60" dirty="0">
                <a:solidFill>
                  <a:srgbClr val="3369E8"/>
                </a:solidFill>
                <a:latin typeface="Arial"/>
                <a:cs typeface="Arial"/>
              </a:rPr>
              <a:t> </a:t>
            </a:r>
            <a:r>
              <a:rPr lang="en-US" sz="2400" spc="-5" dirty="0">
                <a:solidFill>
                  <a:srgbClr val="231F20"/>
                </a:solidFill>
                <a:latin typeface="Arial"/>
                <a:cs typeface="Arial"/>
              </a:rPr>
              <a:t>- (OOP) is a programming paradigm that organizes code into objects, which encapsulate data (attributes) and behaviors (methods), enabling modularity, reusability, and scalability in software development.</a:t>
            </a:r>
            <a:endParaRPr lang="en-US" sz="2400" dirty="0">
              <a:latin typeface="Arial"/>
              <a:cs typeface="Arial"/>
            </a:endParaRPr>
          </a:p>
        </p:txBody>
      </p:sp>
      <p:sp>
        <p:nvSpPr>
          <p:cNvPr id="4" name="object 4">
            <a:extLst>
              <a:ext uri="{FF2B5EF4-FFF2-40B4-BE49-F238E27FC236}">
                <a16:creationId xmlns:a16="http://schemas.microsoft.com/office/drawing/2014/main" id="{4E71390E-54EF-0348-F089-EA6B727B71AC}"/>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19</a:t>
            </a:fld>
            <a:endParaRPr dirty="0"/>
          </a:p>
        </p:txBody>
      </p:sp>
      <p:sp>
        <p:nvSpPr>
          <p:cNvPr id="3" name="object 3">
            <a:extLst>
              <a:ext uri="{FF2B5EF4-FFF2-40B4-BE49-F238E27FC236}">
                <a16:creationId xmlns:a16="http://schemas.microsoft.com/office/drawing/2014/main" id="{F78676D5-AAC2-6B29-DE5C-69CC4F7C677C}"/>
              </a:ext>
            </a:extLst>
          </p:cNvPr>
          <p:cNvSpPr txBox="1">
            <a:spLocks noGrp="1"/>
          </p:cNvSpPr>
          <p:nvPr>
            <p:ph type="title"/>
          </p:nvPr>
        </p:nvSpPr>
        <p:spPr>
          <a:xfrm>
            <a:off x="972819" y="933624"/>
            <a:ext cx="7026275" cy="574040"/>
          </a:xfrm>
          <a:prstGeom prst="rect">
            <a:avLst/>
          </a:prstGeom>
        </p:spPr>
        <p:txBody>
          <a:bodyPr vert="horz" wrap="square" lIns="0" tIns="12700" rIns="0" bIns="0" rtlCol="0">
            <a:spAutoFit/>
          </a:bodyPr>
          <a:lstStyle/>
          <a:p>
            <a:pPr marL="12700">
              <a:lnSpc>
                <a:spcPct val="100000"/>
              </a:lnSpc>
              <a:spcBef>
                <a:spcPts val="100"/>
              </a:spcBef>
            </a:pPr>
            <a:r>
              <a:rPr spc="25" dirty="0"/>
              <a:t>Object</a:t>
            </a:r>
            <a:r>
              <a:rPr spc="55" dirty="0"/>
              <a:t> </a:t>
            </a:r>
            <a:r>
              <a:rPr spc="30" dirty="0"/>
              <a:t>Oriented</a:t>
            </a:r>
            <a:r>
              <a:rPr spc="60" dirty="0"/>
              <a:t> </a:t>
            </a:r>
            <a:r>
              <a:rPr spc="25" dirty="0"/>
              <a:t>Programming</a:t>
            </a:r>
          </a:p>
        </p:txBody>
      </p:sp>
    </p:spTree>
    <p:extLst>
      <p:ext uri="{BB962C8B-B14F-4D97-AF65-F5344CB8AC3E}">
        <p14:creationId xmlns:p14="http://schemas.microsoft.com/office/powerpoint/2010/main" val="2638601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36980" y="2464723"/>
            <a:ext cx="6492875" cy="1505540"/>
          </a:xfrm>
          <a:prstGeom prst="rect">
            <a:avLst/>
          </a:prstGeom>
        </p:spPr>
        <p:txBody>
          <a:bodyPr vert="horz" wrap="square" lIns="0" tIns="12700" rIns="0" bIns="0" rtlCol="0">
            <a:spAutoFit/>
          </a:bodyPr>
          <a:lstStyle/>
          <a:p>
            <a:pPr marL="12700">
              <a:lnSpc>
                <a:spcPct val="100000"/>
              </a:lnSpc>
              <a:spcBef>
                <a:spcPts val="100"/>
              </a:spcBef>
            </a:pPr>
            <a:r>
              <a:rPr sz="2400" dirty="0">
                <a:solidFill>
                  <a:schemeClr val="accent6"/>
                </a:solidFill>
                <a:latin typeface="Arial"/>
                <a:cs typeface="Arial"/>
              </a:rPr>
              <a:t>Attributes</a:t>
            </a:r>
            <a:r>
              <a:rPr sz="2400" spc="-15" dirty="0">
                <a:solidFill>
                  <a:srgbClr val="231F20"/>
                </a:solidFill>
                <a:latin typeface="Arial"/>
                <a:cs typeface="Arial"/>
              </a:rPr>
              <a:t> </a:t>
            </a:r>
            <a:r>
              <a:rPr sz="2400" spc="-5" dirty="0">
                <a:solidFill>
                  <a:srgbClr val="231F20"/>
                </a:solidFill>
                <a:latin typeface="Arial"/>
                <a:cs typeface="Arial"/>
              </a:rPr>
              <a:t>are</a:t>
            </a:r>
            <a:r>
              <a:rPr sz="2400" spc="-15" dirty="0">
                <a:solidFill>
                  <a:srgbClr val="231F20"/>
                </a:solidFill>
                <a:latin typeface="Arial"/>
                <a:cs typeface="Arial"/>
              </a:rPr>
              <a:t> </a:t>
            </a:r>
            <a:r>
              <a:rPr sz="2400" dirty="0">
                <a:solidFill>
                  <a:srgbClr val="231F20"/>
                </a:solidFill>
                <a:latin typeface="Arial"/>
                <a:cs typeface="Arial"/>
              </a:rPr>
              <a:t>the</a:t>
            </a:r>
            <a:r>
              <a:rPr sz="2400" spc="-15" dirty="0">
                <a:solidFill>
                  <a:srgbClr val="231F20"/>
                </a:solidFill>
                <a:latin typeface="Arial"/>
                <a:cs typeface="Arial"/>
              </a:rPr>
              <a:t> </a:t>
            </a:r>
            <a:r>
              <a:rPr sz="2400" dirty="0">
                <a:solidFill>
                  <a:srgbClr val="231F20"/>
                </a:solidFill>
                <a:latin typeface="Arial"/>
                <a:cs typeface="Arial"/>
              </a:rPr>
              <a:t>"states"</a:t>
            </a:r>
            <a:r>
              <a:rPr sz="2400" spc="-10" dirty="0">
                <a:solidFill>
                  <a:srgbClr val="231F20"/>
                </a:solidFill>
                <a:latin typeface="Arial"/>
                <a:cs typeface="Arial"/>
              </a:rPr>
              <a:t> </a:t>
            </a:r>
            <a:r>
              <a:rPr sz="2400" spc="-5" dirty="0">
                <a:solidFill>
                  <a:srgbClr val="231F20"/>
                </a:solidFill>
                <a:latin typeface="Arial"/>
                <a:cs typeface="Arial"/>
              </a:rPr>
              <a:t>of</a:t>
            </a:r>
            <a:r>
              <a:rPr sz="2400" spc="-15" dirty="0">
                <a:solidFill>
                  <a:srgbClr val="231F20"/>
                </a:solidFill>
                <a:latin typeface="Arial"/>
                <a:cs typeface="Arial"/>
              </a:rPr>
              <a:t> </a:t>
            </a:r>
            <a:r>
              <a:rPr sz="2400" spc="-5" dirty="0">
                <a:solidFill>
                  <a:srgbClr val="231F20"/>
                </a:solidFill>
                <a:latin typeface="Arial"/>
                <a:cs typeface="Arial"/>
              </a:rPr>
              <a:t>an</a:t>
            </a:r>
            <a:r>
              <a:rPr sz="2400" spc="-20" dirty="0">
                <a:solidFill>
                  <a:srgbClr val="231F20"/>
                </a:solidFill>
                <a:latin typeface="Arial"/>
                <a:cs typeface="Arial"/>
              </a:rPr>
              <a:t> </a:t>
            </a:r>
            <a:r>
              <a:rPr sz="2400" spc="-5" dirty="0">
                <a:solidFill>
                  <a:srgbClr val="231F20"/>
                </a:solidFill>
                <a:latin typeface="Arial"/>
                <a:cs typeface="Arial"/>
              </a:rPr>
              <a:t>object.</a:t>
            </a:r>
            <a:endParaRPr sz="2400" dirty="0">
              <a:latin typeface="Arial"/>
              <a:cs typeface="Arial"/>
            </a:endParaRPr>
          </a:p>
          <a:p>
            <a:pPr>
              <a:lnSpc>
                <a:spcPct val="100000"/>
              </a:lnSpc>
              <a:spcBef>
                <a:spcPts val="5"/>
              </a:spcBef>
            </a:pPr>
            <a:endParaRPr sz="2500" dirty="0">
              <a:latin typeface="Arial"/>
              <a:cs typeface="Arial"/>
            </a:endParaRPr>
          </a:p>
          <a:p>
            <a:pPr marL="12700" marR="5080">
              <a:lnSpc>
                <a:spcPct val="100000"/>
              </a:lnSpc>
              <a:tabLst>
                <a:tab pos="1440180" algn="l"/>
                <a:tab pos="2021205" algn="l"/>
                <a:tab pos="3381375" algn="l"/>
                <a:tab pos="4030345" algn="l"/>
                <a:tab pos="4763770" algn="l"/>
                <a:tab pos="6055360" algn="l"/>
              </a:tabLst>
            </a:pPr>
            <a:r>
              <a:rPr sz="2400" dirty="0">
                <a:solidFill>
                  <a:srgbClr val="231F20"/>
                </a:solidFill>
                <a:latin typeface="Arial"/>
                <a:cs typeface="Arial"/>
              </a:rPr>
              <a:t>Attributes	</a:t>
            </a:r>
            <a:r>
              <a:rPr sz="2400" spc="-5" dirty="0">
                <a:solidFill>
                  <a:srgbClr val="231F20"/>
                </a:solidFill>
                <a:latin typeface="Arial"/>
                <a:cs typeface="Arial"/>
              </a:rPr>
              <a:t>ar</a:t>
            </a:r>
            <a:r>
              <a:rPr sz="2400" dirty="0">
                <a:solidFill>
                  <a:srgbClr val="231F20"/>
                </a:solidFill>
                <a:latin typeface="Arial"/>
                <a:cs typeface="Arial"/>
              </a:rPr>
              <a:t>e	variables	</a:t>
            </a:r>
            <a:r>
              <a:rPr sz="2400" spc="-5" dirty="0">
                <a:solidFill>
                  <a:srgbClr val="231F20"/>
                </a:solidFill>
                <a:latin typeface="Arial"/>
                <a:cs typeface="Arial"/>
              </a:rPr>
              <a:t>an</a:t>
            </a:r>
            <a:r>
              <a:rPr sz="2400" dirty="0">
                <a:solidFill>
                  <a:srgbClr val="231F20"/>
                </a:solidFill>
                <a:latin typeface="Arial"/>
                <a:cs typeface="Arial"/>
              </a:rPr>
              <a:t>d	</a:t>
            </a:r>
            <a:r>
              <a:rPr sz="2400" spc="-5" dirty="0">
                <a:solidFill>
                  <a:srgbClr val="231F20"/>
                </a:solidFill>
                <a:latin typeface="Arial"/>
                <a:cs typeface="Arial"/>
              </a:rPr>
              <a:t>dat</a:t>
            </a:r>
            <a:r>
              <a:rPr sz="2400" dirty="0">
                <a:solidFill>
                  <a:srgbClr val="231F20"/>
                </a:solidFill>
                <a:latin typeface="Arial"/>
                <a:cs typeface="Arial"/>
              </a:rPr>
              <a:t>a	</a:t>
            </a:r>
            <a:r>
              <a:rPr sz="2400" spc="-5" dirty="0">
                <a:solidFill>
                  <a:srgbClr val="231F20"/>
                </a:solidFill>
                <a:latin typeface="Arial"/>
                <a:cs typeface="Arial"/>
              </a:rPr>
              <a:t>describ</a:t>
            </a:r>
            <a:r>
              <a:rPr sz="2400" dirty="0">
                <a:solidFill>
                  <a:srgbClr val="231F20"/>
                </a:solidFill>
                <a:latin typeface="Arial"/>
                <a:cs typeface="Arial"/>
              </a:rPr>
              <a:t>e	the  </a:t>
            </a:r>
            <a:r>
              <a:rPr sz="2400" spc="-5" dirty="0">
                <a:solidFill>
                  <a:srgbClr val="231F20"/>
                </a:solidFill>
                <a:latin typeface="Arial"/>
                <a:cs typeface="Arial"/>
              </a:rPr>
              <a:t>object.</a:t>
            </a:r>
            <a:endParaRPr sz="2400" dirty="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20</a:t>
            </a:fld>
            <a:endParaRPr dirty="0"/>
          </a:p>
        </p:txBody>
      </p:sp>
      <p:sp>
        <p:nvSpPr>
          <p:cNvPr id="3" name="object 3"/>
          <p:cNvSpPr txBox="1">
            <a:spLocks noGrp="1"/>
          </p:cNvSpPr>
          <p:nvPr>
            <p:ph type="title"/>
          </p:nvPr>
        </p:nvSpPr>
        <p:spPr>
          <a:xfrm>
            <a:off x="972819" y="933624"/>
            <a:ext cx="2325370" cy="574040"/>
          </a:xfrm>
          <a:prstGeom prst="rect">
            <a:avLst/>
          </a:prstGeom>
        </p:spPr>
        <p:txBody>
          <a:bodyPr vert="horz" wrap="square" lIns="0" tIns="12700" rIns="0" bIns="0" rtlCol="0">
            <a:spAutoFit/>
          </a:bodyPr>
          <a:lstStyle/>
          <a:p>
            <a:pPr marL="12700">
              <a:lnSpc>
                <a:spcPct val="100000"/>
              </a:lnSpc>
              <a:spcBef>
                <a:spcPts val="100"/>
              </a:spcBef>
            </a:pPr>
            <a:r>
              <a:rPr dirty="0"/>
              <a:t>A</a:t>
            </a:r>
            <a:r>
              <a:rPr spc="35" dirty="0"/>
              <a:t>ttributes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06500" y="2057053"/>
            <a:ext cx="6491605" cy="2951480"/>
          </a:xfrm>
          <a:prstGeom prst="rect">
            <a:avLst/>
          </a:prstGeom>
        </p:spPr>
        <p:txBody>
          <a:bodyPr vert="horz" wrap="square" lIns="0" tIns="12700" rIns="0" bIns="0" rtlCol="0">
            <a:spAutoFit/>
          </a:bodyPr>
          <a:lstStyle/>
          <a:p>
            <a:pPr marL="12700" marR="5080">
              <a:lnSpc>
                <a:spcPct val="100000"/>
              </a:lnSpc>
              <a:spcBef>
                <a:spcPts val="100"/>
              </a:spcBef>
            </a:pPr>
            <a:r>
              <a:rPr sz="2400" dirty="0">
                <a:solidFill>
                  <a:srgbClr val="231F20"/>
                </a:solidFill>
                <a:latin typeface="Arial"/>
                <a:cs typeface="Arial"/>
              </a:rPr>
              <a:t>One </a:t>
            </a:r>
            <a:r>
              <a:rPr sz="2400" spc="-5" dirty="0">
                <a:solidFill>
                  <a:srgbClr val="231F20"/>
                </a:solidFill>
                <a:latin typeface="Arial"/>
                <a:cs typeface="Arial"/>
              </a:rPr>
              <a:t>particular</a:t>
            </a:r>
            <a:r>
              <a:rPr sz="2400" dirty="0">
                <a:solidFill>
                  <a:srgbClr val="231F20"/>
                </a:solidFill>
                <a:latin typeface="Arial"/>
                <a:cs typeface="Arial"/>
              </a:rPr>
              <a:t> challenge</a:t>
            </a:r>
            <a:r>
              <a:rPr sz="2400" spc="5" dirty="0">
                <a:solidFill>
                  <a:srgbClr val="231F20"/>
                </a:solidFill>
                <a:latin typeface="Arial"/>
                <a:cs typeface="Arial"/>
              </a:rPr>
              <a:t> </a:t>
            </a:r>
            <a:r>
              <a:rPr sz="2400" spc="-5" dirty="0">
                <a:solidFill>
                  <a:srgbClr val="231F20"/>
                </a:solidFill>
                <a:latin typeface="Arial"/>
                <a:cs typeface="Arial"/>
              </a:rPr>
              <a:t>in</a:t>
            </a:r>
            <a:r>
              <a:rPr sz="2400" dirty="0">
                <a:solidFill>
                  <a:srgbClr val="231F20"/>
                </a:solidFill>
                <a:latin typeface="Arial"/>
                <a:cs typeface="Arial"/>
              </a:rPr>
              <a:t> </a:t>
            </a:r>
            <a:r>
              <a:rPr sz="2400" spc="-5" dirty="0">
                <a:solidFill>
                  <a:srgbClr val="231F20"/>
                </a:solidFill>
                <a:latin typeface="Arial"/>
                <a:cs typeface="Arial"/>
              </a:rPr>
              <a:t>programming</a:t>
            </a:r>
            <a:r>
              <a:rPr sz="2400" spc="5" dirty="0">
                <a:solidFill>
                  <a:srgbClr val="231F20"/>
                </a:solidFill>
                <a:latin typeface="Arial"/>
                <a:cs typeface="Arial"/>
              </a:rPr>
              <a:t> </a:t>
            </a:r>
            <a:r>
              <a:rPr sz="2400" spc="-5" dirty="0">
                <a:solidFill>
                  <a:srgbClr val="231F20"/>
                </a:solidFill>
                <a:latin typeface="Arial"/>
                <a:cs typeface="Arial"/>
              </a:rPr>
              <a:t>is</a:t>
            </a:r>
            <a:r>
              <a:rPr sz="2400" dirty="0">
                <a:solidFill>
                  <a:srgbClr val="231F20"/>
                </a:solidFill>
                <a:latin typeface="Arial"/>
                <a:cs typeface="Arial"/>
              </a:rPr>
              <a:t> </a:t>
            </a:r>
            <a:r>
              <a:rPr sz="2400" spc="-5" dirty="0">
                <a:solidFill>
                  <a:srgbClr val="231F20"/>
                </a:solidFill>
                <a:latin typeface="Arial"/>
                <a:cs typeface="Arial"/>
              </a:rPr>
              <a:t>how </a:t>
            </a:r>
            <a:r>
              <a:rPr sz="2400" spc="-650" dirty="0">
                <a:solidFill>
                  <a:srgbClr val="231F20"/>
                </a:solidFill>
                <a:latin typeface="Arial"/>
                <a:cs typeface="Arial"/>
              </a:rPr>
              <a:t> </a:t>
            </a:r>
            <a:r>
              <a:rPr sz="2400" dirty="0">
                <a:solidFill>
                  <a:srgbClr val="231F20"/>
                </a:solidFill>
                <a:latin typeface="Arial"/>
                <a:cs typeface="Arial"/>
              </a:rPr>
              <a:t>to</a:t>
            </a:r>
            <a:r>
              <a:rPr sz="2400" spc="-5" dirty="0">
                <a:solidFill>
                  <a:srgbClr val="231F20"/>
                </a:solidFill>
                <a:latin typeface="Arial"/>
                <a:cs typeface="Arial"/>
              </a:rPr>
              <a:t> </a:t>
            </a:r>
            <a:r>
              <a:rPr sz="2400" dirty="0">
                <a:solidFill>
                  <a:srgbClr val="231F20"/>
                </a:solidFill>
                <a:latin typeface="Arial"/>
                <a:cs typeface="Arial"/>
              </a:rPr>
              <a:t>represent </a:t>
            </a:r>
            <a:r>
              <a:rPr sz="2400" spc="-5" dirty="0">
                <a:solidFill>
                  <a:srgbClr val="231F20"/>
                </a:solidFill>
                <a:latin typeface="Arial"/>
                <a:cs typeface="Arial"/>
              </a:rPr>
              <a:t>data</a:t>
            </a:r>
            <a:r>
              <a:rPr sz="2400" spc="-10" dirty="0">
                <a:solidFill>
                  <a:srgbClr val="231F20"/>
                </a:solidFill>
                <a:latin typeface="Arial"/>
                <a:cs typeface="Arial"/>
              </a:rPr>
              <a:t> </a:t>
            </a:r>
            <a:r>
              <a:rPr sz="2400" spc="-5" dirty="0">
                <a:solidFill>
                  <a:srgbClr val="231F20"/>
                </a:solidFill>
                <a:latin typeface="Arial"/>
                <a:cs typeface="Arial"/>
              </a:rPr>
              <a:t>in our</a:t>
            </a:r>
            <a:r>
              <a:rPr sz="2400" spc="-10" dirty="0">
                <a:solidFill>
                  <a:srgbClr val="231F20"/>
                </a:solidFill>
                <a:latin typeface="Arial"/>
                <a:cs typeface="Arial"/>
              </a:rPr>
              <a:t> </a:t>
            </a:r>
            <a:r>
              <a:rPr sz="2400" dirty="0">
                <a:solidFill>
                  <a:srgbClr val="231F20"/>
                </a:solidFill>
                <a:latin typeface="Arial"/>
                <a:cs typeface="Arial"/>
              </a:rPr>
              <a:t>code.</a:t>
            </a:r>
            <a:endParaRPr sz="2400">
              <a:latin typeface="Arial"/>
              <a:cs typeface="Arial"/>
            </a:endParaRPr>
          </a:p>
          <a:p>
            <a:pPr>
              <a:lnSpc>
                <a:spcPct val="100000"/>
              </a:lnSpc>
              <a:spcBef>
                <a:spcPts val="5"/>
              </a:spcBef>
            </a:pPr>
            <a:endParaRPr sz="2500">
              <a:latin typeface="Arial"/>
              <a:cs typeface="Arial"/>
            </a:endParaRPr>
          </a:p>
          <a:p>
            <a:pPr marL="12700" marR="593725">
              <a:lnSpc>
                <a:spcPct val="100000"/>
              </a:lnSpc>
            </a:pPr>
            <a:r>
              <a:rPr sz="2400" dirty="0">
                <a:solidFill>
                  <a:srgbClr val="231F20"/>
                </a:solidFill>
                <a:latin typeface="Arial"/>
                <a:cs typeface="Arial"/>
              </a:rPr>
              <a:t>When </a:t>
            </a:r>
            <a:r>
              <a:rPr sz="2400" spc="-5" dirty="0">
                <a:solidFill>
                  <a:srgbClr val="231F20"/>
                </a:solidFill>
                <a:latin typeface="Arial"/>
                <a:cs typeface="Arial"/>
              </a:rPr>
              <a:t>working with </a:t>
            </a:r>
            <a:r>
              <a:rPr sz="2400" dirty="0">
                <a:solidFill>
                  <a:srgbClr val="231F20"/>
                </a:solidFill>
                <a:latin typeface="Arial"/>
                <a:cs typeface="Arial"/>
              </a:rPr>
              <a:t>simple </a:t>
            </a:r>
            <a:r>
              <a:rPr sz="2400" spc="-5" dirty="0">
                <a:solidFill>
                  <a:srgbClr val="231F20"/>
                </a:solidFill>
                <a:latin typeface="Arial"/>
                <a:cs typeface="Arial"/>
              </a:rPr>
              <a:t>data, </a:t>
            </a:r>
            <a:r>
              <a:rPr sz="2400" dirty="0">
                <a:solidFill>
                  <a:srgbClr val="231F20"/>
                </a:solidFill>
                <a:latin typeface="Arial"/>
                <a:cs typeface="Arial"/>
              </a:rPr>
              <a:t>this </a:t>
            </a:r>
            <a:r>
              <a:rPr sz="2400" spc="-5" dirty="0">
                <a:solidFill>
                  <a:srgbClr val="231F20"/>
                </a:solidFill>
                <a:latin typeface="Arial"/>
                <a:cs typeface="Arial"/>
              </a:rPr>
              <a:t>is easy </a:t>
            </a:r>
            <a:r>
              <a:rPr sz="2400" spc="-655" dirty="0">
                <a:solidFill>
                  <a:srgbClr val="231F20"/>
                </a:solidFill>
                <a:latin typeface="Arial"/>
                <a:cs typeface="Arial"/>
              </a:rPr>
              <a:t> </a:t>
            </a:r>
            <a:r>
              <a:rPr sz="2400" spc="-5" dirty="0">
                <a:solidFill>
                  <a:srgbClr val="231F20"/>
                </a:solidFill>
                <a:latin typeface="Arial"/>
                <a:cs typeface="Arial"/>
              </a:rPr>
              <a:t>eg.</a:t>
            </a:r>
            <a:r>
              <a:rPr sz="2400" spc="-15" dirty="0">
                <a:solidFill>
                  <a:srgbClr val="231F20"/>
                </a:solidFill>
                <a:latin typeface="Arial"/>
                <a:cs typeface="Arial"/>
              </a:rPr>
              <a:t> </a:t>
            </a:r>
            <a:r>
              <a:rPr sz="2400" spc="-25" dirty="0">
                <a:solidFill>
                  <a:srgbClr val="231F20"/>
                </a:solidFill>
                <a:latin typeface="Arial"/>
                <a:cs typeface="Arial"/>
              </a:rPr>
              <a:t>number,</a:t>
            </a:r>
            <a:r>
              <a:rPr sz="2400" spc="-5" dirty="0">
                <a:solidFill>
                  <a:srgbClr val="231F20"/>
                </a:solidFill>
                <a:latin typeface="Arial"/>
                <a:cs typeface="Arial"/>
              </a:rPr>
              <a:t> </a:t>
            </a:r>
            <a:r>
              <a:rPr sz="2400" dirty="0">
                <a:solidFill>
                  <a:srgbClr val="231F20"/>
                </a:solidFill>
                <a:latin typeface="Arial"/>
                <a:cs typeface="Arial"/>
              </a:rPr>
              <a:t>string,</a:t>
            </a:r>
            <a:r>
              <a:rPr sz="2400" spc="-5" dirty="0">
                <a:solidFill>
                  <a:srgbClr val="231F20"/>
                </a:solidFill>
                <a:latin typeface="Arial"/>
                <a:cs typeface="Arial"/>
              </a:rPr>
              <a:t> or</a:t>
            </a:r>
            <a:r>
              <a:rPr sz="2400" spc="-10" dirty="0">
                <a:solidFill>
                  <a:srgbClr val="231F20"/>
                </a:solidFill>
                <a:latin typeface="Arial"/>
                <a:cs typeface="Arial"/>
              </a:rPr>
              <a:t> </a:t>
            </a:r>
            <a:r>
              <a:rPr sz="2400" spc="-5" dirty="0">
                <a:solidFill>
                  <a:srgbClr val="231F20"/>
                </a:solidFill>
                <a:latin typeface="Arial"/>
                <a:cs typeface="Arial"/>
              </a:rPr>
              <a:t>even</a:t>
            </a:r>
            <a:r>
              <a:rPr sz="2400" spc="-10" dirty="0">
                <a:solidFill>
                  <a:srgbClr val="231F20"/>
                </a:solidFill>
                <a:latin typeface="Arial"/>
                <a:cs typeface="Arial"/>
              </a:rPr>
              <a:t> </a:t>
            </a:r>
            <a:r>
              <a:rPr sz="2400" dirty="0">
                <a:solidFill>
                  <a:srgbClr val="231F20"/>
                </a:solidFill>
                <a:latin typeface="Arial"/>
                <a:cs typeface="Arial"/>
              </a:rPr>
              <a:t>a</a:t>
            </a:r>
            <a:r>
              <a:rPr sz="2400" spc="-10" dirty="0">
                <a:solidFill>
                  <a:srgbClr val="231F20"/>
                </a:solidFill>
                <a:latin typeface="Arial"/>
                <a:cs typeface="Arial"/>
              </a:rPr>
              <a:t> </a:t>
            </a:r>
            <a:r>
              <a:rPr sz="2400" spc="-5" dirty="0">
                <a:solidFill>
                  <a:srgbClr val="231F20"/>
                </a:solidFill>
                <a:latin typeface="Arial"/>
                <a:cs typeface="Arial"/>
              </a:rPr>
              <a:t>list</a:t>
            </a:r>
            <a:r>
              <a:rPr sz="2400" spc="-10" dirty="0">
                <a:solidFill>
                  <a:srgbClr val="231F20"/>
                </a:solidFill>
                <a:latin typeface="Arial"/>
                <a:cs typeface="Arial"/>
              </a:rPr>
              <a:t> </a:t>
            </a:r>
            <a:r>
              <a:rPr sz="2400" spc="-5" dirty="0">
                <a:solidFill>
                  <a:srgbClr val="231F20"/>
                </a:solidFill>
                <a:latin typeface="Arial"/>
                <a:cs typeface="Arial"/>
              </a:rPr>
              <a:t>of</a:t>
            </a:r>
            <a:r>
              <a:rPr sz="2400" spc="-10" dirty="0">
                <a:solidFill>
                  <a:srgbClr val="231F20"/>
                </a:solidFill>
                <a:latin typeface="Arial"/>
                <a:cs typeface="Arial"/>
              </a:rPr>
              <a:t> </a:t>
            </a:r>
            <a:r>
              <a:rPr sz="2400" dirty="0">
                <a:solidFill>
                  <a:srgbClr val="231F20"/>
                </a:solidFill>
                <a:latin typeface="Arial"/>
                <a:cs typeface="Arial"/>
              </a:rPr>
              <a:t>things</a:t>
            </a:r>
            <a:endParaRPr sz="2400">
              <a:latin typeface="Arial"/>
              <a:cs typeface="Arial"/>
            </a:endParaRPr>
          </a:p>
          <a:p>
            <a:pPr>
              <a:lnSpc>
                <a:spcPct val="100000"/>
              </a:lnSpc>
              <a:spcBef>
                <a:spcPts val="5"/>
              </a:spcBef>
            </a:pPr>
            <a:endParaRPr sz="2500">
              <a:latin typeface="Arial"/>
              <a:cs typeface="Arial"/>
            </a:endParaRPr>
          </a:p>
          <a:p>
            <a:pPr marL="12700" marR="5080">
              <a:lnSpc>
                <a:spcPct val="100000"/>
              </a:lnSpc>
            </a:pPr>
            <a:r>
              <a:rPr sz="2400" dirty="0">
                <a:solidFill>
                  <a:srgbClr val="231F20"/>
                </a:solidFill>
                <a:latin typeface="Arial"/>
                <a:cs typeface="Arial"/>
              </a:rPr>
              <a:t>But</a:t>
            </a:r>
            <a:r>
              <a:rPr sz="2400" spc="-200" dirty="0">
                <a:solidFill>
                  <a:srgbClr val="231F20"/>
                </a:solidFill>
                <a:latin typeface="Arial"/>
                <a:cs typeface="Arial"/>
              </a:rPr>
              <a:t> </a:t>
            </a:r>
            <a:r>
              <a:rPr sz="2400" spc="-5" dirty="0">
                <a:solidFill>
                  <a:srgbClr val="231F20"/>
                </a:solidFill>
                <a:latin typeface="Arial"/>
                <a:cs typeface="Arial"/>
              </a:rPr>
              <a:t>w</a:t>
            </a:r>
            <a:r>
              <a:rPr sz="2400" dirty="0">
                <a:solidFill>
                  <a:srgbClr val="231F20"/>
                </a:solidFill>
                <a:latin typeface="Arial"/>
                <a:cs typeface="Arial"/>
              </a:rPr>
              <a:t>e</a:t>
            </a:r>
            <a:r>
              <a:rPr sz="2400" spc="-200" dirty="0">
                <a:solidFill>
                  <a:srgbClr val="231F20"/>
                </a:solidFill>
                <a:latin typeface="Arial"/>
                <a:cs typeface="Arial"/>
              </a:rPr>
              <a:t> </a:t>
            </a:r>
            <a:r>
              <a:rPr sz="2400" dirty="0">
                <a:solidFill>
                  <a:srgbClr val="231F20"/>
                </a:solidFill>
                <a:latin typeface="Arial"/>
                <a:cs typeface="Arial"/>
              </a:rPr>
              <a:t>the</a:t>
            </a:r>
            <a:r>
              <a:rPr sz="2400" spc="-200" dirty="0">
                <a:solidFill>
                  <a:srgbClr val="231F20"/>
                </a:solidFill>
                <a:latin typeface="Arial"/>
                <a:cs typeface="Arial"/>
              </a:rPr>
              <a:t> </a:t>
            </a:r>
            <a:r>
              <a:rPr sz="2400" spc="-5" dirty="0">
                <a:solidFill>
                  <a:srgbClr val="231F20"/>
                </a:solidFill>
                <a:latin typeface="Arial"/>
                <a:cs typeface="Arial"/>
              </a:rPr>
              <a:t>progra</a:t>
            </a:r>
            <a:r>
              <a:rPr sz="2400" dirty="0">
                <a:solidFill>
                  <a:srgbClr val="231F20"/>
                </a:solidFill>
                <a:latin typeface="Arial"/>
                <a:cs typeface="Arial"/>
              </a:rPr>
              <a:t>m</a:t>
            </a:r>
            <a:r>
              <a:rPr sz="2400" spc="-200" dirty="0">
                <a:solidFill>
                  <a:srgbClr val="231F20"/>
                </a:solidFill>
                <a:latin typeface="Arial"/>
                <a:cs typeface="Arial"/>
              </a:rPr>
              <a:t> </a:t>
            </a:r>
            <a:r>
              <a:rPr sz="2400" spc="-5" dirty="0">
                <a:solidFill>
                  <a:srgbClr val="231F20"/>
                </a:solidFill>
                <a:latin typeface="Arial"/>
                <a:cs typeface="Arial"/>
              </a:rPr>
              <a:t>becom</a:t>
            </a:r>
            <a:r>
              <a:rPr sz="2400" dirty="0">
                <a:solidFill>
                  <a:srgbClr val="231F20"/>
                </a:solidFill>
                <a:latin typeface="Arial"/>
                <a:cs typeface="Arial"/>
              </a:rPr>
              <a:t>e</a:t>
            </a:r>
            <a:r>
              <a:rPr sz="2400" spc="-200" dirty="0">
                <a:solidFill>
                  <a:srgbClr val="231F20"/>
                </a:solidFill>
                <a:latin typeface="Arial"/>
                <a:cs typeface="Arial"/>
              </a:rPr>
              <a:t> </a:t>
            </a:r>
            <a:r>
              <a:rPr sz="2400" dirty="0">
                <a:solidFill>
                  <a:srgbClr val="231F20"/>
                </a:solidFill>
                <a:latin typeface="Arial"/>
                <a:cs typeface="Arial"/>
              </a:rPr>
              <a:t>complex,</a:t>
            </a:r>
            <a:r>
              <a:rPr sz="2400" spc="-200" dirty="0">
                <a:solidFill>
                  <a:srgbClr val="231F20"/>
                </a:solidFill>
                <a:latin typeface="Arial"/>
                <a:cs typeface="Arial"/>
              </a:rPr>
              <a:t> </a:t>
            </a:r>
            <a:r>
              <a:rPr sz="2400" spc="-5" dirty="0">
                <a:solidFill>
                  <a:srgbClr val="231F20"/>
                </a:solidFill>
                <a:latin typeface="Arial"/>
                <a:cs typeface="Arial"/>
              </a:rPr>
              <a:t>i</a:t>
            </a:r>
            <a:r>
              <a:rPr sz="2400" dirty="0">
                <a:solidFill>
                  <a:srgbClr val="231F20"/>
                </a:solidFill>
                <a:latin typeface="Arial"/>
                <a:cs typeface="Arial"/>
              </a:rPr>
              <a:t>t</a:t>
            </a:r>
            <a:r>
              <a:rPr sz="2400" spc="-200" dirty="0">
                <a:solidFill>
                  <a:srgbClr val="231F20"/>
                </a:solidFill>
                <a:latin typeface="Arial"/>
                <a:cs typeface="Arial"/>
              </a:rPr>
              <a:t> </a:t>
            </a:r>
            <a:r>
              <a:rPr sz="2400" spc="-5" dirty="0">
                <a:solidFill>
                  <a:srgbClr val="231F20"/>
                </a:solidFill>
                <a:latin typeface="Arial"/>
                <a:cs typeface="Arial"/>
              </a:rPr>
              <a:t>i</a:t>
            </a:r>
            <a:r>
              <a:rPr sz="2400" dirty="0">
                <a:solidFill>
                  <a:srgbClr val="231F20"/>
                </a:solidFill>
                <a:latin typeface="Arial"/>
                <a:cs typeface="Arial"/>
              </a:rPr>
              <a:t>s</a:t>
            </a:r>
            <a:r>
              <a:rPr sz="2400" spc="-200" dirty="0">
                <a:solidFill>
                  <a:srgbClr val="231F20"/>
                </a:solidFill>
                <a:latin typeface="Arial"/>
                <a:cs typeface="Arial"/>
              </a:rPr>
              <a:t> </a:t>
            </a:r>
            <a:r>
              <a:rPr sz="2400" dirty="0">
                <a:solidFill>
                  <a:srgbClr val="231F20"/>
                </a:solidFill>
                <a:latin typeface="Arial"/>
                <a:cs typeface="Arial"/>
              </a:rPr>
              <a:t>a</a:t>
            </a:r>
            <a:r>
              <a:rPr sz="2400" spc="-200" dirty="0">
                <a:solidFill>
                  <a:srgbClr val="231F20"/>
                </a:solidFill>
                <a:latin typeface="Arial"/>
                <a:cs typeface="Arial"/>
              </a:rPr>
              <a:t> </a:t>
            </a:r>
            <a:r>
              <a:rPr sz="2400" spc="-5" dirty="0">
                <a:solidFill>
                  <a:srgbClr val="231F20"/>
                </a:solidFill>
                <a:latin typeface="Arial"/>
                <a:cs typeface="Arial"/>
              </a:rPr>
              <a:t>good  idea</a:t>
            </a:r>
            <a:r>
              <a:rPr sz="2400" spc="-10" dirty="0">
                <a:solidFill>
                  <a:srgbClr val="231F20"/>
                </a:solidFill>
                <a:latin typeface="Arial"/>
                <a:cs typeface="Arial"/>
              </a:rPr>
              <a:t> </a:t>
            </a:r>
            <a:r>
              <a:rPr sz="2400" dirty="0">
                <a:solidFill>
                  <a:srgbClr val="231F20"/>
                </a:solidFill>
                <a:latin typeface="Arial"/>
                <a:cs typeface="Arial"/>
              </a:rPr>
              <a:t>to</a:t>
            </a:r>
            <a:r>
              <a:rPr sz="2400" spc="-5" dirty="0">
                <a:solidFill>
                  <a:srgbClr val="231F20"/>
                </a:solidFill>
                <a:latin typeface="Arial"/>
                <a:cs typeface="Arial"/>
              </a:rPr>
              <a:t> group</a:t>
            </a:r>
            <a:r>
              <a:rPr sz="2400" spc="-10" dirty="0">
                <a:solidFill>
                  <a:srgbClr val="231F20"/>
                </a:solidFill>
                <a:latin typeface="Arial"/>
                <a:cs typeface="Arial"/>
              </a:rPr>
              <a:t> </a:t>
            </a:r>
            <a:r>
              <a:rPr sz="2400" dirty="0">
                <a:solidFill>
                  <a:srgbClr val="231F20"/>
                </a:solidFill>
                <a:latin typeface="Arial"/>
                <a:cs typeface="Arial"/>
              </a:rPr>
              <a:t>things </a:t>
            </a:r>
            <a:r>
              <a:rPr sz="2400" spc="-5" dirty="0">
                <a:solidFill>
                  <a:srgbClr val="231F20"/>
                </a:solidFill>
                <a:latin typeface="Arial"/>
                <a:cs typeface="Arial"/>
              </a:rPr>
              <a:t>into</a:t>
            </a:r>
            <a:r>
              <a:rPr sz="2400" spc="-10" dirty="0">
                <a:solidFill>
                  <a:srgbClr val="231F20"/>
                </a:solidFill>
                <a:latin typeface="Arial"/>
                <a:cs typeface="Arial"/>
              </a:rPr>
              <a:t> </a:t>
            </a:r>
            <a:r>
              <a:rPr sz="2400" spc="-5" dirty="0">
                <a:solidFill>
                  <a:srgbClr val="231F20"/>
                </a:solidFill>
                <a:latin typeface="Arial"/>
                <a:cs typeface="Arial"/>
              </a:rPr>
              <a:t>logical</a:t>
            </a:r>
            <a:r>
              <a:rPr sz="2400" spc="-10" dirty="0">
                <a:solidFill>
                  <a:srgbClr val="231F20"/>
                </a:solidFill>
                <a:latin typeface="Arial"/>
                <a:cs typeface="Arial"/>
              </a:rPr>
              <a:t> </a:t>
            </a:r>
            <a:r>
              <a:rPr sz="2400" spc="-5" dirty="0">
                <a:solidFill>
                  <a:srgbClr val="231F20"/>
                </a:solidFill>
                <a:latin typeface="Arial"/>
                <a:cs typeface="Arial"/>
              </a:rPr>
              <a:t>units.</a:t>
            </a:r>
            <a:endParaRPr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21</a:t>
            </a:fld>
            <a:endParaRPr dirty="0"/>
          </a:p>
        </p:txBody>
      </p:sp>
      <p:sp>
        <p:nvSpPr>
          <p:cNvPr id="3" name="object 3"/>
          <p:cNvSpPr txBox="1">
            <a:spLocks noGrp="1"/>
          </p:cNvSpPr>
          <p:nvPr>
            <p:ph type="title"/>
          </p:nvPr>
        </p:nvSpPr>
        <p:spPr>
          <a:xfrm>
            <a:off x="972819" y="933624"/>
            <a:ext cx="2325370" cy="574040"/>
          </a:xfrm>
          <a:prstGeom prst="rect">
            <a:avLst/>
          </a:prstGeom>
        </p:spPr>
        <p:txBody>
          <a:bodyPr vert="horz" wrap="square" lIns="0" tIns="12700" rIns="0" bIns="0" rtlCol="0">
            <a:spAutoFit/>
          </a:bodyPr>
          <a:lstStyle/>
          <a:p>
            <a:pPr marL="12700">
              <a:lnSpc>
                <a:spcPct val="100000"/>
              </a:lnSpc>
              <a:spcBef>
                <a:spcPts val="100"/>
              </a:spcBef>
            </a:pPr>
            <a:r>
              <a:rPr dirty="0"/>
              <a:t>A</a:t>
            </a:r>
            <a:r>
              <a:rPr spc="35" dirty="0"/>
              <a:t>ttributes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E97C5-CFC7-024C-84CC-208B6682F819}"/>
              </a:ext>
            </a:extLst>
          </p:cNvPr>
          <p:cNvSpPr>
            <a:spLocks noGrp="1"/>
          </p:cNvSpPr>
          <p:nvPr>
            <p:ph type="title"/>
          </p:nvPr>
        </p:nvSpPr>
        <p:spPr/>
        <p:txBody>
          <a:bodyPr/>
          <a:lstStyle/>
          <a:p>
            <a:r>
              <a:rPr lang="en-US" dirty="0"/>
              <a:t>In-Class Practice</a:t>
            </a:r>
          </a:p>
        </p:txBody>
      </p:sp>
      <p:sp>
        <p:nvSpPr>
          <p:cNvPr id="5" name="TextBox 4">
            <a:extLst>
              <a:ext uri="{FF2B5EF4-FFF2-40B4-BE49-F238E27FC236}">
                <a16:creationId xmlns:a16="http://schemas.microsoft.com/office/drawing/2014/main" id="{B07BC2DD-52C7-7440-99F0-9E1A8EE5769C}"/>
              </a:ext>
            </a:extLst>
          </p:cNvPr>
          <p:cNvSpPr txBox="1"/>
          <p:nvPr/>
        </p:nvSpPr>
        <p:spPr>
          <a:xfrm>
            <a:off x="1066800" y="1952636"/>
            <a:ext cx="7590492" cy="1446550"/>
          </a:xfrm>
          <a:prstGeom prst="rect">
            <a:avLst/>
          </a:prstGeom>
          <a:noFill/>
        </p:spPr>
        <p:txBody>
          <a:bodyPr wrap="square" rtlCol="0">
            <a:spAutoFit/>
          </a:bodyPr>
          <a:lstStyle/>
          <a:p>
            <a:r>
              <a:rPr lang="en-US" sz="2200" dirty="0">
                <a:latin typeface="Arial" panose="020B0604020202020204" pitchFamily="34" charset="0"/>
                <a:cs typeface="Arial" panose="020B0604020202020204" pitchFamily="34" charset="0"/>
              </a:rPr>
              <a:t>(1). Define a class </a:t>
            </a:r>
            <a:r>
              <a:rPr lang="en-US" sz="2200" dirty="0">
                <a:solidFill>
                  <a:schemeClr val="accent6"/>
                </a:solidFill>
                <a:latin typeface="Arial" panose="020B0604020202020204" pitchFamily="34" charset="0"/>
                <a:cs typeface="Arial" panose="020B0604020202020204" pitchFamily="34" charset="0"/>
              </a:rPr>
              <a:t>Customer</a:t>
            </a:r>
          </a:p>
          <a:p>
            <a:r>
              <a:rPr lang="en-US" sz="2200" dirty="0">
                <a:latin typeface="Arial" panose="020B0604020202020204" pitchFamily="34" charset="0"/>
                <a:cs typeface="Arial" panose="020B0604020202020204" pitchFamily="34" charset="0"/>
              </a:rPr>
              <a:t>The Customer class has two </a:t>
            </a:r>
            <a:r>
              <a:rPr lang="en-US" sz="2200" u="sng" dirty="0">
                <a:latin typeface="Arial" panose="020B0604020202020204" pitchFamily="34" charset="0"/>
                <a:cs typeface="Arial" panose="020B0604020202020204" pitchFamily="34" charset="0"/>
              </a:rPr>
              <a:t>attributes</a:t>
            </a:r>
            <a:r>
              <a:rPr lang="en-US" sz="2200" dirty="0">
                <a:latin typeface="Arial" panose="020B0604020202020204" pitchFamily="34" charset="0"/>
                <a:cs typeface="Arial" panose="020B0604020202020204" pitchFamily="34" charset="0"/>
              </a:rPr>
              <a:t>:</a:t>
            </a:r>
          </a:p>
          <a:p>
            <a:pPr lvl="1"/>
            <a:r>
              <a:rPr lang="en-US" sz="2200" dirty="0">
                <a:latin typeface="Arial" panose="020B0604020202020204" pitchFamily="34" charset="0"/>
                <a:cs typeface="Arial" panose="020B0604020202020204" pitchFamily="34" charset="0"/>
              </a:rPr>
              <a:t>"</a:t>
            </a:r>
            <a:r>
              <a:rPr lang="en-US" sz="2200" dirty="0">
                <a:solidFill>
                  <a:schemeClr val="accent6"/>
                </a:solidFill>
                <a:latin typeface="Arial" panose="020B0604020202020204" pitchFamily="34" charset="0"/>
                <a:cs typeface="Arial" panose="020B0604020202020204" pitchFamily="34" charset="0"/>
              </a:rPr>
              <a:t>name</a:t>
            </a:r>
            <a:r>
              <a:rPr lang="en-US" sz="2200" dirty="0">
                <a:latin typeface="Arial" panose="020B0604020202020204" pitchFamily="34" charset="0"/>
                <a:cs typeface="Arial" panose="020B0604020202020204" pitchFamily="34" charset="0"/>
              </a:rPr>
              <a:t>" </a:t>
            </a:r>
          </a:p>
          <a:p>
            <a:pPr lvl="1"/>
            <a:r>
              <a:rPr lang="en-US" sz="2200" dirty="0">
                <a:latin typeface="Arial" panose="020B0604020202020204" pitchFamily="34" charset="0"/>
                <a:cs typeface="Arial" panose="020B0604020202020204" pitchFamily="34" charset="0"/>
              </a:rPr>
              <a:t>"</a:t>
            </a:r>
            <a:r>
              <a:rPr lang="en-US" sz="2200" dirty="0" err="1">
                <a:solidFill>
                  <a:schemeClr val="accent6"/>
                </a:solidFill>
                <a:latin typeface="Arial" panose="020B0604020202020204" pitchFamily="34" charset="0"/>
                <a:cs typeface="Arial" panose="020B0604020202020204" pitchFamily="34" charset="0"/>
              </a:rPr>
              <a:t>membership_type</a:t>
            </a:r>
            <a:r>
              <a:rPr lang="en-US" sz="2200" dirty="0">
                <a:latin typeface="Arial" panose="020B0604020202020204" pitchFamily="34" charset="0"/>
                <a:cs typeface="Arial" panose="020B0604020202020204" pitchFamily="34" charset="0"/>
              </a:rPr>
              <a:t>"</a:t>
            </a:r>
          </a:p>
        </p:txBody>
      </p:sp>
      <p:sp>
        <p:nvSpPr>
          <p:cNvPr id="7" name="TextBox 6">
            <a:extLst>
              <a:ext uri="{FF2B5EF4-FFF2-40B4-BE49-F238E27FC236}">
                <a16:creationId xmlns:a16="http://schemas.microsoft.com/office/drawing/2014/main" id="{5AE89B94-D7D4-0A4F-8BD4-527E2CDC4125}"/>
              </a:ext>
            </a:extLst>
          </p:cNvPr>
          <p:cNvSpPr txBox="1"/>
          <p:nvPr/>
        </p:nvSpPr>
        <p:spPr>
          <a:xfrm>
            <a:off x="1066800" y="3657600"/>
            <a:ext cx="7590492" cy="1446550"/>
          </a:xfrm>
          <a:prstGeom prst="rect">
            <a:avLst/>
          </a:prstGeom>
          <a:noFill/>
        </p:spPr>
        <p:txBody>
          <a:bodyPr wrap="square" rtlCol="0">
            <a:spAutoFit/>
          </a:bodyPr>
          <a:lstStyle/>
          <a:p>
            <a:r>
              <a:rPr lang="en-US" sz="2200" dirty="0">
                <a:latin typeface="Arial" panose="020B0604020202020204" pitchFamily="34" charset="0"/>
                <a:cs typeface="Arial" panose="020B0604020202020204" pitchFamily="34" charset="0"/>
              </a:rPr>
              <a:t>(2). Use the Customer class you just defined to instantiate an object, the object's </a:t>
            </a:r>
          </a:p>
          <a:p>
            <a:r>
              <a:rPr lang="en-US" sz="2200" dirty="0">
                <a:latin typeface="Arial" panose="020B0604020202020204" pitchFamily="34" charset="0"/>
                <a:cs typeface="Arial" panose="020B0604020202020204" pitchFamily="34" charset="0"/>
              </a:rPr>
              <a:t>	</a:t>
            </a:r>
            <a:r>
              <a:rPr lang="en-US" sz="2200" dirty="0">
                <a:solidFill>
                  <a:schemeClr val="accent6"/>
                </a:solidFill>
                <a:latin typeface="Arial" panose="020B0604020202020204" pitchFamily="34" charset="0"/>
                <a:cs typeface="Arial" panose="020B0604020202020204" pitchFamily="34" charset="0"/>
              </a:rPr>
              <a:t>name</a:t>
            </a:r>
            <a:r>
              <a:rPr lang="en-US" sz="2200" dirty="0">
                <a:latin typeface="Arial" panose="020B0604020202020204" pitchFamily="34" charset="0"/>
                <a:cs typeface="Arial" panose="020B0604020202020204" pitchFamily="34" charset="0"/>
              </a:rPr>
              <a:t> is "</a:t>
            </a:r>
            <a:r>
              <a:rPr lang="en-US" sz="2200" dirty="0">
                <a:solidFill>
                  <a:schemeClr val="accent1"/>
                </a:solidFill>
                <a:latin typeface="Arial" panose="020B0604020202020204" pitchFamily="34" charset="0"/>
                <a:cs typeface="Arial" panose="020B0604020202020204" pitchFamily="34" charset="0"/>
              </a:rPr>
              <a:t>Jesse</a:t>
            </a:r>
            <a:r>
              <a:rPr lang="en-US" sz="2200" dirty="0">
                <a:latin typeface="Arial" panose="020B0604020202020204" pitchFamily="34" charset="0"/>
                <a:cs typeface="Arial" panose="020B0604020202020204" pitchFamily="34" charset="0"/>
              </a:rPr>
              <a:t>", </a:t>
            </a:r>
          </a:p>
          <a:p>
            <a:r>
              <a:rPr lang="en-US" sz="2200" dirty="0">
                <a:latin typeface="Arial" panose="020B0604020202020204" pitchFamily="34" charset="0"/>
                <a:cs typeface="Arial" panose="020B0604020202020204" pitchFamily="34" charset="0"/>
              </a:rPr>
              <a:t>	</a:t>
            </a:r>
            <a:r>
              <a:rPr lang="en-US" sz="2200" dirty="0" err="1">
                <a:solidFill>
                  <a:schemeClr val="accent6"/>
                </a:solidFill>
                <a:latin typeface="Arial" panose="020B0604020202020204" pitchFamily="34" charset="0"/>
                <a:cs typeface="Arial" panose="020B0604020202020204" pitchFamily="34" charset="0"/>
              </a:rPr>
              <a:t>membership_type</a:t>
            </a:r>
            <a:r>
              <a:rPr lang="en-US" sz="2200" dirty="0">
                <a:latin typeface="Arial" panose="020B0604020202020204" pitchFamily="34" charset="0"/>
                <a:cs typeface="Arial" panose="020B0604020202020204" pitchFamily="34" charset="0"/>
              </a:rPr>
              <a:t> is "</a:t>
            </a:r>
            <a:r>
              <a:rPr lang="en-US" sz="2200" dirty="0">
                <a:solidFill>
                  <a:schemeClr val="accent1"/>
                </a:solidFill>
                <a:latin typeface="Arial" panose="020B0604020202020204" pitchFamily="34" charset="0"/>
                <a:cs typeface="Arial" panose="020B0604020202020204" pitchFamily="34" charset="0"/>
              </a:rPr>
              <a:t>silver</a:t>
            </a:r>
            <a:r>
              <a:rPr lang="en-US" sz="2200" dirty="0">
                <a:latin typeface="Arial" panose="020B0604020202020204" pitchFamily="34" charset="0"/>
                <a:cs typeface="Arial" panose="020B0604020202020204" pitchFamily="34" charset="0"/>
              </a:rPr>
              <a:t>"</a:t>
            </a:r>
          </a:p>
        </p:txBody>
      </p:sp>
      <p:sp>
        <p:nvSpPr>
          <p:cNvPr id="8" name="TextBox 7">
            <a:extLst>
              <a:ext uri="{FF2B5EF4-FFF2-40B4-BE49-F238E27FC236}">
                <a16:creationId xmlns:a16="http://schemas.microsoft.com/office/drawing/2014/main" id="{1D900B5A-7090-E646-8F2C-C563F719AC0C}"/>
              </a:ext>
            </a:extLst>
          </p:cNvPr>
          <p:cNvSpPr txBox="1"/>
          <p:nvPr/>
        </p:nvSpPr>
        <p:spPr>
          <a:xfrm>
            <a:off x="990600" y="5201101"/>
            <a:ext cx="7590492" cy="1107996"/>
          </a:xfrm>
          <a:prstGeom prst="rect">
            <a:avLst/>
          </a:prstGeom>
          <a:noFill/>
        </p:spPr>
        <p:txBody>
          <a:bodyPr wrap="square" rtlCol="0">
            <a:spAutoFit/>
          </a:bodyPr>
          <a:lstStyle/>
          <a:p>
            <a:r>
              <a:rPr lang="en-US" sz="2200" dirty="0">
                <a:latin typeface="Arial" panose="020B0604020202020204" pitchFamily="34" charset="0"/>
                <a:cs typeface="Arial" panose="020B0604020202020204" pitchFamily="34" charset="0"/>
              </a:rPr>
              <a:t>(3). Access to the attributes of the object you just instantiated, print the sentence below:</a:t>
            </a:r>
          </a:p>
          <a:p>
            <a:r>
              <a:rPr lang="en-US" sz="2200" dirty="0">
                <a:latin typeface="Arial" panose="020B0604020202020204" pitchFamily="34" charset="0"/>
                <a:cs typeface="Arial" panose="020B0604020202020204" pitchFamily="34" charset="0"/>
              </a:rPr>
              <a:t>"</a:t>
            </a:r>
            <a:r>
              <a:rPr lang="en-US" sz="2200" i="1" dirty="0">
                <a:latin typeface="Arial" panose="020B0604020202020204" pitchFamily="34" charset="0"/>
                <a:cs typeface="Arial" panose="020B0604020202020204" pitchFamily="34" charset="0"/>
              </a:rPr>
              <a:t>Our valuable customer Jesse has silver membership</a:t>
            </a:r>
            <a:r>
              <a:rPr lang="en-US" sz="22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567921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82700" y="1821868"/>
            <a:ext cx="6492875" cy="3921586"/>
          </a:xfrm>
          <a:prstGeom prst="rect">
            <a:avLst/>
          </a:prstGeom>
        </p:spPr>
        <p:txBody>
          <a:bodyPr vert="horz" wrap="square" lIns="0" tIns="12700" rIns="0" bIns="0" rtlCol="0">
            <a:spAutoFit/>
          </a:bodyPr>
          <a:lstStyle/>
          <a:p>
            <a:pPr marL="12700" marR="5080">
              <a:lnSpc>
                <a:spcPct val="100000"/>
              </a:lnSpc>
              <a:spcBef>
                <a:spcPts val="100"/>
              </a:spcBef>
            </a:pPr>
            <a:r>
              <a:rPr sz="2400" dirty="0">
                <a:solidFill>
                  <a:schemeClr val="accent6"/>
                </a:solidFill>
                <a:latin typeface="Arial"/>
                <a:cs typeface="Arial"/>
              </a:rPr>
              <a:t>Attributes</a:t>
            </a:r>
            <a:r>
              <a:rPr sz="2400" spc="130" dirty="0">
                <a:solidFill>
                  <a:srgbClr val="231F20"/>
                </a:solidFill>
                <a:latin typeface="Arial"/>
                <a:cs typeface="Arial"/>
              </a:rPr>
              <a:t> </a:t>
            </a:r>
            <a:r>
              <a:rPr sz="2400" spc="-5" dirty="0">
                <a:solidFill>
                  <a:srgbClr val="231F20"/>
                </a:solidFill>
                <a:latin typeface="Arial"/>
                <a:cs typeface="Arial"/>
              </a:rPr>
              <a:t>hold</a:t>
            </a:r>
            <a:r>
              <a:rPr sz="2400" spc="130" dirty="0">
                <a:solidFill>
                  <a:srgbClr val="231F20"/>
                </a:solidFill>
                <a:latin typeface="Arial"/>
                <a:cs typeface="Arial"/>
              </a:rPr>
              <a:t> </a:t>
            </a:r>
            <a:r>
              <a:rPr sz="2400" dirty="0">
                <a:solidFill>
                  <a:srgbClr val="231F20"/>
                </a:solidFill>
                <a:latin typeface="Arial"/>
                <a:cs typeface="Arial"/>
              </a:rPr>
              <a:t>variables</a:t>
            </a:r>
            <a:r>
              <a:rPr sz="2400" spc="135" dirty="0">
                <a:solidFill>
                  <a:srgbClr val="231F20"/>
                </a:solidFill>
                <a:latin typeface="Arial"/>
                <a:cs typeface="Arial"/>
              </a:rPr>
              <a:t> </a:t>
            </a:r>
            <a:r>
              <a:rPr sz="2400" spc="-5" dirty="0">
                <a:solidFill>
                  <a:srgbClr val="231F20"/>
                </a:solidFill>
                <a:latin typeface="Arial"/>
                <a:cs typeface="Arial"/>
              </a:rPr>
              <a:t>and</a:t>
            </a:r>
            <a:r>
              <a:rPr sz="2400" spc="130" dirty="0">
                <a:solidFill>
                  <a:srgbClr val="231F20"/>
                </a:solidFill>
                <a:latin typeface="Arial"/>
                <a:cs typeface="Arial"/>
              </a:rPr>
              <a:t> </a:t>
            </a:r>
            <a:r>
              <a:rPr sz="2400" spc="-5" dirty="0">
                <a:solidFill>
                  <a:srgbClr val="231F20"/>
                </a:solidFill>
                <a:latin typeface="Arial"/>
                <a:cs typeface="Arial"/>
              </a:rPr>
              <a:t>data</a:t>
            </a:r>
            <a:r>
              <a:rPr sz="2400" spc="135" dirty="0">
                <a:solidFill>
                  <a:srgbClr val="231F20"/>
                </a:solidFill>
                <a:latin typeface="Arial"/>
                <a:cs typeface="Arial"/>
              </a:rPr>
              <a:t> </a:t>
            </a:r>
            <a:r>
              <a:rPr sz="2400" dirty="0">
                <a:solidFill>
                  <a:srgbClr val="231F20"/>
                </a:solidFill>
                <a:latin typeface="Arial"/>
                <a:cs typeface="Arial"/>
              </a:rPr>
              <a:t>that</a:t>
            </a:r>
            <a:r>
              <a:rPr sz="2400" spc="135" dirty="0">
                <a:solidFill>
                  <a:srgbClr val="231F20"/>
                </a:solidFill>
                <a:latin typeface="Arial"/>
                <a:cs typeface="Arial"/>
              </a:rPr>
              <a:t> </a:t>
            </a:r>
            <a:r>
              <a:rPr sz="2400" spc="-5" dirty="0">
                <a:solidFill>
                  <a:srgbClr val="231F20"/>
                </a:solidFill>
                <a:latin typeface="Arial"/>
                <a:cs typeface="Arial"/>
              </a:rPr>
              <a:t>describe </a:t>
            </a:r>
            <a:r>
              <a:rPr sz="2400" spc="-650" dirty="0">
                <a:solidFill>
                  <a:srgbClr val="231F20"/>
                </a:solidFill>
                <a:latin typeface="Arial"/>
                <a:cs typeface="Arial"/>
              </a:rPr>
              <a:t> </a:t>
            </a:r>
            <a:r>
              <a:rPr sz="2400" dirty="0">
                <a:solidFill>
                  <a:srgbClr val="231F20"/>
                </a:solidFill>
                <a:latin typeface="Arial"/>
                <a:cs typeface="Arial"/>
              </a:rPr>
              <a:t>the</a:t>
            </a:r>
            <a:r>
              <a:rPr sz="2400" spc="-5" dirty="0">
                <a:solidFill>
                  <a:srgbClr val="231F20"/>
                </a:solidFill>
                <a:latin typeface="Arial"/>
                <a:cs typeface="Arial"/>
              </a:rPr>
              <a:t> object</a:t>
            </a:r>
            <a:endParaRPr sz="2400" dirty="0">
              <a:latin typeface="Arial"/>
              <a:cs typeface="Arial"/>
            </a:endParaRPr>
          </a:p>
          <a:p>
            <a:pPr>
              <a:lnSpc>
                <a:spcPct val="100000"/>
              </a:lnSpc>
              <a:spcBef>
                <a:spcPts val="5"/>
              </a:spcBef>
            </a:pPr>
            <a:endParaRPr sz="2500" dirty="0">
              <a:latin typeface="Arial"/>
              <a:cs typeface="Arial"/>
            </a:endParaRPr>
          </a:p>
          <a:p>
            <a:pPr marL="12700" marR="5080">
              <a:lnSpc>
                <a:spcPct val="100000"/>
              </a:lnSpc>
              <a:tabLst>
                <a:tab pos="982980" algn="l"/>
                <a:tab pos="1613535" algn="l"/>
                <a:tab pos="2211705" algn="l"/>
                <a:tab pos="3079750" algn="l"/>
                <a:tab pos="3507740" algn="l"/>
                <a:tab pos="5069840" algn="l"/>
                <a:tab pos="5582285" algn="l"/>
              </a:tabLst>
            </a:pPr>
            <a:r>
              <a:rPr sz="2400" dirty="0">
                <a:solidFill>
                  <a:srgbClr val="231F20"/>
                </a:solidFill>
                <a:latin typeface="Arial"/>
                <a:cs typeface="Arial"/>
              </a:rPr>
              <a:t>When	call	the	class	to	</a:t>
            </a:r>
            <a:r>
              <a:rPr sz="2400" spc="-5" dirty="0">
                <a:solidFill>
                  <a:srgbClr val="231F20"/>
                </a:solidFill>
                <a:latin typeface="Arial"/>
                <a:cs typeface="Arial"/>
              </a:rPr>
              <a:t>instantiat</a:t>
            </a:r>
            <a:r>
              <a:rPr sz="2400" dirty="0">
                <a:solidFill>
                  <a:srgbClr val="231F20"/>
                </a:solidFill>
                <a:latin typeface="Arial"/>
                <a:cs typeface="Arial"/>
              </a:rPr>
              <a:t>e	</a:t>
            </a:r>
            <a:r>
              <a:rPr sz="2400" spc="-5" dirty="0">
                <a:solidFill>
                  <a:srgbClr val="231F20"/>
                </a:solidFill>
                <a:latin typeface="Arial"/>
                <a:cs typeface="Arial"/>
              </a:rPr>
              <a:t>a</a:t>
            </a:r>
            <a:r>
              <a:rPr sz="2400" dirty="0">
                <a:solidFill>
                  <a:srgbClr val="231F20"/>
                </a:solidFill>
                <a:latin typeface="Arial"/>
                <a:cs typeface="Arial"/>
              </a:rPr>
              <a:t>n	</a:t>
            </a:r>
            <a:r>
              <a:rPr sz="2400" spc="-5" dirty="0">
                <a:solidFill>
                  <a:srgbClr val="231F20"/>
                </a:solidFill>
                <a:latin typeface="Arial"/>
                <a:cs typeface="Arial"/>
              </a:rPr>
              <a:t>object,  </a:t>
            </a:r>
            <a:r>
              <a:rPr sz="2400" dirty="0">
                <a:solidFill>
                  <a:srgbClr val="231F20"/>
                </a:solidFill>
                <a:latin typeface="Arial"/>
                <a:cs typeface="Arial"/>
              </a:rPr>
              <a:t>specify</a:t>
            </a:r>
            <a:r>
              <a:rPr sz="2400" spc="-5" dirty="0">
                <a:solidFill>
                  <a:srgbClr val="231F20"/>
                </a:solidFill>
                <a:latin typeface="Arial"/>
                <a:cs typeface="Arial"/>
              </a:rPr>
              <a:t> arguments</a:t>
            </a:r>
            <a:r>
              <a:rPr sz="2400" spc="-10" dirty="0">
                <a:solidFill>
                  <a:srgbClr val="231F20"/>
                </a:solidFill>
                <a:latin typeface="Arial"/>
                <a:cs typeface="Arial"/>
              </a:rPr>
              <a:t> </a:t>
            </a:r>
            <a:r>
              <a:rPr sz="2400" dirty="0">
                <a:solidFill>
                  <a:srgbClr val="231F20"/>
                </a:solidFill>
                <a:latin typeface="Arial"/>
                <a:cs typeface="Arial"/>
              </a:rPr>
              <a:t>for</a:t>
            </a:r>
            <a:r>
              <a:rPr sz="2400" spc="-5" dirty="0">
                <a:solidFill>
                  <a:srgbClr val="231F20"/>
                </a:solidFill>
                <a:latin typeface="Arial"/>
                <a:cs typeface="Arial"/>
              </a:rPr>
              <a:t> each object</a:t>
            </a:r>
            <a:endParaRPr sz="2400" dirty="0">
              <a:latin typeface="Arial"/>
              <a:cs typeface="Arial"/>
            </a:endParaRPr>
          </a:p>
          <a:p>
            <a:pPr>
              <a:lnSpc>
                <a:spcPct val="100000"/>
              </a:lnSpc>
              <a:spcBef>
                <a:spcPts val="5"/>
              </a:spcBef>
            </a:pPr>
            <a:endParaRPr sz="2500" dirty="0">
              <a:latin typeface="Arial"/>
              <a:cs typeface="Arial"/>
            </a:endParaRPr>
          </a:p>
          <a:p>
            <a:pPr marL="12700">
              <a:lnSpc>
                <a:spcPct val="100000"/>
              </a:lnSpc>
            </a:pPr>
            <a:r>
              <a:rPr sz="3600" dirty="0">
                <a:solidFill>
                  <a:srgbClr val="D40F24"/>
                </a:solidFill>
                <a:latin typeface="Apple Symbols"/>
                <a:cs typeface="Apple Symbols"/>
              </a:rPr>
              <a:t>self</a:t>
            </a:r>
            <a:r>
              <a:rPr sz="3600" spc="-145" dirty="0">
                <a:solidFill>
                  <a:srgbClr val="D40F24"/>
                </a:solidFill>
                <a:latin typeface="Apple Symbols"/>
                <a:cs typeface="Apple Symbols"/>
              </a:rPr>
              <a:t> </a:t>
            </a:r>
            <a:r>
              <a:rPr sz="2400" spc="-5" dirty="0">
                <a:solidFill>
                  <a:srgbClr val="231F20"/>
                </a:solidFill>
                <a:latin typeface="Arial"/>
                <a:cs typeface="Arial"/>
              </a:rPr>
              <a:t>is</a:t>
            </a:r>
            <a:r>
              <a:rPr sz="2400" spc="-15" dirty="0">
                <a:solidFill>
                  <a:srgbClr val="231F20"/>
                </a:solidFill>
                <a:latin typeface="Arial"/>
                <a:cs typeface="Arial"/>
              </a:rPr>
              <a:t> </a:t>
            </a:r>
            <a:r>
              <a:rPr sz="2400" spc="-5" dirty="0">
                <a:solidFill>
                  <a:srgbClr val="231F20"/>
                </a:solidFill>
                <a:latin typeface="Arial"/>
                <a:cs typeface="Arial"/>
              </a:rPr>
              <a:t>used</a:t>
            </a:r>
            <a:r>
              <a:rPr sz="2400" spc="-15" dirty="0">
                <a:solidFill>
                  <a:srgbClr val="231F20"/>
                </a:solidFill>
                <a:latin typeface="Arial"/>
                <a:cs typeface="Arial"/>
              </a:rPr>
              <a:t> </a:t>
            </a:r>
            <a:r>
              <a:rPr sz="2400" dirty="0">
                <a:solidFill>
                  <a:srgbClr val="231F20"/>
                </a:solidFill>
                <a:latin typeface="Arial"/>
                <a:cs typeface="Arial"/>
              </a:rPr>
              <a:t>to</a:t>
            </a:r>
            <a:r>
              <a:rPr sz="2400" spc="-5" dirty="0">
                <a:solidFill>
                  <a:srgbClr val="231F20"/>
                </a:solidFill>
                <a:latin typeface="Arial"/>
                <a:cs typeface="Arial"/>
              </a:rPr>
              <a:t> </a:t>
            </a:r>
            <a:r>
              <a:rPr sz="2400" dirty="0">
                <a:solidFill>
                  <a:srgbClr val="231F20"/>
                </a:solidFill>
                <a:latin typeface="Arial"/>
                <a:cs typeface="Arial"/>
              </a:rPr>
              <a:t>represent</a:t>
            </a:r>
            <a:r>
              <a:rPr sz="2400" spc="-10" dirty="0">
                <a:solidFill>
                  <a:srgbClr val="231F20"/>
                </a:solidFill>
                <a:latin typeface="Arial"/>
                <a:cs typeface="Arial"/>
              </a:rPr>
              <a:t> </a:t>
            </a:r>
            <a:r>
              <a:rPr sz="2400" spc="-5" dirty="0">
                <a:solidFill>
                  <a:srgbClr val="231F20"/>
                </a:solidFill>
                <a:latin typeface="Arial"/>
                <a:cs typeface="Arial"/>
              </a:rPr>
              <a:t>instance</a:t>
            </a:r>
            <a:r>
              <a:rPr sz="2400" spc="-15" dirty="0">
                <a:solidFill>
                  <a:srgbClr val="231F20"/>
                </a:solidFill>
                <a:latin typeface="Arial"/>
                <a:cs typeface="Arial"/>
              </a:rPr>
              <a:t> </a:t>
            </a:r>
            <a:r>
              <a:rPr sz="2400" spc="-5" dirty="0">
                <a:solidFill>
                  <a:srgbClr val="231F20"/>
                </a:solidFill>
                <a:latin typeface="Arial"/>
                <a:cs typeface="Arial"/>
              </a:rPr>
              <a:t>of</a:t>
            </a:r>
            <a:r>
              <a:rPr sz="2400" spc="-15" dirty="0">
                <a:solidFill>
                  <a:srgbClr val="231F20"/>
                </a:solidFill>
                <a:latin typeface="Arial"/>
                <a:cs typeface="Arial"/>
              </a:rPr>
              <a:t> </a:t>
            </a:r>
            <a:r>
              <a:rPr sz="2400" dirty="0">
                <a:solidFill>
                  <a:srgbClr val="231F20"/>
                </a:solidFill>
                <a:latin typeface="Arial"/>
                <a:cs typeface="Arial"/>
              </a:rPr>
              <a:t>the</a:t>
            </a:r>
            <a:r>
              <a:rPr sz="2400" spc="-5" dirty="0">
                <a:solidFill>
                  <a:srgbClr val="231F20"/>
                </a:solidFill>
                <a:latin typeface="Arial"/>
                <a:cs typeface="Arial"/>
              </a:rPr>
              <a:t> </a:t>
            </a:r>
            <a:r>
              <a:rPr sz="2400" dirty="0">
                <a:solidFill>
                  <a:srgbClr val="231F20"/>
                </a:solidFill>
                <a:latin typeface="Arial"/>
                <a:cs typeface="Arial"/>
              </a:rPr>
              <a:t>class</a:t>
            </a:r>
            <a:endParaRPr lang="en-US" sz="2400" dirty="0">
              <a:solidFill>
                <a:srgbClr val="231F20"/>
              </a:solidFill>
              <a:latin typeface="Arial"/>
              <a:cs typeface="Arial"/>
            </a:endParaRPr>
          </a:p>
          <a:p>
            <a:pPr marL="12700">
              <a:lnSpc>
                <a:spcPct val="100000"/>
              </a:lnSpc>
            </a:pPr>
            <a:endParaRPr lang="en-US" sz="2400" dirty="0">
              <a:solidFill>
                <a:srgbClr val="231F20"/>
              </a:solidFill>
              <a:latin typeface="Arial"/>
              <a:cs typeface="Arial"/>
            </a:endParaRPr>
          </a:p>
          <a:p>
            <a:pPr marL="12700">
              <a:lnSpc>
                <a:spcPct val="100000"/>
              </a:lnSpc>
            </a:pPr>
            <a:r>
              <a:rPr lang="en-US" sz="2400" dirty="0">
                <a:solidFill>
                  <a:srgbClr val="231F20"/>
                </a:solidFill>
                <a:latin typeface="Arial"/>
                <a:cs typeface="Arial"/>
              </a:rPr>
              <a:t>It is almost always the first argument when defining a method</a:t>
            </a:r>
            <a:endParaRPr sz="2400" dirty="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23</a:t>
            </a:fld>
            <a:endParaRPr dirty="0"/>
          </a:p>
        </p:txBody>
      </p:sp>
      <p:sp>
        <p:nvSpPr>
          <p:cNvPr id="3" name="object 3"/>
          <p:cNvSpPr txBox="1">
            <a:spLocks noGrp="1"/>
          </p:cNvSpPr>
          <p:nvPr>
            <p:ph type="title"/>
          </p:nvPr>
        </p:nvSpPr>
        <p:spPr>
          <a:xfrm>
            <a:off x="972819" y="933624"/>
            <a:ext cx="6059170" cy="574040"/>
          </a:xfrm>
          <a:prstGeom prst="rect">
            <a:avLst/>
          </a:prstGeom>
        </p:spPr>
        <p:txBody>
          <a:bodyPr vert="horz" wrap="square" lIns="0" tIns="12700" rIns="0" bIns="0" rtlCol="0">
            <a:spAutoFit/>
          </a:bodyPr>
          <a:lstStyle/>
          <a:p>
            <a:pPr marL="12700">
              <a:lnSpc>
                <a:spcPct val="100000"/>
              </a:lnSpc>
              <a:spcBef>
                <a:spcPts val="100"/>
              </a:spcBef>
            </a:pPr>
            <a:r>
              <a:rPr spc="25" dirty="0"/>
              <a:t>Coding</a:t>
            </a:r>
            <a:r>
              <a:rPr spc="30" dirty="0"/>
              <a:t> </a:t>
            </a:r>
            <a:r>
              <a:rPr spc="20" dirty="0"/>
              <a:t>Practice</a:t>
            </a:r>
            <a:r>
              <a:rPr spc="35" dirty="0"/>
              <a:t> Summary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82700" y="1821868"/>
            <a:ext cx="6495415" cy="2951480"/>
          </a:xfrm>
          <a:prstGeom prst="rect">
            <a:avLst/>
          </a:prstGeom>
        </p:spPr>
        <p:txBody>
          <a:bodyPr vert="horz" wrap="square" lIns="0" tIns="12700" rIns="0" bIns="0" rtlCol="0">
            <a:spAutoFit/>
          </a:bodyPr>
          <a:lstStyle/>
          <a:p>
            <a:pPr marL="12700" marR="6985">
              <a:lnSpc>
                <a:spcPct val="100000"/>
              </a:lnSpc>
              <a:spcBef>
                <a:spcPts val="100"/>
              </a:spcBef>
            </a:pPr>
            <a:r>
              <a:rPr sz="2400" dirty="0">
                <a:solidFill>
                  <a:srgbClr val="231F20"/>
                </a:solidFill>
                <a:latin typeface="Arial"/>
                <a:cs typeface="Arial"/>
              </a:rPr>
              <a:t>Attributes</a:t>
            </a:r>
            <a:r>
              <a:rPr sz="2400" spc="170" dirty="0">
                <a:solidFill>
                  <a:srgbClr val="231F20"/>
                </a:solidFill>
                <a:latin typeface="Arial"/>
                <a:cs typeface="Arial"/>
              </a:rPr>
              <a:t> </a:t>
            </a:r>
            <a:r>
              <a:rPr sz="2400" spc="-5" dirty="0">
                <a:solidFill>
                  <a:srgbClr val="231F20"/>
                </a:solidFill>
                <a:latin typeface="Arial"/>
                <a:cs typeface="Arial"/>
              </a:rPr>
              <a:t>provide</a:t>
            </a:r>
            <a:r>
              <a:rPr sz="2400" spc="170" dirty="0">
                <a:solidFill>
                  <a:srgbClr val="231F20"/>
                </a:solidFill>
                <a:latin typeface="Arial"/>
                <a:cs typeface="Arial"/>
              </a:rPr>
              <a:t> </a:t>
            </a:r>
            <a:r>
              <a:rPr sz="2400" dirty="0">
                <a:solidFill>
                  <a:srgbClr val="231F20"/>
                </a:solidFill>
                <a:latin typeface="Arial"/>
                <a:cs typeface="Arial"/>
              </a:rPr>
              <a:t>a</a:t>
            </a:r>
            <a:r>
              <a:rPr sz="2400" spc="170" dirty="0">
                <a:solidFill>
                  <a:srgbClr val="231F20"/>
                </a:solidFill>
                <a:latin typeface="Arial"/>
                <a:cs typeface="Arial"/>
              </a:rPr>
              <a:t> </a:t>
            </a:r>
            <a:r>
              <a:rPr sz="2400" dirty="0">
                <a:solidFill>
                  <a:srgbClr val="231F20"/>
                </a:solidFill>
                <a:latin typeface="Arial"/>
                <a:cs typeface="Arial"/>
              </a:rPr>
              <a:t>structure</a:t>
            </a:r>
            <a:r>
              <a:rPr sz="2400" spc="170" dirty="0">
                <a:solidFill>
                  <a:srgbClr val="231F20"/>
                </a:solidFill>
                <a:latin typeface="Arial"/>
                <a:cs typeface="Arial"/>
              </a:rPr>
              <a:t> </a:t>
            </a:r>
            <a:r>
              <a:rPr sz="2400" dirty="0">
                <a:solidFill>
                  <a:srgbClr val="231F20"/>
                </a:solidFill>
                <a:latin typeface="Arial"/>
                <a:cs typeface="Arial"/>
              </a:rPr>
              <a:t>that</a:t>
            </a:r>
            <a:r>
              <a:rPr sz="2400" spc="175" dirty="0">
                <a:solidFill>
                  <a:srgbClr val="231F20"/>
                </a:solidFill>
                <a:latin typeface="Arial"/>
                <a:cs typeface="Arial"/>
              </a:rPr>
              <a:t> </a:t>
            </a:r>
            <a:r>
              <a:rPr sz="2400" spc="-5" dirty="0">
                <a:solidFill>
                  <a:srgbClr val="231F20"/>
                </a:solidFill>
                <a:latin typeface="Arial"/>
                <a:cs typeface="Arial"/>
              </a:rPr>
              <a:t>we</a:t>
            </a:r>
            <a:r>
              <a:rPr sz="2400" spc="170" dirty="0">
                <a:solidFill>
                  <a:srgbClr val="231F20"/>
                </a:solidFill>
                <a:latin typeface="Arial"/>
                <a:cs typeface="Arial"/>
              </a:rPr>
              <a:t> </a:t>
            </a:r>
            <a:r>
              <a:rPr sz="2400" dirty="0">
                <a:solidFill>
                  <a:srgbClr val="231F20"/>
                </a:solidFill>
                <a:latin typeface="Arial"/>
                <a:cs typeface="Arial"/>
              </a:rPr>
              <a:t>can</a:t>
            </a:r>
            <a:r>
              <a:rPr sz="2400" spc="175" dirty="0">
                <a:solidFill>
                  <a:srgbClr val="231F20"/>
                </a:solidFill>
                <a:latin typeface="Arial"/>
                <a:cs typeface="Arial"/>
              </a:rPr>
              <a:t> </a:t>
            </a:r>
            <a:r>
              <a:rPr sz="2400" dirty="0">
                <a:solidFill>
                  <a:srgbClr val="231F20"/>
                </a:solidFill>
                <a:latin typeface="Arial"/>
                <a:cs typeface="Arial"/>
              </a:rPr>
              <a:t>store </a:t>
            </a:r>
            <a:r>
              <a:rPr sz="2400" spc="-655" dirty="0">
                <a:solidFill>
                  <a:srgbClr val="231F20"/>
                </a:solidFill>
                <a:latin typeface="Arial"/>
                <a:cs typeface="Arial"/>
              </a:rPr>
              <a:t> </a:t>
            </a:r>
            <a:r>
              <a:rPr sz="2400" spc="-5" dirty="0">
                <a:solidFill>
                  <a:srgbClr val="231F20"/>
                </a:solidFill>
                <a:latin typeface="Arial"/>
                <a:cs typeface="Arial"/>
              </a:rPr>
              <a:t>data</a:t>
            </a:r>
            <a:r>
              <a:rPr sz="2400" spc="-10" dirty="0">
                <a:solidFill>
                  <a:srgbClr val="231F20"/>
                </a:solidFill>
                <a:latin typeface="Arial"/>
                <a:cs typeface="Arial"/>
              </a:rPr>
              <a:t> </a:t>
            </a:r>
            <a:r>
              <a:rPr sz="2400" spc="-5" dirty="0">
                <a:solidFill>
                  <a:srgbClr val="231F20"/>
                </a:solidFill>
                <a:latin typeface="Arial"/>
                <a:cs typeface="Arial"/>
              </a:rPr>
              <a:t>and </a:t>
            </a:r>
            <a:r>
              <a:rPr sz="2400" dirty="0">
                <a:solidFill>
                  <a:srgbClr val="231F20"/>
                </a:solidFill>
                <a:latin typeface="Arial"/>
                <a:cs typeface="Arial"/>
              </a:rPr>
              <a:t>values,</a:t>
            </a:r>
            <a:endParaRPr sz="2400">
              <a:latin typeface="Arial"/>
              <a:cs typeface="Arial"/>
            </a:endParaRPr>
          </a:p>
          <a:p>
            <a:pPr>
              <a:lnSpc>
                <a:spcPct val="100000"/>
              </a:lnSpc>
              <a:spcBef>
                <a:spcPts val="5"/>
              </a:spcBef>
            </a:pPr>
            <a:endParaRPr sz="2500">
              <a:latin typeface="Arial"/>
              <a:cs typeface="Arial"/>
            </a:endParaRPr>
          </a:p>
          <a:p>
            <a:pPr marL="12700" marR="5080">
              <a:lnSpc>
                <a:spcPct val="100000"/>
              </a:lnSpc>
            </a:pPr>
            <a:r>
              <a:rPr sz="2400" dirty="0">
                <a:solidFill>
                  <a:srgbClr val="231F20"/>
                </a:solidFill>
                <a:latin typeface="Arial"/>
                <a:cs typeface="Arial"/>
              </a:rPr>
              <a:t>Methods </a:t>
            </a:r>
            <a:r>
              <a:rPr sz="2400" spc="-5" dirty="0">
                <a:solidFill>
                  <a:srgbClr val="231F20"/>
                </a:solidFill>
                <a:latin typeface="Arial"/>
                <a:cs typeface="Arial"/>
              </a:rPr>
              <a:t>provide</a:t>
            </a:r>
            <a:r>
              <a:rPr sz="2400" dirty="0">
                <a:solidFill>
                  <a:srgbClr val="231F20"/>
                </a:solidFill>
                <a:latin typeface="Arial"/>
                <a:cs typeface="Arial"/>
              </a:rPr>
              <a:t> functionalities for the </a:t>
            </a:r>
            <a:r>
              <a:rPr sz="2400" spc="-5" dirty="0">
                <a:solidFill>
                  <a:srgbClr val="231F20"/>
                </a:solidFill>
                <a:latin typeface="Arial"/>
                <a:cs typeface="Arial"/>
              </a:rPr>
              <a:t>object.</a:t>
            </a:r>
            <a:r>
              <a:rPr sz="2400" dirty="0">
                <a:solidFill>
                  <a:srgbClr val="231F20"/>
                </a:solidFill>
                <a:latin typeface="Arial"/>
                <a:cs typeface="Arial"/>
              </a:rPr>
              <a:t> In </a:t>
            </a:r>
            <a:r>
              <a:rPr sz="2400" spc="-650" dirty="0">
                <a:solidFill>
                  <a:srgbClr val="231F20"/>
                </a:solidFill>
                <a:latin typeface="Arial"/>
                <a:cs typeface="Arial"/>
              </a:rPr>
              <a:t> </a:t>
            </a:r>
            <a:r>
              <a:rPr sz="2400" spc="-5" dirty="0">
                <a:solidFill>
                  <a:srgbClr val="231F20"/>
                </a:solidFill>
                <a:latin typeface="Arial"/>
                <a:cs typeface="Arial"/>
              </a:rPr>
              <a:t>our</a:t>
            </a:r>
            <a:r>
              <a:rPr sz="2400" spc="-15" dirty="0">
                <a:solidFill>
                  <a:srgbClr val="231F20"/>
                </a:solidFill>
                <a:latin typeface="Arial"/>
                <a:cs typeface="Arial"/>
              </a:rPr>
              <a:t> </a:t>
            </a:r>
            <a:r>
              <a:rPr sz="2400" spc="-5" dirty="0">
                <a:solidFill>
                  <a:srgbClr val="231F20"/>
                </a:solidFill>
                <a:latin typeface="Arial"/>
                <a:cs typeface="Arial"/>
              </a:rPr>
              <a:t>example,</a:t>
            </a:r>
            <a:r>
              <a:rPr sz="2400" spc="-15" dirty="0">
                <a:solidFill>
                  <a:srgbClr val="231F20"/>
                </a:solidFill>
                <a:latin typeface="Arial"/>
                <a:cs typeface="Arial"/>
              </a:rPr>
              <a:t> </a:t>
            </a:r>
            <a:r>
              <a:rPr sz="2400" spc="-5" dirty="0">
                <a:solidFill>
                  <a:srgbClr val="231F20"/>
                </a:solidFill>
                <a:latin typeface="Arial"/>
                <a:cs typeface="Arial"/>
              </a:rPr>
              <a:t>what</a:t>
            </a:r>
            <a:r>
              <a:rPr sz="2400" spc="-10" dirty="0">
                <a:solidFill>
                  <a:srgbClr val="231F20"/>
                </a:solidFill>
                <a:latin typeface="Arial"/>
                <a:cs typeface="Arial"/>
              </a:rPr>
              <a:t> </a:t>
            </a:r>
            <a:r>
              <a:rPr sz="2400" dirty="0">
                <a:solidFill>
                  <a:srgbClr val="231F20"/>
                </a:solidFill>
                <a:latin typeface="Arial"/>
                <a:cs typeface="Arial"/>
              </a:rPr>
              <a:t>the</a:t>
            </a:r>
            <a:r>
              <a:rPr sz="2400" spc="-10" dirty="0">
                <a:solidFill>
                  <a:srgbClr val="231F20"/>
                </a:solidFill>
                <a:latin typeface="Arial"/>
                <a:cs typeface="Arial"/>
              </a:rPr>
              <a:t> </a:t>
            </a:r>
            <a:r>
              <a:rPr sz="2400" spc="-5" dirty="0">
                <a:solidFill>
                  <a:srgbClr val="231F20"/>
                </a:solidFill>
                <a:latin typeface="Arial"/>
                <a:cs typeface="Arial"/>
              </a:rPr>
              <a:t>economic</a:t>
            </a:r>
            <a:r>
              <a:rPr sz="2400" spc="-15" dirty="0">
                <a:solidFill>
                  <a:srgbClr val="231F20"/>
                </a:solidFill>
                <a:latin typeface="Arial"/>
                <a:cs typeface="Arial"/>
              </a:rPr>
              <a:t> </a:t>
            </a:r>
            <a:r>
              <a:rPr sz="2400" spc="-5" dirty="0">
                <a:solidFill>
                  <a:srgbClr val="231F20"/>
                </a:solidFill>
                <a:latin typeface="Arial"/>
                <a:cs typeface="Arial"/>
              </a:rPr>
              <a:t>agent</a:t>
            </a:r>
            <a:r>
              <a:rPr sz="2400" spc="-10" dirty="0">
                <a:solidFill>
                  <a:srgbClr val="231F20"/>
                </a:solidFill>
                <a:latin typeface="Arial"/>
                <a:cs typeface="Arial"/>
              </a:rPr>
              <a:t> </a:t>
            </a:r>
            <a:r>
              <a:rPr sz="2400" dirty="0">
                <a:solidFill>
                  <a:srgbClr val="231F20"/>
                </a:solidFill>
                <a:latin typeface="Arial"/>
                <a:cs typeface="Arial"/>
              </a:rPr>
              <a:t>can</a:t>
            </a:r>
            <a:r>
              <a:rPr sz="2400" spc="-10" dirty="0">
                <a:solidFill>
                  <a:srgbClr val="231F20"/>
                </a:solidFill>
                <a:latin typeface="Arial"/>
                <a:cs typeface="Arial"/>
              </a:rPr>
              <a:t> </a:t>
            </a:r>
            <a:r>
              <a:rPr sz="2400" spc="-5" dirty="0">
                <a:solidFill>
                  <a:srgbClr val="231F20"/>
                </a:solidFill>
                <a:latin typeface="Arial"/>
                <a:cs typeface="Arial"/>
              </a:rPr>
              <a:t>do.</a:t>
            </a:r>
            <a:endParaRPr sz="2400">
              <a:latin typeface="Arial"/>
              <a:cs typeface="Arial"/>
            </a:endParaRPr>
          </a:p>
          <a:p>
            <a:pPr>
              <a:lnSpc>
                <a:spcPct val="100000"/>
              </a:lnSpc>
              <a:spcBef>
                <a:spcPts val="5"/>
              </a:spcBef>
            </a:pPr>
            <a:endParaRPr sz="2500">
              <a:latin typeface="Arial"/>
              <a:cs typeface="Arial"/>
            </a:endParaRPr>
          </a:p>
          <a:p>
            <a:pPr marL="12700" marR="6985">
              <a:lnSpc>
                <a:spcPct val="100000"/>
              </a:lnSpc>
              <a:tabLst>
                <a:tab pos="5315585" algn="l"/>
                <a:tab pos="5927725" algn="l"/>
              </a:tabLst>
            </a:pPr>
            <a:r>
              <a:rPr sz="2400" dirty="0">
                <a:solidFill>
                  <a:srgbClr val="231F20"/>
                </a:solidFill>
                <a:latin typeface="Arial"/>
                <a:cs typeface="Arial"/>
              </a:rPr>
              <a:t>The</a:t>
            </a:r>
            <a:r>
              <a:rPr sz="2400" spc="285" dirty="0">
                <a:solidFill>
                  <a:srgbClr val="231F20"/>
                </a:solidFill>
                <a:latin typeface="Arial"/>
                <a:cs typeface="Arial"/>
              </a:rPr>
              <a:t> </a:t>
            </a:r>
            <a:r>
              <a:rPr sz="2400" dirty="0">
                <a:solidFill>
                  <a:srgbClr val="231F20"/>
                </a:solidFill>
                <a:latin typeface="Arial"/>
                <a:cs typeface="Arial"/>
              </a:rPr>
              <a:t>first</a:t>
            </a:r>
            <a:r>
              <a:rPr sz="2400" spc="285" dirty="0">
                <a:solidFill>
                  <a:srgbClr val="231F20"/>
                </a:solidFill>
                <a:latin typeface="Arial"/>
                <a:cs typeface="Arial"/>
              </a:rPr>
              <a:t> </a:t>
            </a:r>
            <a:r>
              <a:rPr sz="2400" dirty="0">
                <a:solidFill>
                  <a:srgbClr val="231F20"/>
                </a:solidFill>
                <a:latin typeface="Arial"/>
                <a:cs typeface="Arial"/>
              </a:rPr>
              <a:t>method</a:t>
            </a:r>
            <a:r>
              <a:rPr sz="2400" spc="285" dirty="0">
                <a:solidFill>
                  <a:srgbClr val="231F20"/>
                </a:solidFill>
                <a:latin typeface="Arial"/>
                <a:cs typeface="Arial"/>
              </a:rPr>
              <a:t> </a:t>
            </a:r>
            <a:r>
              <a:rPr sz="2400" dirty="0">
                <a:solidFill>
                  <a:srgbClr val="231F20"/>
                </a:solidFill>
                <a:latin typeface="Arial"/>
                <a:cs typeface="Arial"/>
              </a:rPr>
              <a:t>you</a:t>
            </a:r>
            <a:r>
              <a:rPr sz="2400" spc="290" dirty="0">
                <a:solidFill>
                  <a:srgbClr val="231F20"/>
                </a:solidFill>
                <a:latin typeface="Arial"/>
                <a:cs typeface="Arial"/>
              </a:rPr>
              <a:t> </a:t>
            </a:r>
            <a:r>
              <a:rPr sz="2400" spc="-5" dirty="0">
                <a:solidFill>
                  <a:srgbClr val="231F20"/>
                </a:solidFill>
                <a:latin typeface="Arial"/>
                <a:cs typeface="Arial"/>
              </a:rPr>
              <a:t>defined</a:t>
            </a:r>
            <a:r>
              <a:rPr sz="2400" spc="285" dirty="0">
                <a:solidFill>
                  <a:srgbClr val="231F20"/>
                </a:solidFill>
                <a:latin typeface="Arial"/>
                <a:cs typeface="Arial"/>
              </a:rPr>
              <a:t> </a:t>
            </a:r>
            <a:r>
              <a:rPr sz="2400" spc="-5" dirty="0">
                <a:solidFill>
                  <a:srgbClr val="231F20"/>
                </a:solidFill>
                <a:latin typeface="Arial"/>
                <a:cs typeface="Arial"/>
              </a:rPr>
              <a:t>is</a:t>
            </a:r>
            <a:r>
              <a:rPr sz="2400" spc="285" dirty="0">
                <a:solidFill>
                  <a:srgbClr val="231F20"/>
                </a:solidFill>
                <a:latin typeface="Arial"/>
                <a:cs typeface="Arial"/>
              </a:rPr>
              <a:t> </a:t>
            </a:r>
            <a:r>
              <a:rPr sz="2400" dirty="0">
                <a:solidFill>
                  <a:srgbClr val="231F20"/>
                </a:solidFill>
                <a:latin typeface="Arial"/>
                <a:cs typeface="Arial"/>
              </a:rPr>
              <a:t>the</a:t>
            </a:r>
            <a:r>
              <a:rPr sz="2400" u="heavy" dirty="0">
                <a:solidFill>
                  <a:srgbClr val="231F20"/>
                </a:solidFill>
                <a:uFill>
                  <a:solidFill>
                    <a:srgbClr val="4684EB"/>
                  </a:solidFill>
                </a:uFill>
                <a:latin typeface="Times New Roman"/>
                <a:cs typeface="Times New Roman"/>
              </a:rPr>
              <a:t>	</a:t>
            </a:r>
            <a:r>
              <a:rPr sz="2400" spc="-5" dirty="0">
                <a:solidFill>
                  <a:srgbClr val="4785EC"/>
                </a:solidFill>
                <a:latin typeface="Apple Symbols"/>
                <a:cs typeface="Apple Symbols"/>
              </a:rPr>
              <a:t>init</a:t>
            </a:r>
            <a:r>
              <a:rPr sz="2400" u="sng" spc="-5" dirty="0">
                <a:solidFill>
                  <a:srgbClr val="4785EC"/>
                </a:solidFill>
                <a:uFill>
                  <a:solidFill>
                    <a:srgbClr val="4684EB"/>
                  </a:solidFill>
                </a:uFill>
                <a:latin typeface="Apple Symbols"/>
                <a:cs typeface="Apple Symbols"/>
              </a:rPr>
              <a:t>	</a:t>
            </a:r>
            <a:r>
              <a:rPr sz="2400" spc="-5" dirty="0">
                <a:solidFill>
                  <a:srgbClr val="4785EC"/>
                </a:solidFill>
                <a:latin typeface="Apple Symbols"/>
                <a:cs typeface="Apple Symbols"/>
              </a:rPr>
              <a:t>()</a:t>
            </a:r>
            <a:r>
              <a:rPr sz="2400" spc="-5" dirty="0">
                <a:solidFill>
                  <a:srgbClr val="231F20"/>
                </a:solidFill>
                <a:latin typeface="Arial"/>
                <a:cs typeface="Arial"/>
              </a:rPr>
              <a:t>,</a:t>
            </a:r>
            <a:r>
              <a:rPr sz="2400" spc="200" dirty="0">
                <a:solidFill>
                  <a:srgbClr val="231F20"/>
                </a:solidFill>
                <a:latin typeface="Arial"/>
                <a:cs typeface="Arial"/>
              </a:rPr>
              <a:t> </a:t>
            </a:r>
            <a:r>
              <a:rPr sz="2400" spc="-5" dirty="0">
                <a:solidFill>
                  <a:srgbClr val="231F20"/>
                </a:solidFill>
                <a:latin typeface="Arial"/>
                <a:cs typeface="Arial"/>
              </a:rPr>
              <a:t>it </a:t>
            </a:r>
            <a:r>
              <a:rPr sz="2400" spc="-655" dirty="0">
                <a:solidFill>
                  <a:srgbClr val="231F20"/>
                </a:solidFill>
                <a:latin typeface="Arial"/>
                <a:cs typeface="Arial"/>
              </a:rPr>
              <a:t> </a:t>
            </a:r>
            <a:r>
              <a:rPr sz="2400" dirty="0">
                <a:solidFill>
                  <a:srgbClr val="231F20"/>
                </a:solidFill>
                <a:latin typeface="Arial"/>
                <a:cs typeface="Arial"/>
              </a:rPr>
              <a:t>represent</a:t>
            </a:r>
            <a:r>
              <a:rPr sz="2400" spc="-5" dirty="0">
                <a:solidFill>
                  <a:srgbClr val="231F20"/>
                </a:solidFill>
                <a:latin typeface="Arial"/>
                <a:cs typeface="Arial"/>
              </a:rPr>
              <a:t> </a:t>
            </a:r>
            <a:r>
              <a:rPr sz="2400" dirty="0">
                <a:solidFill>
                  <a:srgbClr val="231F20"/>
                </a:solidFill>
                <a:latin typeface="Arial"/>
                <a:cs typeface="Arial"/>
              </a:rPr>
              <a:t>the </a:t>
            </a:r>
            <a:r>
              <a:rPr sz="2400" spc="-5" dirty="0">
                <a:solidFill>
                  <a:srgbClr val="231F20"/>
                </a:solidFill>
                <a:latin typeface="Arial"/>
                <a:cs typeface="Arial"/>
              </a:rPr>
              <a:t>object</a:t>
            </a:r>
            <a:r>
              <a:rPr sz="2400" spc="-10" dirty="0">
                <a:solidFill>
                  <a:srgbClr val="231F20"/>
                </a:solidFill>
                <a:latin typeface="Arial"/>
                <a:cs typeface="Arial"/>
              </a:rPr>
              <a:t> </a:t>
            </a:r>
            <a:r>
              <a:rPr sz="2400" spc="-5" dirty="0">
                <a:solidFill>
                  <a:srgbClr val="231F20"/>
                </a:solidFill>
                <a:latin typeface="Arial"/>
                <a:cs typeface="Arial"/>
              </a:rPr>
              <a:t>itself.</a:t>
            </a:r>
            <a:endParaRPr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24</a:t>
            </a:fld>
            <a:endParaRPr dirty="0"/>
          </a:p>
        </p:txBody>
      </p:sp>
      <p:sp>
        <p:nvSpPr>
          <p:cNvPr id="3" name="object 3"/>
          <p:cNvSpPr txBox="1">
            <a:spLocks noGrp="1"/>
          </p:cNvSpPr>
          <p:nvPr>
            <p:ph type="title"/>
          </p:nvPr>
        </p:nvSpPr>
        <p:spPr>
          <a:xfrm>
            <a:off x="972819" y="933624"/>
            <a:ext cx="1986280" cy="574040"/>
          </a:xfrm>
          <a:prstGeom prst="rect">
            <a:avLst/>
          </a:prstGeom>
        </p:spPr>
        <p:txBody>
          <a:bodyPr vert="horz" wrap="square" lIns="0" tIns="12700" rIns="0" bIns="0" rtlCol="0">
            <a:spAutoFit/>
          </a:bodyPr>
          <a:lstStyle/>
          <a:p>
            <a:pPr marL="12700">
              <a:lnSpc>
                <a:spcPct val="100000"/>
              </a:lnSpc>
              <a:spcBef>
                <a:spcPts val="100"/>
              </a:spcBef>
            </a:pPr>
            <a:r>
              <a:rPr spc="35" dirty="0"/>
              <a:t>Methods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E97C5-CFC7-024C-84CC-208B6682F819}"/>
              </a:ext>
            </a:extLst>
          </p:cNvPr>
          <p:cNvSpPr>
            <a:spLocks noGrp="1"/>
          </p:cNvSpPr>
          <p:nvPr>
            <p:ph type="title"/>
          </p:nvPr>
        </p:nvSpPr>
        <p:spPr/>
        <p:txBody>
          <a:bodyPr/>
          <a:lstStyle/>
          <a:p>
            <a:r>
              <a:rPr lang="en-US" dirty="0"/>
              <a:t>In-Class Practice</a:t>
            </a:r>
          </a:p>
        </p:txBody>
      </p:sp>
      <p:sp>
        <p:nvSpPr>
          <p:cNvPr id="5" name="TextBox 4">
            <a:extLst>
              <a:ext uri="{FF2B5EF4-FFF2-40B4-BE49-F238E27FC236}">
                <a16:creationId xmlns:a16="http://schemas.microsoft.com/office/drawing/2014/main" id="{B07BC2DD-52C7-7440-99F0-9E1A8EE5769C}"/>
              </a:ext>
            </a:extLst>
          </p:cNvPr>
          <p:cNvSpPr txBox="1"/>
          <p:nvPr/>
        </p:nvSpPr>
        <p:spPr>
          <a:xfrm>
            <a:off x="1066800" y="1952636"/>
            <a:ext cx="7590492" cy="3139321"/>
          </a:xfrm>
          <a:prstGeom prst="rect">
            <a:avLst/>
          </a:prstGeom>
          <a:noFill/>
        </p:spPr>
        <p:txBody>
          <a:bodyPr wrap="square" rtlCol="0">
            <a:spAutoFit/>
          </a:bodyPr>
          <a:lstStyle/>
          <a:p>
            <a:r>
              <a:rPr lang="en-US" sz="2200" dirty="0">
                <a:latin typeface="Arial" panose="020B0604020202020204" pitchFamily="34" charset="0"/>
                <a:cs typeface="Arial" panose="020B0604020202020204" pitchFamily="34" charset="0"/>
              </a:rPr>
              <a:t>(1). Based on the customer class you defined earlier, add a method “</a:t>
            </a:r>
            <a:r>
              <a:rPr lang="en-US" sz="2200" dirty="0" err="1">
                <a:latin typeface="Arial" panose="020B0604020202020204" pitchFamily="34" charset="0"/>
                <a:cs typeface="Arial" panose="020B0604020202020204" pitchFamily="34" charset="0"/>
              </a:rPr>
              <a:t>update_membership</a:t>
            </a:r>
            <a:r>
              <a:rPr lang="en-US" sz="2200" dirty="0">
                <a:latin typeface="Arial" panose="020B0604020202020204" pitchFamily="34" charset="0"/>
                <a:cs typeface="Arial" panose="020B0604020202020204" pitchFamily="34" charset="0"/>
              </a:rPr>
              <a:t>”</a:t>
            </a:r>
          </a:p>
          <a:p>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(2). This method takes “</a:t>
            </a:r>
            <a:r>
              <a:rPr lang="en-US" sz="2200" dirty="0" err="1">
                <a:latin typeface="Arial" panose="020B0604020202020204" pitchFamily="34" charset="0"/>
                <a:cs typeface="Arial" panose="020B0604020202020204" pitchFamily="34" charset="0"/>
              </a:rPr>
              <a:t>new_membership</a:t>
            </a:r>
            <a:r>
              <a:rPr lang="en-US" sz="2200" dirty="0">
                <a:latin typeface="Arial" panose="020B0604020202020204" pitchFamily="34" charset="0"/>
                <a:cs typeface="Arial" panose="020B0604020202020204" pitchFamily="34" charset="0"/>
              </a:rPr>
              <a:t>” as input variable, and then update the membership attribute</a:t>
            </a:r>
          </a:p>
          <a:p>
            <a:endParaRPr lang="en-US" sz="2200" dirty="0">
              <a:latin typeface="Arial" panose="020B0604020202020204" pitchFamily="34" charset="0"/>
              <a:cs typeface="Arial" panose="020B0604020202020204" pitchFamily="34" charset="0"/>
            </a:endParaRPr>
          </a:p>
          <a:p>
            <a:endParaRPr lang="en-US" sz="2200" dirty="0">
              <a:latin typeface="Arial" panose="020B0604020202020204" pitchFamily="34" charset="0"/>
              <a:cs typeface="Arial" panose="020B0604020202020204" pitchFamily="34" charset="0"/>
            </a:endParaRPr>
          </a:p>
          <a:p>
            <a:endParaRPr lang="en-US" sz="2200" dirty="0">
              <a:latin typeface="Arial" panose="020B0604020202020204" pitchFamily="34" charset="0"/>
              <a:cs typeface="Arial" panose="020B0604020202020204" pitchFamily="34" charset="0"/>
            </a:endParaRPr>
          </a:p>
          <a:p>
            <a:endParaRPr lang="en-US" sz="22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5AE89B94-D7D4-0A4F-8BD4-527E2CDC4125}"/>
              </a:ext>
            </a:extLst>
          </p:cNvPr>
          <p:cNvSpPr txBox="1"/>
          <p:nvPr/>
        </p:nvSpPr>
        <p:spPr>
          <a:xfrm>
            <a:off x="1066800" y="4038600"/>
            <a:ext cx="7590492" cy="769441"/>
          </a:xfrm>
          <a:prstGeom prst="rect">
            <a:avLst/>
          </a:prstGeom>
          <a:noFill/>
        </p:spPr>
        <p:txBody>
          <a:bodyPr wrap="square" rtlCol="0">
            <a:spAutoFit/>
          </a:bodyPr>
          <a:lstStyle/>
          <a:p>
            <a:r>
              <a:rPr lang="en-US" sz="2200" dirty="0">
                <a:latin typeface="Arial" panose="020B0604020202020204" pitchFamily="34" charset="0"/>
                <a:cs typeface="Arial" panose="020B0604020202020204" pitchFamily="34" charset="0"/>
              </a:rPr>
              <a:t>(3). Access the membership attribute and check if the status was updated </a:t>
            </a:r>
          </a:p>
        </p:txBody>
      </p:sp>
    </p:spTree>
    <p:extLst>
      <p:ext uri="{BB962C8B-B14F-4D97-AF65-F5344CB8AC3E}">
        <p14:creationId xmlns:p14="http://schemas.microsoft.com/office/powerpoint/2010/main" val="2217309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1739" y="2312323"/>
            <a:ext cx="6492875" cy="1874872"/>
          </a:xfrm>
          <a:prstGeom prst="rect">
            <a:avLst/>
          </a:prstGeom>
        </p:spPr>
        <p:txBody>
          <a:bodyPr vert="horz" wrap="square" lIns="0" tIns="12700" rIns="0" bIns="0" rtlCol="0">
            <a:spAutoFit/>
          </a:bodyPr>
          <a:lstStyle/>
          <a:p>
            <a:pPr marL="355600" indent="-342900">
              <a:lnSpc>
                <a:spcPct val="100000"/>
              </a:lnSpc>
              <a:spcBef>
                <a:spcPts val="100"/>
              </a:spcBef>
              <a:buClr>
                <a:schemeClr val="accent1"/>
              </a:buClr>
              <a:buFont typeface="Arial" panose="020B0604020202020204" pitchFamily="34" charset="0"/>
              <a:buChar char="•"/>
            </a:pPr>
            <a:r>
              <a:rPr sz="2400" dirty="0">
                <a:solidFill>
                  <a:schemeClr val="accent6"/>
                </a:solidFill>
                <a:latin typeface="Arial"/>
                <a:cs typeface="Arial"/>
              </a:rPr>
              <a:t>methods</a:t>
            </a:r>
            <a:r>
              <a:rPr sz="2400" spc="-15" dirty="0">
                <a:solidFill>
                  <a:srgbClr val="231F20"/>
                </a:solidFill>
                <a:latin typeface="Arial"/>
                <a:cs typeface="Arial"/>
              </a:rPr>
              <a:t> </a:t>
            </a:r>
            <a:r>
              <a:rPr sz="2400" spc="-5" dirty="0">
                <a:solidFill>
                  <a:srgbClr val="231F20"/>
                </a:solidFill>
                <a:latin typeface="Arial"/>
                <a:cs typeface="Arial"/>
              </a:rPr>
              <a:t>define</a:t>
            </a:r>
            <a:r>
              <a:rPr sz="2400" spc="-15" dirty="0">
                <a:solidFill>
                  <a:srgbClr val="231F20"/>
                </a:solidFill>
                <a:latin typeface="Arial"/>
                <a:cs typeface="Arial"/>
              </a:rPr>
              <a:t> </a:t>
            </a:r>
            <a:r>
              <a:rPr sz="2400" dirty="0">
                <a:solidFill>
                  <a:srgbClr val="231F20"/>
                </a:solidFill>
                <a:latin typeface="Arial"/>
                <a:cs typeface="Arial"/>
              </a:rPr>
              <a:t>the</a:t>
            </a:r>
            <a:r>
              <a:rPr sz="2400" spc="-15" dirty="0">
                <a:solidFill>
                  <a:srgbClr val="231F20"/>
                </a:solidFill>
                <a:latin typeface="Arial"/>
                <a:cs typeface="Arial"/>
              </a:rPr>
              <a:t> </a:t>
            </a:r>
            <a:r>
              <a:rPr sz="2400" dirty="0">
                <a:solidFill>
                  <a:srgbClr val="231F20"/>
                </a:solidFill>
                <a:latin typeface="Arial"/>
                <a:cs typeface="Arial"/>
              </a:rPr>
              <a:t>functionalities</a:t>
            </a:r>
            <a:r>
              <a:rPr sz="2400" spc="-10" dirty="0">
                <a:solidFill>
                  <a:srgbClr val="231F20"/>
                </a:solidFill>
                <a:latin typeface="Arial"/>
                <a:cs typeface="Arial"/>
              </a:rPr>
              <a:t> </a:t>
            </a:r>
            <a:r>
              <a:rPr sz="2400" spc="-5" dirty="0">
                <a:solidFill>
                  <a:srgbClr val="231F20"/>
                </a:solidFill>
                <a:latin typeface="Arial"/>
                <a:cs typeface="Arial"/>
              </a:rPr>
              <a:t>of</a:t>
            </a:r>
            <a:r>
              <a:rPr sz="2400" spc="-20" dirty="0">
                <a:solidFill>
                  <a:srgbClr val="231F20"/>
                </a:solidFill>
                <a:latin typeface="Arial"/>
                <a:cs typeface="Arial"/>
              </a:rPr>
              <a:t> </a:t>
            </a:r>
            <a:r>
              <a:rPr sz="2400" dirty="0">
                <a:solidFill>
                  <a:srgbClr val="231F20"/>
                </a:solidFill>
                <a:latin typeface="Arial"/>
                <a:cs typeface="Arial"/>
              </a:rPr>
              <a:t>the</a:t>
            </a:r>
            <a:r>
              <a:rPr sz="2400" spc="-10" dirty="0">
                <a:solidFill>
                  <a:srgbClr val="231F20"/>
                </a:solidFill>
                <a:latin typeface="Arial"/>
                <a:cs typeface="Arial"/>
              </a:rPr>
              <a:t> </a:t>
            </a:r>
            <a:r>
              <a:rPr sz="2400" spc="-5" dirty="0">
                <a:solidFill>
                  <a:srgbClr val="231F20"/>
                </a:solidFill>
                <a:latin typeface="Arial"/>
                <a:cs typeface="Arial"/>
              </a:rPr>
              <a:t>object.</a:t>
            </a:r>
            <a:endParaRPr sz="2400" dirty="0">
              <a:latin typeface="Arial"/>
              <a:cs typeface="Arial"/>
            </a:endParaRPr>
          </a:p>
          <a:p>
            <a:pPr marL="342900" indent="-342900">
              <a:lnSpc>
                <a:spcPct val="100000"/>
              </a:lnSpc>
              <a:spcBef>
                <a:spcPts val="5"/>
              </a:spcBef>
              <a:buClr>
                <a:schemeClr val="accent1"/>
              </a:buClr>
              <a:buFont typeface="Arial" panose="020B0604020202020204" pitchFamily="34" charset="0"/>
              <a:buChar char="•"/>
            </a:pPr>
            <a:endParaRPr sz="2500" dirty="0">
              <a:latin typeface="Arial"/>
              <a:cs typeface="Arial"/>
            </a:endParaRPr>
          </a:p>
          <a:p>
            <a:pPr marL="355600" indent="-342900">
              <a:lnSpc>
                <a:spcPct val="100000"/>
              </a:lnSpc>
              <a:buClr>
                <a:schemeClr val="accent1"/>
              </a:buClr>
              <a:buFont typeface="Arial" panose="020B0604020202020204" pitchFamily="34" charset="0"/>
              <a:buChar char="•"/>
            </a:pPr>
            <a:r>
              <a:rPr sz="2400" spc="-5" dirty="0">
                <a:solidFill>
                  <a:srgbClr val="231F20"/>
                </a:solidFill>
                <a:latin typeface="Arial"/>
                <a:cs typeface="Arial"/>
              </a:rPr>
              <a:t>whe</a:t>
            </a:r>
            <a:r>
              <a:rPr sz="2400" dirty="0">
                <a:solidFill>
                  <a:srgbClr val="231F20"/>
                </a:solidFill>
                <a:latin typeface="Arial"/>
                <a:cs typeface="Arial"/>
              </a:rPr>
              <a:t>n</a:t>
            </a:r>
            <a:r>
              <a:rPr sz="2400" spc="-240" dirty="0">
                <a:solidFill>
                  <a:srgbClr val="231F20"/>
                </a:solidFill>
                <a:latin typeface="Arial"/>
                <a:cs typeface="Arial"/>
              </a:rPr>
              <a:t> </a:t>
            </a:r>
            <a:r>
              <a:rPr sz="2400" spc="-5" dirty="0">
                <a:solidFill>
                  <a:srgbClr val="231F20"/>
                </a:solidFill>
                <a:latin typeface="Arial"/>
                <a:cs typeface="Arial"/>
              </a:rPr>
              <a:t>defin</a:t>
            </a:r>
            <a:r>
              <a:rPr sz="2400" dirty="0">
                <a:solidFill>
                  <a:srgbClr val="231F20"/>
                </a:solidFill>
                <a:latin typeface="Arial"/>
                <a:cs typeface="Arial"/>
              </a:rPr>
              <a:t>e</a:t>
            </a:r>
            <a:r>
              <a:rPr sz="2400" spc="-240" dirty="0">
                <a:solidFill>
                  <a:srgbClr val="231F20"/>
                </a:solidFill>
                <a:latin typeface="Arial"/>
                <a:cs typeface="Arial"/>
              </a:rPr>
              <a:t> </a:t>
            </a:r>
            <a:r>
              <a:rPr sz="2400" dirty="0">
                <a:solidFill>
                  <a:srgbClr val="231F20"/>
                </a:solidFill>
                <a:latin typeface="Arial"/>
                <a:cs typeface="Arial"/>
              </a:rPr>
              <a:t>a</a:t>
            </a:r>
            <a:r>
              <a:rPr sz="2400" spc="-240" dirty="0">
                <a:solidFill>
                  <a:srgbClr val="231F20"/>
                </a:solidFill>
                <a:latin typeface="Arial"/>
                <a:cs typeface="Arial"/>
              </a:rPr>
              <a:t> </a:t>
            </a:r>
            <a:r>
              <a:rPr sz="2400" dirty="0">
                <a:solidFill>
                  <a:srgbClr val="231F20"/>
                </a:solidFill>
                <a:latin typeface="Arial"/>
                <a:cs typeface="Arial"/>
              </a:rPr>
              <a:t>class,</a:t>
            </a:r>
            <a:r>
              <a:rPr sz="2400" spc="-240" dirty="0">
                <a:solidFill>
                  <a:srgbClr val="231F20"/>
                </a:solidFill>
                <a:latin typeface="Arial"/>
                <a:cs typeface="Arial"/>
              </a:rPr>
              <a:t> </a:t>
            </a:r>
            <a:r>
              <a:rPr sz="2400" dirty="0">
                <a:solidFill>
                  <a:srgbClr val="231F20"/>
                </a:solidFill>
                <a:latin typeface="Arial"/>
                <a:cs typeface="Arial"/>
              </a:rPr>
              <a:t>start</a:t>
            </a:r>
            <a:r>
              <a:rPr sz="2400" spc="-240" dirty="0">
                <a:solidFill>
                  <a:srgbClr val="231F20"/>
                </a:solidFill>
                <a:latin typeface="Arial"/>
                <a:cs typeface="Arial"/>
              </a:rPr>
              <a:t> </a:t>
            </a:r>
            <a:r>
              <a:rPr sz="2400" spc="-5" dirty="0">
                <a:solidFill>
                  <a:srgbClr val="231F20"/>
                </a:solidFill>
                <a:latin typeface="Arial"/>
                <a:cs typeface="Arial"/>
              </a:rPr>
              <a:t>wit</a:t>
            </a:r>
            <a:r>
              <a:rPr sz="2400" dirty="0">
                <a:solidFill>
                  <a:srgbClr val="231F20"/>
                </a:solidFill>
                <a:latin typeface="Arial"/>
                <a:cs typeface="Arial"/>
              </a:rPr>
              <a:t>h</a:t>
            </a:r>
            <a:r>
              <a:rPr sz="2400" spc="-240" dirty="0">
                <a:solidFill>
                  <a:srgbClr val="231F20"/>
                </a:solidFill>
                <a:latin typeface="Arial"/>
                <a:cs typeface="Arial"/>
              </a:rPr>
              <a:t> </a:t>
            </a:r>
            <a:r>
              <a:rPr sz="2400" dirty="0">
                <a:solidFill>
                  <a:srgbClr val="231F20"/>
                </a:solidFill>
                <a:latin typeface="Arial"/>
                <a:cs typeface="Arial"/>
              </a:rPr>
              <a:t>the</a:t>
            </a:r>
            <a:r>
              <a:rPr sz="2400" spc="-240" dirty="0">
                <a:solidFill>
                  <a:srgbClr val="231F20"/>
                </a:solidFill>
                <a:latin typeface="Arial"/>
                <a:cs typeface="Arial"/>
              </a:rPr>
              <a:t> </a:t>
            </a:r>
            <a:r>
              <a:rPr sz="2400" dirty="0">
                <a:solidFill>
                  <a:srgbClr val="231F20"/>
                </a:solidFill>
                <a:latin typeface="Arial"/>
                <a:cs typeface="Arial"/>
              </a:rPr>
              <a:t>special</a:t>
            </a:r>
            <a:r>
              <a:rPr sz="2400" spc="-240" dirty="0">
                <a:solidFill>
                  <a:srgbClr val="231F20"/>
                </a:solidFill>
                <a:latin typeface="Arial"/>
                <a:cs typeface="Arial"/>
              </a:rPr>
              <a:t> </a:t>
            </a:r>
            <a:r>
              <a:rPr lang="en-US" sz="2400" dirty="0">
                <a:solidFill>
                  <a:srgbClr val="231F20"/>
                </a:solidFill>
                <a:latin typeface="Arial"/>
                <a:cs typeface="Arial"/>
              </a:rPr>
              <a:t>method. __ </a:t>
            </a:r>
            <a:r>
              <a:rPr lang="en-US" sz="2400" dirty="0" err="1">
                <a:solidFill>
                  <a:srgbClr val="231F20"/>
                </a:solidFill>
                <a:latin typeface="Arial"/>
                <a:cs typeface="Arial"/>
              </a:rPr>
              <a:t>init</a:t>
            </a:r>
            <a:r>
              <a:rPr lang="en-US" sz="2400" dirty="0">
                <a:solidFill>
                  <a:srgbClr val="231F20"/>
                </a:solidFill>
                <a:latin typeface="Arial"/>
                <a:cs typeface="Arial"/>
              </a:rPr>
              <a:t>__</a:t>
            </a:r>
            <a:endParaRPr sz="2400" dirty="0">
              <a:latin typeface="Apple Symbols"/>
              <a:cs typeface="Apple Symbols"/>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26</a:t>
            </a:fld>
            <a:endParaRPr dirty="0"/>
          </a:p>
        </p:txBody>
      </p:sp>
      <p:sp>
        <p:nvSpPr>
          <p:cNvPr id="3" name="object 3"/>
          <p:cNvSpPr txBox="1">
            <a:spLocks noGrp="1"/>
          </p:cNvSpPr>
          <p:nvPr>
            <p:ph type="title"/>
          </p:nvPr>
        </p:nvSpPr>
        <p:spPr>
          <a:xfrm>
            <a:off x="972819" y="933624"/>
            <a:ext cx="6059170" cy="574040"/>
          </a:xfrm>
          <a:prstGeom prst="rect">
            <a:avLst/>
          </a:prstGeom>
        </p:spPr>
        <p:txBody>
          <a:bodyPr vert="horz" wrap="square" lIns="0" tIns="12700" rIns="0" bIns="0" rtlCol="0">
            <a:spAutoFit/>
          </a:bodyPr>
          <a:lstStyle/>
          <a:p>
            <a:pPr marL="12700">
              <a:lnSpc>
                <a:spcPct val="100000"/>
              </a:lnSpc>
              <a:spcBef>
                <a:spcPts val="100"/>
              </a:spcBef>
            </a:pPr>
            <a:r>
              <a:rPr spc="25" dirty="0"/>
              <a:t>Coding</a:t>
            </a:r>
            <a:r>
              <a:rPr spc="30" dirty="0"/>
              <a:t> </a:t>
            </a:r>
            <a:r>
              <a:rPr spc="20" dirty="0"/>
              <a:t>Practice</a:t>
            </a:r>
            <a:r>
              <a:rPr spc="35" dirty="0"/>
              <a:t> Summary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22862" y="2068483"/>
            <a:ext cx="6492875" cy="28295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231F20"/>
                </a:solidFill>
                <a:latin typeface="Arial"/>
                <a:cs typeface="Arial"/>
              </a:rPr>
              <a:t>Inheritance</a:t>
            </a:r>
            <a:r>
              <a:rPr sz="2400" spc="70" dirty="0">
                <a:solidFill>
                  <a:srgbClr val="231F20"/>
                </a:solidFill>
                <a:latin typeface="Arial"/>
                <a:cs typeface="Arial"/>
              </a:rPr>
              <a:t> </a:t>
            </a:r>
            <a:r>
              <a:rPr sz="2400" spc="-5" dirty="0">
                <a:solidFill>
                  <a:srgbClr val="231F20"/>
                </a:solidFill>
                <a:latin typeface="Arial"/>
                <a:cs typeface="Arial"/>
              </a:rPr>
              <a:t>is</a:t>
            </a:r>
            <a:r>
              <a:rPr sz="2400" spc="65" dirty="0">
                <a:solidFill>
                  <a:srgbClr val="231F20"/>
                </a:solidFill>
                <a:latin typeface="Arial"/>
                <a:cs typeface="Arial"/>
              </a:rPr>
              <a:t> </a:t>
            </a:r>
            <a:r>
              <a:rPr sz="2400" dirty="0">
                <a:solidFill>
                  <a:srgbClr val="231F20"/>
                </a:solidFill>
                <a:latin typeface="Arial"/>
                <a:cs typeface="Arial"/>
              </a:rPr>
              <a:t>a</a:t>
            </a:r>
            <a:r>
              <a:rPr sz="2400" spc="65" dirty="0">
                <a:solidFill>
                  <a:srgbClr val="231F20"/>
                </a:solidFill>
                <a:latin typeface="Arial"/>
                <a:cs typeface="Arial"/>
              </a:rPr>
              <a:t> </a:t>
            </a:r>
            <a:r>
              <a:rPr sz="2400" spc="-5" dirty="0">
                <a:solidFill>
                  <a:srgbClr val="231F20"/>
                </a:solidFill>
                <a:latin typeface="Arial"/>
                <a:cs typeface="Arial"/>
              </a:rPr>
              <a:t>process</a:t>
            </a:r>
            <a:r>
              <a:rPr sz="2400" spc="65" dirty="0">
                <a:solidFill>
                  <a:srgbClr val="231F20"/>
                </a:solidFill>
                <a:latin typeface="Arial"/>
                <a:cs typeface="Arial"/>
              </a:rPr>
              <a:t> </a:t>
            </a:r>
            <a:r>
              <a:rPr sz="2400" spc="-5" dirty="0">
                <a:solidFill>
                  <a:srgbClr val="231F20"/>
                </a:solidFill>
                <a:latin typeface="Arial"/>
                <a:cs typeface="Arial"/>
              </a:rPr>
              <a:t>of</a:t>
            </a:r>
            <a:r>
              <a:rPr sz="2400" spc="65" dirty="0">
                <a:solidFill>
                  <a:srgbClr val="231F20"/>
                </a:solidFill>
                <a:latin typeface="Arial"/>
                <a:cs typeface="Arial"/>
              </a:rPr>
              <a:t> </a:t>
            </a:r>
            <a:r>
              <a:rPr sz="2400" spc="-5" dirty="0">
                <a:solidFill>
                  <a:srgbClr val="231F20"/>
                </a:solidFill>
                <a:latin typeface="Arial"/>
                <a:cs typeface="Arial"/>
              </a:rPr>
              <a:t>defining</a:t>
            </a:r>
            <a:r>
              <a:rPr sz="2400" spc="75" dirty="0">
                <a:solidFill>
                  <a:srgbClr val="231F20"/>
                </a:solidFill>
                <a:latin typeface="Arial"/>
                <a:cs typeface="Arial"/>
              </a:rPr>
              <a:t> </a:t>
            </a:r>
            <a:r>
              <a:rPr sz="2400" dirty="0">
                <a:solidFill>
                  <a:srgbClr val="231F20"/>
                </a:solidFill>
                <a:latin typeface="Arial"/>
                <a:cs typeface="Arial"/>
              </a:rPr>
              <a:t>a</a:t>
            </a:r>
            <a:r>
              <a:rPr sz="2400" spc="65" dirty="0">
                <a:solidFill>
                  <a:srgbClr val="231F20"/>
                </a:solidFill>
                <a:latin typeface="Arial"/>
                <a:cs typeface="Arial"/>
              </a:rPr>
              <a:t> </a:t>
            </a:r>
            <a:r>
              <a:rPr sz="2400" spc="-5" dirty="0">
                <a:solidFill>
                  <a:srgbClr val="231F20"/>
                </a:solidFill>
                <a:latin typeface="Arial"/>
                <a:cs typeface="Arial"/>
              </a:rPr>
              <a:t>new</a:t>
            </a:r>
            <a:r>
              <a:rPr sz="2400" spc="65" dirty="0">
                <a:solidFill>
                  <a:srgbClr val="231F20"/>
                </a:solidFill>
                <a:latin typeface="Arial"/>
                <a:cs typeface="Arial"/>
              </a:rPr>
              <a:t> </a:t>
            </a:r>
            <a:r>
              <a:rPr sz="2400" dirty="0">
                <a:solidFill>
                  <a:srgbClr val="231F20"/>
                </a:solidFill>
                <a:latin typeface="Arial"/>
                <a:cs typeface="Arial"/>
              </a:rPr>
              <a:t>class</a:t>
            </a:r>
            <a:endParaRPr sz="2400">
              <a:latin typeface="Arial"/>
              <a:cs typeface="Arial"/>
            </a:endParaRPr>
          </a:p>
          <a:p>
            <a:pPr marL="12700">
              <a:lnSpc>
                <a:spcPct val="100000"/>
              </a:lnSpc>
              <a:spcBef>
                <a:spcPts val="1920"/>
              </a:spcBef>
            </a:pPr>
            <a:r>
              <a:rPr sz="2400" spc="-5" dirty="0">
                <a:solidFill>
                  <a:srgbClr val="231F20"/>
                </a:solidFill>
                <a:latin typeface="Arial"/>
                <a:cs typeface="Arial"/>
              </a:rPr>
              <a:t>based</a:t>
            </a:r>
            <a:r>
              <a:rPr sz="2400" spc="-25" dirty="0">
                <a:solidFill>
                  <a:srgbClr val="231F20"/>
                </a:solidFill>
                <a:latin typeface="Arial"/>
                <a:cs typeface="Arial"/>
              </a:rPr>
              <a:t> </a:t>
            </a:r>
            <a:r>
              <a:rPr sz="2400" spc="-5" dirty="0">
                <a:solidFill>
                  <a:srgbClr val="231F20"/>
                </a:solidFill>
                <a:latin typeface="Arial"/>
                <a:cs typeface="Arial"/>
              </a:rPr>
              <a:t>on</a:t>
            </a:r>
            <a:r>
              <a:rPr sz="2400" spc="-20" dirty="0">
                <a:solidFill>
                  <a:srgbClr val="231F20"/>
                </a:solidFill>
                <a:latin typeface="Arial"/>
                <a:cs typeface="Arial"/>
              </a:rPr>
              <a:t> </a:t>
            </a:r>
            <a:r>
              <a:rPr sz="2400" spc="-5" dirty="0">
                <a:solidFill>
                  <a:srgbClr val="231F20"/>
                </a:solidFill>
                <a:latin typeface="Arial"/>
                <a:cs typeface="Arial"/>
              </a:rPr>
              <a:t>an</a:t>
            </a:r>
            <a:r>
              <a:rPr sz="2400" spc="-20" dirty="0">
                <a:solidFill>
                  <a:srgbClr val="231F20"/>
                </a:solidFill>
                <a:latin typeface="Arial"/>
                <a:cs typeface="Arial"/>
              </a:rPr>
              <a:t> </a:t>
            </a:r>
            <a:r>
              <a:rPr sz="2400" spc="-5" dirty="0">
                <a:solidFill>
                  <a:srgbClr val="231F20"/>
                </a:solidFill>
                <a:latin typeface="Arial"/>
                <a:cs typeface="Arial"/>
              </a:rPr>
              <a:t>existing</a:t>
            </a:r>
            <a:r>
              <a:rPr sz="2400" spc="-20" dirty="0">
                <a:solidFill>
                  <a:srgbClr val="231F20"/>
                </a:solidFill>
                <a:latin typeface="Arial"/>
                <a:cs typeface="Arial"/>
              </a:rPr>
              <a:t> </a:t>
            </a:r>
            <a:r>
              <a:rPr sz="2400" dirty="0">
                <a:solidFill>
                  <a:srgbClr val="231F20"/>
                </a:solidFill>
                <a:latin typeface="Arial"/>
                <a:cs typeface="Arial"/>
              </a:rPr>
              <a:t>class.</a:t>
            </a:r>
            <a:endParaRPr sz="2400">
              <a:latin typeface="Arial"/>
              <a:cs typeface="Arial"/>
            </a:endParaRPr>
          </a:p>
          <a:p>
            <a:pPr>
              <a:lnSpc>
                <a:spcPct val="100000"/>
              </a:lnSpc>
            </a:pPr>
            <a:endParaRPr sz="2700">
              <a:latin typeface="Arial"/>
              <a:cs typeface="Arial"/>
            </a:endParaRPr>
          </a:p>
          <a:p>
            <a:pPr marL="12700" marR="5080">
              <a:lnSpc>
                <a:spcPct val="166700"/>
              </a:lnSpc>
              <a:spcBef>
                <a:spcPts val="1695"/>
              </a:spcBef>
            </a:pPr>
            <a:r>
              <a:rPr sz="2400" dirty="0">
                <a:solidFill>
                  <a:srgbClr val="231F20"/>
                </a:solidFill>
                <a:latin typeface="Arial"/>
                <a:cs typeface="Arial"/>
              </a:rPr>
              <a:t>Inheritance</a:t>
            </a:r>
            <a:r>
              <a:rPr sz="2400" spc="-290" dirty="0">
                <a:solidFill>
                  <a:srgbClr val="231F20"/>
                </a:solidFill>
                <a:latin typeface="Arial"/>
                <a:cs typeface="Arial"/>
              </a:rPr>
              <a:t> </a:t>
            </a:r>
            <a:r>
              <a:rPr sz="2400" spc="-5" dirty="0">
                <a:solidFill>
                  <a:srgbClr val="231F20"/>
                </a:solidFill>
                <a:latin typeface="Arial"/>
                <a:cs typeface="Arial"/>
              </a:rPr>
              <a:t>allow</a:t>
            </a:r>
            <a:r>
              <a:rPr sz="2400" dirty="0">
                <a:solidFill>
                  <a:srgbClr val="231F20"/>
                </a:solidFill>
                <a:latin typeface="Arial"/>
                <a:cs typeface="Arial"/>
              </a:rPr>
              <a:t>s</a:t>
            </a:r>
            <a:r>
              <a:rPr sz="2400" spc="-290" dirty="0">
                <a:solidFill>
                  <a:srgbClr val="231F20"/>
                </a:solidFill>
                <a:latin typeface="Arial"/>
                <a:cs typeface="Arial"/>
              </a:rPr>
              <a:t> </a:t>
            </a:r>
            <a:r>
              <a:rPr sz="2400" spc="-5" dirty="0">
                <a:solidFill>
                  <a:srgbClr val="231F20"/>
                </a:solidFill>
                <a:latin typeface="Arial"/>
                <a:cs typeface="Arial"/>
              </a:rPr>
              <a:t>u</a:t>
            </a:r>
            <a:r>
              <a:rPr sz="2400" dirty="0">
                <a:solidFill>
                  <a:srgbClr val="231F20"/>
                </a:solidFill>
                <a:latin typeface="Arial"/>
                <a:cs typeface="Arial"/>
              </a:rPr>
              <a:t>s</a:t>
            </a:r>
            <a:r>
              <a:rPr sz="2400" spc="-290" dirty="0">
                <a:solidFill>
                  <a:srgbClr val="231F20"/>
                </a:solidFill>
                <a:latin typeface="Arial"/>
                <a:cs typeface="Arial"/>
              </a:rPr>
              <a:t> </a:t>
            </a:r>
            <a:r>
              <a:rPr sz="2400" dirty="0">
                <a:solidFill>
                  <a:srgbClr val="231F20"/>
                </a:solidFill>
                <a:latin typeface="Arial"/>
                <a:cs typeface="Arial"/>
              </a:rPr>
              <a:t>to</a:t>
            </a:r>
            <a:r>
              <a:rPr sz="2400" spc="-290" dirty="0">
                <a:solidFill>
                  <a:srgbClr val="231F20"/>
                </a:solidFill>
                <a:latin typeface="Arial"/>
                <a:cs typeface="Arial"/>
              </a:rPr>
              <a:t> </a:t>
            </a:r>
            <a:r>
              <a:rPr sz="2400" dirty="0">
                <a:solidFill>
                  <a:srgbClr val="231F20"/>
                </a:solidFill>
                <a:latin typeface="Arial"/>
                <a:cs typeface="Arial"/>
              </a:rPr>
              <a:t>reuse</a:t>
            </a:r>
            <a:r>
              <a:rPr sz="2400" spc="-290" dirty="0">
                <a:solidFill>
                  <a:srgbClr val="231F20"/>
                </a:solidFill>
                <a:latin typeface="Arial"/>
                <a:cs typeface="Arial"/>
              </a:rPr>
              <a:t> </a:t>
            </a:r>
            <a:r>
              <a:rPr sz="2400" spc="-5" dirty="0">
                <a:solidFill>
                  <a:srgbClr val="231F20"/>
                </a:solidFill>
                <a:latin typeface="Arial"/>
                <a:cs typeface="Arial"/>
              </a:rPr>
              <a:t>o</a:t>
            </a:r>
            <a:r>
              <a:rPr sz="2400" dirty="0">
                <a:solidFill>
                  <a:srgbClr val="231F20"/>
                </a:solidFill>
                <a:latin typeface="Arial"/>
                <a:cs typeface="Arial"/>
              </a:rPr>
              <a:t>f</a:t>
            </a:r>
            <a:r>
              <a:rPr sz="2400" spc="-290" dirty="0">
                <a:solidFill>
                  <a:srgbClr val="231F20"/>
                </a:solidFill>
                <a:latin typeface="Arial"/>
                <a:cs typeface="Arial"/>
              </a:rPr>
              <a:t> </a:t>
            </a:r>
            <a:r>
              <a:rPr sz="2400" dirty="0">
                <a:solidFill>
                  <a:srgbClr val="231F20"/>
                </a:solidFill>
                <a:latin typeface="Arial"/>
                <a:cs typeface="Arial"/>
              </a:rPr>
              <a:t>code,</a:t>
            </a:r>
            <a:r>
              <a:rPr sz="2400" spc="-290" dirty="0">
                <a:solidFill>
                  <a:srgbClr val="231F20"/>
                </a:solidFill>
                <a:latin typeface="Arial"/>
                <a:cs typeface="Arial"/>
              </a:rPr>
              <a:t> </a:t>
            </a:r>
            <a:r>
              <a:rPr sz="2400" spc="-5" dirty="0">
                <a:solidFill>
                  <a:srgbClr val="231F20"/>
                </a:solidFill>
                <a:latin typeface="Arial"/>
                <a:cs typeface="Arial"/>
              </a:rPr>
              <a:t>i</a:t>
            </a:r>
            <a:r>
              <a:rPr sz="2400" dirty="0">
                <a:solidFill>
                  <a:srgbClr val="231F20"/>
                </a:solidFill>
                <a:latin typeface="Arial"/>
                <a:cs typeface="Arial"/>
              </a:rPr>
              <a:t>t</a:t>
            </a:r>
            <a:r>
              <a:rPr sz="2400" spc="-290" dirty="0">
                <a:solidFill>
                  <a:srgbClr val="231F20"/>
                </a:solidFill>
                <a:latin typeface="Arial"/>
                <a:cs typeface="Arial"/>
              </a:rPr>
              <a:t> </a:t>
            </a:r>
            <a:r>
              <a:rPr sz="2400" spc="-5" dirty="0">
                <a:solidFill>
                  <a:srgbClr val="231F20"/>
                </a:solidFill>
                <a:latin typeface="Arial"/>
                <a:cs typeface="Arial"/>
              </a:rPr>
              <a:t>improves  </a:t>
            </a:r>
            <a:r>
              <a:rPr sz="2400" dirty="0">
                <a:solidFill>
                  <a:srgbClr val="231F20"/>
                </a:solidFill>
                <a:latin typeface="Arial"/>
                <a:cs typeface="Arial"/>
              </a:rPr>
              <a:t>reusability</a:t>
            </a:r>
            <a:r>
              <a:rPr sz="2400" spc="-5" dirty="0">
                <a:solidFill>
                  <a:srgbClr val="231F20"/>
                </a:solidFill>
                <a:latin typeface="Arial"/>
                <a:cs typeface="Arial"/>
              </a:rPr>
              <a:t> in</a:t>
            </a:r>
            <a:r>
              <a:rPr sz="2400" spc="-10" dirty="0">
                <a:solidFill>
                  <a:srgbClr val="231F20"/>
                </a:solidFill>
                <a:latin typeface="Arial"/>
                <a:cs typeface="Arial"/>
              </a:rPr>
              <a:t> </a:t>
            </a:r>
            <a:r>
              <a:rPr sz="2400" dirty="0">
                <a:solidFill>
                  <a:srgbClr val="231F20"/>
                </a:solidFill>
                <a:latin typeface="Arial"/>
                <a:cs typeface="Arial"/>
              </a:rPr>
              <a:t>you</a:t>
            </a:r>
            <a:r>
              <a:rPr sz="2400" spc="-5" dirty="0">
                <a:solidFill>
                  <a:srgbClr val="231F20"/>
                </a:solidFill>
                <a:latin typeface="Arial"/>
                <a:cs typeface="Arial"/>
              </a:rPr>
              <a:t> python</a:t>
            </a:r>
            <a:r>
              <a:rPr sz="2400" spc="-10" dirty="0">
                <a:solidFill>
                  <a:srgbClr val="231F20"/>
                </a:solidFill>
                <a:latin typeface="Arial"/>
                <a:cs typeface="Arial"/>
              </a:rPr>
              <a:t> </a:t>
            </a:r>
            <a:r>
              <a:rPr sz="2400" spc="-5" dirty="0">
                <a:solidFill>
                  <a:srgbClr val="231F20"/>
                </a:solidFill>
                <a:latin typeface="Arial"/>
                <a:cs typeface="Arial"/>
              </a:rPr>
              <a:t>application.</a:t>
            </a:r>
            <a:endParaRPr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27</a:t>
            </a:fld>
            <a:endParaRPr dirty="0"/>
          </a:p>
        </p:txBody>
      </p:sp>
      <p:sp>
        <p:nvSpPr>
          <p:cNvPr id="3" name="object 3"/>
          <p:cNvSpPr txBox="1">
            <a:spLocks noGrp="1"/>
          </p:cNvSpPr>
          <p:nvPr>
            <p:ph type="title"/>
          </p:nvPr>
        </p:nvSpPr>
        <p:spPr>
          <a:xfrm>
            <a:off x="972819" y="933624"/>
            <a:ext cx="2694940" cy="574040"/>
          </a:xfrm>
          <a:prstGeom prst="rect">
            <a:avLst/>
          </a:prstGeom>
        </p:spPr>
        <p:txBody>
          <a:bodyPr vert="horz" wrap="square" lIns="0" tIns="12700" rIns="0" bIns="0" rtlCol="0">
            <a:spAutoFit/>
          </a:bodyPr>
          <a:lstStyle/>
          <a:p>
            <a:pPr marL="12700">
              <a:lnSpc>
                <a:spcPct val="100000"/>
              </a:lnSpc>
              <a:spcBef>
                <a:spcPts val="100"/>
              </a:spcBef>
            </a:pPr>
            <a:r>
              <a:rPr spc="35" dirty="0"/>
              <a:t>Inheritance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2819" y="933624"/>
            <a:ext cx="6414770" cy="574040"/>
          </a:xfrm>
          <a:prstGeom prst="rect">
            <a:avLst/>
          </a:prstGeom>
        </p:spPr>
        <p:txBody>
          <a:bodyPr vert="horz" wrap="square" lIns="0" tIns="12700" rIns="0" bIns="0" rtlCol="0">
            <a:spAutoFit/>
          </a:bodyPr>
          <a:lstStyle/>
          <a:p>
            <a:pPr marL="12700">
              <a:lnSpc>
                <a:spcPct val="100000"/>
              </a:lnSpc>
              <a:spcBef>
                <a:spcPts val="100"/>
              </a:spcBef>
            </a:pPr>
            <a:r>
              <a:rPr spc="10" dirty="0"/>
              <a:t>Parent</a:t>
            </a:r>
            <a:r>
              <a:rPr spc="60" dirty="0"/>
              <a:t> </a:t>
            </a:r>
            <a:r>
              <a:rPr spc="25" dirty="0"/>
              <a:t>class</a:t>
            </a:r>
            <a:r>
              <a:rPr spc="55" dirty="0"/>
              <a:t> </a:t>
            </a:r>
            <a:r>
              <a:rPr spc="20" dirty="0"/>
              <a:t>and</a:t>
            </a:r>
            <a:r>
              <a:rPr spc="60" dirty="0"/>
              <a:t> </a:t>
            </a:r>
            <a:r>
              <a:rPr spc="25" dirty="0"/>
              <a:t>child</a:t>
            </a:r>
            <a:r>
              <a:rPr spc="60" dirty="0"/>
              <a:t> </a:t>
            </a:r>
            <a:r>
              <a:rPr spc="35" dirty="0"/>
              <a:t>class</a:t>
            </a: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28</a:t>
            </a:fld>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24497-417B-584C-8DF5-7295C00C7A4A}"/>
              </a:ext>
            </a:extLst>
          </p:cNvPr>
          <p:cNvSpPr>
            <a:spLocks noGrp="1"/>
          </p:cNvSpPr>
          <p:nvPr>
            <p:ph type="title"/>
          </p:nvPr>
        </p:nvSpPr>
        <p:spPr/>
        <p:txBody>
          <a:bodyPr/>
          <a:lstStyle/>
          <a:p>
            <a:r>
              <a:rPr lang="en-US" dirty="0"/>
              <a:t>In-class Coding Practice</a:t>
            </a:r>
          </a:p>
        </p:txBody>
      </p:sp>
      <p:sp>
        <p:nvSpPr>
          <p:cNvPr id="5" name="TextBox 4">
            <a:extLst>
              <a:ext uri="{FF2B5EF4-FFF2-40B4-BE49-F238E27FC236}">
                <a16:creationId xmlns:a16="http://schemas.microsoft.com/office/drawing/2014/main" id="{EA7C8418-A1E7-4232-8B84-F8E04486C121}"/>
              </a:ext>
            </a:extLst>
          </p:cNvPr>
          <p:cNvSpPr txBox="1"/>
          <p:nvPr/>
        </p:nvSpPr>
        <p:spPr>
          <a:xfrm>
            <a:off x="1066800" y="1952636"/>
            <a:ext cx="7590492" cy="3816429"/>
          </a:xfrm>
          <a:prstGeom prst="rect">
            <a:avLst/>
          </a:prstGeom>
          <a:noFill/>
        </p:spPr>
        <p:txBody>
          <a:bodyPr wrap="square" rtlCol="0">
            <a:spAutoFit/>
          </a:bodyPr>
          <a:lstStyle/>
          <a:p>
            <a:r>
              <a:rPr lang="en-US" sz="2200" dirty="0">
                <a:latin typeface="Arial" panose="020B0604020202020204" pitchFamily="34" charset="0"/>
                <a:cs typeface="Arial" panose="020B0604020202020204" pitchFamily="34" charset="0"/>
              </a:rPr>
              <a:t>(1). Define a class “</a:t>
            </a:r>
            <a:r>
              <a:rPr lang="en-US" sz="2200" dirty="0" err="1">
                <a:solidFill>
                  <a:schemeClr val="accent6"/>
                </a:solidFill>
                <a:latin typeface="Arial" panose="020B0604020202020204" pitchFamily="34" charset="0"/>
                <a:cs typeface="Arial" panose="020B0604020202020204" pitchFamily="34" charset="0"/>
              </a:rPr>
              <a:t>Econ_agent</a:t>
            </a:r>
            <a:r>
              <a:rPr lang="en-US" sz="2200" dirty="0">
                <a:latin typeface="Arial" panose="020B0604020202020204" pitchFamily="34" charset="0"/>
                <a:cs typeface="Arial" panose="020B0604020202020204" pitchFamily="34" charset="0"/>
              </a:rPr>
              <a:t>”, with two attributes:</a:t>
            </a:r>
          </a:p>
          <a:p>
            <a:pPr marL="800100" lvl="1" indent="-342900">
              <a:buClr>
                <a:schemeClr val="accent1"/>
              </a:buClr>
              <a:buFont typeface="Arial" panose="020B0604020202020204" pitchFamily="34" charset="0"/>
              <a:buChar char="•"/>
            </a:pPr>
            <a:r>
              <a:rPr lang="en-US" sz="2200" dirty="0">
                <a:latin typeface="Arial" panose="020B0604020202020204" pitchFamily="34" charset="0"/>
                <a:cs typeface="Arial" panose="020B0604020202020204" pitchFamily="34" charset="0"/>
              </a:rPr>
              <a:t>name</a:t>
            </a:r>
          </a:p>
          <a:p>
            <a:pPr marL="800100" lvl="1" indent="-342900">
              <a:buClr>
                <a:schemeClr val="accent1"/>
              </a:buClr>
              <a:buFont typeface="Arial" panose="020B0604020202020204" pitchFamily="34" charset="0"/>
              <a:buChar char="•"/>
            </a:pPr>
            <a:r>
              <a:rPr lang="en-US" sz="2200" dirty="0">
                <a:latin typeface="Arial" panose="020B0604020202020204" pitchFamily="34" charset="0"/>
                <a:cs typeface="Arial" panose="020B0604020202020204" pitchFamily="34" charset="0"/>
              </a:rPr>
              <a:t>endowment</a:t>
            </a:r>
          </a:p>
          <a:p>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(2). Define a child class “</a:t>
            </a:r>
            <a:r>
              <a:rPr lang="en-US" sz="2200" dirty="0">
                <a:solidFill>
                  <a:schemeClr val="accent1"/>
                </a:solidFill>
                <a:latin typeface="Arial" panose="020B0604020202020204" pitchFamily="34" charset="0"/>
                <a:cs typeface="Arial" panose="020B0604020202020204" pitchFamily="34" charset="0"/>
              </a:rPr>
              <a:t>Consumer</a:t>
            </a:r>
            <a:r>
              <a:rPr lang="en-US" sz="2200" dirty="0">
                <a:latin typeface="Arial" panose="020B0604020202020204" pitchFamily="34" charset="0"/>
                <a:cs typeface="Arial" panose="020B0604020202020204" pitchFamily="34" charset="0"/>
              </a:rPr>
              <a:t>”. </a:t>
            </a:r>
          </a:p>
          <a:p>
            <a:pPr marL="800100" lvl="1" indent="-342900">
              <a:buClr>
                <a:schemeClr val="accent1"/>
              </a:buClr>
              <a:buFont typeface="Arial" panose="020B0604020202020204" pitchFamily="34" charset="0"/>
              <a:buChar char="•"/>
            </a:pPr>
            <a:r>
              <a:rPr lang="en-US" sz="2200" dirty="0">
                <a:latin typeface="Arial" panose="020B0604020202020204" pitchFamily="34" charset="0"/>
                <a:cs typeface="Arial" panose="020B0604020202020204" pitchFamily="34" charset="0"/>
              </a:rPr>
              <a:t>“Consumer” will inherit all attributes from the parent class “</a:t>
            </a:r>
            <a:r>
              <a:rPr lang="en-US" sz="2200" dirty="0" err="1">
                <a:solidFill>
                  <a:schemeClr val="accent6"/>
                </a:solidFill>
                <a:latin typeface="Arial" panose="020B0604020202020204" pitchFamily="34" charset="0"/>
                <a:cs typeface="Arial" panose="020B0604020202020204" pitchFamily="34" charset="0"/>
              </a:rPr>
              <a:t>Econ_agent</a:t>
            </a:r>
            <a:r>
              <a:rPr lang="en-US" sz="2200" dirty="0">
                <a:latin typeface="Arial" panose="020B0604020202020204" pitchFamily="34" charset="0"/>
                <a:cs typeface="Arial" panose="020B0604020202020204" pitchFamily="34" charset="0"/>
              </a:rPr>
              <a:t>”</a:t>
            </a:r>
          </a:p>
          <a:p>
            <a:pPr marL="800100" lvl="1" indent="-342900">
              <a:buClr>
                <a:schemeClr val="accent1"/>
              </a:buClr>
              <a:buFont typeface="Arial" panose="020B0604020202020204" pitchFamily="34" charset="0"/>
              <a:buChar char="•"/>
            </a:pPr>
            <a:r>
              <a:rPr lang="en-US" sz="2200" dirty="0">
                <a:latin typeface="Arial" panose="020B0604020202020204" pitchFamily="34" charset="0"/>
                <a:cs typeface="Arial" panose="020B0604020202020204" pitchFamily="34" charset="0"/>
              </a:rPr>
              <a:t>“</a:t>
            </a:r>
            <a:r>
              <a:rPr lang="en-US" sz="2200" dirty="0">
                <a:solidFill>
                  <a:schemeClr val="accent1"/>
                </a:solidFill>
                <a:latin typeface="Arial" panose="020B0604020202020204" pitchFamily="34" charset="0"/>
                <a:cs typeface="Arial" panose="020B0604020202020204" pitchFamily="34" charset="0"/>
              </a:rPr>
              <a:t>Consume</a:t>
            </a:r>
            <a:r>
              <a:rPr lang="en-US" sz="2200" dirty="0">
                <a:latin typeface="Arial" panose="020B0604020202020204" pitchFamily="34" charset="0"/>
                <a:cs typeface="Arial" panose="020B0604020202020204" pitchFamily="34" charset="0"/>
              </a:rPr>
              <a:t>r” also need two additional attributes:</a:t>
            </a:r>
          </a:p>
          <a:p>
            <a:pPr marL="1257300" lvl="2" indent="-342900">
              <a:buFont typeface="Courier New" panose="02070309020205020404" pitchFamily="49" charset="0"/>
              <a:buChar char="o"/>
            </a:pPr>
            <a:r>
              <a:rPr lang="en-US" sz="2200" dirty="0" err="1">
                <a:latin typeface="Arial" panose="020B0604020202020204" pitchFamily="34" charset="0"/>
                <a:cs typeface="Arial" panose="020B0604020202020204" pitchFamily="34" charset="0"/>
              </a:rPr>
              <a:t>wtp</a:t>
            </a:r>
            <a:endParaRPr lang="en-US" sz="2200" dirty="0">
              <a:latin typeface="Arial" panose="020B0604020202020204" pitchFamily="34" charset="0"/>
              <a:cs typeface="Arial" panose="020B0604020202020204" pitchFamily="34" charset="0"/>
            </a:endParaRPr>
          </a:p>
          <a:p>
            <a:pPr marL="1257300" lvl="2" indent="-342900">
              <a:buFont typeface="Courier New" panose="02070309020205020404" pitchFamily="49" charset="0"/>
              <a:buChar char="o"/>
            </a:pPr>
            <a:r>
              <a:rPr lang="en-US" sz="2200" dirty="0" err="1">
                <a:latin typeface="Arial" panose="020B0604020202020204" pitchFamily="34" charset="0"/>
                <a:cs typeface="Arial" panose="020B0604020202020204" pitchFamily="34" charset="0"/>
              </a:rPr>
              <a:t>id_number</a:t>
            </a:r>
            <a:endParaRPr lang="en-US" sz="2200" dirty="0">
              <a:latin typeface="Arial" panose="020B0604020202020204" pitchFamily="34" charset="0"/>
              <a:cs typeface="Arial" panose="020B0604020202020204" pitchFamily="34" charset="0"/>
            </a:endParaRPr>
          </a:p>
          <a:p>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88595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104140" rIns="0" bIns="0" rtlCol="0">
            <a:spAutoFit/>
          </a:bodyPr>
          <a:lstStyle/>
          <a:p>
            <a:pPr marL="440055">
              <a:lnSpc>
                <a:spcPct val="100000"/>
              </a:lnSpc>
              <a:spcBef>
                <a:spcPts val="820"/>
              </a:spcBef>
            </a:pPr>
            <a:r>
              <a:rPr dirty="0"/>
              <a:t>Inheritance</a:t>
            </a:r>
            <a:r>
              <a:rPr spc="265" dirty="0"/>
              <a:t> </a:t>
            </a:r>
            <a:r>
              <a:rPr spc="-5" dirty="0"/>
              <a:t>allows</a:t>
            </a:r>
            <a:r>
              <a:rPr spc="270" dirty="0"/>
              <a:t> </a:t>
            </a:r>
            <a:r>
              <a:rPr spc="-5" dirty="0"/>
              <a:t>us</a:t>
            </a:r>
            <a:r>
              <a:rPr spc="265" dirty="0"/>
              <a:t> </a:t>
            </a:r>
            <a:r>
              <a:rPr dirty="0"/>
              <a:t>to</a:t>
            </a:r>
            <a:r>
              <a:rPr spc="265" dirty="0"/>
              <a:t> </a:t>
            </a:r>
            <a:r>
              <a:rPr spc="-5" dirty="0"/>
              <a:t>define</a:t>
            </a:r>
            <a:r>
              <a:rPr spc="270" dirty="0"/>
              <a:t> </a:t>
            </a:r>
            <a:r>
              <a:rPr dirty="0"/>
              <a:t>a</a:t>
            </a:r>
            <a:r>
              <a:rPr spc="265" dirty="0"/>
              <a:t> </a:t>
            </a:r>
            <a:r>
              <a:rPr dirty="0"/>
              <a:t>class</a:t>
            </a:r>
            <a:r>
              <a:rPr spc="265" dirty="0"/>
              <a:t> </a:t>
            </a:r>
            <a:r>
              <a:rPr dirty="0"/>
              <a:t>that</a:t>
            </a:r>
            <a:r>
              <a:rPr spc="270" dirty="0"/>
              <a:t> </a:t>
            </a:r>
            <a:r>
              <a:rPr spc="-5" dirty="0"/>
              <a:t>inherits</a:t>
            </a:r>
            <a:r>
              <a:rPr spc="265" dirty="0"/>
              <a:t> </a:t>
            </a:r>
            <a:r>
              <a:rPr spc="-5" dirty="0"/>
              <a:t>all</a:t>
            </a:r>
          </a:p>
          <a:p>
            <a:pPr marL="440055">
              <a:lnSpc>
                <a:spcPct val="100000"/>
              </a:lnSpc>
              <a:spcBef>
                <a:spcPts val="720"/>
              </a:spcBef>
            </a:pPr>
            <a:r>
              <a:rPr dirty="0"/>
              <a:t>the</a:t>
            </a:r>
            <a:r>
              <a:rPr spc="-15" dirty="0"/>
              <a:t> </a:t>
            </a:r>
            <a:r>
              <a:rPr dirty="0"/>
              <a:t>methods</a:t>
            </a:r>
            <a:r>
              <a:rPr spc="-10" dirty="0"/>
              <a:t> </a:t>
            </a:r>
            <a:r>
              <a:rPr spc="-5" dirty="0"/>
              <a:t>and</a:t>
            </a:r>
            <a:r>
              <a:rPr spc="-20" dirty="0"/>
              <a:t> </a:t>
            </a:r>
            <a:r>
              <a:rPr spc="-5" dirty="0"/>
              <a:t>attributes</a:t>
            </a:r>
            <a:r>
              <a:rPr spc="-15" dirty="0"/>
              <a:t> </a:t>
            </a:r>
            <a:r>
              <a:rPr dirty="0"/>
              <a:t>from</a:t>
            </a:r>
            <a:r>
              <a:rPr spc="-10" dirty="0"/>
              <a:t> </a:t>
            </a:r>
            <a:r>
              <a:rPr spc="-5" dirty="0"/>
              <a:t>another</a:t>
            </a:r>
            <a:r>
              <a:rPr spc="-20" dirty="0"/>
              <a:t> </a:t>
            </a:r>
            <a:r>
              <a:rPr dirty="0"/>
              <a:t>class.</a:t>
            </a:r>
          </a:p>
          <a:p>
            <a:pPr marL="427355">
              <a:lnSpc>
                <a:spcPct val="100000"/>
              </a:lnSpc>
              <a:spcBef>
                <a:spcPts val="35"/>
              </a:spcBef>
            </a:pPr>
            <a:endParaRPr sz="3100"/>
          </a:p>
          <a:p>
            <a:pPr marL="440055" marR="5715">
              <a:lnSpc>
                <a:spcPct val="125000"/>
              </a:lnSpc>
            </a:pPr>
            <a:r>
              <a:rPr dirty="0"/>
              <a:t>Parent</a:t>
            </a:r>
            <a:r>
              <a:rPr spc="-150" dirty="0"/>
              <a:t> </a:t>
            </a:r>
            <a:r>
              <a:rPr dirty="0"/>
              <a:t>class</a:t>
            </a:r>
            <a:r>
              <a:rPr spc="-150" dirty="0"/>
              <a:t> </a:t>
            </a:r>
            <a:r>
              <a:rPr spc="-5" dirty="0"/>
              <a:t>is</a:t>
            </a:r>
            <a:r>
              <a:rPr spc="-150" dirty="0"/>
              <a:t> </a:t>
            </a:r>
            <a:r>
              <a:rPr dirty="0"/>
              <a:t>the</a:t>
            </a:r>
            <a:r>
              <a:rPr spc="-145" dirty="0"/>
              <a:t> </a:t>
            </a:r>
            <a:r>
              <a:rPr dirty="0"/>
              <a:t>class</a:t>
            </a:r>
            <a:r>
              <a:rPr spc="-150" dirty="0"/>
              <a:t> </a:t>
            </a:r>
            <a:r>
              <a:rPr spc="-5" dirty="0"/>
              <a:t>being</a:t>
            </a:r>
            <a:r>
              <a:rPr spc="-150" dirty="0"/>
              <a:t> </a:t>
            </a:r>
            <a:r>
              <a:rPr spc="-5" dirty="0"/>
              <a:t>inherited</a:t>
            </a:r>
            <a:r>
              <a:rPr spc="-150" dirty="0"/>
              <a:t> </a:t>
            </a:r>
            <a:r>
              <a:rPr dirty="0"/>
              <a:t>from,</a:t>
            </a:r>
            <a:r>
              <a:rPr spc="-145" dirty="0"/>
              <a:t> </a:t>
            </a:r>
            <a:r>
              <a:rPr spc="-5" dirty="0"/>
              <a:t>also</a:t>
            </a:r>
            <a:r>
              <a:rPr spc="-150" dirty="0"/>
              <a:t> </a:t>
            </a:r>
            <a:r>
              <a:rPr dirty="0"/>
              <a:t>called </a:t>
            </a:r>
            <a:r>
              <a:rPr spc="-655" dirty="0"/>
              <a:t> </a:t>
            </a:r>
            <a:r>
              <a:rPr spc="-5" dirty="0"/>
              <a:t>base</a:t>
            </a:r>
            <a:r>
              <a:rPr spc="-10" dirty="0"/>
              <a:t> </a:t>
            </a:r>
            <a:r>
              <a:rPr dirty="0"/>
              <a:t>class.</a:t>
            </a:r>
          </a:p>
          <a:p>
            <a:pPr marL="427355">
              <a:lnSpc>
                <a:spcPct val="100000"/>
              </a:lnSpc>
              <a:spcBef>
                <a:spcPts val="35"/>
              </a:spcBef>
            </a:pPr>
            <a:endParaRPr sz="3100"/>
          </a:p>
          <a:p>
            <a:pPr marL="440055" marR="5080">
              <a:lnSpc>
                <a:spcPct val="125000"/>
              </a:lnSpc>
            </a:pPr>
            <a:r>
              <a:rPr spc="-5" dirty="0"/>
              <a:t>Child</a:t>
            </a:r>
            <a:r>
              <a:rPr spc="70" dirty="0"/>
              <a:t> </a:t>
            </a:r>
            <a:r>
              <a:rPr dirty="0"/>
              <a:t>class</a:t>
            </a:r>
            <a:r>
              <a:rPr spc="70" dirty="0"/>
              <a:t> </a:t>
            </a:r>
            <a:r>
              <a:rPr spc="-5" dirty="0"/>
              <a:t>is</a:t>
            </a:r>
            <a:r>
              <a:rPr spc="75" dirty="0"/>
              <a:t> </a:t>
            </a:r>
            <a:r>
              <a:rPr dirty="0"/>
              <a:t>the</a:t>
            </a:r>
            <a:r>
              <a:rPr spc="75" dirty="0"/>
              <a:t> </a:t>
            </a:r>
            <a:r>
              <a:rPr dirty="0"/>
              <a:t>class</a:t>
            </a:r>
            <a:r>
              <a:rPr spc="70" dirty="0"/>
              <a:t> </a:t>
            </a:r>
            <a:r>
              <a:rPr dirty="0"/>
              <a:t>that</a:t>
            </a:r>
            <a:r>
              <a:rPr spc="80" dirty="0"/>
              <a:t> </a:t>
            </a:r>
            <a:r>
              <a:rPr spc="-5" dirty="0"/>
              <a:t>inherits</a:t>
            </a:r>
            <a:r>
              <a:rPr spc="70" dirty="0"/>
              <a:t> </a:t>
            </a:r>
            <a:r>
              <a:rPr dirty="0"/>
              <a:t>from</a:t>
            </a:r>
            <a:r>
              <a:rPr spc="75" dirty="0"/>
              <a:t> </a:t>
            </a:r>
            <a:r>
              <a:rPr spc="-5" dirty="0"/>
              <a:t>another</a:t>
            </a:r>
            <a:r>
              <a:rPr spc="75" dirty="0"/>
              <a:t> </a:t>
            </a:r>
            <a:r>
              <a:rPr dirty="0"/>
              <a:t>class, </a:t>
            </a:r>
            <a:r>
              <a:rPr spc="-655" dirty="0"/>
              <a:t> </a:t>
            </a:r>
            <a:r>
              <a:rPr spc="-5" dirty="0"/>
              <a:t>also</a:t>
            </a:r>
            <a:r>
              <a:rPr spc="-10" dirty="0"/>
              <a:t> </a:t>
            </a:r>
            <a:r>
              <a:rPr dirty="0"/>
              <a:t>called </a:t>
            </a:r>
            <a:r>
              <a:rPr spc="-5" dirty="0"/>
              <a:t>derived</a:t>
            </a:r>
            <a:r>
              <a:rPr spc="-10" dirty="0"/>
              <a:t> </a:t>
            </a:r>
            <a:r>
              <a:rPr dirty="0"/>
              <a:t>class.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30</a:t>
            </a:fld>
            <a:endParaRPr dirty="0"/>
          </a:p>
        </p:txBody>
      </p:sp>
      <p:sp>
        <p:nvSpPr>
          <p:cNvPr id="3" name="object 3"/>
          <p:cNvSpPr txBox="1">
            <a:spLocks noGrp="1"/>
          </p:cNvSpPr>
          <p:nvPr>
            <p:ph type="title"/>
          </p:nvPr>
        </p:nvSpPr>
        <p:spPr>
          <a:xfrm>
            <a:off x="972819" y="933624"/>
            <a:ext cx="6059170" cy="574040"/>
          </a:xfrm>
          <a:prstGeom prst="rect">
            <a:avLst/>
          </a:prstGeom>
        </p:spPr>
        <p:txBody>
          <a:bodyPr vert="horz" wrap="square" lIns="0" tIns="12700" rIns="0" bIns="0" rtlCol="0">
            <a:spAutoFit/>
          </a:bodyPr>
          <a:lstStyle/>
          <a:p>
            <a:pPr marL="12700">
              <a:lnSpc>
                <a:spcPct val="100000"/>
              </a:lnSpc>
              <a:spcBef>
                <a:spcPts val="100"/>
              </a:spcBef>
            </a:pPr>
            <a:r>
              <a:rPr spc="20" dirty="0"/>
              <a:t>Practice</a:t>
            </a:r>
            <a:r>
              <a:rPr spc="35" dirty="0"/>
              <a:t> Summary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00200" y="2362200"/>
            <a:ext cx="6494145" cy="2675091"/>
          </a:xfrm>
          <a:prstGeom prst="rect">
            <a:avLst/>
          </a:prstGeom>
        </p:spPr>
        <p:txBody>
          <a:bodyPr vert="horz" wrap="square" lIns="0" tIns="12700" rIns="0" bIns="0" rtlCol="0">
            <a:spAutoFit/>
          </a:bodyPr>
          <a:lstStyle/>
          <a:p>
            <a:pPr marL="355600" marR="6985" indent="-342900">
              <a:lnSpc>
                <a:spcPct val="100000"/>
              </a:lnSpc>
              <a:spcBef>
                <a:spcPts val="100"/>
              </a:spcBef>
              <a:buClr>
                <a:schemeClr val="tx2">
                  <a:lumMod val="60000"/>
                  <a:lumOff val="40000"/>
                </a:schemeClr>
              </a:buClr>
              <a:buFont typeface="Arial" panose="020B0604020202020204" pitchFamily="34" charset="0"/>
              <a:buChar char="•"/>
              <a:tabLst>
                <a:tab pos="883919" algn="l"/>
                <a:tab pos="2635250" algn="l"/>
                <a:tab pos="4133215" algn="l"/>
                <a:tab pos="5970270" algn="l"/>
              </a:tabLst>
            </a:pPr>
            <a:r>
              <a:rPr lang="en-US" sz="2400" dirty="0">
                <a:solidFill>
                  <a:srgbClr val="231F20"/>
                </a:solidFill>
                <a:latin typeface="Arial"/>
                <a:cs typeface="Arial"/>
              </a:rPr>
              <a:t>Encapsulation</a:t>
            </a:r>
          </a:p>
          <a:p>
            <a:pPr marL="355600" marR="6985" indent="-342900">
              <a:lnSpc>
                <a:spcPct val="100000"/>
              </a:lnSpc>
              <a:spcBef>
                <a:spcPts val="100"/>
              </a:spcBef>
              <a:buClr>
                <a:schemeClr val="tx2">
                  <a:lumMod val="60000"/>
                  <a:lumOff val="40000"/>
                </a:schemeClr>
              </a:buClr>
              <a:buFont typeface="Arial" panose="020B0604020202020204" pitchFamily="34" charset="0"/>
              <a:buChar char="•"/>
              <a:tabLst>
                <a:tab pos="883919" algn="l"/>
                <a:tab pos="2635250" algn="l"/>
                <a:tab pos="4133215" algn="l"/>
                <a:tab pos="5970270" algn="l"/>
              </a:tabLst>
            </a:pPr>
            <a:endParaRPr lang="en-US" sz="2400" dirty="0">
              <a:solidFill>
                <a:srgbClr val="231F20"/>
              </a:solidFill>
              <a:latin typeface="Arial"/>
              <a:cs typeface="Arial"/>
            </a:endParaRPr>
          </a:p>
          <a:p>
            <a:pPr marL="355600" marR="6985" indent="-342900">
              <a:lnSpc>
                <a:spcPct val="100000"/>
              </a:lnSpc>
              <a:spcBef>
                <a:spcPts val="100"/>
              </a:spcBef>
              <a:buClr>
                <a:schemeClr val="tx2">
                  <a:lumMod val="60000"/>
                  <a:lumOff val="40000"/>
                </a:schemeClr>
              </a:buClr>
              <a:buFont typeface="Arial" panose="020B0604020202020204" pitchFamily="34" charset="0"/>
              <a:buChar char="•"/>
              <a:tabLst>
                <a:tab pos="883919" algn="l"/>
                <a:tab pos="2635250" algn="l"/>
                <a:tab pos="4133215" algn="l"/>
                <a:tab pos="5970270" algn="l"/>
              </a:tabLst>
            </a:pPr>
            <a:r>
              <a:rPr lang="en-US" sz="2400" dirty="0">
                <a:solidFill>
                  <a:srgbClr val="231F20"/>
                </a:solidFill>
                <a:latin typeface="Arial"/>
                <a:cs typeface="Arial"/>
              </a:rPr>
              <a:t>Inheritance</a:t>
            </a:r>
          </a:p>
          <a:p>
            <a:pPr marL="355600" marR="6985" indent="-342900">
              <a:lnSpc>
                <a:spcPct val="100000"/>
              </a:lnSpc>
              <a:spcBef>
                <a:spcPts val="100"/>
              </a:spcBef>
              <a:buClr>
                <a:schemeClr val="tx2">
                  <a:lumMod val="60000"/>
                  <a:lumOff val="40000"/>
                </a:schemeClr>
              </a:buClr>
              <a:buFont typeface="Arial" panose="020B0604020202020204" pitchFamily="34" charset="0"/>
              <a:buChar char="•"/>
              <a:tabLst>
                <a:tab pos="883919" algn="l"/>
                <a:tab pos="2635250" algn="l"/>
                <a:tab pos="4133215" algn="l"/>
                <a:tab pos="5970270" algn="l"/>
              </a:tabLst>
            </a:pPr>
            <a:endParaRPr lang="en-US" sz="2400" dirty="0">
              <a:solidFill>
                <a:srgbClr val="231F20"/>
              </a:solidFill>
              <a:latin typeface="Arial"/>
              <a:cs typeface="Arial"/>
            </a:endParaRPr>
          </a:p>
          <a:p>
            <a:pPr marL="355600" marR="6985" indent="-342900">
              <a:lnSpc>
                <a:spcPct val="100000"/>
              </a:lnSpc>
              <a:spcBef>
                <a:spcPts val="100"/>
              </a:spcBef>
              <a:buClr>
                <a:schemeClr val="tx2">
                  <a:lumMod val="60000"/>
                  <a:lumOff val="40000"/>
                </a:schemeClr>
              </a:buClr>
              <a:buFont typeface="Arial" panose="020B0604020202020204" pitchFamily="34" charset="0"/>
              <a:buChar char="•"/>
              <a:tabLst>
                <a:tab pos="883919" algn="l"/>
                <a:tab pos="2635250" algn="l"/>
                <a:tab pos="4133215" algn="l"/>
                <a:tab pos="5970270" algn="l"/>
              </a:tabLst>
            </a:pPr>
            <a:r>
              <a:rPr lang="en-US" sz="2400" dirty="0">
                <a:solidFill>
                  <a:srgbClr val="231F20"/>
                </a:solidFill>
                <a:latin typeface="Arial"/>
                <a:cs typeface="Arial"/>
              </a:rPr>
              <a:t>Polymorphism</a:t>
            </a:r>
          </a:p>
          <a:p>
            <a:pPr marL="355600" marR="6985" indent="-342900">
              <a:lnSpc>
                <a:spcPct val="100000"/>
              </a:lnSpc>
              <a:spcBef>
                <a:spcPts val="100"/>
              </a:spcBef>
              <a:buClr>
                <a:schemeClr val="tx2">
                  <a:lumMod val="60000"/>
                  <a:lumOff val="40000"/>
                </a:schemeClr>
              </a:buClr>
              <a:buFont typeface="Arial" panose="020B0604020202020204" pitchFamily="34" charset="0"/>
              <a:buChar char="•"/>
              <a:tabLst>
                <a:tab pos="883919" algn="l"/>
                <a:tab pos="2635250" algn="l"/>
                <a:tab pos="4133215" algn="l"/>
                <a:tab pos="5970270" algn="l"/>
              </a:tabLst>
            </a:pPr>
            <a:endParaRPr lang="en-US" sz="2400" dirty="0">
              <a:solidFill>
                <a:srgbClr val="231F20"/>
              </a:solidFill>
              <a:latin typeface="Arial"/>
              <a:cs typeface="Arial"/>
            </a:endParaRPr>
          </a:p>
          <a:p>
            <a:pPr marL="355600" marR="6985" indent="-342900">
              <a:lnSpc>
                <a:spcPct val="100000"/>
              </a:lnSpc>
              <a:spcBef>
                <a:spcPts val="100"/>
              </a:spcBef>
              <a:buClr>
                <a:schemeClr val="tx2">
                  <a:lumMod val="60000"/>
                  <a:lumOff val="40000"/>
                </a:schemeClr>
              </a:buClr>
              <a:buFont typeface="Arial" panose="020B0604020202020204" pitchFamily="34" charset="0"/>
              <a:buChar char="•"/>
              <a:tabLst>
                <a:tab pos="883919" algn="l"/>
                <a:tab pos="2635250" algn="l"/>
                <a:tab pos="4133215" algn="l"/>
                <a:tab pos="5970270" algn="l"/>
              </a:tabLst>
            </a:pPr>
            <a:r>
              <a:rPr lang="en-US" sz="2400" dirty="0">
                <a:solidFill>
                  <a:srgbClr val="231F20"/>
                </a:solidFill>
                <a:latin typeface="Arial"/>
                <a:cs typeface="Arial"/>
              </a:rPr>
              <a:t>Abstraction</a:t>
            </a:r>
            <a:endParaRPr sz="2400" dirty="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31</a:t>
            </a:fld>
            <a:endParaRPr dirty="0"/>
          </a:p>
        </p:txBody>
      </p:sp>
      <p:sp>
        <p:nvSpPr>
          <p:cNvPr id="3" name="object 3"/>
          <p:cNvSpPr txBox="1">
            <a:spLocks noGrp="1"/>
          </p:cNvSpPr>
          <p:nvPr>
            <p:ph type="title"/>
          </p:nvPr>
        </p:nvSpPr>
        <p:spPr>
          <a:xfrm>
            <a:off x="972819" y="933624"/>
            <a:ext cx="6804026" cy="566822"/>
          </a:xfrm>
          <a:prstGeom prst="rect">
            <a:avLst/>
          </a:prstGeom>
        </p:spPr>
        <p:txBody>
          <a:bodyPr vert="horz" wrap="square" lIns="0" tIns="12700" rIns="0" bIns="0" rtlCol="0">
            <a:spAutoFit/>
          </a:bodyPr>
          <a:lstStyle/>
          <a:p>
            <a:pPr marL="12700">
              <a:lnSpc>
                <a:spcPct val="100000"/>
              </a:lnSpc>
              <a:spcBef>
                <a:spcPts val="100"/>
              </a:spcBef>
            </a:pPr>
            <a:r>
              <a:rPr lang="en-US" spc="25" dirty="0"/>
              <a:t>The Four Principles in OOP</a:t>
            </a:r>
            <a:endParaRPr spc="35" dirty="0"/>
          </a:p>
        </p:txBody>
      </p:sp>
    </p:spTree>
    <p:extLst>
      <p:ext uri="{BB962C8B-B14F-4D97-AF65-F5344CB8AC3E}">
        <p14:creationId xmlns:p14="http://schemas.microsoft.com/office/powerpoint/2010/main" val="39386549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22116-E406-53EE-B9C8-7D3C32EACF1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5505A4D-7B8E-D2D8-1E06-9D7B2E46C00E}"/>
              </a:ext>
            </a:extLst>
          </p:cNvPr>
          <p:cNvSpPr txBox="1"/>
          <p:nvPr/>
        </p:nvSpPr>
        <p:spPr>
          <a:xfrm>
            <a:off x="1127759" y="2133600"/>
            <a:ext cx="6494145" cy="2254463"/>
          </a:xfrm>
          <a:prstGeom prst="rect">
            <a:avLst/>
          </a:prstGeom>
        </p:spPr>
        <p:txBody>
          <a:bodyPr vert="horz" wrap="square" lIns="0" tIns="12700" rIns="0" bIns="0" rtlCol="0">
            <a:spAutoFit/>
          </a:bodyPr>
          <a:lstStyle/>
          <a:p>
            <a:pPr marL="12700" marR="6985">
              <a:lnSpc>
                <a:spcPct val="100000"/>
              </a:lnSpc>
              <a:spcBef>
                <a:spcPts val="100"/>
              </a:spcBef>
              <a:buClr>
                <a:schemeClr val="tx2">
                  <a:lumMod val="60000"/>
                  <a:lumOff val="40000"/>
                </a:schemeClr>
              </a:buClr>
              <a:tabLst>
                <a:tab pos="883919" algn="l"/>
                <a:tab pos="2635250" algn="l"/>
                <a:tab pos="4133215" algn="l"/>
                <a:tab pos="5970270" algn="l"/>
              </a:tabLst>
            </a:pPr>
            <a:r>
              <a:rPr lang="en-US" sz="2400" dirty="0">
                <a:latin typeface="Arial" panose="020B0604020202020204" pitchFamily="34" charset="0"/>
                <a:cs typeface="Arial" panose="020B0604020202020204" pitchFamily="34" charset="0"/>
              </a:rPr>
              <a:t>Encapsulation refers to the bundling of data and methods that operate on that data within a single unit, known as a </a:t>
            </a:r>
            <a:r>
              <a:rPr lang="en-US" sz="2400" b="1" dirty="0">
                <a:latin typeface="Arial" panose="020B0604020202020204" pitchFamily="34" charset="0"/>
                <a:cs typeface="Arial" panose="020B0604020202020204" pitchFamily="34" charset="0"/>
              </a:rPr>
              <a:t>class</a:t>
            </a:r>
            <a:r>
              <a:rPr lang="en-US" sz="2400" dirty="0">
                <a:latin typeface="Arial" panose="020B0604020202020204" pitchFamily="34" charset="0"/>
                <a:cs typeface="Arial" panose="020B0604020202020204" pitchFamily="34" charset="0"/>
              </a:rPr>
              <a:t>. </a:t>
            </a:r>
          </a:p>
          <a:p>
            <a:pPr marL="12700" marR="6985">
              <a:lnSpc>
                <a:spcPct val="100000"/>
              </a:lnSpc>
              <a:spcBef>
                <a:spcPts val="100"/>
              </a:spcBef>
              <a:buClr>
                <a:schemeClr val="tx2">
                  <a:lumMod val="60000"/>
                  <a:lumOff val="40000"/>
                </a:schemeClr>
              </a:buClr>
              <a:tabLst>
                <a:tab pos="883919" algn="l"/>
                <a:tab pos="2635250" algn="l"/>
                <a:tab pos="4133215" algn="l"/>
                <a:tab pos="5970270" algn="l"/>
              </a:tabLst>
            </a:pPr>
            <a:endParaRPr lang="en-US" sz="2400" dirty="0">
              <a:latin typeface="Arial" panose="020B0604020202020204" pitchFamily="34" charset="0"/>
              <a:cs typeface="Arial" panose="020B0604020202020204" pitchFamily="34" charset="0"/>
            </a:endParaRPr>
          </a:p>
          <a:p>
            <a:pPr marL="12700" marR="6985">
              <a:lnSpc>
                <a:spcPct val="100000"/>
              </a:lnSpc>
              <a:spcBef>
                <a:spcPts val="100"/>
              </a:spcBef>
              <a:buClr>
                <a:schemeClr val="tx2">
                  <a:lumMod val="60000"/>
                  <a:lumOff val="40000"/>
                </a:schemeClr>
              </a:buClr>
              <a:tabLst>
                <a:tab pos="883919" algn="l"/>
                <a:tab pos="2635250" algn="l"/>
                <a:tab pos="4133215" algn="l"/>
                <a:tab pos="5970270" algn="l"/>
              </a:tabLst>
            </a:pPr>
            <a:r>
              <a:rPr lang="en-US" sz="2400" dirty="0">
                <a:latin typeface="Arial" panose="020B0604020202020204" pitchFamily="34" charset="0"/>
                <a:cs typeface="Arial" panose="020B0604020202020204" pitchFamily="34" charset="0"/>
              </a:rPr>
              <a:t>This principle improves data security and prevents unintended modifications.</a:t>
            </a:r>
            <a:endParaRPr sz="2400" dirty="0">
              <a:latin typeface="Arial" panose="020B0604020202020204" pitchFamily="34" charset="0"/>
              <a:cs typeface="Arial" panose="020B0604020202020204" pitchFamily="34" charset="0"/>
            </a:endParaRPr>
          </a:p>
        </p:txBody>
      </p:sp>
      <p:sp>
        <p:nvSpPr>
          <p:cNvPr id="4" name="object 4">
            <a:extLst>
              <a:ext uri="{FF2B5EF4-FFF2-40B4-BE49-F238E27FC236}">
                <a16:creationId xmlns:a16="http://schemas.microsoft.com/office/drawing/2014/main" id="{E0697D2E-C28E-9BDE-DED5-E7D45201D744}"/>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32</a:t>
            </a:fld>
            <a:endParaRPr dirty="0"/>
          </a:p>
        </p:txBody>
      </p:sp>
      <p:sp>
        <p:nvSpPr>
          <p:cNvPr id="3" name="object 3">
            <a:extLst>
              <a:ext uri="{FF2B5EF4-FFF2-40B4-BE49-F238E27FC236}">
                <a16:creationId xmlns:a16="http://schemas.microsoft.com/office/drawing/2014/main" id="{6C40A3B0-ED43-CE89-81A8-57B8449E64A3}"/>
              </a:ext>
            </a:extLst>
          </p:cNvPr>
          <p:cNvSpPr txBox="1">
            <a:spLocks noGrp="1"/>
          </p:cNvSpPr>
          <p:nvPr>
            <p:ph type="title"/>
          </p:nvPr>
        </p:nvSpPr>
        <p:spPr>
          <a:xfrm>
            <a:off x="972819" y="933624"/>
            <a:ext cx="6804026" cy="566822"/>
          </a:xfrm>
          <a:prstGeom prst="rect">
            <a:avLst/>
          </a:prstGeom>
        </p:spPr>
        <p:txBody>
          <a:bodyPr vert="horz" wrap="square" lIns="0" tIns="12700" rIns="0" bIns="0" rtlCol="0">
            <a:spAutoFit/>
          </a:bodyPr>
          <a:lstStyle/>
          <a:p>
            <a:pPr marL="12700">
              <a:lnSpc>
                <a:spcPct val="100000"/>
              </a:lnSpc>
              <a:spcBef>
                <a:spcPts val="100"/>
              </a:spcBef>
            </a:pPr>
            <a:r>
              <a:rPr lang="en-US" spc="25" dirty="0"/>
              <a:t>Encapsulation</a:t>
            </a:r>
            <a:endParaRPr spc="35" dirty="0"/>
          </a:p>
        </p:txBody>
      </p:sp>
    </p:spTree>
    <p:extLst>
      <p:ext uri="{BB962C8B-B14F-4D97-AF65-F5344CB8AC3E}">
        <p14:creationId xmlns:p14="http://schemas.microsoft.com/office/powerpoint/2010/main" val="14526095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58B89-9A20-03E3-1924-407FB688666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C68EE4F-2AA9-BBC6-7370-DC0A82ED9DB5}"/>
              </a:ext>
            </a:extLst>
          </p:cNvPr>
          <p:cNvSpPr txBox="1"/>
          <p:nvPr/>
        </p:nvSpPr>
        <p:spPr>
          <a:xfrm>
            <a:off x="1127759" y="2133600"/>
            <a:ext cx="6494145" cy="2739981"/>
          </a:xfrm>
          <a:prstGeom prst="rect">
            <a:avLst/>
          </a:prstGeom>
        </p:spPr>
        <p:txBody>
          <a:bodyPr vert="horz" wrap="square" lIns="0" tIns="12700" rIns="0" bIns="0" rtlCol="0">
            <a:spAutoFit/>
          </a:bodyPr>
          <a:lstStyle/>
          <a:p>
            <a:pPr marL="12700" marR="6985">
              <a:lnSpc>
                <a:spcPct val="150000"/>
              </a:lnSpc>
              <a:spcBef>
                <a:spcPts val="100"/>
              </a:spcBef>
              <a:buClr>
                <a:schemeClr val="tx2">
                  <a:lumMod val="60000"/>
                  <a:lumOff val="40000"/>
                </a:schemeClr>
              </a:buClr>
              <a:tabLst>
                <a:tab pos="883919" algn="l"/>
                <a:tab pos="2635250" algn="l"/>
                <a:tab pos="4133215" algn="l"/>
                <a:tab pos="5970270" algn="l"/>
              </a:tabLst>
            </a:pPr>
            <a:r>
              <a:rPr lang="en-US" sz="2400" dirty="0">
                <a:latin typeface="Arial" panose="020B0604020202020204" pitchFamily="34" charset="0"/>
                <a:cs typeface="Arial" panose="020B0604020202020204" pitchFamily="34" charset="0"/>
              </a:rPr>
              <a:t>Inheritance allows a new class, called a </a:t>
            </a:r>
            <a:r>
              <a:rPr lang="en-US" sz="2400" b="1" dirty="0">
                <a:latin typeface="Arial" panose="020B0604020202020204" pitchFamily="34" charset="0"/>
                <a:cs typeface="Arial" panose="020B0604020202020204" pitchFamily="34" charset="0"/>
              </a:rPr>
              <a:t>subclass</a:t>
            </a:r>
            <a:r>
              <a:rPr lang="en-US" sz="2400" dirty="0">
                <a:latin typeface="Arial" panose="020B0604020202020204" pitchFamily="34" charset="0"/>
                <a:cs typeface="Arial" panose="020B0604020202020204" pitchFamily="34" charset="0"/>
              </a:rPr>
              <a:t>, to derive properties and behaviors from an existing class, known as a </a:t>
            </a:r>
            <a:r>
              <a:rPr lang="en-US" sz="2400" b="1" dirty="0">
                <a:latin typeface="Arial" panose="020B0604020202020204" pitchFamily="34" charset="0"/>
                <a:cs typeface="Arial" panose="020B0604020202020204" pitchFamily="34" charset="0"/>
              </a:rPr>
              <a:t>superclass</a:t>
            </a:r>
            <a:r>
              <a:rPr lang="en-US" sz="2400" dirty="0">
                <a:latin typeface="Arial" panose="020B0604020202020204" pitchFamily="34" charset="0"/>
                <a:cs typeface="Arial" panose="020B0604020202020204" pitchFamily="34" charset="0"/>
              </a:rPr>
              <a:t>. </a:t>
            </a:r>
          </a:p>
          <a:p>
            <a:pPr marL="12700" marR="6985">
              <a:lnSpc>
                <a:spcPct val="150000"/>
              </a:lnSpc>
              <a:spcBef>
                <a:spcPts val="100"/>
              </a:spcBef>
              <a:buClr>
                <a:schemeClr val="tx2">
                  <a:lumMod val="60000"/>
                  <a:lumOff val="40000"/>
                </a:schemeClr>
              </a:buClr>
              <a:tabLst>
                <a:tab pos="883919" algn="l"/>
                <a:tab pos="2635250" algn="l"/>
                <a:tab pos="4133215" algn="l"/>
                <a:tab pos="5970270" algn="l"/>
              </a:tabLst>
            </a:pPr>
            <a:endParaRPr lang="en-US" sz="2400" dirty="0">
              <a:latin typeface="Arial" panose="020B0604020202020204" pitchFamily="34" charset="0"/>
              <a:cs typeface="Arial" panose="020B0604020202020204" pitchFamily="34" charset="0"/>
            </a:endParaRPr>
          </a:p>
          <a:p>
            <a:pPr marL="12700" marR="6985">
              <a:lnSpc>
                <a:spcPct val="150000"/>
              </a:lnSpc>
              <a:spcBef>
                <a:spcPts val="100"/>
              </a:spcBef>
              <a:buClr>
                <a:schemeClr val="tx2">
                  <a:lumMod val="60000"/>
                  <a:lumOff val="40000"/>
                </a:schemeClr>
              </a:buClr>
              <a:tabLst>
                <a:tab pos="883919" algn="l"/>
                <a:tab pos="2635250" algn="l"/>
                <a:tab pos="4133215" algn="l"/>
                <a:tab pos="5970270" algn="l"/>
              </a:tabLst>
            </a:pPr>
            <a:r>
              <a:rPr lang="en-US" sz="2400" dirty="0">
                <a:latin typeface="Arial" panose="020B0604020202020204" pitchFamily="34" charset="0"/>
                <a:cs typeface="Arial" panose="020B0604020202020204" pitchFamily="34" charset="0"/>
              </a:rPr>
              <a:t>This promotes code reuse and logical hierarchy.</a:t>
            </a:r>
          </a:p>
        </p:txBody>
      </p:sp>
      <p:sp>
        <p:nvSpPr>
          <p:cNvPr id="4" name="object 4">
            <a:extLst>
              <a:ext uri="{FF2B5EF4-FFF2-40B4-BE49-F238E27FC236}">
                <a16:creationId xmlns:a16="http://schemas.microsoft.com/office/drawing/2014/main" id="{FC264369-4774-1054-EEF1-5BEAE7D0CE57}"/>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33</a:t>
            </a:fld>
            <a:endParaRPr dirty="0"/>
          </a:p>
        </p:txBody>
      </p:sp>
      <p:sp>
        <p:nvSpPr>
          <p:cNvPr id="3" name="object 3">
            <a:extLst>
              <a:ext uri="{FF2B5EF4-FFF2-40B4-BE49-F238E27FC236}">
                <a16:creationId xmlns:a16="http://schemas.microsoft.com/office/drawing/2014/main" id="{4344F584-FB4E-1719-FF48-F3A9A908244D}"/>
              </a:ext>
            </a:extLst>
          </p:cNvPr>
          <p:cNvSpPr txBox="1">
            <a:spLocks noGrp="1"/>
          </p:cNvSpPr>
          <p:nvPr>
            <p:ph type="title"/>
          </p:nvPr>
        </p:nvSpPr>
        <p:spPr>
          <a:xfrm>
            <a:off x="972819" y="933624"/>
            <a:ext cx="6804026" cy="566822"/>
          </a:xfrm>
          <a:prstGeom prst="rect">
            <a:avLst/>
          </a:prstGeom>
        </p:spPr>
        <p:txBody>
          <a:bodyPr vert="horz" wrap="square" lIns="0" tIns="12700" rIns="0" bIns="0" rtlCol="0">
            <a:spAutoFit/>
          </a:bodyPr>
          <a:lstStyle/>
          <a:p>
            <a:pPr marL="12700">
              <a:lnSpc>
                <a:spcPct val="100000"/>
              </a:lnSpc>
              <a:spcBef>
                <a:spcPts val="100"/>
              </a:spcBef>
            </a:pPr>
            <a:r>
              <a:rPr lang="en-US" spc="25" dirty="0"/>
              <a:t>Inheritance</a:t>
            </a:r>
            <a:endParaRPr spc="35" dirty="0"/>
          </a:p>
        </p:txBody>
      </p:sp>
    </p:spTree>
    <p:extLst>
      <p:ext uri="{BB962C8B-B14F-4D97-AF65-F5344CB8AC3E}">
        <p14:creationId xmlns:p14="http://schemas.microsoft.com/office/powerpoint/2010/main" val="23890364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01314-75D6-2C3C-3C97-EA40EFD2908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FB34D78-4999-BA8A-55CB-39EB06990ED5}"/>
              </a:ext>
            </a:extLst>
          </p:cNvPr>
          <p:cNvSpPr txBox="1"/>
          <p:nvPr/>
        </p:nvSpPr>
        <p:spPr>
          <a:xfrm>
            <a:off x="1127759" y="2133600"/>
            <a:ext cx="6494145" cy="2160335"/>
          </a:xfrm>
          <a:prstGeom prst="rect">
            <a:avLst/>
          </a:prstGeom>
        </p:spPr>
        <p:txBody>
          <a:bodyPr vert="horz" wrap="square" lIns="0" tIns="12700" rIns="0" bIns="0" rtlCol="0">
            <a:spAutoFit/>
          </a:bodyPr>
          <a:lstStyle/>
          <a:p>
            <a:pPr marL="12700" marR="6985">
              <a:lnSpc>
                <a:spcPct val="150000"/>
              </a:lnSpc>
              <a:spcBef>
                <a:spcPts val="100"/>
              </a:spcBef>
              <a:buClr>
                <a:schemeClr val="tx2">
                  <a:lumMod val="60000"/>
                  <a:lumOff val="40000"/>
                </a:schemeClr>
              </a:buClr>
              <a:tabLst>
                <a:tab pos="883919" algn="l"/>
                <a:tab pos="2635250" algn="l"/>
                <a:tab pos="4133215" algn="l"/>
                <a:tab pos="5970270" algn="l"/>
              </a:tabLst>
            </a:pPr>
            <a:r>
              <a:rPr lang="en-US" sz="2400" dirty="0">
                <a:latin typeface="Arial" panose="020B0604020202020204" pitchFamily="34" charset="0"/>
                <a:cs typeface="Arial" panose="020B0604020202020204" pitchFamily="34" charset="0"/>
              </a:rPr>
              <a:t>Polymorphism enables a single interface to be used for different types of objects. It allows methods to be defined in a general class but implemented differently in derived classes.</a:t>
            </a:r>
          </a:p>
        </p:txBody>
      </p:sp>
      <p:sp>
        <p:nvSpPr>
          <p:cNvPr id="4" name="object 4">
            <a:extLst>
              <a:ext uri="{FF2B5EF4-FFF2-40B4-BE49-F238E27FC236}">
                <a16:creationId xmlns:a16="http://schemas.microsoft.com/office/drawing/2014/main" id="{DC1BDCB4-733A-877B-36A8-93C9FBBDB15D}"/>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34</a:t>
            </a:fld>
            <a:endParaRPr dirty="0"/>
          </a:p>
        </p:txBody>
      </p:sp>
      <p:sp>
        <p:nvSpPr>
          <p:cNvPr id="3" name="object 3">
            <a:extLst>
              <a:ext uri="{FF2B5EF4-FFF2-40B4-BE49-F238E27FC236}">
                <a16:creationId xmlns:a16="http://schemas.microsoft.com/office/drawing/2014/main" id="{9079B92A-1908-EE27-3AF2-A61CD0183EAD}"/>
              </a:ext>
            </a:extLst>
          </p:cNvPr>
          <p:cNvSpPr txBox="1">
            <a:spLocks noGrp="1"/>
          </p:cNvSpPr>
          <p:nvPr>
            <p:ph type="title"/>
          </p:nvPr>
        </p:nvSpPr>
        <p:spPr>
          <a:xfrm>
            <a:off x="972819" y="933624"/>
            <a:ext cx="6804026" cy="566822"/>
          </a:xfrm>
          <a:prstGeom prst="rect">
            <a:avLst/>
          </a:prstGeom>
        </p:spPr>
        <p:txBody>
          <a:bodyPr vert="horz" wrap="square" lIns="0" tIns="12700" rIns="0" bIns="0" rtlCol="0">
            <a:spAutoFit/>
          </a:bodyPr>
          <a:lstStyle/>
          <a:p>
            <a:pPr marL="12700">
              <a:lnSpc>
                <a:spcPct val="100000"/>
              </a:lnSpc>
              <a:spcBef>
                <a:spcPts val="100"/>
              </a:spcBef>
            </a:pPr>
            <a:r>
              <a:rPr lang="en-US" spc="25" dirty="0"/>
              <a:t>Polymorphism</a:t>
            </a:r>
            <a:endParaRPr spc="35" dirty="0"/>
          </a:p>
        </p:txBody>
      </p:sp>
    </p:spTree>
    <p:extLst>
      <p:ext uri="{BB962C8B-B14F-4D97-AF65-F5344CB8AC3E}">
        <p14:creationId xmlns:p14="http://schemas.microsoft.com/office/powerpoint/2010/main" val="31974063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C9BD1-90F6-48FD-88D0-D187758B650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EAFC13F-DEC6-96EF-9F5C-F56EB8D9743A}"/>
              </a:ext>
            </a:extLst>
          </p:cNvPr>
          <p:cNvSpPr txBox="1"/>
          <p:nvPr/>
        </p:nvSpPr>
        <p:spPr>
          <a:xfrm>
            <a:off x="1127759" y="2133600"/>
            <a:ext cx="6494145" cy="3268331"/>
          </a:xfrm>
          <a:prstGeom prst="rect">
            <a:avLst/>
          </a:prstGeom>
        </p:spPr>
        <p:txBody>
          <a:bodyPr vert="horz" wrap="square" lIns="0" tIns="12700" rIns="0" bIns="0" rtlCol="0">
            <a:spAutoFit/>
          </a:bodyPr>
          <a:lstStyle/>
          <a:p>
            <a:pPr marL="12700" marR="6985">
              <a:lnSpc>
                <a:spcPct val="150000"/>
              </a:lnSpc>
              <a:spcBef>
                <a:spcPts val="100"/>
              </a:spcBef>
              <a:buClr>
                <a:schemeClr val="tx2">
                  <a:lumMod val="60000"/>
                  <a:lumOff val="40000"/>
                </a:schemeClr>
              </a:buClr>
              <a:tabLst>
                <a:tab pos="883919" algn="l"/>
                <a:tab pos="2635250" algn="l"/>
                <a:tab pos="4133215" algn="l"/>
                <a:tab pos="5970270" algn="l"/>
              </a:tabLst>
            </a:pPr>
            <a:r>
              <a:rPr lang="en-US" sz="2400" dirty="0">
                <a:latin typeface="Arial" panose="020B0604020202020204" pitchFamily="34" charset="0"/>
                <a:cs typeface="Arial" panose="020B0604020202020204" pitchFamily="34" charset="0"/>
              </a:rPr>
              <a:t>Abstraction simplifies complex systems by exposing only essential details and hiding unnecessary implementation specifics. It enables developers to work with high-level concepts without worrying about intricate details.</a:t>
            </a:r>
          </a:p>
        </p:txBody>
      </p:sp>
      <p:sp>
        <p:nvSpPr>
          <p:cNvPr id="4" name="object 4">
            <a:extLst>
              <a:ext uri="{FF2B5EF4-FFF2-40B4-BE49-F238E27FC236}">
                <a16:creationId xmlns:a16="http://schemas.microsoft.com/office/drawing/2014/main" id="{B808E9A8-95B3-B622-9243-51E17C33ACC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35</a:t>
            </a:fld>
            <a:endParaRPr dirty="0"/>
          </a:p>
        </p:txBody>
      </p:sp>
      <p:sp>
        <p:nvSpPr>
          <p:cNvPr id="3" name="object 3">
            <a:extLst>
              <a:ext uri="{FF2B5EF4-FFF2-40B4-BE49-F238E27FC236}">
                <a16:creationId xmlns:a16="http://schemas.microsoft.com/office/drawing/2014/main" id="{0F10D023-3E1A-5B85-EB6D-8FF10BDC1F1F}"/>
              </a:ext>
            </a:extLst>
          </p:cNvPr>
          <p:cNvSpPr txBox="1">
            <a:spLocks noGrp="1"/>
          </p:cNvSpPr>
          <p:nvPr>
            <p:ph type="title"/>
          </p:nvPr>
        </p:nvSpPr>
        <p:spPr>
          <a:xfrm>
            <a:off x="972819" y="933624"/>
            <a:ext cx="6804026" cy="566822"/>
          </a:xfrm>
          <a:prstGeom prst="rect">
            <a:avLst/>
          </a:prstGeom>
        </p:spPr>
        <p:txBody>
          <a:bodyPr vert="horz" wrap="square" lIns="0" tIns="12700" rIns="0" bIns="0" rtlCol="0">
            <a:spAutoFit/>
          </a:bodyPr>
          <a:lstStyle/>
          <a:p>
            <a:pPr marL="12700">
              <a:lnSpc>
                <a:spcPct val="100000"/>
              </a:lnSpc>
              <a:spcBef>
                <a:spcPts val="100"/>
              </a:spcBef>
            </a:pPr>
            <a:r>
              <a:rPr lang="en-US" spc="25" dirty="0"/>
              <a:t>Abstraction</a:t>
            </a:r>
            <a:endParaRPr spc="35" dirty="0"/>
          </a:p>
        </p:txBody>
      </p:sp>
    </p:spTree>
    <p:extLst>
      <p:ext uri="{BB962C8B-B14F-4D97-AF65-F5344CB8AC3E}">
        <p14:creationId xmlns:p14="http://schemas.microsoft.com/office/powerpoint/2010/main" val="21964721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C084E-0F75-6BFB-2842-9EE57130CE36}"/>
              </a:ext>
            </a:extLst>
          </p:cNvPr>
          <p:cNvSpPr>
            <a:spLocks noGrp="1"/>
          </p:cNvSpPr>
          <p:nvPr>
            <p:ph type="title"/>
          </p:nvPr>
        </p:nvSpPr>
        <p:spPr>
          <a:xfrm>
            <a:off x="990600" y="914400"/>
            <a:ext cx="7806689" cy="574040"/>
          </a:xfrm>
        </p:spPr>
        <p:txBody>
          <a:bodyPr/>
          <a:lstStyle/>
          <a:p>
            <a:r>
              <a:rPr lang="en-US" dirty="0"/>
              <a:t>Project</a:t>
            </a:r>
          </a:p>
        </p:txBody>
      </p:sp>
      <p:sp>
        <p:nvSpPr>
          <p:cNvPr id="3" name="Text Placeholder 2">
            <a:extLst>
              <a:ext uri="{FF2B5EF4-FFF2-40B4-BE49-F238E27FC236}">
                <a16:creationId xmlns:a16="http://schemas.microsoft.com/office/drawing/2014/main" id="{A723667F-DC69-554E-329F-38B4F426F9DA}"/>
              </a:ext>
            </a:extLst>
          </p:cNvPr>
          <p:cNvSpPr>
            <a:spLocks noGrp="1"/>
          </p:cNvSpPr>
          <p:nvPr>
            <p:ph type="body" idx="1"/>
          </p:nvPr>
        </p:nvSpPr>
        <p:spPr>
          <a:xfrm>
            <a:off x="990601" y="1730428"/>
            <a:ext cx="7086600" cy="4062651"/>
          </a:xfrm>
        </p:spPr>
        <p:txBody>
          <a:bodyPr/>
          <a:lstStyle/>
          <a:p>
            <a:r>
              <a:rPr lang="en-US" dirty="0"/>
              <a:t>In this project, you will apply object-oriented programing technique to simulate the market demand/supply model.</a:t>
            </a:r>
          </a:p>
          <a:p>
            <a:endParaRPr lang="en-US" dirty="0"/>
          </a:p>
          <a:p>
            <a:pPr marL="342900" indent="-342900">
              <a:buClr>
                <a:srgbClr val="0070C0"/>
              </a:buClr>
              <a:buFont typeface="Arial" panose="020B0604020202020204" pitchFamily="34" charset="0"/>
              <a:buChar char="•"/>
            </a:pPr>
            <a:r>
              <a:rPr lang="en-US" dirty="0"/>
              <a:t>Define “agent” as an abstract concept</a:t>
            </a:r>
          </a:p>
          <a:p>
            <a:pPr marL="342900" indent="-342900">
              <a:buClr>
                <a:srgbClr val="0070C0"/>
              </a:buClr>
              <a:buFont typeface="Arial" panose="020B0604020202020204" pitchFamily="34" charset="0"/>
              <a:buChar char="•"/>
            </a:pPr>
            <a:endParaRPr lang="en-US" dirty="0"/>
          </a:p>
          <a:p>
            <a:pPr marL="342900" indent="-342900">
              <a:buClr>
                <a:srgbClr val="0070C0"/>
              </a:buClr>
              <a:buFont typeface="Arial" panose="020B0604020202020204" pitchFamily="34" charset="0"/>
              <a:buChar char="•"/>
            </a:pPr>
            <a:r>
              <a:rPr lang="en-US" dirty="0"/>
              <a:t>Create child classes under the “agent”</a:t>
            </a:r>
          </a:p>
          <a:p>
            <a:pPr marL="342900" indent="-342900">
              <a:buClr>
                <a:srgbClr val="0070C0"/>
              </a:buClr>
              <a:buFont typeface="Arial" panose="020B0604020202020204" pitchFamily="34" charset="0"/>
              <a:buChar char="•"/>
            </a:pPr>
            <a:endParaRPr lang="en-US" dirty="0"/>
          </a:p>
          <a:p>
            <a:pPr marL="342900" indent="-342900">
              <a:buClr>
                <a:srgbClr val="0070C0"/>
              </a:buClr>
              <a:buFont typeface="Arial" panose="020B0604020202020204" pitchFamily="34" charset="0"/>
              <a:buChar char="•"/>
            </a:pPr>
            <a:r>
              <a:rPr lang="en-US" dirty="0"/>
              <a:t>Instantiate “consumer” and “producer” as objects and have them interact on a simulated “market”</a:t>
            </a:r>
          </a:p>
          <a:p>
            <a:pPr marL="342900" indent="-342900">
              <a:buClr>
                <a:srgbClr val="0070C0"/>
              </a:buClr>
              <a:buFont typeface="Arial" panose="020B0604020202020204" pitchFamily="34" charset="0"/>
              <a:buChar char="•"/>
            </a:pPr>
            <a:endParaRPr lang="en-US" dirty="0"/>
          </a:p>
          <a:p>
            <a:pPr marL="342900" indent="-342900">
              <a:buClr>
                <a:srgbClr val="0070C0"/>
              </a:buClr>
              <a:buFont typeface="Arial" panose="020B0604020202020204" pitchFamily="34" charset="0"/>
              <a:buChar char="•"/>
            </a:pPr>
            <a:r>
              <a:rPr lang="en-US" dirty="0"/>
              <a:t>Simulate the process of finding market equilibrium</a:t>
            </a:r>
          </a:p>
        </p:txBody>
      </p:sp>
    </p:spTree>
    <p:extLst>
      <p:ext uri="{BB962C8B-B14F-4D97-AF65-F5344CB8AC3E}">
        <p14:creationId xmlns:p14="http://schemas.microsoft.com/office/powerpoint/2010/main" val="16915476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82700" y="1821868"/>
            <a:ext cx="6946900" cy="2998257"/>
          </a:xfrm>
          <a:prstGeom prst="rect">
            <a:avLst/>
          </a:prstGeom>
        </p:spPr>
        <p:txBody>
          <a:bodyPr vert="horz" wrap="square" lIns="0" tIns="12700" rIns="0" bIns="0" rtlCol="0">
            <a:spAutoFit/>
          </a:bodyPr>
          <a:lstStyle/>
          <a:p>
            <a:pPr marL="12700" algn="just">
              <a:lnSpc>
                <a:spcPct val="100000"/>
              </a:lnSpc>
              <a:spcBef>
                <a:spcPts val="100"/>
              </a:spcBef>
            </a:pPr>
            <a:r>
              <a:rPr sz="2400" dirty="0">
                <a:solidFill>
                  <a:srgbClr val="231F20"/>
                </a:solidFill>
                <a:latin typeface="Arial"/>
                <a:cs typeface="Arial"/>
              </a:rPr>
              <a:t>Application</a:t>
            </a:r>
            <a:r>
              <a:rPr sz="2400" spc="-20" dirty="0">
                <a:solidFill>
                  <a:srgbClr val="231F20"/>
                </a:solidFill>
                <a:latin typeface="Arial"/>
                <a:cs typeface="Arial"/>
              </a:rPr>
              <a:t> </a:t>
            </a:r>
            <a:r>
              <a:rPr sz="2400" spc="-5" dirty="0">
                <a:solidFill>
                  <a:srgbClr val="231F20"/>
                </a:solidFill>
                <a:latin typeface="Arial"/>
                <a:cs typeface="Arial"/>
              </a:rPr>
              <a:t>of</a:t>
            </a:r>
            <a:r>
              <a:rPr sz="2400" spc="-20" dirty="0">
                <a:solidFill>
                  <a:srgbClr val="231F20"/>
                </a:solidFill>
                <a:latin typeface="Arial"/>
                <a:cs typeface="Arial"/>
              </a:rPr>
              <a:t> </a:t>
            </a:r>
            <a:r>
              <a:rPr sz="2400" dirty="0">
                <a:solidFill>
                  <a:srgbClr val="231F20"/>
                </a:solidFill>
                <a:latin typeface="Arial"/>
                <a:cs typeface="Arial"/>
              </a:rPr>
              <a:t>OOP</a:t>
            </a:r>
            <a:r>
              <a:rPr sz="2400" spc="-65" dirty="0">
                <a:solidFill>
                  <a:srgbClr val="231F20"/>
                </a:solidFill>
                <a:latin typeface="Arial"/>
                <a:cs typeface="Arial"/>
              </a:rPr>
              <a:t> </a:t>
            </a:r>
            <a:r>
              <a:rPr sz="2400" spc="-5" dirty="0">
                <a:solidFill>
                  <a:srgbClr val="231F20"/>
                </a:solidFill>
                <a:latin typeface="Arial"/>
                <a:cs typeface="Arial"/>
              </a:rPr>
              <a:t>in</a:t>
            </a:r>
            <a:r>
              <a:rPr sz="2400" spc="-20" dirty="0">
                <a:solidFill>
                  <a:srgbClr val="231F20"/>
                </a:solidFill>
                <a:latin typeface="Arial"/>
                <a:cs typeface="Arial"/>
              </a:rPr>
              <a:t> </a:t>
            </a:r>
            <a:r>
              <a:rPr sz="2400" spc="-5" dirty="0">
                <a:solidFill>
                  <a:srgbClr val="231F20"/>
                </a:solidFill>
                <a:latin typeface="Arial"/>
                <a:cs typeface="Arial"/>
              </a:rPr>
              <a:t>economics:</a:t>
            </a:r>
            <a:endParaRPr sz="2400" dirty="0">
              <a:latin typeface="Arial"/>
              <a:cs typeface="Arial"/>
            </a:endParaRPr>
          </a:p>
          <a:p>
            <a:pPr>
              <a:lnSpc>
                <a:spcPct val="100000"/>
              </a:lnSpc>
              <a:spcBef>
                <a:spcPts val="5"/>
              </a:spcBef>
            </a:pPr>
            <a:endParaRPr sz="2500" dirty="0">
              <a:latin typeface="Arial"/>
              <a:cs typeface="Arial"/>
            </a:endParaRPr>
          </a:p>
          <a:p>
            <a:pPr marL="12700" marR="5080" algn="just">
              <a:lnSpc>
                <a:spcPct val="100000"/>
              </a:lnSpc>
            </a:pPr>
            <a:r>
              <a:rPr sz="2400" dirty="0">
                <a:solidFill>
                  <a:srgbClr val="231F20"/>
                </a:solidFill>
                <a:latin typeface="Arial"/>
                <a:cs typeface="Arial"/>
              </a:rPr>
              <a:t>Agent-based</a:t>
            </a:r>
            <a:r>
              <a:rPr sz="2400" spc="5" dirty="0">
                <a:solidFill>
                  <a:srgbClr val="231F20"/>
                </a:solidFill>
                <a:latin typeface="Arial"/>
                <a:cs typeface="Arial"/>
              </a:rPr>
              <a:t> </a:t>
            </a:r>
            <a:r>
              <a:rPr sz="2400" dirty="0">
                <a:solidFill>
                  <a:srgbClr val="231F20"/>
                </a:solidFill>
                <a:latin typeface="Arial"/>
                <a:cs typeface="Arial"/>
              </a:rPr>
              <a:t>modeling</a:t>
            </a:r>
            <a:r>
              <a:rPr sz="2400" spc="5" dirty="0">
                <a:solidFill>
                  <a:srgbClr val="231F20"/>
                </a:solidFill>
                <a:latin typeface="Arial"/>
                <a:cs typeface="Arial"/>
              </a:rPr>
              <a:t> </a:t>
            </a:r>
            <a:r>
              <a:rPr sz="2400" dirty="0">
                <a:solidFill>
                  <a:srgbClr val="231F20"/>
                </a:solidFill>
                <a:latin typeface="Arial"/>
                <a:cs typeface="Arial"/>
              </a:rPr>
              <a:t>(ABM)</a:t>
            </a:r>
            <a:r>
              <a:rPr sz="2400" spc="5" dirty="0">
                <a:solidFill>
                  <a:srgbClr val="231F20"/>
                </a:solidFill>
                <a:latin typeface="Arial"/>
                <a:cs typeface="Arial"/>
              </a:rPr>
              <a:t> </a:t>
            </a:r>
            <a:r>
              <a:rPr sz="2400" spc="-5" dirty="0">
                <a:solidFill>
                  <a:srgbClr val="231F20"/>
                </a:solidFill>
                <a:latin typeface="Arial"/>
                <a:cs typeface="Arial"/>
              </a:rPr>
              <a:t>is</a:t>
            </a:r>
            <a:r>
              <a:rPr sz="2400" dirty="0">
                <a:solidFill>
                  <a:srgbClr val="231F20"/>
                </a:solidFill>
                <a:latin typeface="Arial"/>
                <a:cs typeface="Arial"/>
              </a:rPr>
              <a:t> the</a:t>
            </a:r>
            <a:r>
              <a:rPr sz="2400" spc="5" dirty="0">
                <a:solidFill>
                  <a:srgbClr val="231F20"/>
                </a:solidFill>
                <a:latin typeface="Arial"/>
                <a:cs typeface="Arial"/>
              </a:rPr>
              <a:t> </a:t>
            </a:r>
            <a:r>
              <a:rPr sz="2400" spc="-5" dirty="0">
                <a:solidFill>
                  <a:srgbClr val="231F20"/>
                </a:solidFill>
                <a:latin typeface="Arial"/>
                <a:cs typeface="Arial"/>
              </a:rPr>
              <a:t>area</a:t>
            </a:r>
            <a:r>
              <a:rPr sz="2400" dirty="0">
                <a:solidFill>
                  <a:srgbClr val="231F20"/>
                </a:solidFill>
                <a:latin typeface="Arial"/>
                <a:cs typeface="Arial"/>
              </a:rPr>
              <a:t> </a:t>
            </a:r>
            <a:r>
              <a:rPr sz="2400" spc="-5" dirty="0">
                <a:solidFill>
                  <a:srgbClr val="231F20"/>
                </a:solidFill>
                <a:latin typeface="Arial"/>
                <a:cs typeface="Arial"/>
              </a:rPr>
              <a:t>of </a:t>
            </a:r>
            <a:r>
              <a:rPr sz="2400" dirty="0">
                <a:solidFill>
                  <a:srgbClr val="231F20"/>
                </a:solidFill>
                <a:latin typeface="Arial"/>
                <a:cs typeface="Arial"/>
              </a:rPr>
              <a:t> computational</a:t>
            </a:r>
            <a:r>
              <a:rPr sz="2400" spc="5" dirty="0">
                <a:solidFill>
                  <a:srgbClr val="231F20"/>
                </a:solidFill>
                <a:latin typeface="Arial"/>
                <a:cs typeface="Arial"/>
              </a:rPr>
              <a:t> </a:t>
            </a:r>
            <a:r>
              <a:rPr sz="2400" spc="-5" dirty="0">
                <a:solidFill>
                  <a:srgbClr val="231F20"/>
                </a:solidFill>
                <a:latin typeface="Arial"/>
                <a:cs typeface="Arial"/>
              </a:rPr>
              <a:t>economics</a:t>
            </a:r>
            <a:r>
              <a:rPr sz="2400" dirty="0">
                <a:solidFill>
                  <a:srgbClr val="231F20"/>
                </a:solidFill>
                <a:latin typeface="Arial"/>
                <a:cs typeface="Arial"/>
              </a:rPr>
              <a:t> that</a:t>
            </a:r>
            <a:r>
              <a:rPr sz="2400" spc="5" dirty="0">
                <a:solidFill>
                  <a:srgbClr val="231F20"/>
                </a:solidFill>
                <a:latin typeface="Arial"/>
                <a:cs typeface="Arial"/>
              </a:rPr>
              <a:t> </a:t>
            </a:r>
            <a:r>
              <a:rPr sz="2400" dirty="0">
                <a:solidFill>
                  <a:srgbClr val="231F20"/>
                </a:solidFill>
                <a:latin typeface="Arial"/>
                <a:cs typeface="Arial"/>
              </a:rPr>
              <a:t>studies</a:t>
            </a:r>
            <a:r>
              <a:rPr sz="2400" spc="5" dirty="0">
                <a:solidFill>
                  <a:srgbClr val="231F20"/>
                </a:solidFill>
                <a:latin typeface="Arial"/>
                <a:cs typeface="Arial"/>
              </a:rPr>
              <a:t> </a:t>
            </a:r>
            <a:r>
              <a:rPr sz="2400" dirty="0">
                <a:solidFill>
                  <a:srgbClr val="231F20"/>
                </a:solidFill>
                <a:latin typeface="Arial"/>
                <a:cs typeface="Arial"/>
              </a:rPr>
              <a:t>the </a:t>
            </a:r>
            <a:r>
              <a:rPr sz="2400" spc="5" dirty="0">
                <a:solidFill>
                  <a:srgbClr val="231F20"/>
                </a:solidFill>
                <a:latin typeface="Arial"/>
                <a:cs typeface="Arial"/>
              </a:rPr>
              <a:t> </a:t>
            </a:r>
            <a:r>
              <a:rPr sz="2400" spc="-5" dirty="0">
                <a:solidFill>
                  <a:srgbClr val="231F20"/>
                </a:solidFill>
                <a:latin typeface="Arial"/>
                <a:cs typeface="Arial"/>
              </a:rPr>
              <a:t>economi</a:t>
            </a:r>
            <a:r>
              <a:rPr sz="2400" dirty="0">
                <a:solidFill>
                  <a:srgbClr val="231F20"/>
                </a:solidFill>
                <a:latin typeface="Arial"/>
                <a:cs typeface="Arial"/>
              </a:rPr>
              <a:t>c</a:t>
            </a:r>
            <a:r>
              <a:rPr sz="2400" spc="-409" dirty="0">
                <a:solidFill>
                  <a:srgbClr val="231F20"/>
                </a:solidFill>
                <a:latin typeface="Arial"/>
                <a:cs typeface="Arial"/>
              </a:rPr>
              <a:t> </a:t>
            </a:r>
            <a:r>
              <a:rPr sz="2400" spc="-5" dirty="0">
                <a:solidFill>
                  <a:srgbClr val="231F20"/>
                </a:solidFill>
                <a:latin typeface="Arial"/>
                <a:cs typeface="Arial"/>
              </a:rPr>
              <a:t>processes</a:t>
            </a:r>
            <a:r>
              <a:rPr sz="2400" dirty="0">
                <a:solidFill>
                  <a:srgbClr val="231F20"/>
                </a:solidFill>
                <a:latin typeface="Arial"/>
                <a:cs typeface="Arial"/>
              </a:rPr>
              <a:t>,</a:t>
            </a:r>
            <a:r>
              <a:rPr sz="2400" spc="-409" dirty="0">
                <a:solidFill>
                  <a:srgbClr val="231F20"/>
                </a:solidFill>
                <a:latin typeface="Arial"/>
                <a:cs typeface="Arial"/>
              </a:rPr>
              <a:t> </a:t>
            </a:r>
            <a:r>
              <a:rPr sz="2400" spc="-5" dirty="0">
                <a:solidFill>
                  <a:srgbClr val="231F20"/>
                </a:solidFill>
                <a:latin typeface="Arial"/>
                <a:cs typeface="Arial"/>
              </a:rPr>
              <a:t>includin</a:t>
            </a:r>
            <a:r>
              <a:rPr sz="2400" dirty="0">
                <a:solidFill>
                  <a:srgbClr val="231F20"/>
                </a:solidFill>
                <a:latin typeface="Arial"/>
                <a:cs typeface="Arial"/>
              </a:rPr>
              <a:t>g</a:t>
            </a:r>
            <a:r>
              <a:rPr sz="2400" spc="-409" dirty="0">
                <a:solidFill>
                  <a:srgbClr val="231F20"/>
                </a:solidFill>
                <a:latin typeface="Arial"/>
                <a:cs typeface="Arial"/>
              </a:rPr>
              <a:t> </a:t>
            </a:r>
            <a:r>
              <a:rPr sz="2400" spc="-5" dirty="0">
                <a:solidFill>
                  <a:srgbClr val="231F20"/>
                </a:solidFill>
                <a:latin typeface="Arial"/>
                <a:cs typeface="Arial"/>
              </a:rPr>
              <a:t>whol</a:t>
            </a:r>
            <a:r>
              <a:rPr sz="2400" dirty="0">
                <a:solidFill>
                  <a:srgbClr val="231F20"/>
                </a:solidFill>
                <a:latin typeface="Arial"/>
                <a:cs typeface="Arial"/>
              </a:rPr>
              <a:t>e</a:t>
            </a:r>
            <a:r>
              <a:rPr sz="2400" spc="-409" dirty="0">
                <a:solidFill>
                  <a:srgbClr val="231F20"/>
                </a:solidFill>
                <a:latin typeface="Arial"/>
                <a:cs typeface="Arial"/>
              </a:rPr>
              <a:t> </a:t>
            </a:r>
            <a:r>
              <a:rPr sz="2400" spc="-5" dirty="0">
                <a:solidFill>
                  <a:srgbClr val="231F20"/>
                </a:solidFill>
                <a:latin typeface="Arial"/>
                <a:cs typeface="Arial"/>
              </a:rPr>
              <a:t>economies,  as</a:t>
            </a:r>
            <a:r>
              <a:rPr sz="2400" spc="-10" dirty="0">
                <a:solidFill>
                  <a:srgbClr val="231F20"/>
                </a:solidFill>
                <a:latin typeface="Arial"/>
                <a:cs typeface="Arial"/>
              </a:rPr>
              <a:t> </a:t>
            </a:r>
            <a:r>
              <a:rPr sz="2400" spc="-5" dirty="0">
                <a:solidFill>
                  <a:srgbClr val="231F20"/>
                </a:solidFill>
                <a:latin typeface="Arial"/>
                <a:cs typeface="Arial"/>
              </a:rPr>
              <a:t>dynamic</a:t>
            </a:r>
            <a:r>
              <a:rPr sz="2400" spc="-10" dirty="0">
                <a:solidFill>
                  <a:srgbClr val="231F20"/>
                </a:solidFill>
                <a:latin typeface="Arial"/>
                <a:cs typeface="Arial"/>
              </a:rPr>
              <a:t> </a:t>
            </a:r>
            <a:r>
              <a:rPr sz="2400" dirty="0">
                <a:solidFill>
                  <a:srgbClr val="231F20"/>
                </a:solidFill>
                <a:latin typeface="Arial"/>
                <a:cs typeface="Arial"/>
              </a:rPr>
              <a:t>system</a:t>
            </a:r>
            <a:r>
              <a:rPr sz="2400" spc="-5" dirty="0">
                <a:solidFill>
                  <a:srgbClr val="231F20"/>
                </a:solidFill>
                <a:latin typeface="Arial"/>
                <a:cs typeface="Arial"/>
              </a:rPr>
              <a:t> of</a:t>
            </a:r>
            <a:r>
              <a:rPr sz="2400" spc="-10" dirty="0">
                <a:solidFill>
                  <a:srgbClr val="231F20"/>
                </a:solidFill>
                <a:latin typeface="Arial"/>
                <a:cs typeface="Arial"/>
              </a:rPr>
              <a:t> </a:t>
            </a:r>
            <a:r>
              <a:rPr sz="2400" spc="-5" dirty="0">
                <a:solidFill>
                  <a:srgbClr val="231F20"/>
                </a:solidFill>
                <a:latin typeface="Arial"/>
                <a:cs typeface="Arial"/>
              </a:rPr>
              <a:t>interacting</a:t>
            </a:r>
            <a:r>
              <a:rPr sz="2400" spc="-10" dirty="0">
                <a:solidFill>
                  <a:srgbClr val="231F20"/>
                </a:solidFill>
                <a:latin typeface="Arial"/>
                <a:cs typeface="Arial"/>
              </a:rPr>
              <a:t> </a:t>
            </a:r>
            <a:r>
              <a:rPr sz="2400" spc="-5" dirty="0">
                <a:solidFill>
                  <a:srgbClr val="231F20"/>
                </a:solidFill>
                <a:latin typeface="Arial"/>
                <a:cs typeface="Arial"/>
              </a:rPr>
              <a:t>agents.</a:t>
            </a:r>
            <a:endParaRPr sz="2400" dirty="0">
              <a:latin typeface="Arial"/>
              <a:cs typeface="Arial"/>
            </a:endParaRPr>
          </a:p>
          <a:p>
            <a:pPr>
              <a:lnSpc>
                <a:spcPct val="100000"/>
              </a:lnSpc>
              <a:spcBef>
                <a:spcPts val="5"/>
              </a:spcBef>
            </a:pPr>
            <a:endParaRPr sz="2500" dirty="0">
              <a:latin typeface="Arial"/>
              <a:cs typeface="Arial"/>
            </a:endParaRPr>
          </a:p>
          <a:p>
            <a:pPr marL="12700" algn="just">
              <a:lnSpc>
                <a:spcPct val="100000"/>
              </a:lnSpc>
            </a:pPr>
            <a:r>
              <a:rPr lang="en-US" sz="2400" spc="-5" dirty="0">
                <a:solidFill>
                  <a:srgbClr val="231F20"/>
                </a:solidFill>
                <a:latin typeface="Arial"/>
                <a:cs typeface="Arial"/>
              </a:rPr>
              <a:t>----</a:t>
            </a:r>
            <a:r>
              <a:rPr sz="2400" spc="-5" dirty="0">
                <a:solidFill>
                  <a:srgbClr val="231F20"/>
                </a:solidFill>
                <a:latin typeface="Arial"/>
                <a:cs typeface="Arial"/>
              </a:rPr>
              <a:t>Understand</a:t>
            </a:r>
            <a:r>
              <a:rPr sz="2400" spc="-20" dirty="0">
                <a:solidFill>
                  <a:srgbClr val="231F20"/>
                </a:solidFill>
                <a:latin typeface="Arial"/>
                <a:cs typeface="Arial"/>
              </a:rPr>
              <a:t> </a:t>
            </a:r>
            <a:r>
              <a:rPr sz="2400" dirty="0">
                <a:solidFill>
                  <a:srgbClr val="231F20"/>
                </a:solidFill>
                <a:latin typeface="Arial"/>
                <a:cs typeface="Arial"/>
              </a:rPr>
              <a:t>the</a:t>
            </a:r>
            <a:r>
              <a:rPr sz="2400" spc="-15" dirty="0">
                <a:solidFill>
                  <a:srgbClr val="231F20"/>
                </a:solidFill>
                <a:latin typeface="Arial"/>
                <a:cs typeface="Arial"/>
              </a:rPr>
              <a:t> </a:t>
            </a:r>
            <a:r>
              <a:rPr sz="2400" spc="-5" dirty="0">
                <a:solidFill>
                  <a:srgbClr val="231F20"/>
                </a:solidFill>
                <a:latin typeface="Arial"/>
                <a:cs typeface="Arial"/>
              </a:rPr>
              <a:t>economy</a:t>
            </a:r>
            <a:r>
              <a:rPr sz="2400" spc="-20" dirty="0">
                <a:solidFill>
                  <a:srgbClr val="231F20"/>
                </a:solidFill>
                <a:latin typeface="Arial"/>
                <a:cs typeface="Arial"/>
              </a:rPr>
              <a:t> </a:t>
            </a:r>
            <a:r>
              <a:rPr sz="2400" dirty="0">
                <a:solidFill>
                  <a:srgbClr val="231F20"/>
                </a:solidFill>
                <a:latin typeface="Arial"/>
                <a:cs typeface="Arial"/>
              </a:rPr>
              <a:t>from</a:t>
            </a:r>
            <a:r>
              <a:rPr sz="2400" spc="-15" dirty="0">
                <a:solidFill>
                  <a:srgbClr val="231F20"/>
                </a:solidFill>
                <a:latin typeface="Arial"/>
                <a:cs typeface="Arial"/>
              </a:rPr>
              <a:t> </a:t>
            </a:r>
            <a:r>
              <a:rPr sz="2400" dirty="0">
                <a:solidFill>
                  <a:srgbClr val="231F20"/>
                </a:solidFill>
                <a:latin typeface="Arial"/>
                <a:cs typeface="Arial"/>
              </a:rPr>
              <a:t>the</a:t>
            </a:r>
            <a:r>
              <a:rPr sz="2400" spc="-15" dirty="0">
                <a:solidFill>
                  <a:srgbClr val="231F20"/>
                </a:solidFill>
                <a:latin typeface="Arial"/>
                <a:cs typeface="Arial"/>
              </a:rPr>
              <a:t> </a:t>
            </a:r>
            <a:r>
              <a:rPr sz="2400" spc="-5" dirty="0">
                <a:solidFill>
                  <a:srgbClr val="231F20"/>
                </a:solidFill>
                <a:latin typeface="Arial"/>
                <a:cs typeface="Arial"/>
              </a:rPr>
              <a:t>bottom-up.</a:t>
            </a:r>
            <a:endParaRPr sz="2400" dirty="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37</a:t>
            </a:fld>
            <a:endParaRPr dirty="0"/>
          </a:p>
        </p:txBody>
      </p:sp>
      <p:sp>
        <p:nvSpPr>
          <p:cNvPr id="3" name="object 3"/>
          <p:cNvSpPr txBox="1">
            <a:spLocks noGrp="1"/>
          </p:cNvSpPr>
          <p:nvPr>
            <p:ph type="title"/>
          </p:nvPr>
        </p:nvSpPr>
        <p:spPr>
          <a:xfrm>
            <a:off x="972819" y="933624"/>
            <a:ext cx="5217160" cy="574040"/>
          </a:xfrm>
          <a:prstGeom prst="rect">
            <a:avLst/>
          </a:prstGeom>
        </p:spPr>
        <p:txBody>
          <a:bodyPr vert="horz" wrap="square" lIns="0" tIns="12700" rIns="0" bIns="0" rtlCol="0">
            <a:spAutoFit/>
          </a:bodyPr>
          <a:lstStyle/>
          <a:p>
            <a:pPr marL="12700">
              <a:lnSpc>
                <a:spcPct val="100000"/>
              </a:lnSpc>
              <a:spcBef>
                <a:spcPts val="100"/>
              </a:spcBef>
            </a:pPr>
            <a:r>
              <a:rPr spc="25" dirty="0"/>
              <a:t>Agent-based</a:t>
            </a:r>
            <a:r>
              <a:rPr spc="-25" dirty="0"/>
              <a:t> </a:t>
            </a:r>
            <a:r>
              <a:rPr spc="35" dirty="0"/>
              <a:t>Modeling</a:t>
            </a:r>
          </a:p>
        </p:txBody>
      </p:sp>
    </p:spTree>
    <p:extLst>
      <p:ext uri="{BB962C8B-B14F-4D97-AF65-F5344CB8AC3E}">
        <p14:creationId xmlns:p14="http://schemas.microsoft.com/office/powerpoint/2010/main" val="38985926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82700" y="1821868"/>
            <a:ext cx="6494145" cy="3683000"/>
          </a:xfrm>
          <a:prstGeom prst="rect">
            <a:avLst/>
          </a:prstGeom>
        </p:spPr>
        <p:txBody>
          <a:bodyPr vert="horz" wrap="square" lIns="0" tIns="12700" rIns="0" bIns="0" rtlCol="0">
            <a:spAutoFit/>
          </a:bodyPr>
          <a:lstStyle/>
          <a:p>
            <a:pPr marL="12700" marR="6985">
              <a:lnSpc>
                <a:spcPct val="100000"/>
              </a:lnSpc>
              <a:spcBef>
                <a:spcPts val="100"/>
              </a:spcBef>
              <a:tabLst>
                <a:tab pos="883919" algn="l"/>
                <a:tab pos="2635250" algn="l"/>
                <a:tab pos="4133215" algn="l"/>
                <a:tab pos="5970270" algn="l"/>
              </a:tabLst>
            </a:pPr>
            <a:r>
              <a:rPr sz="2400" dirty="0">
                <a:solidFill>
                  <a:srgbClr val="231F20"/>
                </a:solidFill>
                <a:latin typeface="Arial"/>
                <a:cs typeface="Arial"/>
              </a:rPr>
              <a:t>The	</a:t>
            </a:r>
            <a:r>
              <a:rPr sz="2400" spc="-5" dirty="0">
                <a:solidFill>
                  <a:srgbClr val="231F20"/>
                </a:solidFill>
                <a:latin typeface="Arial"/>
                <a:cs typeface="Arial"/>
              </a:rPr>
              <a:t>interactio</a:t>
            </a:r>
            <a:r>
              <a:rPr sz="2400" dirty="0">
                <a:solidFill>
                  <a:srgbClr val="231F20"/>
                </a:solidFill>
                <a:latin typeface="Arial"/>
                <a:cs typeface="Arial"/>
              </a:rPr>
              <a:t>n	</a:t>
            </a:r>
            <a:r>
              <a:rPr sz="2400" spc="-5" dirty="0">
                <a:solidFill>
                  <a:srgbClr val="231F20"/>
                </a:solidFill>
                <a:latin typeface="Arial"/>
                <a:cs typeface="Arial"/>
              </a:rPr>
              <a:t>betwee</a:t>
            </a:r>
            <a:r>
              <a:rPr sz="2400" dirty="0">
                <a:solidFill>
                  <a:srgbClr val="231F20"/>
                </a:solidFill>
                <a:latin typeface="Arial"/>
                <a:cs typeface="Arial"/>
              </a:rPr>
              <a:t>n	consumers	</a:t>
            </a:r>
            <a:r>
              <a:rPr sz="2400" spc="-5" dirty="0">
                <a:solidFill>
                  <a:srgbClr val="231F20"/>
                </a:solidFill>
                <a:latin typeface="Arial"/>
                <a:cs typeface="Arial"/>
              </a:rPr>
              <a:t>and  producers.</a:t>
            </a:r>
            <a:endParaRPr sz="2400">
              <a:latin typeface="Arial"/>
              <a:cs typeface="Arial"/>
            </a:endParaRPr>
          </a:p>
          <a:p>
            <a:pPr>
              <a:lnSpc>
                <a:spcPct val="100000"/>
              </a:lnSpc>
              <a:spcBef>
                <a:spcPts val="5"/>
              </a:spcBef>
            </a:pPr>
            <a:endParaRPr sz="2500">
              <a:latin typeface="Arial"/>
              <a:cs typeface="Arial"/>
            </a:endParaRPr>
          </a:p>
          <a:p>
            <a:pPr marL="12700" marR="278765">
              <a:lnSpc>
                <a:spcPct val="100000"/>
              </a:lnSpc>
            </a:pPr>
            <a:r>
              <a:rPr sz="2400" spc="-5" dirty="0">
                <a:solidFill>
                  <a:srgbClr val="231F20"/>
                </a:solidFill>
                <a:latin typeface="Arial"/>
                <a:cs typeface="Arial"/>
              </a:rPr>
              <a:t>Consumer decision </a:t>
            </a:r>
            <a:r>
              <a:rPr sz="2400" dirty="0">
                <a:solidFill>
                  <a:srgbClr val="231F20"/>
                </a:solidFill>
                <a:latin typeface="Arial"/>
                <a:cs typeface="Arial"/>
              </a:rPr>
              <a:t>making: WTP </a:t>
            </a:r>
            <a:r>
              <a:rPr sz="2400" spc="-45" dirty="0">
                <a:solidFill>
                  <a:srgbClr val="231F20"/>
                </a:solidFill>
                <a:latin typeface="Arial"/>
                <a:cs typeface="Arial"/>
              </a:rPr>
              <a:t>v.s. </a:t>
            </a:r>
            <a:r>
              <a:rPr sz="2400" spc="-5" dirty="0">
                <a:solidFill>
                  <a:srgbClr val="231F20"/>
                </a:solidFill>
                <a:latin typeface="Arial"/>
                <a:cs typeface="Arial"/>
              </a:rPr>
              <a:t>price </a:t>
            </a:r>
            <a:r>
              <a:rPr sz="2400" dirty="0">
                <a:solidFill>
                  <a:srgbClr val="231F20"/>
                </a:solidFill>
                <a:latin typeface="Arial"/>
                <a:cs typeface="Arial"/>
              </a:rPr>
              <a:t> Producer</a:t>
            </a:r>
            <a:r>
              <a:rPr sz="2400" spc="-15" dirty="0">
                <a:solidFill>
                  <a:srgbClr val="231F20"/>
                </a:solidFill>
                <a:latin typeface="Arial"/>
                <a:cs typeface="Arial"/>
              </a:rPr>
              <a:t> </a:t>
            </a:r>
            <a:r>
              <a:rPr sz="2400" spc="-5" dirty="0">
                <a:solidFill>
                  <a:srgbClr val="231F20"/>
                </a:solidFill>
                <a:latin typeface="Arial"/>
                <a:cs typeface="Arial"/>
              </a:rPr>
              <a:t>decision</a:t>
            </a:r>
            <a:r>
              <a:rPr sz="2400" spc="-20" dirty="0">
                <a:solidFill>
                  <a:srgbClr val="231F20"/>
                </a:solidFill>
                <a:latin typeface="Arial"/>
                <a:cs typeface="Arial"/>
              </a:rPr>
              <a:t> </a:t>
            </a:r>
            <a:r>
              <a:rPr sz="2400" dirty="0">
                <a:solidFill>
                  <a:srgbClr val="231F20"/>
                </a:solidFill>
                <a:latin typeface="Arial"/>
                <a:cs typeface="Arial"/>
              </a:rPr>
              <a:t>making:</a:t>
            </a:r>
            <a:r>
              <a:rPr sz="2400" spc="-15" dirty="0">
                <a:solidFill>
                  <a:srgbClr val="231F20"/>
                </a:solidFill>
                <a:latin typeface="Arial"/>
                <a:cs typeface="Arial"/>
              </a:rPr>
              <a:t> </a:t>
            </a:r>
            <a:r>
              <a:rPr sz="2400" spc="-5" dirty="0">
                <a:solidFill>
                  <a:srgbClr val="231F20"/>
                </a:solidFill>
                <a:latin typeface="Arial"/>
                <a:cs typeface="Arial"/>
              </a:rPr>
              <a:t>opp.</a:t>
            </a:r>
            <a:r>
              <a:rPr sz="2400" spc="-20" dirty="0">
                <a:solidFill>
                  <a:srgbClr val="231F20"/>
                </a:solidFill>
                <a:latin typeface="Arial"/>
                <a:cs typeface="Arial"/>
              </a:rPr>
              <a:t> </a:t>
            </a:r>
            <a:r>
              <a:rPr sz="2400" dirty="0">
                <a:solidFill>
                  <a:srgbClr val="231F20"/>
                </a:solidFill>
                <a:latin typeface="Arial"/>
                <a:cs typeface="Arial"/>
              </a:rPr>
              <a:t>cost</a:t>
            </a:r>
            <a:r>
              <a:rPr sz="2400" spc="-10" dirty="0">
                <a:solidFill>
                  <a:srgbClr val="231F20"/>
                </a:solidFill>
                <a:latin typeface="Arial"/>
                <a:cs typeface="Arial"/>
              </a:rPr>
              <a:t> </a:t>
            </a:r>
            <a:r>
              <a:rPr sz="2400" spc="-45" dirty="0">
                <a:solidFill>
                  <a:srgbClr val="231F20"/>
                </a:solidFill>
                <a:latin typeface="Arial"/>
                <a:cs typeface="Arial"/>
              </a:rPr>
              <a:t>v.s.</a:t>
            </a:r>
            <a:r>
              <a:rPr sz="2400" spc="-15" dirty="0">
                <a:solidFill>
                  <a:srgbClr val="231F20"/>
                </a:solidFill>
                <a:latin typeface="Arial"/>
                <a:cs typeface="Arial"/>
              </a:rPr>
              <a:t> </a:t>
            </a:r>
            <a:r>
              <a:rPr sz="2400" spc="-5" dirty="0">
                <a:solidFill>
                  <a:srgbClr val="231F20"/>
                </a:solidFill>
                <a:latin typeface="Arial"/>
                <a:cs typeface="Arial"/>
              </a:rPr>
              <a:t>price</a:t>
            </a:r>
            <a:endParaRPr sz="2400">
              <a:latin typeface="Arial"/>
              <a:cs typeface="Arial"/>
            </a:endParaRPr>
          </a:p>
          <a:p>
            <a:pPr>
              <a:lnSpc>
                <a:spcPct val="100000"/>
              </a:lnSpc>
              <a:spcBef>
                <a:spcPts val="5"/>
              </a:spcBef>
            </a:pPr>
            <a:endParaRPr sz="2500">
              <a:latin typeface="Arial"/>
              <a:cs typeface="Arial"/>
            </a:endParaRPr>
          </a:p>
          <a:p>
            <a:pPr marL="12700">
              <a:lnSpc>
                <a:spcPct val="100000"/>
              </a:lnSpc>
            </a:pPr>
            <a:r>
              <a:rPr sz="2400" dirty="0">
                <a:solidFill>
                  <a:srgbClr val="231F20"/>
                </a:solidFill>
                <a:latin typeface="Arial"/>
                <a:cs typeface="Arial"/>
              </a:rPr>
              <a:t>Interaction:</a:t>
            </a:r>
            <a:r>
              <a:rPr sz="2400" spc="-25" dirty="0">
                <a:solidFill>
                  <a:srgbClr val="231F20"/>
                </a:solidFill>
                <a:latin typeface="Arial"/>
                <a:cs typeface="Arial"/>
              </a:rPr>
              <a:t> </a:t>
            </a:r>
            <a:r>
              <a:rPr sz="2400" dirty="0">
                <a:solidFill>
                  <a:srgbClr val="231F20"/>
                </a:solidFill>
                <a:latin typeface="Arial"/>
                <a:cs typeface="Arial"/>
              </a:rPr>
              <a:t>the</a:t>
            </a:r>
            <a:r>
              <a:rPr sz="2400" spc="-25" dirty="0">
                <a:solidFill>
                  <a:srgbClr val="231F20"/>
                </a:solidFill>
                <a:latin typeface="Arial"/>
                <a:cs typeface="Arial"/>
              </a:rPr>
              <a:t> </a:t>
            </a:r>
            <a:r>
              <a:rPr sz="2400" dirty="0">
                <a:solidFill>
                  <a:srgbClr val="231F20"/>
                </a:solidFill>
                <a:latin typeface="Arial"/>
                <a:cs typeface="Arial"/>
              </a:rPr>
              <a:t>market</a:t>
            </a:r>
            <a:r>
              <a:rPr sz="2400" spc="-25" dirty="0">
                <a:solidFill>
                  <a:srgbClr val="231F20"/>
                </a:solidFill>
                <a:latin typeface="Arial"/>
                <a:cs typeface="Arial"/>
              </a:rPr>
              <a:t> </a:t>
            </a:r>
            <a:r>
              <a:rPr sz="2400" dirty="0">
                <a:solidFill>
                  <a:srgbClr val="231F20"/>
                </a:solidFill>
                <a:latin typeface="Arial"/>
                <a:cs typeface="Arial"/>
              </a:rPr>
              <a:t>mechanism</a:t>
            </a:r>
            <a:endParaRPr sz="2400">
              <a:latin typeface="Arial"/>
              <a:cs typeface="Arial"/>
            </a:endParaRPr>
          </a:p>
          <a:p>
            <a:pPr>
              <a:lnSpc>
                <a:spcPct val="100000"/>
              </a:lnSpc>
              <a:spcBef>
                <a:spcPts val="5"/>
              </a:spcBef>
            </a:pPr>
            <a:endParaRPr sz="2500">
              <a:latin typeface="Arial"/>
              <a:cs typeface="Arial"/>
            </a:endParaRPr>
          </a:p>
          <a:p>
            <a:pPr marL="12700" marR="5080">
              <a:lnSpc>
                <a:spcPct val="100000"/>
              </a:lnSpc>
            </a:pPr>
            <a:r>
              <a:rPr sz="2400" dirty="0">
                <a:solidFill>
                  <a:srgbClr val="231F20"/>
                </a:solidFill>
                <a:latin typeface="Arial"/>
                <a:cs typeface="Arial"/>
              </a:rPr>
              <a:t>Outcome:</a:t>
            </a:r>
            <a:r>
              <a:rPr sz="2400" spc="55" dirty="0">
                <a:solidFill>
                  <a:srgbClr val="231F20"/>
                </a:solidFill>
                <a:latin typeface="Arial"/>
                <a:cs typeface="Arial"/>
              </a:rPr>
              <a:t> </a:t>
            </a:r>
            <a:r>
              <a:rPr sz="2400" dirty="0">
                <a:solidFill>
                  <a:srgbClr val="231F20"/>
                </a:solidFill>
                <a:latin typeface="Arial"/>
                <a:cs typeface="Arial"/>
              </a:rPr>
              <a:t>market</a:t>
            </a:r>
            <a:r>
              <a:rPr sz="2400" spc="50" dirty="0">
                <a:solidFill>
                  <a:srgbClr val="231F20"/>
                </a:solidFill>
                <a:latin typeface="Arial"/>
                <a:cs typeface="Arial"/>
              </a:rPr>
              <a:t> </a:t>
            </a:r>
            <a:r>
              <a:rPr sz="2400" dirty="0">
                <a:solidFill>
                  <a:srgbClr val="231F20"/>
                </a:solidFill>
                <a:latin typeface="Arial"/>
                <a:cs typeface="Arial"/>
              </a:rPr>
              <a:t>status</a:t>
            </a:r>
            <a:r>
              <a:rPr sz="2400" spc="50" dirty="0">
                <a:solidFill>
                  <a:srgbClr val="231F20"/>
                </a:solidFill>
                <a:latin typeface="Arial"/>
                <a:cs typeface="Arial"/>
              </a:rPr>
              <a:t> </a:t>
            </a:r>
            <a:r>
              <a:rPr sz="2400" dirty="0">
                <a:solidFill>
                  <a:srgbClr val="231F20"/>
                </a:solidFill>
                <a:latin typeface="Arial"/>
                <a:cs typeface="Arial"/>
              </a:rPr>
              <a:t>(i.e.,</a:t>
            </a:r>
            <a:r>
              <a:rPr sz="2400" spc="50" dirty="0">
                <a:solidFill>
                  <a:srgbClr val="231F20"/>
                </a:solidFill>
                <a:latin typeface="Arial"/>
                <a:cs typeface="Arial"/>
              </a:rPr>
              <a:t> </a:t>
            </a:r>
            <a:r>
              <a:rPr sz="2400" dirty="0">
                <a:solidFill>
                  <a:srgbClr val="231F20"/>
                </a:solidFill>
                <a:latin typeface="Arial"/>
                <a:cs typeface="Arial"/>
              </a:rPr>
              <a:t>shortage,</a:t>
            </a:r>
            <a:r>
              <a:rPr sz="2400" spc="50" dirty="0">
                <a:solidFill>
                  <a:srgbClr val="231F20"/>
                </a:solidFill>
                <a:latin typeface="Arial"/>
                <a:cs typeface="Arial"/>
              </a:rPr>
              <a:t> </a:t>
            </a:r>
            <a:r>
              <a:rPr sz="2400" dirty="0">
                <a:solidFill>
                  <a:srgbClr val="231F20"/>
                </a:solidFill>
                <a:latin typeface="Arial"/>
                <a:cs typeface="Arial"/>
              </a:rPr>
              <a:t>surplus, </a:t>
            </a:r>
            <a:r>
              <a:rPr sz="2400" spc="-655" dirty="0">
                <a:solidFill>
                  <a:srgbClr val="231F20"/>
                </a:solidFill>
                <a:latin typeface="Arial"/>
                <a:cs typeface="Arial"/>
              </a:rPr>
              <a:t> </a:t>
            </a:r>
            <a:r>
              <a:rPr sz="2400" spc="-5" dirty="0">
                <a:solidFill>
                  <a:srgbClr val="231F20"/>
                </a:solidFill>
                <a:latin typeface="Arial"/>
                <a:cs typeface="Arial"/>
              </a:rPr>
              <a:t>or</a:t>
            </a:r>
            <a:r>
              <a:rPr sz="2400" spc="-10" dirty="0">
                <a:solidFill>
                  <a:srgbClr val="231F20"/>
                </a:solidFill>
                <a:latin typeface="Arial"/>
                <a:cs typeface="Arial"/>
              </a:rPr>
              <a:t> </a:t>
            </a:r>
            <a:r>
              <a:rPr sz="2400" spc="-5" dirty="0">
                <a:solidFill>
                  <a:srgbClr val="231F20"/>
                </a:solidFill>
                <a:latin typeface="Arial"/>
                <a:cs typeface="Arial"/>
              </a:rPr>
              <a:t>equilibrium)</a:t>
            </a:r>
            <a:endParaRPr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25"/>
              </a:lnSpc>
            </a:pPr>
            <a:r>
              <a:rPr spc="-5" dirty="0"/>
              <a:t>page</a:t>
            </a:r>
            <a:r>
              <a:rPr spc="-50" dirty="0"/>
              <a:t> </a:t>
            </a:r>
            <a:fld id="{81D60167-4931-47E6-BA6A-407CBD079E47}" type="slidenum">
              <a:rPr dirty="0"/>
              <a:t>38</a:t>
            </a:fld>
            <a:endParaRPr dirty="0"/>
          </a:p>
        </p:txBody>
      </p:sp>
      <p:sp>
        <p:nvSpPr>
          <p:cNvPr id="3" name="object 3"/>
          <p:cNvSpPr txBox="1">
            <a:spLocks noGrp="1"/>
          </p:cNvSpPr>
          <p:nvPr>
            <p:ph type="title"/>
          </p:nvPr>
        </p:nvSpPr>
        <p:spPr>
          <a:xfrm>
            <a:off x="972819" y="933624"/>
            <a:ext cx="5217160" cy="574040"/>
          </a:xfrm>
          <a:prstGeom prst="rect">
            <a:avLst/>
          </a:prstGeom>
        </p:spPr>
        <p:txBody>
          <a:bodyPr vert="horz" wrap="square" lIns="0" tIns="12700" rIns="0" bIns="0" rtlCol="0">
            <a:spAutoFit/>
          </a:bodyPr>
          <a:lstStyle/>
          <a:p>
            <a:pPr marL="12700">
              <a:lnSpc>
                <a:spcPct val="100000"/>
              </a:lnSpc>
              <a:spcBef>
                <a:spcPts val="100"/>
              </a:spcBef>
            </a:pPr>
            <a:r>
              <a:rPr spc="25" dirty="0"/>
              <a:t>Agent-based</a:t>
            </a:r>
            <a:r>
              <a:rPr spc="-25" dirty="0"/>
              <a:t> </a:t>
            </a:r>
            <a:r>
              <a:rPr spc="35" dirty="0"/>
              <a:t>Modeling</a:t>
            </a:r>
          </a:p>
        </p:txBody>
      </p:sp>
    </p:spTree>
    <p:extLst>
      <p:ext uri="{BB962C8B-B14F-4D97-AF65-F5344CB8AC3E}">
        <p14:creationId xmlns:p14="http://schemas.microsoft.com/office/powerpoint/2010/main" val="3225010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2659</TotalTime>
  <Words>2312</Words>
  <Application>Microsoft Macintosh PowerPoint</Application>
  <PresentationFormat>On-screen Show (4:3)</PresentationFormat>
  <Paragraphs>297</Paragraphs>
  <Slides>38</Slides>
  <Notes>38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Arial-BoldItalicMT</vt:lpstr>
      <vt:lpstr>Apple Symbols</vt:lpstr>
      <vt:lpstr>Arial</vt:lpstr>
      <vt:lpstr>Calibri</vt:lpstr>
      <vt:lpstr>Courier New</vt:lpstr>
      <vt:lpstr>Times New Roman</vt:lpstr>
      <vt:lpstr>Verdana</vt:lpstr>
      <vt:lpstr>Office Theme</vt:lpstr>
      <vt:lpstr>Computational Economics</vt:lpstr>
      <vt:lpstr>Objectives</vt:lpstr>
      <vt:lpstr>Economic Studies</vt:lpstr>
      <vt:lpstr>Review: The market Mechanism</vt:lpstr>
      <vt:lpstr>Demand</vt:lpstr>
      <vt:lpstr>PowerPoint Presentation</vt:lpstr>
      <vt:lpstr>Quantity Demanded</vt:lpstr>
      <vt:lpstr>Examine Shifts in  the Demand Curve</vt:lpstr>
      <vt:lpstr>The market Mechanism</vt:lpstr>
      <vt:lpstr>Similar on the Supply Side</vt:lpstr>
      <vt:lpstr>The market Mechanism</vt:lpstr>
      <vt:lpstr>Review: The Market Mechanism</vt:lpstr>
      <vt:lpstr>The market Mechanism</vt:lpstr>
      <vt:lpstr>What is an economic "agent"?</vt:lpstr>
      <vt:lpstr>What is an economic "agent"?</vt:lpstr>
      <vt:lpstr>What is an economic "agent"?</vt:lpstr>
      <vt:lpstr>PowerPoint Presentation</vt:lpstr>
      <vt:lpstr>Object Oriented Programming</vt:lpstr>
      <vt:lpstr>Object Oriented Programming</vt:lpstr>
      <vt:lpstr>Attributes</vt:lpstr>
      <vt:lpstr>Attributes</vt:lpstr>
      <vt:lpstr>In-Class Practice</vt:lpstr>
      <vt:lpstr>Coding Practice Summary</vt:lpstr>
      <vt:lpstr>Methods</vt:lpstr>
      <vt:lpstr>In-Class Practice</vt:lpstr>
      <vt:lpstr>Coding Practice Summary</vt:lpstr>
      <vt:lpstr>Inheritance</vt:lpstr>
      <vt:lpstr>Parent class and child class</vt:lpstr>
      <vt:lpstr>In-class Coding Practice</vt:lpstr>
      <vt:lpstr>Practice Summary</vt:lpstr>
      <vt:lpstr>The Four Principles in OOP</vt:lpstr>
      <vt:lpstr>Encapsulation</vt:lpstr>
      <vt:lpstr>Inheritance</vt:lpstr>
      <vt:lpstr>Polymorphism</vt:lpstr>
      <vt:lpstr>Abstraction</vt:lpstr>
      <vt:lpstr>Project</vt:lpstr>
      <vt:lpstr>Agent-based Modeling</vt:lpstr>
      <vt:lpstr>Agent-based Modeling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Computational Economics</dc:title>
  <cp:lastModifiedBy>Sining Wang</cp:lastModifiedBy>
  <cp:revision>17</cp:revision>
  <dcterms:created xsi:type="dcterms:W3CDTF">2021-09-21T20:08:25Z</dcterms:created>
  <dcterms:modified xsi:type="dcterms:W3CDTF">2026-07-07T13:14:49Z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2020-09-22T00:00:00Z</vt:filetime>
  </property>
  <property fmtid="{D5CDD505-2E9C-101B-9397-08002B2CF9AE}" pid="3" name="Creator">
    <vt:lpwstr>Adobe InDesign 15.0 (Macintosh)</vt:lpwstr>
  </property>
  <property fmtid="{D5CDD505-2E9C-101B-9397-08002B2CF9AE}" pid="4" name="LastSaved">
    <vt:filetime>2021-09-21T00:00:00Z</vt:filetime>
  </property>
</Properties>
</file>