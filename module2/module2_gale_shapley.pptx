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media/image8.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1"/>
  </p:sldMasterIdLst>
  <p:notesMasterIdLst>
    <p:notesMasterId r:id="rId36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85" r:id="rId14"/>
    <p:sldId id="268" r:id="rId15"/>
    <p:sldId id="269" r:id="rId16"/>
    <p:sldId id="270" r:id="rId17"/>
    <p:sldId id="287" r:id="rId18"/>
    <p:sldId id="267" r:id="rId19"/>
    <p:sldId id="274" r:id="rId20"/>
    <p:sldId id="289" r:id="rId21"/>
    <p:sldId id="288" r:id="rId22"/>
    <p:sldId id="275" r:id="rId23"/>
    <p:sldId id="276" r:id="rId24"/>
    <p:sldId id="277" r:id="rId25"/>
    <p:sldId id="278" r:id="rId26"/>
    <p:sldId id="271" r:id="rId27"/>
    <p:sldId id="272" r:id="rId28"/>
    <p:sldId id="273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69E8"/>
    <a:srgbClr val="0D97FF"/>
    <a:srgbClr val="F25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E6D576-CBCB-FE4F-95A1-60D1DB1A217C}" v="10" dt="2021-08-31T17:56:41.67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72078"/>
  </p:normalViewPr>
  <p:slideViewPr>
    <p:cSldViewPr>
      <p:cViewPr varScale="1">
        <p:scale>
          <a:sx n="85" d="100"/>
          <a:sy n="85" d="100"/>
        </p:scale>
        <p:origin x="1384" y="1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FF37F7-B3BD-2042-A60F-5965D11BCC5D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B7DD8D-F481-0C43-B95F-633CE36F6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316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</a:t>
            </a:r>
          </a:p>
          <a:p>
            <a:r>
              <a:rPr lang="en-US" dirty="0"/>
              <a:t>In an instance with n men and n women, the total number of possible ways to match them is </a:t>
            </a:r>
            <a:r>
              <a:rPr lang="en-US" b="1" dirty="0"/>
              <a:t>n!</a:t>
            </a:r>
            <a:r>
              <a:rPr lang="en-US" dirty="0"/>
              <a:t>(factorial)</a:t>
            </a:r>
          </a:p>
          <a:p>
            <a:r>
              <a:rPr lang="en-US" dirty="0"/>
              <a:t>For example, with n=3n = 3n=3, the possible matchings would be: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(m1,w1),(m2,w2),(m3,w3)(m_1, w_1), (m_2, w_2), (m_3, w_3)(m1​,w1​),(m2​,w2​),(m3​,w3​)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(m1,w2),(m2,w3),(m3,w1)(m_1, w_2), (m_2, w_3), (m_3, w_1)(m1​,w2​),(m2​,w3​),(m3​,w1​)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(m1,w3),(m2,w1),(m3,w2)(m_1, w_3), (m_2, w_1), (m_3, w_2)(m1​,w3​),(m2​,w1​),(m3​,w2​)</a:t>
            </a:r>
          </a:p>
          <a:p>
            <a:pPr>
              <a:buFont typeface="+mj-lt"/>
              <a:buAutoNum type="arabicPeriod"/>
            </a:pPr>
            <a:r>
              <a:rPr lang="en-US" dirty="0"/>
              <a:t>And so on... up to 3!=63! = 63!=6 combinations.</a:t>
            </a:r>
          </a:p>
          <a:p>
            <a:r>
              <a:rPr lang="en-US" dirty="0"/>
              <a:t>For larger values of , the number of possibilities grows exponentially (e.g., for n=10, there are </a:t>
            </a:r>
            <a:r>
              <a:rPr lang="en-US" b="1" dirty="0"/>
              <a:t>10! = 3,628,800</a:t>
            </a:r>
            <a:r>
              <a:rPr lang="en-US" dirty="0"/>
              <a:t> possible matchings).</a:t>
            </a:r>
          </a:p>
          <a:p>
            <a:endParaRPr lang="en-US" dirty="0"/>
          </a:p>
          <a:p>
            <a:r>
              <a:rPr lang="en-US" b="1" dirty="0"/>
              <a:t>Step 2: Check Stability for Each Matching</a:t>
            </a:r>
          </a:p>
          <a:p>
            <a:r>
              <a:rPr lang="en-US" dirty="0"/>
              <a:t>For each generated matching, we need to check if there exists an </a:t>
            </a:r>
            <a:r>
              <a:rPr lang="en-US" b="1" dirty="0"/>
              <a:t>unstable pair</a:t>
            </a:r>
            <a:r>
              <a:rPr lang="en-US" dirty="0"/>
              <a:t>, which occurs when: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man prefers a woman over his current partner </a:t>
            </a:r>
            <a:r>
              <a:rPr lang="en-US" b="1" dirty="0"/>
              <a:t>and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That woman also prefers him over her current partner.</a:t>
            </a:r>
          </a:p>
          <a:p>
            <a:r>
              <a:rPr lang="en-US" dirty="0"/>
              <a:t>To do this, the algorithm would:</a:t>
            </a:r>
          </a:p>
          <a:p>
            <a:pPr>
              <a:buFont typeface="+mj-lt"/>
              <a:buAutoNum type="arabicPeriod"/>
            </a:pPr>
            <a:r>
              <a:rPr lang="en-US" dirty="0"/>
              <a:t>Iterate through each pairing in the current matching.</a:t>
            </a:r>
          </a:p>
          <a:p>
            <a:pPr>
              <a:buFont typeface="+mj-lt"/>
              <a:buAutoNum type="arabicPeriod"/>
            </a:pPr>
            <a:r>
              <a:rPr lang="en-US" dirty="0"/>
              <a:t>Compare preferences and check if any blocking pairs exist.</a:t>
            </a:r>
          </a:p>
          <a:p>
            <a:pPr>
              <a:buFont typeface="+mj-lt"/>
              <a:buAutoNum type="arabicPeriod"/>
            </a:pPr>
            <a:r>
              <a:rPr lang="en-US" dirty="0"/>
              <a:t>If a blocking pair is found, discard the matching as unstable.</a:t>
            </a:r>
          </a:p>
          <a:p>
            <a:pPr>
              <a:buFont typeface="+mj-lt"/>
              <a:buAutoNum type="arabicPeriod"/>
            </a:pPr>
            <a:r>
              <a:rPr lang="en-US" dirty="0"/>
              <a:t>If no blocking pairs are found, consider it a stable matching.</a:t>
            </a:r>
          </a:p>
          <a:p>
            <a:r>
              <a:rPr lang="en-US" b="1" dirty="0"/>
              <a:t>Step 3: Choose a Stable Matching</a:t>
            </a:r>
          </a:p>
          <a:p>
            <a:r>
              <a:rPr lang="en-US" dirty="0"/>
              <a:t>Once all possible matchings have been evaluated, the algorithm selects the first stable match it finds or returns that no stable match exists if none are found.</a:t>
            </a:r>
          </a:p>
          <a:p>
            <a:r>
              <a:rPr lang="en-US" b="1" dirty="0"/>
              <a:t>Time Complexity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Generating all matchings:</a:t>
            </a:r>
            <a:r>
              <a:rPr lang="en-US" dirty="0"/>
              <a:t> O(n!)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Checking stability for each matching:</a:t>
            </a:r>
            <a:r>
              <a:rPr lang="en-US" dirty="0"/>
              <a:t> O(n2), since each person’s preferences need to be compared against </a:t>
            </a:r>
            <a:r>
              <a:rPr lang="en-US" dirty="0" err="1"/>
              <a:t>nnn</a:t>
            </a:r>
            <a:r>
              <a:rPr lang="en-US" dirty="0"/>
              <a:t> potential partners.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Total time complexity:</a:t>
            </a:r>
            <a:r>
              <a:rPr lang="en-US" dirty="0"/>
              <a:t> 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732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Gale-</a:t>
            </a:r>
            <a:r>
              <a:rPr lang="en-US" dirty="0" err="1"/>
              <a:t>ShapleyO</a:t>
            </a:r>
            <a:r>
              <a:rPr lang="en-US" dirty="0"/>
              <a:t>(n2)O(n^2)O(n2)Efficient for real-world applications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13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B7DD8D-F481-0C43-B95F-633CE36F69C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43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72819" y="933624"/>
            <a:ext cx="719836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2794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85698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075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4171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0907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21978-60C4-4B40-B7EF-D111A1D66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2A576-9EB1-5D49-8CA6-F1336F5AB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6F6E9A-6824-8F44-8380-90F90B0F90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39D1-9461-3743-B572-5F5DAC89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700">
              <a:lnSpc>
                <a:spcPts val="1425"/>
              </a:lnSpc>
            </a:pPr>
            <a:r>
              <a:rPr lang="en-US" spc="-5"/>
              <a:t>page</a:t>
            </a:r>
            <a:r>
              <a:rPr lang="en-US" spc="-50"/>
              <a:t> </a:t>
            </a:r>
            <a:fld id="{81D60167-4931-47E6-BA6A-407CBD079E47}" type="slidenum">
              <a:rPr smtClean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8606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1A211-D6C9-C6F3-CB8B-C544B60E9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9170"/>
            <a:ext cx="7886700" cy="1315745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buClr>
                <a:schemeClr val="accent2"/>
              </a:buClr>
              <a:defRPr sz="165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buClr>
                <a:schemeClr val="accent2"/>
              </a:buCl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accent2"/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387C3-DE5E-CE97-4259-EC2849205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184666"/>
          </a:xfrm>
          <a:prstGeom prst="rect">
            <a:avLst/>
          </a:prstGeom>
        </p:spPr>
        <p:txBody>
          <a:bodyPr/>
          <a:lstStyle/>
          <a:p>
            <a:fld id="{B8AA0095-35D5-FD4E-AECA-27DCA1F86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501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8850" y="1050872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8850" y="1821868"/>
            <a:ext cx="7226300" cy="3683000"/>
          </a:xfrm>
          <a:prstGeom prst="rect">
            <a:avLst/>
          </a:prstGeom>
        </p:spPr>
        <p:txBody>
          <a:bodyPr lIns="0" tIns="0" rIns="0" bIns="0"/>
          <a:lstStyle>
            <a:lvl1pPr>
              <a:defRPr sz="24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8241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90600" y="940456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826000" y="1932284"/>
            <a:ext cx="3300095" cy="3683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9869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12859" y="2600325"/>
            <a:ext cx="8518281" cy="604519"/>
          </a:xfrm>
          <a:prstGeom prst="rect">
            <a:avLst/>
          </a:prstGeom>
        </p:spPr>
        <p:txBody>
          <a:bodyPr lIns="0" tIns="0" rIns="0" bIns="0"/>
          <a:lstStyle>
            <a:lvl1pPr>
              <a:defRPr sz="3800" b="0" i="0">
                <a:solidFill>
                  <a:srgbClr val="3369E8"/>
                </a:solidFill>
                <a:latin typeface="Arial"/>
                <a:cs typeface="Arial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4872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520086" y="6542062"/>
            <a:ext cx="614679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‹#›</a:t>
            </a:fld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7943-C6F6-55B3-9D78-4557EE6C2061}"/>
              </a:ext>
            </a:extLst>
          </p:cNvPr>
          <p:cNvSpPr/>
          <p:nvPr userDrawn="1"/>
        </p:nvSpPr>
        <p:spPr>
          <a:xfrm>
            <a:off x="-5339" y="0"/>
            <a:ext cx="9154678" cy="144145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369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32B61B4-2DB8-6C62-BBD2-7192BEDD31C6}"/>
              </a:ext>
            </a:extLst>
          </p:cNvPr>
          <p:cNvSpPr/>
          <p:nvPr/>
        </p:nvSpPr>
        <p:spPr>
          <a:xfrm>
            <a:off x="-18278" y="0"/>
            <a:ext cx="9154678" cy="34956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8000">
                <a:schemeClr val="accent4">
                  <a:lumMod val="60000"/>
                  <a:lumOff val="40000"/>
                  <a:alpha val="35800"/>
                </a:schemeClr>
              </a:gs>
              <a:gs pos="67000">
                <a:schemeClr val="accent4">
                  <a:lumMod val="60000"/>
                  <a:lumOff val="40000"/>
                  <a:alpha val="58000"/>
                </a:schemeClr>
              </a:gs>
              <a:gs pos="99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/>
          <p:cNvSpPr/>
          <p:nvPr/>
        </p:nvSpPr>
        <p:spPr>
          <a:xfrm>
            <a:off x="6351" y="3349625"/>
            <a:ext cx="9139181" cy="12700"/>
          </a:xfrm>
          <a:custGeom>
            <a:avLst/>
            <a:gdLst/>
            <a:ahLst/>
            <a:cxnLst/>
            <a:rect l="l" t="t" r="r" b="b"/>
            <a:pathLst>
              <a:path w="9137650" h="12700">
                <a:moveTo>
                  <a:pt x="0" y="12700"/>
                </a:moveTo>
                <a:lnTo>
                  <a:pt x="9137650" y="12700"/>
                </a:lnTo>
                <a:lnTo>
                  <a:pt x="9137650" y="0"/>
                </a:lnTo>
                <a:lnTo>
                  <a:pt x="0" y="0"/>
                </a:lnTo>
                <a:lnTo>
                  <a:pt x="0" y="12700"/>
                </a:lnTo>
                <a:close/>
              </a:path>
            </a:pathLst>
          </a:custGeom>
          <a:noFill/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12859" y="2670040"/>
            <a:ext cx="8518281" cy="604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00680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chemeClr val="accent6">
                    <a:lumMod val="75000"/>
                  </a:schemeClr>
                </a:solidFill>
              </a:rPr>
              <a:t>Computational</a:t>
            </a:r>
            <a:r>
              <a:rPr spc="-9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Economics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2978150" y="2571750"/>
            <a:ext cx="152400" cy="628650"/>
            <a:chOff x="2978150" y="2571750"/>
            <a:chExt cx="152400" cy="628650"/>
          </a:xfrm>
        </p:grpSpPr>
        <p:sp>
          <p:nvSpPr>
            <p:cNvPr id="9" name="object 9"/>
            <p:cNvSpPr/>
            <p:nvPr/>
          </p:nvSpPr>
          <p:spPr>
            <a:xfrm>
              <a:off x="3105150" y="2571750"/>
              <a:ext cx="0" cy="619125"/>
            </a:xfrm>
            <a:custGeom>
              <a:avLst/>
              <a:gdLst/>
              <a:ahLst/>
              <a:cxnLst/>
              <a:rect l="l" t="t" r="r" b="b"/>
              <a:pathLst>
                <a:path h="619125">
                  <a:moveTo>
                    <a:pt x="0" y="0"/>
                  </a:moveTo>
                  <a:lnTo>
                    <a:pt x="0" y="619125"/>
                  </a:lnTo>
                </a:path>
              </a:pathLst>
            </a:custGeom>
            <a:ln w="50800">
              <a:solidFill>
                <a:srgbClr val="EDB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990850" y="2711450"/>
              <a:ext cx="0" cy="488950"/>
            </a:xfrm>
            <a:custGeom>
              <a:avLst/>
              <a:gdLst/>
              <a:ahLst/>
              <a:cxnLst/>
              <a:rect l="l" t="t" r="r" b="b"/>
              <a:pathLst>
                <a:path h="488950">
                  <a:moveTo>
                    <a:pt x="0" y="0"/>
                  </a:moveTo>
                  <a:lnTo>
                    <a:pt x="0" y="488950"/>
                  </a:lnTo>
                </a:path>
              </a:pathLst>
            </a:custGeom>
            <a:ln w="25400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977463" y="3599640"/>
            <a:ext cx="556196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6350" algn="r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Module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2: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Problem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endParaRPr sz="2400" dirty="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</a:pP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15" dirty="0">
                <a:solidFill>
                  <a:srgbClr val="231F20"/>
                </a:solidFill>
                <a:latin typeface="Arial"/>
                <a:cs typeface="Arial"/>
              </a:rPr>
              <a:t> Gale-Shapley</a:t>
            </a:r>
            <a:r>
              <a:rPr sz="2400" spc="-10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20" dirty="0">
                <a:solidFill>
                  <a:srgbClr val="231F20"/>
                </a:solidFill>
                <a:latin typeface="Arial"/>
                <a:cs typeface="Arial"/>
              </a:rPr>
              <a:t>Algorithm</a:t>
            </a:r>
            <a:endParaRPr sz="2400" dirty="0">
              <a:latin typeface="Arial"/>
              <a:cs typeface="Arial"/>
            </a:endParaRPr>
          </a:p>
        </p:txBody>
      </p:sp>
      <p:pic>
        <p:nvPicPr>
          <p:cNvPr id="2" name="Picture 1" descr="A blue text on a white background&#10;&#10;Description automatically generated">
            <a:extLst>
              <a:ext uri="{FF2B5EF4-FFF2-40B4-BE49-F238E27FC236}">
                <a16:creationId xmlns:a16="http://schemas.microsoft.com/office/drawing/2014/main" id="{C73064D3-F1BB-C87C-8AD4-557F67EBB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6453450"/>
            <a:ext cx="2590800" cy="400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6ACB2D41-B795-A028-4F6D-2A2C2D8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133600"/>
            <a:ext cx="5257800" cy="3154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1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3150" y="2368186"/>
            <a:ext cx="6803390" cy="27651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Matching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”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economics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1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focuses</a:t>
            </a:r>
            <a:r>
              <a:rPr sz="2400" spc="-1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</a:t>
            </a:r>
            <a:endParaRPr sz="2400" dirty="0">
              <a:latin typeface="Arial"/>
              <a:cs typeface="Arial"/>
            </a:endParaRPr>
          </a:p>
          <a:p>
            <a:pPr marL="12700" marR="5715" algn="just">
              <a:lnSpc>
                <a:spcPct val="166700"/>
              </a:lnSpc>
              <a:tabLst>
                <a:tab pos="4126865" algn="l"/>
              </a:tabLst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questio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o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particularl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  scarce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goods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 allocated are heterogeneous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indivisible.	</a:t>
            </a: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5715" algn="just">
              <a:lnSpc>
                <a:spcPct val="166700"/>
              </a:lnSpc>
              <a:tabLst>
                <a:tab pos="4126865" algn="l"/>
              </a:tabLst>
            </a:pPr>
            <a:r>
              <a:rPr lang="en-US" sz="2400" spc="-5" dirty="0">
                <a:solidFill>
                  <a:srgbClr val="231F20"/>
                </a:solidFill>
                <a:latin typeface="Arial"/>
                <a:cs typeface="Arial"/>
              </a:rPr>
              <a:t>		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––</a:t>
            </a:r>
            <a:r>
              <a:rPr sz="2400" spc="-1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Alvin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E.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Roth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4469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-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Problems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</a:t>
            </a:fld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741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People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have</a:t>
            </a:r>
            <a:r>
              <a:rPr sz="36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preferences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4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9150" y="1879600"/>
            <a:ext cx="2006600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68700" y="1879600"/>
            <a:ext cx="2006612" cy="251459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63970" y="1879600"/>
            <a:ext cx="2006587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object 6"/>
          <p:cNvSpPr txBox="1"/>
          <p:nvPr/>
        </p:nvSpPr>
        <p:spPr>
          <a:xfrm>
            <a:off x="982651" y="4984576"/>
            <a:ext cx="5184140" cy="93980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Suppose</a:t>
            </a:r>
            <a:r>
              <a:rPr lang="en-US" sz="2000" spc="-20" dirty="0">
                <a:solidFill>
                  <a:srgbClr val="231F20"/>
                </a:solidFill>
                <a:latin typeface="Arial"/>
                <a:cs typeface="Arial"/>
              </a:rPr>
              <a:t> tinder gives me three options</a:t>
            </a:r>
            <a:r>
              <a:rPr lang="en-US" sz="2000" spc="-5" dirty="0">
                <a:solidFill>
                  <a:srgbClr val="231F20"/>
                </a:solidFill>
                <a:latin typeface="Arial"/>
                <a:cs typeface="Arial"/>
              </a:rPr>
              <a:t>…</a:t>
            </a:r>
            <a:endParaRPr sz="20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may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different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preferences.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741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People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have</a:t>
            </a:r>
            <a:r>
              <a:rPr sz="36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preferences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5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9150" y="1917471"/>
            <a:ext cx="2006600" cy="24767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363970" y="1879600"/>
            <a:ext cx="2006587" cy="2514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object 6"/>
          <p:cNvSpPr txBox="1"/>
          <p:nvPr/>
        </p:nvSpPr>
        <p:spPr>
          <a:xfrm>
            <a:off x="972819" y="4876800"/>
            <a:ext cx="550862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0000"/>
              </a:lnSpc>
              <a:spcBef>
                <a:spcPts val="100"/>
              </a:spcBef>
            </a:pP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Similarly,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suppose a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woman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sees these men. 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Different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women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may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different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preferences.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9" name="Picture 8" descr="A close-up of a young person&#10;&#10;Description automatically generated">
            <a:extLst>
              <a:ext uri="{FF2B5EF4-FFF2-40B4-BE49-F238E27FC236}">
                <a16:creationId xmlns:a16="http://schemas.microsoft.com/office/drawing/2014/main" id="{718350AE-E851-3CF4-A93A-FB90F37B87D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258" y="2244213"/>
            <a:ext cx="2687483" cy="21499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25562" y="2209800"/>
            <a:ext cx="6492875" cy="2982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i="1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men</a:t>
            </a:r>
            <a:r>
              <a:rPr sz="2400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i="1" dirty="0">
                <a:solidFill>
                  <a:srgbClr val="231F20"/>
                </a:solidFill>
                <a:latin typeface="Arial"/>
                <a:cs typeface="Arial"/>
              </a:rPr>
              <a:t>n</a:t>
            </a:r>
            <a:r>
              <a:rPr sz="2400" i="1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</a:t>
            </a:r>
            <a:endParaRPr sz="2400" dirty="0">
              <a:latin typeface="Arial"/>
              <a:cs typeface="Arial"/>
            </a:endParaRPr>
          </a:p>
          <a:p>
            <a:pPr marL="12700" marR="5080">
              <a:lnSpc>
                <a:spcPct val="2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Each </a:t>
            </a: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 of all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women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all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men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We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wanted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as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40AD49"/>
                </a:solidFill>
                <a:latin typeface="Arial"/>
                <a:cs typeface="Arial"/>
              </a:rPr>
              <a:t>couples</a:t>
            </a:r>
            <a:r>
              <a:rPr sz="2400" spc="4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based</a:t>
            </a:r>
            <a:r>
              <a:rPr sz="2400" spc="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chemeClr val="accent6"/>
                </a:solidFill>
                <a:latin typeface="Arial"/>
                <a:cs typeface="Arial"/>
              </a:rPr>
              <a:t>preferences</a:t>
            </a:r>
            <a:endParaRPr sz="2400" dirty="0">
              <a:solidFill>
                <a:schemeClr val="accent6"/>
              </a:solidFill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7763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Problem</a:t>
            </a:r>
            <a:r>
              <a:rPr sz="3600" spc="-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Setting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6</a:t>
            </a:fld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19200" y="2286000"/>
            <a:ext cx="649224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Start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with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3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women,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see</a:t>
            </a:r>
            <a:r>
              <a:rPr sz="2400" spc="3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3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we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can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help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out.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7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701040" y="3547585"/>
            <a:ext cx="285242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1040" y="4218145"/>
            <a:ext cx="308991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Mercutio: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r>
              <a:rPr sz="2200" i="1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3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07279" y="3547585"/>
            <a:ext cx="28879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5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07279" y="4218145"/>
            <a:ext cx="317500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Mercutio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8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519555" y="2176550"/>
            <a:ext cx="4410710" cy="170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1.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954530" algn="l"/>
              </a:tabLst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 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	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;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;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28800" y="4695851"/>
            <a:ext cx="525780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Which</a:t>
            </a:r>
            <a:r>
              <a:rPr sz="28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8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make</a:t>
            </a:r>
            <a:r>
              <a:rPr lang="en-US" sz="2800" dirty="0">
                <a:solidFill>
                  <a:srgbClr val="231F20"/>
                </a:solidFill>
                <a:latin typeface="Times New Roman"/>
                <a:cs typeface="Times New Roman"/>
              </a:rPr>
              <a:t>s more</a:t>
            </a:r>
            <a:r>
              <a:rPr sz="28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sense?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400" y="2286000"/>
            <a:ext cx="5175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like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9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777240" y="3547585"/>
            <a:ext cx="285242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77240" y="4218145"/>
            <a:ext cx="30689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Mercutio:</a:t>
            </a:r>
            <a:r>
              <a:rPr sz="2200" i="1" spc="-4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Juliet</a:t>
            </a:r>
            <a:r>
              <a:rPr sz="2200" i="1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83479" y="3547585"/>
            <a:ext cx="288798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5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83479" y="4218145"/>
            <a:ext cx="324167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Romeo</a:t>
            </a:r>
            <a:r>
              <a:rPr sz="2200" i="1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-15" dirty="0">
                <a:solidFill>
                  <a:srgbClr val="231F20"/>
                </a:solidFill>
                <a:latin typeface="Times New Roman"/>
                <a:cs typeface="Times New Roman"/>
              </a:rPr>
              <a:t>Mercutio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519555" y="2176550"/>
            <a:ext cx="4410710" cy="1701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1.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1954530" algn="l"/>
              </a:tabLst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 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	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;</a:t>
            </a:r>
            <a:r>
              <a:rPr sz="2200" i="1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35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200" i="1" spc="-4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.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200" i="1" dirty="0">
                <a:solidFill>
                  <a:srgbClr val="F08D00"/>
                </a:solidFill>
                <a:latin typeface="Times New Roman"/>
                <a:cs typeface="Times New Roman"/>
              </a:rPr>
              <a:t>Romeo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-5" dirty="0">
                <a:solidFill>
                  <a:srgbClr val="3369E8"/>
                </a:solidFill>
                <a:latin typeface="Times New Roman"/>
                <a:cs typeface="Times New Roman"/>
              </a:rPr>
              <a:t>Rosaline</a:t>
            </a:r>
            <a:r>
              <a:rPr sz="2200" i="1" spc="-5" dirty="0">
                <a:solidFill>
                  <a:srgbClr val="231F20"/>
                </a:solidFill>
                <a:latin typeface="Times New Roman"/>
                <a:cs typeface="Times New Roman"/>
              </a:rPr>
              <a:t>; </a:t>
            </a:r>
            <a:r>
              <a:rPr sz="2200" i="1" spc="-15" dirty="0">
                <a:solidFill>
                  <a:srgbClr val="F08D00"/>
                </a:solidFill>
                <a:latin typeface="Times New Roman"/>
                <a:cs typeface="Times New Roman"/>
              </a:rPr>
              <a:t>Mercutio</a:t>
            </a:r>
            <a:r>
              <a:rPr sz="2200" i="1" spc="-1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&amp;</a:t>
            </a:r>
            <a:r>
              <a:rPr sz="2200" i="1" dirty="0">
                <a:solidFill>
                  <a:srgbClr val="3369E8"/>
                </a:solidFill>
                <a:latin typeface="Times New Roman"/>
                <a:cs typeface="Times New Roman"/>
              </a:rPr>
              <a:t>Juliet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12338" y="4695851"/>
            <a:ext cx="5179062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Which</a:t>
            </a:r>
            <a:r>
              <a:rPr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solution</a:t>
            </a:r>
            <a:r>
              <a:rPr sz="28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231F20"/>
                </a:solidFill>
                <a:latin typeface="Times New Roman"/>
                <a:cs typeface="Times New Roman"/>
              </a:rPr>
              <a:t>make</a:t>
            </a:r>
            <a:r>
              <a:rPr lang="en-US" sz="2800" dirty="0">
                <a:solidFill>
                  <a:srgbClr val="231F20"/>
                </a:solidFill>
                <a:latin typeface="Times New Roman"/>
                <a:cs typeface="Times New Roman"/>
              </a:rPr>
              <a:t>s</a:t>
            </a:r>
            <a:r>
              <a:rPr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en-US" sz="2800" spc="-30" dirty="0">
                <a:solidFill>
                  <a:srgbClr val="231F20"/>
                </a:solidFill>
                <a:latin typeface="Times New Roman"/>
                <a:cs typeface="Times New Roman"/>
              </a:rPr>
              <a:t>more </a:t>
            </a:r>
            <a:r>
              <a:rPr sz="2800" spc="-5" dirty="0">
                <a:solidFill>
                  <a:srgbClr val="231F20"/>
                </a:solidFill>
                <a:latin typeface="Times New Roman"/>
                <a:cs typeface="Times New Roman"/>
              </a:rPr>
              <a:t>sense?</a:t>
            </a:r>
            <a:endParaRPr sz="2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310642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Unstable</a:t>
            </a:r>
            <a:r>
              <a:rPr sz="3600" spc="-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Pair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958850" y="1821868"/>
            <a:ext cx="7226300" cy="37523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110" dirty="0"/>
              <a:t> </a:t>
            </a:r>
            <a:r>
              <a:rPr dirty="0"/>
              <a:t>man</a:t>
            </a:r>
            <a:r>
              <a:rPr spc="25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30" dirty="0">
                <a:solidFill>
                  <a:srgbClr val="F08D00"/>
                </a:solidFill>
              </a:rPr>
              <a:t> </a:t>
            </a:r>
            <a:r>
              <a:rPr spc="-5" dirty="0"/>
              <a:t>and</a:t>
            </a:r>
            <a:r>
              <a:rPr spc="25" dirty="0"/>
              <a:t> </a:t>
            </a:r>
            <a:r>
              <a:rPr dirty="0"/>
              <a:t>a</a:t>
            </a:r>
            <a:r>
              <a:rPr spc="30" dirty="0"/>
              <a:t> </a:t>
            </a:r>
            <a:r>
              <a:rPr spc="-5" dirty="0"/>
              <a:t>woman</a:t>
            </a:r>
            <a:r>
              <a:rPr spc="30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25" dirty="0">
                <a:solidFill>
                  <a:srgbClr val="3369E8"/>
                </a:solidFill>
              </a:rPr>
              <a:t> </a:t>
            </a:r>
            <a:r>
              <a:rPr dirty="0"/>
              <a:t>form</a:t>
            </a:r>
            <a:r>
              <a:rPr spc="30" dirty="0"/>
              <a:t> </a:t>
            </a:r>
            <a:r>
              <a:rPr spc="-5" dirty="0"/>
              <a:t>an</a:t>
            </a:r>
            <a:r>
              <a:rPr spc="25" dirty="0"/>
              <a:t> </a:t>
            </a:r>
            <a:r>
              <a:rPr spc="-5" dirty="0"/>
              <a:t>unstable</a:t>
            </a:r>
            <a:r>
              <a:rPr spc="30" dirty="0"/>
              <a:t> </a:t>
            </a:r>
            <a:r>
              <a:rPr spc="-5" dirty="0"/>
              <a:t>pair</a:t>
            </a:r>
            <a:r>
              <a:rPr spc="30" dirty="0"/>
              <a:t> </a:t>
            </a:r>
            <a:r>
              <a:rPr dirty="0"/>
              <a:t>(or </a:t>
            </a:r>
            <a:r>
              <a:rPr spc="-655" dirty="0"/>
              <a:t> </a:t>
            </a:r>
            <a:r>
              <a:rPr spc="-5" dirty="0"/>
              <a:t>blocking</a:t>
            </a:r>
            <a:r>
              <a:rPr spc="-10" dirty="0"/>
              <a:t> </a:t>
            </a:r>
            <a:r>
              <a:rPr spc="-5" dirty="0"/>
              <a:t>pair) if both: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793750" marR="2019300">
              <a:lnSpc>
                <a:spcPct val="100000"/>
              </a:lnSpc>
            </a:pPr>
            <a:r>
              <a:rPr dirty="0">
                <a:solidFill>
                  <a:srgbClr val="F08D00"/>
                </a:solidFill>
              </a:rPr>
              <a:t>m </a:t>
            </a:r>
            <a:r>
              <a:rPr spc="-5" dirty="0"/>
              <a:t>prefer </a:t>
            </a:r>
            <a:r>
              <a:rPr dirty="0">
                <a:solidFill>
                  <a:srgbClr val="3369E8"/>
                </a:solidFill>
              </a:rPr>
              <a:t>w </a:t>
            </a:r>
            <a:r>
              <a:rPr dirty="0"/>
              <a:t>to </a:t>
            </a:r>
            <a:r>
              <a:rPr spc="-5" dirty="0"/>
              <a:t>his </a:t>
            </a:r>
            <a:r>
              <a:rPr dirty="0"/>
              <a:t>current spouse </a:t>
            </a:r>
            <a:r>
              <a:rPr spc="-655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-15" dirty="0">
                <a:solidFill>
                  <a:srgbClr val="3369E8"/>
                </a:solidFill>
              </a:rPr>
              <a:t> </a:t>
            </a:r>
            <a:r>
              <a:rPr spc="-5" dirty="0"/>
              <a:t>prefer</a:t>
            </a:r>
            <a:r>
              <a:rPr spc="-15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-15" dirty="0">
                <a:solidFill>
                  <a:srgbClr val="F08D00"/>
                </a:solidFill>
              </a:rPr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her</a:t>
            </a:r>
            <a:r>
              <a:rPr spc="-20" dirty="0"/>
              <a:t> </a:t>
            </a:r>
            <a:r>
              <a:rPr dirty="0"/>
              <a:t>current</a:t>
            </a:r>
            <a:r>
              <a:rPr spc="-15" dirty="0"/>
              <a:t> </a:t>
            </a:r>
            <a:r>
              <a:rPr dirty="0"/>
              <a:t>spouse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336550">
              <a:lnSpc>
                <a:spcPct val="100000"/>
              </a:lnSpc>
            </a:pPr>
            <a:r>
              <a:rPr dirty="0"/>
              <a:t>Matching</a:t>
            </a:r>
            <a:r>
              <a:rPr spc="-15" dirty="0"/>
              <a:t> </a:t>
            </a:r>
            <a:r>
              <a:rPr spc="-5" dirty="0"/>
              <a:t>with</a:t>
            </a:r>
            <a:r>
              <a:rPr spc="-15" dirty="0"/>
              <a:t> </a:t>
            </a:r>
            <a:r>
              <a:rPr spc="-5" dirty="0"/>
              <a:t>unstable</a:t>
            </a:r>
            <a:r>
              <a:rPr spc="-15" dirty="0"/>
              <a:t> </a:t>
            </a:r>
            <a:r>
              <a:rPr spc="-5" dirty="0"/>
              <a:t>pair</a:t>
            </a:r>
            <a:r>
              <a:rPr spc="-15" dirty="0"/>
              <a:t> </a:t>
            </a:r>
            <a:r>
              <a:rPr dirty="0"/>
              <a:t>results</a:t>
            </a:r>
            <a:r>
              <a:rPr spc="-15" dirty="0"/>
              <a:t> </a:t>
            </a:r>
            <a:r>
              <a:rPr spc="-5" dirty="0"/>
              <a:t>in</a:t>
            </a:r>
            <a:r>
              <a:rPr spc="-15" dirty="0"/>
              <a:t> </a:t>
            </a:r>
            <a:r>
              <a:rPr spc="-5" dirty="0">
                <a:solidFill>
                  <a:srgbClr val="FF0000"/>
                </a:solidFill>
              </a:rPr>
              <a:t>inefficiency</a:t>
            </a:r>
            <a:r>
              <a:rPr spc="-5" dirty="0"/>
              <a:t>.</a:t>
            </a:r>
          </a:p>
          <a:p>
            <a:pPr marL="323850">
              <a:lnSpc>
                <a:spcPct val="100000"/>
              </a:lnSpc>
              <a:spcBef>
                <a:spcPts val="5"/>
              </a:spcBef>
            </a:pPr>
            <a:endParaRPr sz="2500" dirty="0"/>
          </a:p>
          <a:p>
            <a:pPr marL="336550" marR="5715">
              <a:lnSpc>
                <a:spcPct val="100000"/>
              </a:lnSpc>
            </a:pPr>
            <a:r>
              <a:rPr dirty="0"/>
              <a:t>An</a:t>
            </a:r>
            <a:r>
              <a:rPr spc="-120" dirty="0"/>
              <a:t> </a:t>
            </a:r>
            <a:r>
              <a:rPr spc="-5" dirty="0"/>
              <a:t>unstable</a:t>
            </a:r>
            <a:r>
              <a:rPr spc="-114" dirty="0"/>
              <a:t> </a:t>
            </a:r>
            <a:r>
              <a:rPr spc="-5" dirty="0"/>
              <a:t>pair</a:t>
            </a:r>
            <a:r>
              <a:rPr spc="-110" dirty="0"/>
              <a:t> </a:t>
            </a:r>
            <a:r>
              <a:rPr dirty="0">
                <a:solidFill>
                  <a:srgbClr val="F08D00"/>
                </a:solidFill>
              </a:rPr>
              <a:t>m</a:t>
            </a:r>
            <a:r>
              <a:rPr spc="-114" dirty="0">
                <a:solidFill>
                  <a:srgbClr val="F08D00"/>
                </a:solidFill>
              </a:rPr>
              <a:t> </a:t>
            </a:r>
            <a:r>
              <a:rPr dirty="0"/>
              <a:t>—</a:t>
            </a:r>
            <a:r>
              <a:rPr spc="-120" dirty="0"/>
              <a:t> </a:t>
            </a:r>
            <a:r>
              <a:rPr dirty="0">
                <a:solidFill>
                  <a:srgbClr val="3369E8"/>
                </a:solidFill>
              </a:rPr>
              <a:t>w</a:t>
            </a:r>
            <a:r>
              <a:rPr spc="-114" dirty="0">
                <a:solidFill>
                  <a:srgbClr val="3369E8"/>
                </a:solidFill>
              </a:rPr>
              <a:t> </a:t>
            </a:r>
            <a:r>
              <a:rPr dirty="0"/>
              <a:t>could</a:t>
            </a:r>
            <a:r>
              <a:rPr spc="-120" dirty="0"/>
              <a:t> </a:t>
            </a:r>
            <a:r>
              <a:rPr spc="-5" dirty="0"/>
              <a:t>each</a:t>
            </a:r>
            <a:r>
              <a:rPr spc="-114" dirty="0"/>
              <a:t> </a:t>
            </a:r>
            <a:r>
              <a:rPr spc="-5" dirty="0"/>
              <a:t>improve</a:t>
            </a:r>
            <a:r>
              <a:rPr spc="-120" dirty="0"/>
              <a:t> </a:t>
            </a:r>
            <a:r>
              <a:rPr spc="-5" dirty="0"/>
              <a:t>by</a:t>
            </a:r>
            <a:r>
              <a:rPr spc="-114" dirty="0"/>
              <a:t> </a:t>
            </a:r>
            <a:r>
              <a:rPr spc="-5" dirty="0"/>
              <a:t>joint </a:t>
            </a:r>
            <a:r>
              <a:rPr spc="-650" dirty="0"/>
              <a:t> </a:t>
            </a:r>
            <a:r>
              <a:rPr spc="-5" dirty="0"/>
              <a:t>action.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11</a:t>
            </a:fld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400" y="2209800"/>
            <a:ext cx="6102350" cy="26134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matching: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500" dirty="0">
              <a:latin typeface="Arial"/>
              <a:cs typeface="Arial"/>
            </a:endParaRPr>
          </a:p>
          <a:p>
            <a:pPr marL="469900" marR="17780">
              <a:lnSpc>
                <a:spcPct val="166700"/>
              </a:lnSpc>
              <a:spcBef>
                <a:spcPts val="5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outcome with no </a:t>
            </a:r>
            <a:r>
              <a:rPr sz="2400" spc="-5" dirty="0">
                <a:solidFill>
                  <a:schemeClr val="accent6"/>
                </a:solidFill>
                <a:latin typeface="Arial"/>
                <a:cs typeface="Arial"/>
              </a:rPr>
              <a:t>unstable pairs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above example:</a:t>
            </a:r>
            <a:endParaRPr sz="2400" dirty="0">
              <a:latin typeface="Arial"/>
              <a:cs typeface="Arial"/>
            </a:endParaRPr>
          </a:p>
          <a:p>
            <a:pPr marL="469900">
              <a:lnSpc>
                <a:spcPct val="100000"/>
              </a:lnSpc>
              <a:spcBef>
                <a:spcPts val="192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Individual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self-interest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prevent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affairs.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0885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Stability</a:t>
            </a:r>
            <a:r>
              <a:rPr sz="3600" spc="5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of</a:t>
            </a:r>
            <a:r>
              <a:rPr sz="3600" spc="5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6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Outcome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12</a:t>
            </a:fld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53394" y="2133600"/>
            <a:ext cx="51752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like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517524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More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13</a:t>
            </a:fld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F8BE88-4EE0-47AE-86BB-0DAB0D11BD8A}"/>
              </a:ext>
            </a:extLst>
          </p:cNvPr>
          <p:cNvSpPr txBox="1"/>
          <p:nvPr/>
        </p:nvSpPr>
        <p:spPr>
          <a:xfrm>
            <a:off x="1447800" y="2895600"/>
            <a:ext cx="4586438" cy="152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lang="pl-PL" sz="2000" baseline="-33333" dirty="0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endParaRPr lang="en-US" sz="2000" spc="7" baseline="-33333" dirty="0">
              <a:solidFill>
                <a:srgbClr val="231F20"/>
              </a:solidFill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lang="pl-PL" sz="2000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lang="pl-PL" sz="2000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lang="pl-PL" sz="20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lang="pl-PL" sz="2000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lang="pl-PL" sz="20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lang="pl-PL" sz="20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lang="pl-PL" sz="20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lang="pl-PL" sz="2000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lang="pl-PL" sz="2000" baseline="-33333" dirty="0">
              <a:latin typeface="Times New Roman"/>
              <a:cs typeface="Times New Roman"/>
            </a:endParaRPr>
          </a:p>
        </p:txBody>
      </p:sp>
      <p:sp>
        <p:nvSpPr>
          <p:cNvPr id="16" name="object 23">
            <a:extLst>
              <a:ext uri="{FF2B5EF4-FFF2-40B4-BE49-F238E27FC236}">
                <a16:creationId xmlns:a16="http://schemas.microsoft.com/office/drawing/2014/main" id="{37204C2F-93CD-4AD8-86DE-137AC72B0989}"/>
              </a:ext>
            </a:extLst>
          </p:cNvPr>
          <p:cNvSpPr txBox="1"/>
          <p:nvPr/>
        </p:nvSpPr>
        <p:spPr>
          <a:xfrm>
            <a:off x="4572000" y="2873943"/>
            <a:ext cx="2566670" cy="1738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786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50800" marR="43180">
              <a:lnSpc>
                <a:spcPct val="197900"/>
              </a:lnSpc>
              <a:spcBef>
                <a:spcPts val="395"/>
              </a:spcBef>
              <a:tabLst>
                <a:tab pos="657225" algn="l"/>
              </a:tabLst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	</a:t>
            </a:r>
            <a:r>
              <a:rPr sz="3300" i="1" spc="7" baseline="1262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252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09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28888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32506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4557" y="4156363"/>
            <a:ext cx="4854575" cy="1610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4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match:</a:t>
            </a:r>
            <a:endParaRPr sz="24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  <a:tabLst>
                <a:tab pos="1300480" algn="l"/>
                <a:tab pos="2478405" algn="l"/>
              </a:tabLst>
            </a:pP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 </a:t>
            </a:r>
            <a:r>
              <a:rPr sz="1875" i="1" spc="52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: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},	{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},	{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400" spc="-4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}</a:t>
            </a:r>
            <a:endParaRPr sz="24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92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outcome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?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14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834389" y="1941257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368040" y="3255727"/>
            <a:ext cx="2183130" cy="473709"/>
            <a:chOff x="3368040" y="3255727"/>
            <a:chExt cx="2183130" cy="473709"/>
          </a:xfrm>
        </p:grpSpPr>
        <p:sp>
          <p:nvSpPr>
            <p:cNvPr id="6" name="object 6"/>
            <p:cNvSpPr/>
            <p:nvPr/>
          </p:nvSpPr>
          <p:spPr>
            <a:xfrm>
              <a:off x="3374390" y="327446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374390" y="327446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96510" y="326207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96510" y="326207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8040" y="1917465"/>
            <a:ext cx="461009" cy="1165860"/>
            <a:chOff x="3368040" y="1917465"/>
            <a:chExt cx="461009" cy="1165860"/>
          </a:xfrm>
        </p:grpSpPr>
        <p:sp>
          <p:nvSpPr>
            <p:cNvPr id="11" name="object 11"/>
            <p:cNvSpPr/>
            <p:nvPr/>
          </p:nvSpPr>
          <p:spPr>
            <a:xfrm>
              <a:off x="3374390" y="192381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374390" y="192381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374390" y="262866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374390" y="2628665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423920" y="1867857"/>
            <a:ext cx="36004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23920" y="2572707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090159" y="1905081"/>
            <a:ext cx="461009" cy="1165860"/>
            <a:chOff x="5090159" y="1905081"/>
            <a:chExt cx="461009" cy="1165860"/>
          </a:xfrm>
        </p:grpSpPr>
        <p:sp>
          <p:nvSpPr>
            <p:cNvPr id="18" name="object 18"/>
            <p:cNvSpPr/>
            <p:nvPr/>
          </p:nvSpPr>
          <p:spPr>
            <a:xfrm>
              <a:off x="5096509" y="19114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096509" y="19114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096509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096509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146040" y="1855475"/>
            <a:ext cx="34417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122714" y="1984140"/>
            <a:ext cx="2566670" cy="1738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786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 dirty="0">
              <a:latin typeface="Times New Roman"/>
              <a:cs typeface="Times New Roman"/>
            </a:endParaRPr>
          </a:p>
          <a:p>
            <a:pPr marL="50800" marR="43180">
              <a:lnSpc>
                <a:spcPct val="197900"/>
              </a:lnSpc>
              <a:spcBef>
                <a:spcPts val="395"/>
              </a:spcBef>
              <a:tabLst>
                <a:tab pos="657225" algn="l"/>
              </a:tabLst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	</a:t>
            </a:r>
            <a:r>
              <a:rPr sz="3300" i="1" spc="7" baseline="1262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1262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1262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1262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252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3300" i="1" spc="-30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09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3300" b="1" baseline="2525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3300" b="1" spc="217" baseline="252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3300" i="1" spc="7" baseline="252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28888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28888" dirty="0">
              <a:latin typeface="Times New Roman"/>
              <a:cs typeface="Times New Roman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865131" y="2102139"/>
            <a:ext cx="1193165" cy="757555"/>
            <a:chOff x="3865131" y="2102139"/>
            <a:chExt cx="1193165" cy="757555"/>
          </a:xfrm>
        </p:grpSpPr>
        <p:sp>
          <p:nvSpPr>
            <p:cNvPr id="25" name="object 25"/>
            <p:cNvSpPr/>
            <p:nvPr/>
          </p:nvSpPr>
          <p:spPr>
            <a:xfrm>
              <a:off x="3916952" y="2147801"/>
              <a:ext cx="1079500" cy="705485"/>
            </a:xfrm>
            <a:custGeom>
              <a:avLst/>
              <a:gdLst/>
              <a:ahLst/>
              <a:cxnLst/>
              <a:rect l="l" t="t" r="r" b="b"/>
              <a:pathLst>
                <a:path w="1079500" h="705485">
                  <a:moveTo>
                    <a:pt x="0" y="0"/>
                  </a:moveTo>
                  <a:lnTo>
                    <a:pt x="1078903" y="70537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871481" y="2108489"/>
              <a:ext cx="1180465" cy="744855"/>
            </a:xfrm>
            <a:custGeom>
              <a:avLst/>
              <a:gdLst/>
              <a:ahLst/>
              <a:cxnLst/>
              <a:rect l="l" t="t" r="r" b="b"/>
              <a:pathLst>
                <a:path w="1180464" h="744855">
                  <a:moveTo>
                    <a:pt x="0" y="744626"/>
                  </a:moveTo>
                  <a:lnTo>
                    <a:pt x="1180388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/>
          <p:nvPr/>
        </p:nvSpPr>
        <p:spPr>
          <a:xfrm>
            <a:off x="3868093" y="3515760"/>
            <a:ext cx="1184275" cy="0"/>
          </a:xfrm>
          <a:custGeom>
            <a:avLst/>
            <a:gdLst/>
            <a:ahLst/>
            <a:cxnLst/>
            <a:rect l="l" t="t" r="r" b="b"/>
            <a:pathLst>
              <a:path w="1184275">
                <a:moveTo>
                  <a:pt x="0" y="0"/>
                </a:moveTo>
                <a:lnTo>
                  <a:pt x="1183970" y="0"/>
                </a:lnTo>
              </a:path>
            </a:pathLst>
          </a:custGeom>
          <a:ln w="1270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49460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Let's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pairs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15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816917" y="2551088"/>
            <a:ext cx="1934210" cy="1065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31857" y="2609931"/>
            <a:ext cx="2183130" cy="1178560"/>
            <a:chOff x="3431857" y="2609931"/>
            <a:chExt cx="2183130" cy="1178560"/>
          </a:xfrm>
        </p:grpSpPr>
        <p:sp>
          <p:nvSpPr>
            <p:cNvPr id="6" name="object 6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25817" y="2551088"/>
            <a:ext cx="476631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-3787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40000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-1262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5555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5555">
              <a:latin typeface="Times New Roman"/>
              <a:cs typeface="Times New Roman"/>
            </a:endParaRPr>
          </a:p>
          <a:p>
            <a:pPr marL="76200">
              <a:lnSpc>
                <a:spcPts val="2410"/>
              </a:lnSpc>
              <a:spcBef>
                <a:spcPts val="258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3300" i="1" baseline="-12626" dirty="0">
                <a:solidFill>
                  <a:srgbClr val="231F20"/>
                </a:solidFill>
                <a:latin typeface="Times New Roman"/>
                <a:cs typeface="Times New Roman"/>
              </a:rPr>
              <a:t>m	</a:t>
            </a:r>
            <a:r>
              <a:rPr sz="3300" i="1" baseline="-10101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endParaRPr sz="3300" baseline="-10101">
              <a:latin typeface="Times New Roman"/>
              <a:cs typeface="Times New Roman"/>
            </a:endParaRPr>
          </a:p>
          <a:p>
            <a:pPr marL="2901315">
              <a:lnSpc>
                <a:spcPts val="1270"/>
              </a:lnSpc>
              <a:tabLst>
                <a:tab pos="4608195" algn="l"/>
              </a:tabLst>
            </a:pPr>
            <a:r>
              <a:rPr sz="1250" i="1" spc="15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1875" i="1" spc="22" baseline="4444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4444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28949" y="2806989"/>
            <a:ext cx="1193165" cy="757555"/>
            <a:chOff x="3928949" y="2806989"/>
            <a:chExt cx="1193165" cy="757555"/>
          </a:xfrm>
        </p:grpSpPr>
        <p:sp>
          <p:nvSpPr>
            <p:cNvPr id="16" name="object 16"/>
            <p:cNvSpPr/>
            <p:nvPr/>
          </p:nvSpPr>
          <p:spPr>
            <a:xfrm>
              <a:off x="3980770" y="2852651"/>
              <a:ext cx="1079500" cy="705485"/>
            </a:xfrm>
            <a:custGeom>
              <a:avLst/>
              <a:gdLst/>
              <a:ahLst/>
              <a:cxnLst/>
              <a:rect l="l" t="t" r="r" b="b"/>
              <a:pathLst>
                <a:path w="1079500" h="705485">
                  <a:moveTo>
                    <a:pt x="0" y="0"/>
                  </a:moveTo>
                  <a:lnTo>
                    <a:pt x="1078903" y="70537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35299" y="2813339"/>
              <a:ext cx="1180465" cy="744855"/>
            </a:xfrm>
            <a:custGeom>
              <a:avLst/>
              <a:gdLst/>
              <a:ahLst/>
              <a:cxnLst/>
              <a:rect l="l" t="t" r="r" b="b"/>
              <a:pathLst>
                <a:path w="1180464" h="744854">
                  <a:moveTo>
                    <a:pt x="0" y="744626"/>
                  </a:moveTo>
                  <a:lnTo>
                    <a:pt x="1180388" y="0"/>
                  </a:lnTo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863917" y="3899706"/>
            <a:ext cx="7208520" cy="184912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6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currently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married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with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but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husband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chance</a:t>
            </a:r>
            <a:endParaRPr sz="2000">
              <a:latin typeface="Arial"/>
              <a:cs typeface="Arial"/>
            </a:endParaRPr>
          </a:p>
          <a:p>
            <a:pPr marL="6477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partner,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20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both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  <a:p>
            <a:pPr marL="647700">
              <a:lnSpc>
                <a:spcPct val="100000"/>
              </a:lnSpc>
              <a:spcBef>
                <a:spcPts val="1160"/>
              </a:spcBef>
            </a:pP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each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other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partners.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82700" y="1821868"/>
            <a:ext cx="5031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Let's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take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look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two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pairs: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0180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Example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16</a:t>
            </a:fld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5816917" y="2551088"/>
            <a:ext cx="1934210" cy="1065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31857" y="2609931"/>
            <a:ext cx="2183130" cy="1178560"/>
            <a:chOff x="3431857" y="2609931"/>
            <a:chExt cx="2183130" cy="1178560"/>
          </a:xfrm>
        </p:grpSpPr>
        <p:sp>
          <p:nvSpPr>
            <p:cNvPr id="6" name="object 6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38207" y="262866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438207" y="333351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160327" y="261628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160327" y="3321131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25817" y="2551088"/>
            <a:ext cx="476631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6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	</a:t>
            </a:r>
            <a:r>
              <a:rPr sz="3300" i="1" spc="7" baseline="-3787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40000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-1262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5555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35555">
              <a:latin typeface="Times New Roman"/>
              <a:cs typeface="Times New Roman"/>
            </a:endParaRPr>
          </a:p>
          <a:p>
            <a:pPr marL="76200">
              <a:lnSpc>
                <a:spcPts val="2410"/>
              </a:lnSpc>
              <a:spcBef>
                <a:spcPts val="2580"/>
              </a:spcBef>
              <a:tabLst>
                <a:tab pos="2699385" algn="l"/>
                <a:tab pos="4421505" algn="l"/>
              </a:tabLst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59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3300" i="1" baseline="-12626" dirty="0">
                <a:solidFill>
                  <a:srgbClr val="231F20"/>
                </a:solidFill>
                <a:latin typeface="Times New Roman"/>
                <a:cs typeface="Times New Roman"/>
              </a:rPr>
              <a:t>m	</a:t>
            </a:r>
            <a:r>
              <a:rPr sz="3300" i="1" baseline="-10101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endParaRPr sz="3300" baseline="-10101">
              <a:latin typeface="Times New Roman"/>
              <a:cs typeface="Times New Roman"/>
            </a:endParaRPr>
          </a:p>
          <a:p>
            <a:pPr marL="2901315">
              <a:lnSpc>
                <a:spcPts val="1270"/>
              </a:lnSpc>
              <a:tabLst>
                <a:tab pos="4608195" algn="l"/>
              </a:tabLst>
            </a:pPr>
            <a:r>
              <a:rPr sz="1250" i="1" spc="15" dirty="0">
                <a:solidFill>
                  <a:srgbClr val="231F20"/>
                </a:solidFill>
                <a:latin typeface="Times New Roman"/>
                <a:cs typeface="Times New Roman"/>
              </a:rPr>
              <a:t>2	</a:t>
            </a:r>
            <a:r>
              <a:rPr sz="1875" i="1" spc="22" baseline="4444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4444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922471" y="2789900"/>
            <a:ext cx="1237615" cy="781050"/>
            <a:chOff x="3922471" y="2789900"/>
            <a:chExt cx="1237615" cy="781050"/>
          </a:xfrm>
        </p:grpSpPr>
        <p:sp>
          <p:nvSpPr>
            <p:cNvPr id="16" name="object 16"/>
            <p:cNvSpPr/>
            <p:nvPr/>
          </p:nvSpPr>
          <p:spPr>
            <a:xfrm>
              <a:off x="3935539" y="2813185"/>
              <a:ext cx="1124585" cy="745490"/>
            </a:xfrm>
            <a:custGeom>
              <a:avLst/>
              <a:gdLst/>
              <a:ahLst/>
              <a:cxnLst/>
              <a:rect l="l" t="t" r="r" b="b"/>
              <a:pathLst>
                <a:path w="1124585" h="745489">
                  <a:moveTo>
                    <a:pt x="0" y="0"/>
                  </a:moveTo>
                  <a:lnTo>
                    <a:pt x="1124064" y="744880"/>
                  </a:lnTo>
                </a:path>
              </a:pathLst>
            </a:custGeom>
            <a:ln w="254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935171" y="2813423"/>
              <a:ext cx="1212215" cy="744855"/>
            </a:xfrm>
            <a:custGeom>
              <a:avLst/>
              <a:gdLst/>
              <a:ahLst/>
              <a:cxnLst/>
              <a:rect l="l" t="t" r="r" b="b"/>
              <a:pathLst>
                <a:path w="1212214" h="744854">
                  <a:moveTo>
                    <a:pt x="0" y="744461"/>
                  </a:moveTo>
                  <a:lnTo>
                    <a:pt x="1212164" y="0"/>
                  </a:lnTo>
                </a:path>
              </a:pathLst>
            </a:custGeom>
            <a:ln w="25400">
              <a:solidFill>
                <a:srgbClr val="E6E7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949699" y="2802600"/>
              <a:ext cx="1204595" cy="0"/>
            </a:xfrm>
            <a:custGeom>
              <a:avLst/>
              <a:gdLst/>
              <a:ahLst/>
              <a:cxnLst/>
              <a:rect l="l" t="t" r="r" b="b"/>
              <a:pathLst>
                <a:path w="1204595">
                  <a:moveTo>
                    <a:pt x="0" y="0"/>
                  </a:moveTo>
                  <a:lnTo>
                    <a:pt x="1204277" y="0"/>
                  </a:lnTo>
                </a:path>
              </a:pathLst>
            </a:custGeom>
            <a:ln w="25400">
              <a:solidFill>
                <a:srgbClr val="D40F24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9" name="object 19"/>
          <p:cNvGrpSpPr/>
          <p:nvPr/>
        </p:nvGrpSpPr>
        <p:grpSpPr>
          <a:xfrm>
            <a:off x="1511617" y="5245736"/>
            <a:ext cx="392430" cy="19685"/>
            <a:chOff x="1511617" y="5245736"/>
            <a:chExt cx="392430" cy="19685"/>
          </a:xfrm>
        </p:grpSpPr>
        <p:sp>
          <p:nvSpPr>
            <p:cNvPr id="20" name="object 20"/>
            <p:cNvSpPr/>
            <p:nvPr/>
          </p:nvSpPr>
          <p:spPr>
            <a:xfrm>
              <a:off x="1511617" y="5255039"/>
              <a:ext cx="206375" cy="0"/>
            </a:xfrm>
            <a:custGeom>
              <a:avLst/>
              <a:gdLst/>
              <a:ahLst/>
              <a:cxnLst/>
              <a:rect l="l" t="t" r="r" b="b"/>
              <a:pathLst>
                <a:path w="206375">
                  <a:moveTo>
                    <a:pt x="0" y="0"/>
                  </a:moveTo>
                  <a:lnTo>
                    <a:pt x="205778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17390" y="5258549"/>
              <a:ext cx="186690" cy="0"/>
            </a:xfrm>
            <a:custGeom>
              <a:avLst/>
              <a:gdLst/>
              <a:ahLst/>
              <a:cxnLst/>
              <a:rect l="l" t="t" r="r" b="b"/>
              <a:pathLst>
                <a:path w="186689">
                  <a:moveTo>
                    <a:pt x="0" y="0"/>
                  </a:moveTo>
                  <a:lnTo>
                    <a:pt x="186359" y="0"/>
                  </a:lnTo>
                </a:path>
              </a:pathLst>
            </a:custGeom>
            <a:ln w="13639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1985192" y="5245736"/>
            <a:ext cx="5146675" cy="19685"/>
            <a:chOff x="1985192" y="5245736"/>
            <a:chExt cx="5146675" cy="19685"/>
          </a:xfrm>
        </p:grpSpPr>
        <p:sp>
          <p:nvSpPr>
            <p:cNvPr id="23" name="object 23"/>
            <p:cNvSpPr/>
            <p:nvPr/>
          </p:nvSpPr>
          <p:spPr>
            <a:xfrm>
              <a:off x="1985192" y="5255039"/>
              <a:ext cx="4944745" cy="0"/>
            </a:xfrm>
            <a:custGeom>
              <a:avLst/>
              <a:gdLst/>
              <a:ahLst/>
              <a:cxnLst/>
              <a:rect l="l" t="t" r="r" b="b"/>
              <a:pathLst>
                <a:path w="4944745">
                  <a:moveTo>
                    <a:pt x="0" y="0"/>
                  </a:moveTo>
                  <a:lnTo>
                    <a:pt x="4944605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6929798" y="5258549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777" y="0"/>
                  </a:lnTo>
                </a:path>
              </a:pathLst>
            </a:custGeom>
            <a:ln w="13639">
              <a:solidFill>
                <a:srgbClr val="F08D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7213015" y="5245736"/>
            <a:ext cx="739775" cy="19685"/>
            <a:chOff x="7213015" y="5245736"/>
            <a:chExt cx="739775" cy="19685"/>
          </a:xfrm>
        </p:grpSpPr>
        <p:sp>
          <p:nvSpPr>
            <p:cNvPr id="26" name="object 26"/>
            <p:cNvSpPr/>
            <p:nvPr/>
          </p:nvSpPr>
          <p:spPr>
            <a:xfrm>
              <a:off x="7213015" y="5255039"/>
              <a:ext cx="553085" cy="0"/>
            </a:xfrm>
            <a:custGeom>
              <a:avLst/>
              <a:gdLst/>
              <a:ahLst/>
              <a:cxnLst/>
              <a:rect l="l" t="t" r="r" b="b"/>
              <a:pathLst>
                <a:path w="553084">
                  <a:moveTo>
                    <a:pt x="0" y="0"/>
                  </a:moveTo>
                  <a:lnTo>
                    <a:pt x="553059" y="0"/>
                  </a:lnTo>
                </a:path>
              </a:pathLst>
            </a:custGeom>
            <a:ln w="18605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766072" y="5258549"/>
              <a:ext cx="186690" cy="0"/>
            </a:xfrm>
            <a:custGeom>
              <a:avLst/>
              <a:gdLst/>
              <a:ahLst/>
              <a:cxnLst/>
              <a:rect l="l" t="t" r="r" b="b"/>
              <a:pathLst>
                <a:path w="186690">
                  <a:moveTo>
                    <a:pt x="0" y="0"/>
                  </a:moveTo>
                  <a:lnTo>
                    <a:pt x="186359" y="0"/>
                  </a:lnTo>
                </a:path>
              </a:pathLst>
            </a:custGeom>
            <a:ln w="13639">
              <a:solidFill>
                <a:srgbClr val="3369E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8033876" y="5255038"/>
            <a:ext cx="64769" cy="0"/>
          </a:xfrm>
          <a:custGeom>
            <a:avLst/>
            <a:gdLst/>
            <a:ahLst/>
            <a:cxnLst/>
            <a:rect l="l" t="t" r="r" b="b"/>
            <a:pathLst>
              <a:path w="64770">
                <a:moveTo>
                  <a:pt x="0" y="0"/>
                </a:moveTo>
                <a:lnTo>
                  <a:pt x="64630" y="0"/>
                </a:lnTo>
              </a:path>
            </a:pathLst>
          </a:custGeom>
          <a:ln w="186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38517" y="3899706"/>
            <a:ext cx="7595870" cy="246888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6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currently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married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with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000" spc="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but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6731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875" i="1" spc="359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husband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m1,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875" i="1" spc="352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has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0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chance</a:t>
            </a:r>
            <a:endParaRPr sz="2000">
              <a:latin typeface="Arial"/>
              <a:cs typeface="Arial"/>
            </a:endParaRPr>
          </a:p>
          <a:p>
            <a:pPr marL="673100">
              <a:lnSpc>
                <a:spcPct val="100000"/>
              </a:lnSpc>
              <a:spcBef>
                <a:spcPts val="960"/>
              </a:spcBef>
            </a:pP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u="sng" spc="7" baseline="-33333" dirty="0">
                <a:solidFill>
                  <a:srgbClr val="3369E8"/>
                </a:solidFill>
                <a:uFill>
                  <a:solidFill>
                    <a:srgbClr val="3369E8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prefers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m1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000" spc="-5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current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20" dirty="0">
                <a:solidFill>
                  <a:srgbClr val="231F20"/>
                </a:solidFill>
                <a:latin typeface="Arial"/>
                <a:cs typeface="Arial"/>
              </a:rPr>
              <a:t>partner,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2000" spc="-4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both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u="sng" spc="7" baseline="-33333" dirty="0">
                <a:solidFill>
                  <a:srgbClr val="F08D00"/>
                </a:solidFill>
                <a:uFill>
                  <a:solidFill>
                    <a:srgbClr val="F08D00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1875" i="1" spc="284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0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u="sng" spc="7" baseline="-33333" dirty="0">
                <a:solidFill>
                  <a:srgbClr val="3369E8"/>
                </a:solidFill>
                <a:uFill>
                  <a:solidFill>
                    <a:srgbClr val="3369E8"/>
                  </a:solidFill>
                </a:u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  <a:p>
            <a:pPr marL="673100">
              <a:lnSpc>
                <a:spcPct val="100000"/>
              </a:lnSpc>
              <a:spcBef>
                <a:spcPts val="1160"/>
              </a:spcBef>
            </a:pP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prefer</a:t>
            </a:r>
            <a:r>
              <a:rPr sz="2000" u="sng" spc="-2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each</a:t>
            </a:r>
            <a:r>
              <a:rPr sz="2000" u="sng" spc="-1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other</a:t>
            </a:r>
            <a:r>
              <a:rPr sz="2000" u="sng" spc="-2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to</a:t>
            </a:r>
            <a:r>
              <a:rPr sz="2000" u="sng" spc="-1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their</a:t>
            </a:r>
            <a:r>
              <a:rPr sz="2000" u="sng" spc="-10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current</a:t>
            </a:r>
            <a:r>
              <a:rPr sz="2000" u="sng" spc="-1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 </a:t>
            </a:r>
            <a:r>
              <a:rPr sz="2000" u="sng" spc="-5" dirty="0">
                <a:solidFill>
                  <a:srgbClr val="231F20"/>
                </a:solidFill>
                <a:uFill>
                  <a:solidFill>
                    <a:srgbClr val="231F20"/>
                  </a:solidFill>
                </a:uFill>
                <a:latin typeface="Arial"/>
                <a:cs typeface="Arial"/>
              </a:rPr>
              <a:t>partners.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7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</a:pP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This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forms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an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unstable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D40F24"/>
                </a:solidFill>
                <a:latin typeface="Arial"/>
                <a:cs typeface="Arial"/>
              </a:rPr>
              <a:t>pair.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Both</a:t>
            </a:r>
            <a:r>
              <a:rPr sz="20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1</a:t>
            </a:r>
            <a:r>
              <a:rPr sz="1875" i="1" spc="44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D40F24"/>
                </a:solidFill>
                <a:latin typeface="Arial"/>
                <a:cs typeface="Arial"/>
              </a:rPr>
              <a:t>:</a:t>
            </a:r>
            <a:r>
              <a:rPr sz="2400" spc="-1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2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}</a:t>
            </a:r>
            <a:r>
              <a:rPr sz="2400" spc="-120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and 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{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2 </a:t>
            </a:r>
            <a:r>
              <a:rPr sz="1875" i="1" spc="44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D40F24"/>
                </a:solidFill>
                <a:latin typeface="Arial"/>
                <a:cs typeface="Arial"/>
              </a:rPr>
              <a:t>:</a:t>
            </a:r>
            <a:r>
              <a:rPr sz="2400" spc="-15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200" i="1" spc="5" dirty="0">
                <a:solidFill>
                  <a:srgbClr val="D40F24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D40F24"/>
                </a:solidFill>
                <a:latin typeface="Times New Roman"/>
                <a:cs typeface="Times New Roman"/>
              </a:rPr>
              <a:t>1</a:t>
            </a:r>
            <a:r>
              <a:rPr sz="2400" spc="5" dirty="0">
                <a:solidFill>
                  <a:srgbClr val="D40F24"/>
                </a:solidFill>
                <a:latin typeface="Arial"/>
                <a:cs typeface="Arial"/>
              </a:rPr>
              <a:t>}</a:t>
            </a:r>
            <a:r>
              <a:rPr sz="2400" spc="-114" dirty="0">
                <a:solidFill>
                  <a:srgbClr val="D40F2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D40F24"/>
                </a:solidFill>
                <a:latin typeface="Arial"/>
                <a:cs typeface="Arial"/>
              </a:rPr>
              <a:t>fall</a:t>
            </a:r>
            <a:r>
              <a:rPr sz="2000" spc="-5" dirty="0">
                <a:solidFill>
                  <a:srgbClr val="D40F24"/>
                </a:solidFill>
                <a:latin typeface="Arial"/>
                <a:cs typeface="Arial"/>
              </a:rPr>
              <a:t> apart</a:t>
            </a:r>
            <a:r>
              <a:rPr sz="20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51C25-65A4-CDFC-4DF6-75FA507D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3168"/>
            <a:ext cx="8518281" cy="1169551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 slightly more complex example: 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10 x 10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64344-55D5-F392-28D3-10F9D8433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798733"/>
            <a:ext cx="8518281" cy="2154436"/>
          </a:xfrm>
        </p:spPr>
        <p:txBody>
          <a:bodyPr/>
          <a:lstStyle/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James</a:t>
            </a:r>
            <a:r>
              <a:rPr lang="en-US" sz="1400" dirty="0"/>
              <a:t>: Elizabeth, Emily, Jennifer, Rachel, Laura, Sarah, Jessica, Ashley, Amanda,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Michael</a:t>
            </a:r>
            <a:r>
              <a:rPr lang="en-US" sz="1400" dirty="0"/>
              <a:t>: Amanda, Laura, Emily, Jessica, Rachel, Elizabeth, Jennifer, Ashley, Sarah,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William</a:t>
            </a:r>
            <a:r>
              <a:rPr lang="en-US" sz="1400" dirty="0"/>
              <a:t>:  Sarah, Emily, Elizabeth, Amanda, Ashley, Jessica, Laura, Rachel, Jennifer,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David</a:t>
            </a:r>
            <a:r>
              <a:rPr lang="en-US" sz="1400" dirty="0"/>
              <a:t>: Emma, Rachel, Jennifer, Jessica, Laura, Emily, Ashley, Amanda, Sarah,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Robert</a:t>
            </a:r>
            <a:r>
              <a:rPr lang="en-US" sz="1400" dirty="0"/>
              <a:t>: Jessica, Laura, Emily, Jennifer, Sarah, Ashley, Rachel, Amanda, Emma,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Joseph</a:t>
            </a:r>
            <a:r>
              <a:rPr lang="en-US" sz="1400" dirty="0"/>
              <a:t>: Laura, Jennifer, Ashley, Sarah, Jessica, Emily, Amanda, Rachel, Elizabeth,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Charles</a:t>
            </a:r>
            <a:r>
              <a:rPr lang="en-US" sz="1400" dirty="0"/>
              <a:t>: Sarah, Laura, Rachel, Jennifer, Ashley, Jessica, Emily, Emma, Elizabeth, Amanda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Thomas</a:t>
            </a:r>
            <a:r>
              <a:rPr lang="en-US" sz="1400" dirty="0"/>
              <a:t>: Emily, Jessica, Rachel, Amanda, Laura, Ashley, Sarah, Emma, Jennifer, Elizabeth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Daniel</a:t>
            </a:r>
            <a:r>
              <a:rPr lang="en-US" sz="1400" dirty="0"/>
              <a:t>: Amanda, Jessica, Emily, Jennifer, Ashley, Sarah, Laura, Rachel, Elizabeth, Emma</a:t>
            </a:r>
          </a:p>
          <a:p>
            <a:pPr algn="l"/>
            <a:r>
              <a:rPr lang="en-US" sz="1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Matthew</a:t>
            </a:r>
            <a:r>
              <a:rPr lang="en-US" sz="1400" dirty="0"/>
              <a:t>: Sarah, Laura, Emily, Amanda, Jessica, Rachel, Ashley, Elizabeth, Emma, Jennifer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27BCF0-86F5-24B0-86A6-642CDF2C60D6}"/>
              </a:ext>
            </a:extLst>
          </p:cNvPr>
          <p:cNvSpPr txBox="1"/>
          <p:nvPr/>
        </p:nvSpPr>
        <p:spPr>
          <a:xfrm>
            <a:off x="928370" y="4123943"/>
            <a:ext cx="78864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Emily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Daniel, Matthew, David, James, Robert, William, Joseph, Michael, Charles,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Jessica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Robert, Michael, David, Joseph, William, Thomas, Daniel, James, Charles,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Sarah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James, Daniel, David, Robert, William, Charles, Joseph, Michael, Matthew,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Ashley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Michael, William, James, David, Thomas, Daniel, Charles, Robert, Joseph,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Jennifer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Michael, William, Charles, Robert, Daniel, Joseph, Thomas, James, David,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Rachel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William, James, Charles, Joseph, Daniel, Thomas, Robert, David, Michael,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Amanda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Robert, Joseph, Charles, David, Michael, Daniel, Matthew, William, James, Thomas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Emma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Daniel, Robert, James, David, William, Joseph, Charles, Michael, Thomas,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Elizabeth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Joseph, Charles, Daniel, Robert, David, William, Michael, James, Thomas, Matthew</a:t>
            </a:r>
          </a:p>
          <a:p>
            <a:r>
              <a:rPr lang="en-US" sz="1400" b="1" dirty="0">
                <a:solidFill>
                  <a:srgbClr val="F2549B"/>
                </a:solidFill>
                <a:latin typeface="Arial"/>
                <a:cs typeface="Arial"/>
              </a:rPr>
              <a:t>Laura</a:t>
            </a:r>
            <a:r>
              <a:rPr lang="en-US" sz="1400" dirty="0">
                <a:solidFill>
                  <a:srgbClr val="231F20"/>
                </a:solidFill>
                <a:latin typeface="Arial"/>
                <a:cs typeface="Arial"/>
              </a:rPr>
              <a:t>: James, Michael, Robert, David, Charles, Joseph, William, Daniel, Thomas, Matthew</a:t>
            </a:r>
          </a:p>
        </p:txBody>
      </p:sp>
    </p:spTree>
    <p:extLst>
      <p:ext uri="{BB962C8B-B14F-4D97-AF65-F5344CB8AC3E}">
        <p14:creationId xmlns:p14="http://schemas.microsoft.com/office/powerpoint/2010/main" val="3283027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6800" y="1821868"/>
            <a:ext cx="7696200" cy="3606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tabLst>
                <a:tab pos="1574800" algn="l"/>
                <a:tab pos="2588895" algn="l"/>
                <a:tab pos="3959225" algn="l"/>
                <a:tab pos="4871720" algn="l"/>
                <a:tab pos="5937250" algn="l"/>
              </a:tabLst>
            </a:pPr>
            <a:r>
              <a:rPr lang="en-US" sz="2400" dirty="0" err="1">
                <a:latin typeface="Arial"/>
                <a:cs typeface="Arial"/>
              </a:rPr>
              <a:t>住院医师规范化培训招录</a:t>
            </a:r>
            <a:endParaRPr sz="2400" dirty="0">
              <a:latin typeface="Arial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3369E8"/>
                </a:solidFill>
                <a:latin typeface="Arial"/>
                <a:cs typeface="Arial"/>
              </a:rPr>
              <a:t>研究生与导师的双向选择</a:t>
            </a:r>
            <a:endParaRPr lang="en-US" sz="2400" spc="-5" dirty="0">
              <a:solidFill>
                <a:srgbClr val="3369E8"/>
              </a:solidFill>
              <a:latin typeface="Arial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3369E8"/>
                </a:solidFill>
                <a:latin typeface="Arial"/>
                <a:cs typeface="Arial"/>
              </a:rPr>
              <a:t>新高考改革下的部分大类专业分流</a:t>
            </a:r>
            <a:endParaRPr lang="en-US" sz="2400" spc="-5" dirty="0">
              <a:solidFill>
                <a:srgbClr val="3369E8"/>
              </a:solidFill>
              <a:latin typeface="Arial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231F20"/>
                </a:solidFill>
                <a:latin typeface="Arial"/>
                <a:cs typeface="Arial"/>
              </a:rPr>
              <a:t>企事业单位内部人岗匹配</a:t>
            </a: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 marR="1084580">
              <a:lnSpc>
                <a:spcPct val="200000"/>
              </a:lnSpc>
            </a:pPr>
            <a:r>
              <a:rPr lang="en-US" sz="2400" spc="-5" dirty="0" err="1">
                <a:solidFill>
                  <a:srgbClr val="231F20"/>
                </a:solidFill>
                <a:latin typeface="Arial"/>
                <a:cs typeface="Arial"/>
              </a:rPr>
              <a:t>校企合作</a:t>
            </a:r>
            <a:r>
              <a:rPr lang="zh-CN" altLang="en-US" sz="2400" spc="-5" dirty="0">
                <a:solidFill>
                  <a:srgbClr val="231F20"/>
                </a:solidFill>
                <a:latin typeface="Arial"/>
                <a:cs typeface="Arial"/>
              </a:rPr>
              <a:t>“订单班”与实习分配</a:t>
            </a:r>
            <a:endParaRPr lang="en-US" sz="2400" spc="-5" dirty="0">
              <a:solidFill>
                <a:srgbClr val="231F20"/>
              </a:solidFill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8390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Applications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18</a:t>
            </a:fld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60780" y="2068483"/>
            <a:ext cx="6284595" cy="3013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come,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first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serve?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Lottery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game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?</a:t>
            </a: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endParaRPr lang="en-US" sz="2400" dirty="0">
              <a:solidFill>
                <a:srgbClr val="231F20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Check all pairs?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lang="en-US" sz="25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19</a:t>
            </a:fld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74514-46B7-063E-45F4-9CEA4365B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E80FA6C-07DA-8579-9713-6E38CA50FD88}"/>
              </a:ext>
            </a:extLst>
          </p:cNvPr>
          <p:cNvSpPr txBox="1"/>
          <p:nvPr/>
        </p:nvSpPr>
        <p:spPr>
          <a:xfrm>
            <a:off x="1160780" y="2068483"/>
            <a:ext cx="6284595" cy="22442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Brute force approach: generating all possible matchings and checking each one for stability.</a:t>
            </a:r>
          </a:p>
          <a:p>
            <a:pPr marL="12700">
              <a:lnSpc>
                <a:spcPct val="100000"/>
              </a:lnSpc>
            </a:pP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C08F2633-097F-BA15-16AD-BB088371D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97FBDA5-A080-858E-E463-B458F2D4A28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3482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2C2C1-845B-067B-75CF-DFFDE76E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B69DCC-7D03-6614-C385-9D80E6E81F2D}"/>
              </a:ext>
            </a:extLst>
          </p:cNvPr>
          <p:cNvSpPr txBox="1"/>
          <p:nvPr/>
        </p:nvSpPr>
        <p:spPr>
          <a:xfrm>
            <a:off x="1160780" y="2068483"/>
            <a:ext cx="6284595" cy="15055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1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00B050"/>
                </a:solidFill>
                <a:latin typeface="Arial"/>
                <a:cs typeface="Arial"/>
              </a:rPr>
              <a:t>Gale-Shapley's</a:t>
            </a:r>
            <a:r>
              <a:rPr sz="2400" spc="-30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deferred</a:t>
            </a:r>
            <a:r>
              <a:rPr sz="2400" spc="-30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acceptance</a:t>
            </a:r>
            <a:r>
              <a:rPr sz="2400" spc="-35" dirty="0">
                <a:solidFill>
                  <a:srgbClr val="00B05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00B050"/>
                </a:solidFill>
                <a:latin typeface="Arial"/>
                <a:cs typeface="Arial"/>
              </a:rPr>
              <a:t>algorithm</a:t>
            </a:r>
            <a:endParaRPr sz="2400" dirty="0">
              <a:solidFill>
                <a:srgbClr val="00B050"/>
              </a:solidFill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6A0821-4A40-3F3D-1B98-989B7F2BE2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72819" y="776883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834AF06F-94E6-0F92-A9E0-65AB717ECA4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56547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3000" y="2257644"/>
            <a:ext cx="7122228" cy="3013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What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"engagement"?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24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necessary?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Can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break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up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my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engagement?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The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essence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enga</a:t>
            </a:r>
            <a:r>
              <a:rPr lang="en-US" sz="2400" spc="-5" dirty="0">
                <a:solidFill>
                  <a:srgbClr val="3369E8"/>
                </a:solidFill>
                <a:latin typeface="Arial"/>
                <a:cs typeface="Arial"/>
              </a:rPr>
              <a:t>ge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ment</a:t>
            </a:r>
            <a:r>
              <a:rPr sz="24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is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chemeClr val="accent6"/>
                </a:solidFill>
                <a:latin typeface="Arial"/>
                <a:cs typeface="Arial"/>
              </a:rPr>
              <a:t>deferred</a:t>
            </a:r>
            <a:r>
              <a:rPr sz="2400" b="1" spc="-15" dirty="0">
                <a:solidFill>
                  <a:schemeClr val="accent6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chemeClr val="accent6"/>
                </a:solidFill>
                <a:latin typeface="Arial"/>
                <a:cs typeface="Arial"/>
              </a:rPr>
              <a:t>acceptance</a:t>
            </a:r>
            <a:endParaRPr sz="2400" b="1" dirty="0">
              <a:solidFill>
                <a:schemeClr val="accent6"/>
              </a:solidFill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8431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Deferred</a:t>
            </a: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acceptance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22</a:t>
            </a:fld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4635010" y="2269469"/>
            <a:ext cx="3977640" cy="34599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7500">
              <a:lnSpc>
                <a:spcPct val="100000"/>
              </a:lnSpc>
              <a:spcBef>
                <a:spcPts val="100"/>
              </a:spcBef>
            </a:pPr>
            <a:r>
              <a:rPr sz="1600" spc="-5" dirty="0"/>
              <a:t>elif</a:t>
            </a:r>
            <a:r>
              <a:rPr sz="1600" spc="-5" dirty="0">
                <a:solidFill>
                  <a:srgbClr val="231F20"/>
                </a:solidFill>
              </a:rPr>
              <a:t>:</a:t>
            </a:r>
          </a:p>
          <a:p>
            <a:pPr marL="622300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</a:rPr>
              <a:t>{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</a:rPr>
              <a:t>,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spc="-5" dirty="0">
                <a:solidFill>
                  <a:srgbClr val="231F20"/>
                </a:solidFill>
              </a:rPr>
              <a:t>}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engaged,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</a:p>
          <a:p>
            <a:pPr marL="622300" marR="1333500">
              <a:lnSpc>
                <a:spcPct val="100000"/>
              </a:lnSpc>
            </a:pPr>
            <a:r>
              <a:rPr sz="1600" spc="-5" dirty="0">
                <a:solidFill>
                  <a:srgbClr val="231F20"/>
                </a:solidFill>
              </a:rPr>
              <a:t>prefer</a:t>
            </a:r>
            <a:r>
              <a:rPr sz="1600" spc="-30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b="1" spc="-3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,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3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rejected</a:t>
            </a:r>
            <a:r>
              <a:rPr sz="1600" spc="-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,</a:t>
            </a:r>
          </a:p>
          <a:p>
            <a:pPr marL="622300" marR="5080">
              <a:lnSpc>
                <a:spcPct val="100000"/>
              </a:lnSpc>
            </a:pP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1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still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will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propose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</a:t>
            </a:r>
            <a:r>
              <a:rPr sz="1600" spc="-5" dirty="0">
                <a:solidFill>
                  <a:srgbClr val="231F20"/>
                </a:solidFill>
              </a:rPr>
              <a:t> next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one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on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his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list</a:t>
            </a:r>
          </a:p>
          <a:p>
            <a:pPr marL="317500">
              <a:lnSpc>
                <a:spcPct val="100000"/>
              </a:lnSpc>
            </a:pPr>
            <a:r>
              <a:rPr sz="1600" spc="-5" dirty="0"/>
              <a:t>else</a:t>
            </a:r>
            <a:r>
              <a:rPr sz="1600" spc="-5" dirty="0">
                <a:solidFill>
                  <a:srgbClr val="231F20"/>
                </a:solidFill>
              </a:rPr>
              <a:t>:</a:t>
            </a:r>
          </a:p>
          <a:p>
            <a:pPr marL="622300">
              <a:lnSpc>
                <a:spcPct val="100000"/>
              </a:lnSpc>
            </a:pP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1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with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spc="-5" dirty="0">
                <a:solidFill>
                  <a:srgbClr val="231F20"/>
                </a:solidFill>
              </a:rPr>
              <a:t>,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and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</a:p>
          <a:p>
            <a:pPr marL="622300">
              <a:lnSpc>
                <a:spcPct val="100000"/>
              </a:lnSpc>
            </a:pPr>
            <a:r>
              <a:rPr sz="1600" spc="-5" dirty="0">
                <a:solidFill>
                  <a:srgbClr val="231F20"/>
                </a:solidFill>
              </a:rPr>
              <a:t>prefer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3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</a:rPr>
              <a:t>to</a:t>
            </a:r>
            <a:r>
              <a:rPr sz="1600" spc="-35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</a:p>
          <a:p>
            <a:pPr marL="622300" marR="975360" algn="just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</a:rPr>
              <a:t>{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</a:rPr>
              <a:t>,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dirty="0">
                <a:solidFill>
                  <a:srgbClr val="231F20"/>
                </a:solidFill>
              </a:rPr>
              <a:t>} </a:t>
            </a:r>
            <a:r>
              <a:rPr sz="1600" spc="-5" dirty="0">
                <a:solidFill>
                  <a:srgbClr val="231F20"/>
                </a:solidFill>
              </a:rPr>
              <a:t>is engaged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longer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b="1" spc="-5" dirty="0">
                <a:solidFill>
                  <a:srgbClr val="D77E47"/>
                </a:solidFill>
                <a:latin typeface="Arial"/>
                <a:cs typeface="Arial"/>
              </a:rPr>
              <a:t>m'</a:t>
            </a:r>
            <a:r>
              <a:rPr sz="1600" b="1" spc="-10" dirty="0">
                <a:solidFill>
                  <a:srgbClr val="D77E47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is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free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now</a:t>
            </a: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00" dirty="0"/>
          </a:p>
          <a:p>
            <a:pPr marL="12700" marR="308610">
              <a:lnSpc>
                <a:spcPct val="100000"/>
              </a:lnSpc>
            </a:pPr>
            <a:r>
              <a:rPr sz="1600" dirty="0"/>
              <a:t>return</a:t>
            </a:r>
            <a:r>
              <a:rPr sz="1600" spc="-20" dirty="0"/>
              <a:t> </a:t>
            </a:r>
            <a:r>
              <a:rPr sz="1600" spc="-5" dirty="0">
                <a:solidFill>
                  <a:srgbClr val="231F20"/>
                </a:solidFill>
              </a:rPr>
              <a:t>all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</a:t>
            </a:r>
            <a:r>
              <a:rPr sz="1600" spc="-1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engaged</a:t>
            </a:r>
            <a:r>
              <a:rPr sz="1600" spc="-25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pairs,</a:t>
            </a:r>
            <a:r>
              <a:rPr sz="1600" spc="-2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they </a:t>
            </a:r>
            <a:r>
              <a:rPr sz="1600" spc="-430" dirty="0">
                <a:solidFill>
                  <a:srgbClr val="231F20"/>
                </a:solidFill>
              </a:rPr>
              <a:t> </a:t>
            </a:r>
            <a:r>
              <a:rPr sz="1600" spc="-5" dirty="0">
                <a:solidFill>
                  <a:srgbClr val="231F20"/>
                </a:solidFill>
              </a:rPr>
              <a:t>now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can</a:t>
            </a:r>
            <a:r>
              <a:rPr sz="1600" spc="-5" dirty="0">
                <a:solidFill>
                  <a:srgbClr val="231F20"/>
                </a:solidFill>
              </a:rPr>
              <a:t> get</a:t>
            </a:r>
            <a:r>
              <a:rPr sz="1600" spc="-10" dirty="0">
                <a:solidFill>
                  <a:srgbClr val="231F20"/>
                </a:solidFill>
              </a:rPr>
              <a:t> </a:t>
            </a:r>
            <a:r>
              <a:rPr sz="1600" dirty="0">
                <a:solidFill>
                  <a:srgbClr val="231F20"/>
                </a:solidFill>
              </a:rPr>
              <a:t>married.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23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531350" y="2268220"/>
            <a:ext cx="3431050" cy="29828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Initially,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all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men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and women are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 free</a:t>
            </a:r>
            <a:endParaRPr sz="16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5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1600" spc="-5" dirty="0">
                <a:solidFill>
                  <a:srgbClr val="3369E8"/>
                </a:solidFill>
                <a:latin typeface="Arial"/>
                <a:cs typeface="Arial"/>
              </a:rPr>
              <a:t>while</a:t>
            </a:r>
            <a:r>
              <a:rPr sz="1600" spc="38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there</a:t>
            </a:r>
            <a:r>
              <a:rPr sz="1600" spc="3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1600" spc="39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man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39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1600" spc="38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free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and hasn't proposed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every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women:</a:t>
            </a:r>
            <a:endParaRPr sz="1600" dirty="0">
              <a:latin typeface="Arial"/>
              <a:cs typeface="Arial"/>
            </a:endParaRPr>
          </a:p>
          <a:p>
            <a:pPr marL="317500" marR="120014" algn="just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'''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let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15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be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16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highest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ranked </a:t>
            </a:r>
            <a:r>
              <a:rPr sz="1600" spc="-434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women on his list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whom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m </a:t>
            </a:r>
            <a:r>
              <a:rPr sz="1600" spc="-4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hasn't</a:t>
            </a:r>
            <a:r>
              <a:rPr sz="16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proposed</a:t>
            </a:r>
            <a:r>
              <a:rPr sz="16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yet.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'''</a:t>
            </a:r>
            <a:endParaRPr sz="16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650" dirty="0">
              <a:latin typeface="Arial"/>
              <a:cs typeface="Arial"/>
            </a:endParaRPr>
          </a:p>
          <a:p>
            <a:pPr marL="317500">
              <a:lnSpc>
                <a:spcPct val="100000"/>
              </a:lnSpc>
            </a:pPr>
            <a:r>
              <a:rPr sz="1600" b="1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b="1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propose</a:t>
            </a:r>
            <a:r>
              <a:rPr sz="1600" spc="-3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endParaRPr sz="1600" dirty="0">
              <a:latin typeface="Arial"/>
              <a:cs typeface="Arial"/>
            </a:endParaRPr>
          </a:p>
          <a:p>
            <a:pPr marL="317500">
              <a:lnSpc>
                <a:spcPct val="100000"/>
              </a:lnSpc>
            </a:pPr>
            <a:r>
              <a:rPr sz="1600" spc="-5" dirty="0">
                <a:solidFill>
                  <a:srgbClr val="3369E8"/>
                </a:solidFill>
                <a:latin typeface="Arial"/>
                <a:cs typeface="Arial"/>
              </a:rPr>
              <a:t>if</a:t>
            </a:r>
            <a:r>
              <a:rPr sz="16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b="1" spc="-20" dirty="0">
                <a:solidFill>
                  <a:srgbClr val="40AD49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is</a:t>
            </a:r>
            <a:r>
              <a:rPr sz="16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free:</a:t>
            </a:r>
            <a:endParaRPr sz="1600" dirty="0">
              <a:latin typeface="Arial"/>
              <a:cs typeface="Arial"/>
            </a:endParaRPr>
          </a:p>
          <a:p>
            <a:pPr marL="622300">
              <a:lnSpc>
                <a:spcPct val="100000"/>
              </a:lnSpc>
            </a:pP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then</a:t>
            </a:r>
            <a:r>
              <a:rPr sz="16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{</a:t>
            </a:r>
            <a:r>
              <a:rPr sz="1600" b="1" spc="-5" dirty="0">
                <a:solidFill>
                  <a:srgbClr val="F08D00"/>
                </a:solidFill>
                <a:latin typeface="Arial"/>
                <a:cs typeface="Arial"/>
              </a:rPr>
              <a:t>m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40AD49"/>
                </a:solidFill>
                <a:latin typeface="Arial"/>
                <a:cs typeface="Arial"/>
              </a:rPr>
              <a:t>w</a:t>
            </a:r>
            <a:r>
              <a:rPr sz="1600" dirty="0">
                <a:solidFill>
                  <a:srgbClr val="231F20"/>
                </a:solidFill>
                <a:latin typeface="Arial"/>
                <a:cs typeface="Arial"/>
              </a:rPr>
              <a:t>}</a:t>
            </a:r>
            <a:r>
              <a:rPr sz="16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endParaRPr sz="16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24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22019" y="1754715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75020" y="1754715"/>
            <a:ext cx="1934210" cy="1728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30480">
              <a:lnSpc>
                <a:spcPct val="197700"/>
              </a:lnSpc>
              <a:spcBef>
                <a:spcPts val="33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89959" y="1825942"/>
            <a:ext cx="461009" cy="461009"/>
            <a:chOff x="3489959" y="1825942"/>
            <a:chExt cx="461009" cy="461009"/>
          </a:xfrm>
        </p:grpSpPr>
        <p:sp>
          <p:nvSpPr>
            <p:cNvPr id="6" name="object 6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489959" y="3176587"/>
            <a:ext cx="461009" cy="461009"/>
            <a:chOff x="3489959" y="3176587"/>
            <a:chExt cx="461009" cy="461009"/>
          </a:xfrm>
        </p:grpSpPr>
        <p:sp>
          <p:nvSpPr>
            <p:cNvPr id="9" name="object 9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489959" y="2530792"/>
            <a:ext cx="461009" cy="461009"/>
            <a:chOff x="3489959" y="2530792"/>
            <a:chExt cx="461009" cy="461009"/>
          </a:xfrm>
        </p:grpSpPr>
        <p:sp>
          <p:nvSpPr>
            <p:cNvPr id="12" name="object 12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45840" y="2481184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12079" y="1813558"/>
            <a:ext cx="461009" cy="461009"/>
            <a:chOff x="5212079" y="1813558"/>
            <a:chExt cx="461009" cy="461009"/>
          </a:xfrm>
        </p:grpSpPr>
        <p:sp>
          <p:nvSpPr>
            <p:cNvPr id="16" name="object 16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533140" y="1776334"/>
            <a:ext cx="209168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772285" algn="l"/>
              </a:tabLst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252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28888">
              <a:latin typeface="Times New Roman"/>
              <a:cs typeface="Times New Roman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12079" y="3164204"/>
            <a:ext cx="461009" cy="461009"/>
            <a:chOff x="5212079" y="3164204"/>
            <a:chExt cx="461009" cy="461009"/>
          </a:xfrm>
        </p:grpSpPr>
        <p:sp>
          <p:nvSpPr>
            <p:cNvPr id="20" name="object 20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5212079" y="2518408"/>
            <a:ext cx="461009" cy="461009"/>
            <a:chOff x="5212079" y="2518408"/>
            <a:chExt cx="461009" cy="461009"/>
          </a:xfrm>
        </p:grpSpPr>
        <p:sp>
          <p:nvSpPr>
            <p:cNvPr id="23" name="object 23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267959" y="2468802"/>
            <a:ext cx="344170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5583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Gale-Shapley</a:t>
            </a:r>
            <a:r>
              <a:rPr sz="3600" spc="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Algorithm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25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22019" y="1754715"/>
            <a:ext cx="1903095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71120">
              <a:lnSpc>
                <a:spcPct val="197700"/>
              </a:lnSpc>
            </a:pP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 </a:t>
            </a:r>
            <a:r>
              <a:rPr sz="1875" spc="-45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-1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w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75020" y="1754715"/>
            <a:ext cx="1934210" cy="1728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  <a:p>
            <a:pPr marL="38100" marR="30480">
              <a:lnSpc>
                <a:spcPct val="197700"/>
              </a:lnSpc>
              <a:spcBef>
                <a:spcPts val="330"/>
              </a:spcBef>
            </a:pP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 </a:t>
            </a:r>
            <a:r>
              <a:rPr sz="1875" spc="-450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:</a:t>
            </a:r>
            <a:r>
              <a:rPr sz="2200" i="1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0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r>
              <a:rPr sz="1875" i="1" spc="33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b="1" dirty="0">
                <a:solidFill>
                  <a:srgbClr val="231F20"/>
                </a:solidFill>
                <a:latin typeface="Impact"/>
                <a:cs typeface="Impact"/>
              </a:rPr>
              <a:t>&gt;</a:t>
            </a:r>
            <a:r>
              <a:rPr sz="2200" b="1" spc="145" dirty="0">
                <a:solidFill>
                  <a:srgbClr val="231F20"/>
                </a:solidFill>
                <a:latin typeface="Impact"/>
                <a:cs typeface="Impact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489959" y="1825942"/>
            <a:ext cx="461009" cy="461009"/>
            <a:chOff x="3489959" y="1825942"/>
            <a:chExt cx="461009" cy="461009"/>
          </a:xfrm>
        </p:grpSpPr>
        <p:sp>
          <p:nvSpPr>
            <p:cNvPr id="6" name="object 6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496309" y="183229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3489959" y="3176587"/>
            <a:ext cx="461009" cy="461009"/>
            <a:chOff x="3489959" y="3176587"/>
            <a:chExt cx="461009" cy="461009"/>
          </a:xfrm>
        </p:grpSpPr>
        <p:sp>
          <p:nvSpPr>
            <p:cNvPr id="9" name="object 9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496309" y="3182937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489959" y="2530792"/>
            <a:ext cx="461009" cy="461009"/>
            <a:chOff x="3489959" y="2530792"/>
            <a:chExt cx="461009" cy="461009"/>
          </a:xfrm>
        </p:grpSpPr>
        <p:sp>
          <p:nvSpPr>
            <p:cNvPr id="12" name="object 12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F8C5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496309" y="2537142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545840" y="2481184"/>
            <a:ext cx="360045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12079" y="1813558"/>
            <a:ext cx="461009" cy="461009"/>
            <a:chOff x="5212079" y="1813558"/>
            <a:chExt cx="461009" cy="461009"/>
          </a:xfrm>
        </p:grpSpPr>
        <p:sp>
          <p:nvSpPr>
            <p:cNvPr id="16" name="object 16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218429" y="181990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533140" y="1776334"/>
            <a:ext cx="2091689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772285" algn="l"/>
              </a:tabLst>
            </a:pP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m</a:t>
            </a:r>
            <a:r>
              <a:rPr sz="1875" i="1" spc="7" baseline="-33333" dirty="0">
                <a:solidFill>
                  <a:srgbClr val="231F20"/>
                </a:solidFill>
                <a:latin typeface="Times New Roman"/>
                <a:cs typeface="Times New Roman"/>
              </a:rPr>
              <a:t>1	</a:t>
            </a:r>
            <a:r>
              <a:rPr sz="3300" i="1" spc="7" baseline="252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28888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endParaRPr sz="1875" baseline="-28888">
              <a:latin typeface="Times New Roman"/>
              <a:cs typeface="Times New Roman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212079" y="3164204"/>
            <a:ext cx="461009" cy="461009"/>
            <a:chOff x="5212079" y="3164204"/>
            <a:chExt cx="461009" cy="461009"/>
          </a:xfrm>
        </p:grpSpPr>
        <p:sp>
          <p:nvSpPr>
            <p:cNvPr id="20" name="object 20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218429" y="3170554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2" name="object 22"/>
          <p:cNvGrpSpPr/>
          <p:nvPr/>
        </p:nvGrpSpPr>
        <p:grpSpPr>
          <a:xfrm>
            <a:off x="5212079" y="2518408"/>
            <a:ext cx="461009" cy="461009"/>
            <a:chOff x="5212079" y="2518408"/>
            <a:chExt cx="461009" cy="461009"/>
          </a:xfrm>
        </p:grpSpPr>
        <p:sp>
          <p:nvSpPr>
            <p:cNvPr id="23" name="object 23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0"/>
                  </a:move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close/>
                </a:path>
              </a:pathLst>
            </a:custGeom>
            <a:solidFill>
              <a:srgbClr val="3369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218429" y="2524758"/>
              <a:ext cx="448309" cy="448309"/>
            </a:xfrm>
            <a:custGeom>
              <a:avLst/>
              <a:gdLst/>
              <a:ahLst/>
              <a:cxnLst/>
              <a:rect l="l" t="t" r="r" b="b"/>
              <a:pathLst>
                <a:path w="448310" h="448310">
                  <a:moveTo>
                    <a:pt x="224154" y="448310"/>
                  </a:moveTo>
                  <a:lnTo>
                    <a:pt x="269330" y="443756"/>
                  </a:lnTo>
                  <a:lnTo>
                    <a:pt x="311407" y="430695"/>
                  </a:lnTo>
                  <a:lnTo>
                    <a:pt x="349483" y="410028"/>
                  </a:lnTo>
                  <a:lnTo>
                    <a:pt x="382657" y="382657"/>
                  </a:lnTo>
                  <a:lnTo>
                    <a:pt x="410028" y="349483"/>
                  </a:lnTo>
                  <a:lnTo>
                    <a:pt x="430695" y="311407"/>
                  </a:lnTo>
                  <a:lnTo>
                    <a:pt x="443756" y="269330"/>
                  </a:lnTo>
                  <a:lnTo>
                    <a:pt x="448309" y="224155"/>
                  </a:lnTo>
                  <a:lnTo>
                    <a:pt x="443756" y="178979"/>
                  </a:lnTo>
                  <a:lnTo>
                    <a:pt x="430695" y="136902"/>
                  </a:lnTo>
                  <a:lnTo>
                    <a:pt x="410028" y="98826"/>
                  </a:lnTo>
                  <a:lnTo>
                    <a:pt x="382657" y="65652"/>
                  </a:lnTo>
                  <a:lnTo>
                    <a:pt x="349483" y="38281"/>
                  </a:lnTo>
                  <a:lnTo>
                    <a:pt x="311407" y="17614"/>
                  </a:lnTo>
                  <a:lnTo>
                    <a:pt x="269330" y="4553"/>
                  </a:lnTo>
                  <a:lnTo>
                    <a:pt x="224154" y="0"/>
                  </a:lnTo>
                  <a:lnTo>
                    <a:pt x="178979" y="4553"/>
                  </a:lnTo>
                  <a:lnTo>
                    <a:pt x="136902" y="17614"/>
                  </a:lnTo>
                  <a:lnTo>
                    <a:pt x="98826" y="38281"/>
                  </a:lnTo>
                  <a:lnTo>
                    <a:pt x="65652" y="65652"/>
                  </a:lnTo>
                  <a:lnTo>
                    <a:pt x="38281" y="98826"/>
                  </a:lnTo>
                  <a:lnTo>
                    <a:pt x="17614" y="136902"/>
                  </a:lnTo>
                  <a:lnTo>
                    <a:pt x="4553" y="178979"/>
                  </a:lnTo>
                  <a:lnTo>
                    <a:pt x="0" y="224155"/>
                  </a:lnTo>
                  <a:lnTo>
                    <a:pt x="4553" y="269330"/>
                  </a:lnTo>
                  <a:lnTo>
                    <a:pt x="17614" y="311407"/>
                  </a:lnTo>
                  <a:lnTo>
                    <a:pt x="38281" y="349483"/>
                  </a:lnTo>
                  <a:lnTo>
                    <a:pt x="65652" y="382657"/>
                  </a:lnTo>
                  <a:lnTo>
                    <a:pt x="98826" y="410028"/>
                  </a:lnTo>
                  <a:lnTo>
                    <a:pt x="136902" y="430695"/>
                  </a:lnTo>
                  <a:lnTo>
                    <a:pt x="178979" y="443756"/>
                  </a:lnTo>
                  <a:lnTo>
                    <a:pt x="224154" y="448310"/>
                  </a:lnTo>
                  <a:close/>
                </a:path>
              </a:pathLst>
            </a:custGeom>
            <a:ln w="12700">
              <a:solidFill>
                <a:srgbClr val="231F2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267959" y="2468802"/>
            <a:ext cx="344170" cy="1024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875" baseline="-33333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85"/>
              </a:spcBef>
            </a:pPr>
            <a:r>
              <a:rPr sz="2200" i="1" spc="5" dirty="0">
                <a:solidFill>
                  <a:srgbClr val="FFFFFF"/>
                </a:solidFill>
                <a:latin typeface="Times New Roman"/>
                <a:cs typeface="Times New Roman"/>
              </a:rPr>
              <a:t>w</a:t>
            </a:r>
            <a:r>
              <a:rPr sz="1875" i="1" spc="7" baseline="-33333" dirty="0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  <a:endParaRPr sz="1875" baseline="-33333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22019" y="3831391"/>
            <a:ext cx="3187065" cy="1976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25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0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(i.e.,</a:t>
            </a:r>
            <a:r>
              <a:rPr sz="1200" spc="27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says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maybe)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endParaRPr sz="1350" baseline="-33950">
              <a:latin typeface="Times New Roman"/>
              <a:cs typeface="Times New Roman"/>
            </a:endParaRPr>
          </a:p>
          <a:p>
            <a:pPr marL="38100" marR="30480">
              <a:lnSpc>
                <a:spcPct val="100000"/>
              </a:lnSpc>
            </a:pP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9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with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and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104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prefer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1</a:t>
            </a:r>
            <a:r>
              <a:rPr sz="1350" i="1" spc="24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 </a:t>
            </a:r>
            <a:r>
              <a:rPr sz="1200" spc="-28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1</a:t>
            </a:r>
            <a:r>
              <a:rPr sz="1350" i="1" spc="104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reject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350" baseline="-3395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350" i="1" spc="82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endParaRPr sz="1350" baseline="-3395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904036" y="3819009"/>
            <a:ext cx="3085465" cy="202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100"/>
              </a:spcBef>
            </a:pP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350" i="1" spc="9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with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and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prefer</a:t>
            </a:r>
            <a:r>
              <a:rPr sz="1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350" i="1" spc="9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, </a:t>
            </a:r>
            <a:r>
              <a:rPr sz="1200" spc="-28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dumped 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endParaRPr sz="1350" baseline="-3395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,</a:t>
            </a: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3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75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is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free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600" i="1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propose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to</a:t>
            </a:r>
            <a:r>
              <a:rPr sz="1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endParaRPr sz="1350" baseline="-3395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{</a:t>
            </a:r>
            <a:r>
              <a:rPr sz="1600" i="1" spc="5" dirty="0">
                <a:solidFill>
                  <a:srgbClr val="F08D00"/>
                </a:solidFill>
                <a:latin typeface="Times New Roman"/>
                <a:cs typeface="Times New Roman"/>
              </a:rPr>
              <a:t>m</a:t>
            </a:r>
            <a:r>
              <a:rPr sz="1350" i="1" spc="7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2</a:t>
            </a:r>
            <a:r>
              <a:rPr sz="1350" i="1" spc="60" baseline="-33950" dirty="0">
                <a:solidFill>
                  <a:srgbClr val="F08D00"/>
                </a:solidFill>
                <a:latin typeface="Times New Roman"/>
                <a:cs typeface="Times New Roman"/>
              </a:rPr>
              <a:t> </a:t>
            </a:r>
            <a:r>
              <a:rPr sz="1600" i="1" spc="5" dirty="0">
                <a:solidFill>
                  <a:srgbClr val="3369E8"/>
                </a:solidFill>
                <a:latin typeface="Times New Roman"/>
                <a:cs typeface="Times New Roman"/>
              </a:rPr>
              <a:t>w</a:t>
            </a:r>
            <a:r>
              <a:rPr lang="en-US" sz="1350" i="1" spc="7" baseline="-33950" dirty="0">
                <a:solidFill>
                  <a:srgbClr val="3369E8"/>
                </a:solidFill>
                <a:latin typeface="Times New Roman"/>
                <a:cs typeface="Times New Roman"/>
              </a:rPr>
              <a:t>3</a:t>
            </a:r>
            <a:r>
              <a:rPr sz="1200" spc="5" dirty="0">
                <a:solidFill>
                  <a:srgbClr val="231F20"/>
                </a:solidFill>
                <a:latin typeface="Times New Roman"/>
                <a:cs typeface="Times New Roman"/>
              </a:rPr>
              <a:t>}</a:t>
            </a:r>
            <a:r>
              <a:rPr sz="1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all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pairs</a:t>
            </a:r>
            <a:r>
              <a:rPr sz="1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1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engaged.</a:t>
            </a:r>
            <a:endParaRPr sz="12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</a:pP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they</a:t>
            </a:r>
            <a:r>
              <a:rPr sz="1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can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now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get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married</a:t>
            </a:r>
            <a:r>
              <a:rPr sz="1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1F20"/>
                </a:solidFill>
                <a:latin typeface="Times New Roman"/>
                <a:cs typeface="Times New Roman"/>
              </a:rPr>
              <a:t>(yes!).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9819" y="2068483"/>
            <a:ext cx="69437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2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Dose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“stable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matching”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exist?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26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9819" y="2068483"/>
            <a:ext cx="6944995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lang="en-US" sz="2400" b="1" spc="-5" dirty="0">
                <a:solidFill>
                  <a:srgbClr val="F08D00"/>
                </a:solidFill>
                <a:latin typeface="Arial"/>
                <a:cs typeface="Arial"/>
              </a:rPr>
              <a:t>2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:</a:t>
            </a:r>
            <a:r>
              <a:rPr sz="2400" b="1" spc="-16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Dose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“stable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matching”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-1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exist?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 </a:t>
            </a:r>
            <a:r>
              <a:rPr sz="2400" spc="-60" dirty="0">
                <a:solidFill>
                  <a:srgbClr val="231F20"/>
                </a:solidFill>
                <a:latin typeface="Arial"/>
                <a:cs typeface="Arial"/>
              </a:rPr>
              <a:t>Yes.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Given n men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 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lists,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there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 exists at least one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stable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 solution.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This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 theorem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has been proven by David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Gale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Lloyd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S. 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Shapley.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27</a:t>
            </a:fld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70281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The</a:t>
            </a:r>
            <a:r>
              <a:rPr sz="36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Stable</a:t>
            </a:r>
            <a:r>
              <a:rPr sz="3600" spc="5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Matching</a:t>
            </a:r>
            <a:r>
              <a:rPr sz="3600" spc="5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Theorem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28</a:t>
            </a:fld>
            <a:endParaRPr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2631" y="1878457"/>
            <a:ext cx="6658724" cy="394322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46977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Proof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of</a:t>
            </a: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correctness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29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01725" y="2096184"/>
            <a:ext cx="6316345" cy="2707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958975" indent="-304800">
              <a:lnSpc>
                <a:spcPct val="100000"/>
              </a:lnSpc>
              <a:spcBef>
                <a:spcPts val="100"/>
              </a:spcBef>
            </a:pP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Proof</a:t>
            </a:r>
            <a:r>
              <a:rPr sz="2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correctness: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Perfect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matching </a:t>
            </a:r>
            <a:r>
              <a:rPr sz="2200" spc="-5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1: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all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men</a:t>
            </a:r>
            <a:r>
              <a:rPr sz="2200" spc="-1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get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matched</a:t>
            </a:r>
            <a:endParaRPr sz="2200">
              <a:latin typeface="Times New Roman"/>
              <a:cs typeface="Times New Roman"/>
            </a:endParaRPr>
          </a:p>
          <a:p>
            <a:pPr marL="355600" marR="2041525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 2: all </a:t>
            </a: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women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get matched </a:t>
            </a:r>
            <a:r>
              <a:rPr sz="2200" spc="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3: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there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are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no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unstable</a:t>
            </a:r>
            <a:r>
              <a:rPr sz="2200" spc="-1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pairs</a:t>
            </a:r>
            <a:endParaRPr sz="2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250">
              <a:latin typeface="Times New Roman"/>
              <a:cs typeface="Times New Roman"/>
            </a:endParaRPr>
          </a:p>
          <a:p>
            <a:pPr marL="50800">
              <a:lnSpc>
                <a:spcPct val="100000"/>
              </a:lnSpc>
            </a:pPr>
            <a:r>
              <a:rPr sz="2200" spc="-5" dirty="0">
                <a:solidFill>
                  <a:srgbClr val="231F20"/>
                </a:solidFill>
                <a:latin typeface="Times New Roman"/>
                <a:cs typeface="Times New Roman"/>
              </a:rPr>
              <a:t>Proof</a:t>
            </a:r>
            <a:r>
              <a:rPr sz="2200" spc="-3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3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termination:</a:t>
            </a:r>
            <a:endParaRPr sz="22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Claim</a:t>
            </a:r>
            <a:r>
              <a:rPr sz="2200" spc="35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1: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the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algorithm</a:t>
            </a:r>
            <a:r>
              <a:rPr sz="2200" spc="36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terminates</a:t>
            </a:r>
            <a:r>
              <a:rPr sz="2200" spc="35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after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at</a:t>
            </a:r>
            <a:r>
              <a:rPr sz="2200" spc="36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most</a:t>
            </a:r>
            <a:r>
              <a:rPr sz="2200" spc="35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i="1" spc="5" dirty="0">
                <a:solidFill>
                  <a:srgbClr val="231F20"/>
                </a:solidFill>
                <a:latin typeface="Times New Roman"/>
                <a:cs typeface="Times New Roman"/>
              </a:rPr>
              <a:t>n</a:t>
            </a:r>
            <a:r>
              <a:rPr sz="1875" spc="7" baseline="33333" dirty="0">
                <a:solidFill>
                  <a:srgbClr val="231F20"/>
                </a:solidFill>
                <a:latin typeface="Times New Roman"/>
                <a:cs typeface="Times New Roman"/>
              </a:rPr>
              <a:t>2</a:t>
            </a:r>
            <a:endParaRPr sz="1875" baseline="33333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</a:pP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iteration</a:t>
            </a:r>
            <a:r>
              <a:rPr sz="2200" spc="-25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of</a:t>
            </a:r>
            <a:r>
              <a:rPr sz="2200" spc="-7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WHILE</a:t>
            </a:r>
            <a:r>
              <a:rPr sz="2200" spc="-20" dirty="0">
                <a:solidFill>
                  <a:srgbClr val="231F2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231F20"/>
                </a:solidFill>
                <a:latin typeface="Times New Roman"/>
                <a:cs typeface="Times New Roman"/>
              </a:rPr>
              <a:t>loop.</a:t>
            </a:r>
            <a:endParaRPr sz="2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30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82700" y="1821868"/>
            <a:ext cx="51415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5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3: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should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propose?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Does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matter?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31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914400" y="2362200"/>
            <a:ext cx="7708900" cy="29982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F08D00"/>
                </a:solidFill>
                <a:latin typeface="Arial"/>
                <a:cs typeface="Arial"/>
              </a:rPr>
              <a:t>Question</a:t>
            </a:r>
            <a:r>
              <a:rPr sz="2400" b="1" spc="-5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F08D00"/>
                </a:solidFill>
                <a:latin typeface="Arial"/>
                <a:cs typeface="Arial"/>
              </a:rPr>
              <a:t>3:</a:t>
            </a:r>
            <a:endParaRPr sz="24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should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propose?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Does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matter?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solidFill>
                  <a:srgbClr val="3369E8"/>
                </a:solidFill>
                <a:latin typeface="Arial"/>
                <a:cs typeface="Arial"/>
              </a:rPr>
              <a:t>Answer:</a:t>
            </a:r>
            <a:endParaRPr sz="2400" dirty="0">
              <a:latin typeface="Arial"/>
              <a:cs typeface="Arial"/>
            </a:endParaRPr>
          </a:p>
          <a:p>
            <a:pPr marL="12700" marR="5715" indent="457200">
              <a:lnSpc>
                <a:spcPct val="100000"/>
              </a:lnSpc>
              <a:buAutoNum type="arabicPeriod"/>
              <a:tabLst>
                <a:tab pos="82740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No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matter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who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propose,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it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always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end</a:t>
            </a:r>
            <a:r>
              <a:rPr sz="2400" spc="13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up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with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  <a:buClr>
                <a:srgbClr val="231F20"/>
              </a:buClr>
              <a:buFont typeface="Arial"/>
              <a:buAutoNum type="arabicPeriod"/>
            </a:pPr>
            <a:endParaRPr sz="2500" dirty="0">
              <a:latin typeface="Arial"/>
              <a:cs typeface="Arial"/>
            </a:endParaRPr>
          </a:p>
          <a:p>
            <a:pPr marL="12700" marR="5080" indent="457200">
              <a:lnSpc>
                <a:spcPct val="100000"/>
              </a:lnSpc>
              <a:buAutoNum type="arabicPeriod"/>
              <a:tabLst>
                <a:tab pos="965835" algn="l"/>
                <a:tab pos="966469" algn="l"/>
                <a:tab pos="2477770" algn="l"/>
                <a:tab pos="3279140" algn="l"/>
                <a:tab pos="3944620" algn="l"/>
                <a:tab pos="5389245" algn="l"/>
                <a:tab pos="6054725" algn="l"/>
              </a:tabLst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Howeve</a:t>
            </a:r>
            <a:r>
              <a:rPr sz="2400" spc="-135" dirty="0">
                <a:solidFill>
                  <a:srgbClr val="231F20"/>
                </a:solidFill>
                <a:latin typeface="Arial"/>
                <a:cs typeface="Arial"/>
              </a:rPr>
              <a:t>r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,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onl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y	the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lang="en-US" sz="240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optimized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result.</a:t>
            </a:r>
            <a:endParaRPr sz="2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2819" y="965001"/>
            <a:ext cx="672020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2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Questions</a:t>
            </a:r>
            <a:r>
              <a:rPr sz="3200" spc="4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2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need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to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1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be</a:t>
            </a:r>
            <a:r>
              <a:rPr sz="3200" spc="4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 </a:t>
            </a:r>
            <a:r>
              <a:rPr sz="32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addressed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32</a:t>
            </a:fld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282700" y="1821868"/>
            <a:ext cx="6492240" cy="3683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propose,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then: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F08D00"/>
                </a:solidFill>
                <a:latin typeface="Arial"/>
                <a:cs typeface="Arial"/>
              </a:rPr>
              <a:t>In</a:t>
            </a:r>
            <a:r>
              <a:rPr sz="2400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each</a:t>
            </a:r>
            <a:r>
              <a:rPr sz="2400" spc="-25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F08D00"/>
                </a:solidFill>
                <a:latin typeface="Arial"/>
                <a:cs typeface="Arial"/>
              </a:rPr>
              <a:t>man’s</a:t>
            </a:r>
            <a:r>
              <a:rPr sz="2400" spc="-20" dirty="0">
                <a:solidFill>
                  <a:srgbClr val="F08D0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F08D00"/>
                </a:solidFill>
                <a:latin typeface="Arial"/>
                <a:cs typeface="Arial"/>
              </a:rPr>
              <a:t>eyes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His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women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worse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worse.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But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gets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possible.</a:t>
            </a:r>
            <a:r>
              <a:rPr sz="2400" spc="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(The</a:t>
            </a:r>
            <a:r>
              <a:rPr sz="2400" spc="2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avoids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later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divorce.)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In</a:t>
            </a:r>
            <a:r>
              <a:rPr sz="24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each</a:t>
            </a:r>
            <a:r>
              <a:rPr sz="2400" spc="-2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10" dirty="0">
                <a:solidFill>
                  <a:srgbClr val="3369E8"/>
                </a:solidFill>
                <a:latin typeface="Arial"/>
                <a:cs typeface="Arial"/>
              </a:rPr>
              <a:t>woman’s</a:t>
            </a:r>
            <a:r>
              <a:rPr sz="2400" spc="-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eyes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Her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engaged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men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better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better.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But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she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2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(The</a:t>
            </a:r>
            <a:r>
              <a:rPr sz="2400" spc="-2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worst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avoids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later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divorce.)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2969" y="2083723"/>
            <a:ext cx="7446645" cy="3317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Stable matching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problem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: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Given the same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number of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X </a:t>
            </a:r>
            <a:r>
              <a:rPr sz="2400" spc="-66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spc="-155" dirty="0">
                <a:solidFill>
                  <a:srgbClr val="231F20"/>
                </a:solidFill>
                <a:latin typeface="Arial"/>
                <a:cs typeface="Arial"/>
              </a:rPr>
              <a:t>Y,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and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preference lists,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 a stable matching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if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one exists.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7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23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Theorem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Gale–Shapley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algorithm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guarantees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to</a:t>
            </a:r>
            <a:endParaRPr sz="24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find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a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stable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matching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for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any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problem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instance.</a:t>
            </a:r>
            <a:endParaRPr sz="2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Whichever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side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proposes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finally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get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their</a:t>
            </a:r>
            <a:r>
              <a:rPr sz="2400" spc="-1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best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possible.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9" y="933624"/>
            <a:ext cx="229044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5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Summary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33</a:t>
            </a:fld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3000" y="2362200"/>
            <a:ext cx="6492875" cy="2951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715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620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1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Some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</a:t>
            </a:r>
            <a:r>
              <a:rPr sz="2400" spc="6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declare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others</a:t>
            </a:r>
            <a:r>
              <a:rPr sz="2400" spc="62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as </a:t>
            </a:r>
            <a:r>
              <a:rPr sz="2400" spc="-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unacceptable.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marR="5080" algn="just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2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Some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</a:t>
            </a:r>
            <a:r>
              <a:rPr sz="2400" spc="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have</a:t>
            </a:r>
            <a:r>
              <a:rPr sz="2400" spc="65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more</a:t>
            </a:r>
            <a:r>
              <a:rPr sz="2400" spc="67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than </a:t>
            </a:r>
            <a:r>
              <a:rPr sz="2400" spc="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one position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(this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is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common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under job-market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 matching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231F20"/>
                </a:solidFill>
                <a:latin typeface="Arial"/>
                <a:cs typeface="Arial"/>
              </a:rPr>
              <a:t>context).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500" dirty="0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</a:pPr>
            <a:r>
              <a:rPr sz="2400" dirty="0">
                <a:solidFill>
                  <a:srgbClr val="3369E8"/>
                </a:solidFill>
                <a:latin typeface="Arial"/>
                <a:cs typeface="Arial"/>
              </a:rPr>
              <a:t>Extension</a:t>
            </a:r>
            <a:r>
              <a:rPr sz="2400" spc="-15" dirty="0">
                <a:solidFill>
                  <a:srgbClr val="3369E8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3369E8"/>
                </a:solidFill>
                <a:latin typeface="Arial"/>
                <a:cs typeface="Arial"/>
              </a:rPr>
              <a:t>3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.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Unequal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number</a:t>
            </a:r>
            <a:r>
              <a:rPr sz="2400" spc="-20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of</a:t>
            </a:r>
            <a:r>
              <a:rPr sz="2400" spc="-15" dirty="0">
                <a:solidFill>
                  <a:srgbClr val="231F20"/>
                </a:solidFill>
                <a:latin typeface="Arial"/>
                <a:cs typeface="Arial"/>
              </a:rPr>
              <a:t> </a:t>
            </a:r>
            <a:r>
              <a:rPr sz="2400" spc="-5" dirty="0">
                <a:solidFill>
                  <a:srgbClr val="231F20"/>
                </a:solidFill>
                <a:latin typeface="Arial"/>
                <a:cs typeface="Arial"/>
              </a:rPr>
              <a:t>agents.</a:t>
            </a:r>
            <a:endParaRPr sz="24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72818" y="933624"/>
            <a:ext cx="276098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Extension</a:t>
            </a:r>
            <a:r>
              <a:rPr lang="en-US" sz="3600" spc="30" dirty="0">
                <a:solidFill>
                  <a:schemeClr val="accent6">
                    <a:lumMod val="75000"/>
                  </a:schemeClr>
                </a:solidFill>
                <a:latin typeface="Verdana"/>
                <a:cs typeface="Verdana"/>
              </a:rPr>
              <a:t>s</a:t>
            </a:r>
            <a:endParaRPr sz="3600" dirty="0">
              <a:solidFill>
                <a:schemeClr val="accent6">
                  <a:lumMod val="75000"/>
                </a:schemeClr>
              </a:solidFill>
              <a:latin typeface="Verdana"/>
              <a:cs typeface="Verdan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25"/>
              </a:lnSpc>
            </a:pPr>
            <a:r>
              <a:rPr spc="-5" dirty="0"/>
              <a:t>page</a:t>
            </a:r>
            <a:r>
              <a:rPr spc="-50" dirty="0"/>
              <a:t> </a:t>
            </a:r>
            <a:fld id="{81D60167-4931-47E6-BA6A-407CBD079E47}" type="slidenum">
              <a:rPr dirty="0"/>
              <a:t>34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05E9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1733</TotalTime>
  <Words>2433</Words>
  <Application>Microsoft Macintosh PowerPoint</Application>
  <PresentationFormat>On-screen Show (4:3)</PresentationFormat>
  <Paragraphs>319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Impact</vt:lpstr>
      <vt:lpstr>Times New Roman</vt:lpstr>
      <vt:lpstr>Verdana</vt:lpstr>
      <vt:lpstr>1_Office Theme</vt:lpstr>
      <vt:lpstr>Computational Economics</vt:lpstr>
      <vt:lpstr>PowerPoint Presentation</vt:lpstr>
      <vt:lpstr>Matching Problems</vt:lpstr>
      <vt:lpstr>People have preferences</vt:lpstr>
      <vt:lpstr>People have preferences</vt:lpstr>
      <vt:lpstr>Problem Setting</vt:lpstr>
      <vt:lpstr>Example</vt:lpstr>
      <vt:lpstr>Example</vt:lpstr>
      <vt:lpstr>Example</vt:lpstr>
      <vt:lpstr>Example</vt:lpstr>
      <vt:lpstr>Unstable Pair</vt:lpstr>
      <vt:lpstr>Stability of Matching Outcome</vt:lpstr>
      <vt:lpstr>More Examples</vt:lpstr>
      <vt:lpstr>Example</vt:lpstr>
      <vt:lpstr>Example</vt:lpstr>
      <vt:lpstr>Example</vt:lpstr>
      <vt:lpstr>A slightly more complex example:  10 x 10</vt:lpstr>
      <vt:lpstr>Applications</vt:lpstr>
      <vt:lpstr>Questions need to be addressed</vt:lpstr>
      <vt:lpstr>Questions need to be addressed</vt:lpstr>
      <vt:lpstr>Questions need to be addressed</vt:lpstr>
      <vt:lpstr>Deferred acceptance</vt:lpstr>
      <vt:lpstr>Gale-Shapley Algorithm</vt:lpstr>
      <vt:lpstr>Gale-Shapley Algorithm</vt:lpstr>
      <vt:lpstr>Gale-Shapley Algorithm</vt:lpstr>
      <vt:lpstr>PowerPoint Presentation</vt:lpstr>
      <vt:lpstr>Questions need to be addressed</vt:lpstr>
      <vt:lpstr>The Stable Matching Theorem</vt:lpstr>
      <vt:lpstr>Proof of correctness</vt:lpstr>
      <vt:lpstr>Questions need to be addressed</vt:lpstr>
      <vt:lpstr>Questions need to be addressed</vt:lpstr>
      <vt:lpstr>Questions need to be addressed</vt:lpstr>
      <vt:lpstr>Summary</vt:lpstr>
      <vt:lpstr>Extensions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Economics</dc:title>
  <cp:lastModifiedBy>Sining Wang</cp:lastModifiedBy>
  <cp:revision>23</cp:revision>
  <dcterms:created xsi:type="dcterms:W3CDTF">2021-08-29T13:52:01Z</dcterms:created>
  <dcterms:modified xsi:type="dcterms:W3CDTF">2026-06-20T12:36:44Z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2020-09-01T00:00:00Z</vt:filetime>
  </property>
  <property fmtid="{D5CDD505-2E9C-101B-9397-08002B2CF9AE}" pid="3" name="Creator">
    <vt:lpwstr>Adobe InDesign 15.0 (Macintosh)</vt:lpwstr>
  </property>
  <property fmtid="{D5CDD505-2E9C-101B-9397-08002B2CF9AE}" pid="4" name="LastSaved">
    <vt:filetime>2021-08-29T00:00:00Z</vt:filetime>
  </property>
</Properties>
</file>