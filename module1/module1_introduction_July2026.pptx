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9" r:id="rId3"/>
    <p:sldId id="318" r:id="rId4"/>
    <p:sldId id="321" r:id="rId5"/>
    <p:sldId id="320" r:id="rId6"/>
    <p:sldId id="261" r:id="rId7"/>
    <p:sldId id="263" r:id="rId8"/>
    <p:sldId id="264" r:id="rId9"/>
    <p:sldId id="265" r:id="rId10"/>
    <p:sldId id="266" r:id="rId11"/>
    <p:sldId id="267" r:id="rId12"/>
    <p:sldId id="319" r:id="rId13"/>
    <p:sldId id="314" r:id="rId14"/>
    <p:sldId id="292" r:id="rId15"/>
    <p:sldId id="269" r:id="rId16"/>
    <p:sldId id="315" r:id="rId17"/>
    <p:sldId id="271" r:id="rId18"/>
    <p:sldId id="272" r:id="rId19"/>
    <p:sldId id="316" r:id="rId20"/>
    <p:sldId id="273" r:id="rId21"/>
    <p:sldId id="304" r:id="rId22"/>
    <p:sldId id="274" r:id="rId23"/>
    <p:sldId id="275" r:id="rId24"/>
    <p:sldId id="276" r:id="rId25"/>
    <p:sldId id="277" r:id="rId26"/>
    <p:sldId id="317" r:id="rId27"/>
    <p:sldId id="278" r:id="rId28"/>
    <p:sldId id="312" r:id="rId29"/>
    <p:sldId id="291" r:id="rId30"/>
    <p:sldId id="313" r:id="rId31"/>
    <p:sldId id="309" r:id="rId32"/>
    <p:sldId id="286" r:id="rId33"/>
    <p:sldId id="310" r:id="rId34"/>
    <p:sldId id="303" r:id="rId3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90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76623"/>
  </p:normalViewPr>
  <p:slideViewPr>
    <p:cSldViewPr>
      <p:cViewPr varScale="1">
        <p:scale>
          <a:sx n="90" d="100"/>
          <a:sy n="90" d="100"/>
        </p:scale>
        <p:origin x="2408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70BCA1-F06D-D646-A054-BB10F53155AC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1D639-C577-BB4F-8FEF-E47AB0447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67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32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82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63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D8549-6846-6A44-D6E0-E802CEDB0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C236F-482D-BC7D-43B2-C025399DD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5B6F4-D315-6783-030A-8095A7FCF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8116D-7799-BD61-289C-7583D5E91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54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2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07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78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04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95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82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3C4C1-47A9-909B-B7F1-DBC3115B9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697E2-13E3-C1F9-8C64-9DC395679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56905-4FCE-6306-F782-76862B5AE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95FD2-6808-B312-6560-6396F4FCC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87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73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11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80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53218-BCF3-5A44-46EC-FC6A29559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6ADB0-600C-021C-7D07-517A96482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E1EB4-1012-AADF-F2F0-528F62FC8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63215-7B48-66A7-1E9F-51608546B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586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30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485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9D268-0B5E-D5BB-2A85-17BE2373C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00F1F-5179-403C-1669-29C67271E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96485-1C85-F04E-7571-51D434F70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146FA-312C-96F8-E0B6-74DE2FC7D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51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737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445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817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786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515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953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153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813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a useful way to think about the human–AI partnership: Johari’s Window. Originally designed to map self-awareness, it also works as a framework for collaboration.</a:t>
            </a:r>
          </a:p>
          <a:p>
            <a:r>
              <a:rPr lang="en-US" dirty="0"/>
              <a:t>In the top-left, we have what’s </a:t>
            </a:r>
            <a:r>
              <a:rPr lang="en-US" b="1" dirty="0"/>
              <a:t>known to both human and AI</a:t>
            </a:r>
            <a:r>
              <a:rPr lang="en-US" dirty="0"/>
              <a:t> — this is our common ground, where we work smoothly with minimal explanation.</a:t>
            </a:r>
          </a:p>
          <a:p>
            <a:r>
              <a:rPr lang="en-US" dirty="0"/>
              <a:t>On the top-right is what’s </a:t>
            </a:r>
            <a:r>
              <a:rPr lang="en-US" b="1" dirty="0"/>
              <a:t>unknown to the human but known to the AI</a:t>
            </a:r>
            <a:r>
              <a:rPr lang="en-US" dirty="0"/>
              <a:t> — areas where the model brings in capabilities like pattern recognition, summarization, or search across large corpora.</a:t>
            </a:r>
          </a:p>
          <a:p>
            <a:r>
              <a:rPr lang="en-US" dirty="0"/>
              <a:t>Bottom-left is what’s </a:t>
            </a:r>
            <a:r>
              <a:rPr lang="en-US" b="1" dirty="0"/>
              <a:t>known to the human but not to the AI</a:t>
            </a:r>
            <a:r>
              <a:rPr lang="en-US" dirty="0"/>
              <a:t> — the judgment, context, and values that only people bring.</a:t>
            </a:r>
          </a:p>
          <a:p>
            <a:r>
              <a:rPr lang="en-US" dirty="0"/>
              <a:t>And in the bottom-right, we have the space that’s </a:t>
            </a:r>
            <a:r>
              <a:rPr lang="en-US" b="1" dirty="0"/>
              <a:t>unknown to both</a:t>
            </a:r>
            <a:r>
              <a:rPr lang="en-US" dirty="0"/>
              <a:t>. That’s where real exploration happens, when human and AI iterate together to surface insights neither could reach alone.</a:t>
            </a:r>
          </a:p>
          <a:p>
            <a:r>
              <a:rPr lang="en-US" dirty="0"/>
              <a:t>This window isn’t static — with each project, the balance of these quadrants can shift. The key is to recognize where we are working, and lean into the right kind of collaboration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C00F-D887-9A47-A759-1109FEEC876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487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walk through each quadrant more concretely.</a:t>
            </a:r>
          </a:p>
          <a:p>
            <a:endParaRPr lang="en-US" dirty="0"/>
          </a:p>
          <a:p>
            <a:r>
              <a:rPr lang="en-US" dirty="0"/>
              <a:t>When something is </a:t>
            </a:r>
            <a:r>
              <a:rPr lang="en-US" b="1" dirty="0"/>
              <a:t>known to both human and AI</a:t>
            </a:r>
            <a:r>
              <a:rPr lang="en-US" dirty="0"/>
              <a:t>, collaboration is seamless. We share the same context and terms, so the AI can accelerate routine tasks without much explanation.</a:t>
            </a:r>
          </a:p>
          <a:p>
            <a:endParaRPr lang="en-US" dirty="0"/>
          </a:p>
          <a:p>
            <a:r>
              <a:rPr lang="en-US" dirty="0"/>
              <a:t>When it’s </a:t>
            </a:r>
            <a:r>
              <a:rPr lang="en-US" b="1" dirty="0"/>
              <a:t>known to the human but not to the AI</a:t>
            </a:r>
            <a:r>
              <a:rPr lang="en-US" dirty="0"/>
              <a:t>, the human takes the lead, bringing judgment, ethics, and situational awareness. The AI becomes an assistant, handling the heavy lifting inside those boundaries.</a:t>
            </a:r>
          </a:p>
          <a:p>
            <a:endParaRPr lang="en-US" dirty="0"/>
          </a:p>
          <a:p>
            <a:r>
              <a:rPr lang="en-US" dirty="0"/>
              <a:t>When it’s </a:t>
            </a:r>
            <a:r>
              <a:rPr lang="en-US" b="1" dirty="0"/>
              <a:t>known to the AI but not to the human</a:t>
            </a:r>
            <a:r>
              <a:rPr lang="en-US" dirty="0"/>
              <a:t>, the model acts almost like an investigator, surfacing patterns or connections we might miss, and the human probes with questions to extract insight.</a:t>
            </a:r>
          </a:p>
          <a:p>
            <a:endParaRPr lang="en-US" dirty="0"/>
          </a:p>
          <a:p>
            <a:r>
              <a:rPr lang="en-US" dirty="0"/>
              <a:t>Finally, in the </a:t>
            </a:r>
            <a:r>
              <a:rPr lang="en-US" b="1" dirty="0"/>
              <a:t>unknown-to-both space</a:t>
            </a:r>
            <a:r>
              <a:rPr lang="en-US" dirty="0"/>
              <a:t>, human and AI explore together. This is where dialogue, iteration, and creative back-and-forth can spark genuinely new ideas — insights that emerge from the partnership rather than either side alone.</a:t>
            </a:r>
          </a:p>
          <a:p>
            <a:endParaRPr lang="en-US" dirty="0"/>
          </a:p>
          <a:p>
            <a:r>
              <a:rPr lang="en-US" dirty="0"/>
              <a:t>Each of these quadrants highlights a different role for the human and the AI. The power lies in moving fluidly between them, depending on the task at hand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C00F-D887-9A47-A759-1109FEEC876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083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111AA-B48A-3C5A-D253-298D067E2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60EF8-B203-956D-4096-1FD2A2CA9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F2A8E-A3F6-E9E5-D68B-A6B9D7D60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walk through each quadrant more concretely.</a:t>
            </a:r>
          </a:p>
          <a:p>
            <a:endParaRPr lang="en-US" dirty="0"/>
          </a:p>
          <a:p>
            <a:r>
              <a:rPr lang="en-US" dirty="0"/>
              <a:t>When something is </a:t>
            </a:r>
            <a:r>
              <a:rPr lang="en-US" b="1" dirty="0"/>
              <a:t>known to both human and AI</a:t>
            </a:r>
            <a:r>
              <a:rPr lang="en-US" dirty="0"/>
              <a:t>, collaboration is seamless. We share the same context and terms, so the AI can accelerate routine tasks without much explanation.</a:t>
            </a:r>
          </a:p>
          <a:p>
            <a:endParaRPr lang="en-US" dirty="0"/>
          </a:p>
          <a:p>
            <a:r>
              <a:rPr lang="en-US" dirty="0"/>
              <a:t>When it’s </a:t>
            </a:r>
            <a:r>
              <a:rPr lang="en-US" b="1" dirty="0"/>
              <a:t>known to the human but not to the AI</a:t>
            </a:r>
            <a:r>
              <a:rPr lang="en-US" dirty="0"/>
              <a:t>, the human takes the lead, bringing judgment, ethics, and situational awareness. The AI becomes an assistant, handling the heavy lifting inside those boundaries.</a:t>
            </a:r>
          </a:p>
          <a:p>
            <a:endParaRPr lang="en-US" dirty="0"/>
          </a:p>
          <a:p>
            <a:r>
              <a:rPr lang="en-US" dirty="0"/>
              <a:t>When it’s </a:t>
            </a:r>
            <a:r>
              <a:rPr lang="en-US" b="1" dirty="0"/>
              <a:t>known to the AI but not to the human</a:t>
            </a:r>
            <a:r>
              <a:rPr lang="en-US" dirty="0"/>
              <a:t>, the model acts almost like an investigator, surfacing patterns or connections we might miss, and the human probes with questions to extract insight.</a:t>
            </a:r>
          </a:p>
          <a:p>
            <a:endParaRPr lang="en-US" dirty="0"/>
          </a:p>
          <a:p>
            <a:r>
              <a:rPr lang="en-US" dirty="0"/>
              <a:t>Finally, in the </a:t>
            </a:r>
            <a:r>
              <a:rPr lang="en-US" b="1" dirty="0"/>
              <a:t>unknown-to-both space</a:t>
            </a:r>
            <a:r>
              <a:rPr lang="en-US" dirty="0"/>
              <a:t>, human and AI explore together. This is where dialogue, iteration, and creative back-and-forth can spark genuinely new ideas — insights that emerge from the partnership rather than either side alone.</a:t>
            </a:r>
          </a:p>
          <a:p>
            <a:endParaRPr lang="en-US" dirty="0"/>
          </a:p>
          <a:p>
            <a:r>
              <a:rPr lang="en-US" dirty="0"/>
              <a:t>Each of these quadrants highlights a different role for the human and the AI. The power lies in moving fluidly between them, depending on the task at hand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DA6BE-79ED-21A1-BD6C-0D676409E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C00F-D887-9A47-A759-1109FEEC876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29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2819" y="933624"/>
            <a:ext cx="719836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1978-60C4-4B40-B7EF-D111A1D66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2A576-9EB1-5D49-8CA6-F1336F5AB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F6E9A-6824-8F44-8380-90F90B0F90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639D1-9461-3743-B572-5F5DAC89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837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1A211-D6C9-C6F3-CB8B-C544B60E9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9170"/>
            <a:ext cx="7886700" cy="1315745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2"/>
              </a:buClr>
              <a:defRPr sz="16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2"/>
              </a:buCl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2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387C3-DE5E-CE97-4259-EC284920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184666"/>
          </a:xfrm>
          <a:prstGeom prst="rect">
            <a:avLst/>
          </a:prstGeom>
        </p:spPr>
        <p:txBody>
          <a:bodyPr/>
          <a:lstStyle/>
          <a:p>
            <a:fld id="{B8AA0095-35D5-FD4E-AECA-27DCA1F8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5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637943-C6F6-55B3-9D78-4557EE6C2061}"/>
              </a:ext>
            </a:extLst>
          </p:cNvPr>
          <p:cNvSpPr/>
          <p:nvPr userDrawn="1"/>
        </p:nvSpPr>
        <p:spPr>
          <a:xfrm>
            <a:off x="-5339" y="0"/>
            <a:ext cx="9154678" cy="144145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48000">
                <a:schemeClr val="accent4">
                  <a:lumMod val="60000"/>
                  <a:lumOff val="40000"/>
                  <a:alpha val="35800"/>
                </a:schemeClr>
              </a:gs>
              <a:gs pos="67000">
                <a:schemeClr val="accent4">
                  <a:lumMod val="60000"/>
                  <a:lumOff val="40000"/>
                  <a:alpha val="58000"/>
                </a:schemeClr>
              </a:gs>
              <a:gs pos="99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1B9D65-7E1B-C06E-8879-F8B3520A15E3}"/>
              </a:ext>
            </a:extLst>
          </p:cNvPr>
          <p:cNvSpPr/>
          <p:nvPr/>
        </p:nvSpPr>
        <p:spPr>
          <a:xfrm>
            <a:off x="-5339" y="0"/>
            <a:ext cx="9154678" cy="349567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48000">
                <a:schemeClr val="accent4">
                  <a:lumMod val="60000"/>
                  <a:lumOff val="40000"/>
                  <a:alpha val="35800"/>
                </a:schemeClr>
              </a:gs>
              <a:gs pos="67000">
                <a:schemeClr val="accent4">
                  <a:lumMod val="60000"/>
                  <a:lumOff val="40000"/>
                  <a:alpha val="58000"/>
                </a:schemeClr>
              </a:gs>
              <a:gs pos="99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5"/>
          <p:cNvSpPr/>
          <p:nvPr/>
        </p:nvSpPr>
        <p:spPr>
          <a:xfrm>
            <a:off x="6350" y="6350"/>
            <a:ext cx="9137650" cy="3349625"/>
          </a:xfrm>
          <a:custGeom>
            <a:avLst/>
            <a:gdLst/>
            <a:ahLst/>
            <a:cxnLst/>
            <a:rect l="l" t="t" r="r" b="b"/>
            <a:pathLst>
              <a:path w="9137650" h="3349625">
                <a:moveTo>
                  <a:pt x="9137650" y="0"/>
                </a:moveTo>
                <a:lnTo>
                  <a:pt x="0" y="0"/>
                </a:lnTo>
                <a:lnTo>
                  <a:pt x="0" y="3349625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50" y="3199493"/>
            <a:ext cx="3124200" cy="0"/>
          </a:xfrm>
          <a:custGeom>
            <a:avLst/>
            <a:gdLst/>
            <a:ahLst/>
            <a:cxnLst/>
            <a:rect l="l" t="t" r="r" b="b"/>
            <a:pathLst>
              <a:path w="3124200">
                <a:moveTo>
                  <a:pt x="0" y="0"/>
                </a:moveTo>
                <a:lnTo>
                  <a:pt x="3124200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3201230" y="2600325"/>
            <a:ext cx="562991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5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Computational</a:t>
            </a:r>
            <a:r>
              <a:rPr sz="3800" spc="-9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380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Economics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978150" y="2571750"/>
            <a:ext cx="152400" cy="628650"/>
            <a:chOff x="2978150" y="2571750"/>
            <a:chExt cx="152400" cy="628650"/>
          </a:xfrm>
        </p:grpSpPr>
        <p:sp>
          <p:nvSpPr>
            <p:cNvPr id="9" name="object 9"/>
            <p:cNvSpPr/>
            <p:nvPr/>
          </p:nvSpPr>
          <p:spPr>
            <a:xfrm>
              <a:off x="3105150" y="2571750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h="619125">
                  <a:moveTo>
                    <a:pt x="0" y="0"/>
                  </a:moveTo>
                  <a:lnTo>
                    <a:pt x="0" y="619125"/>
                  </a:lnTo>
                </a:path>
              </a:pathLst>
            </a:custGeom>
            <a:ln w="50800">
              <a:solidFill>
                <a:srgbClr val="EDB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90850" y="2711450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h="488950">
                  <a:moveTo>
                    <a:pt x="0" y="0"/>
                  </a:moveTo>
                  <a:lnTo>
                    <a:pt x="0" y="488950"/>
                  </a:lnTo>
                </a:path>
              </a:pathLst>
            </a:custGeom>
            <a:ln w="25400">
              <a:solidFill>
                <a:srgbClr val="3369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618472" y="4513552"/>
            <a:ext cx="39738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5" dirty="0">
                <a:solidFill>
                  <a:srgbClr val="231F20"/>
                </a:solidFill>
                <a:latin typeface="Arial"/>
                <a:cs typeface="Arial"/>
              </a:rPr>
              <a:t>Module </a:t>
            </a:r>
            <a:r>
              <a:rPr sz="2400" spc="10" dirty="0">
                <a:solidFill>
                  <a:srgbClr val="231F20"/>
                </a:solidFill>
                <a:latin typeface="Arial"/>
                <a:cs typeface="Arial"/>
              </a:rPr>
              <a:t>1.</a:t>
            </a:r>
            <a:r>
              <a:rPr sz="2400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srgbClr val="231F20"/>
                </a:solidFill>
                <a:latin typeface="Arial"/>
                <a:cs typeface="Arial"/>
              </a:rPr>
              <a:t>Class</a:t>
            </a:r>
            <a:r>
              <a:rPr sz="2400" spc="20" dirty="0">
                <a:solidFill>
                  <a:srgbClr val="231F20"/>
                </a:solidFill>
                <a:latin typeface="Arial"/>
                <a:cs typeface="Arial"/>
              </a:rPr>
              <a:t> Introduction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CBD3C-0AE4-283A-6586-8CAFFE79C5D1}"/>
              </a:ext>
            </a:extLst>
          </p:cNvPr>
          <p:cNvSpPr txBox="1"/>
          <p:nvPr/>
        </p:nvSpPr>
        <p:spPr>
          <a:xfrm>
            <a:off x="1568450" y="5181600"/>
            <a:ext cx="687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did the Python say when he came out of his shell?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1600" y="2491564"/>
            <a:ext cx="7239000" cy="2264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Learning</a:t>
            </a:r>
            <a:r>
              <a:rPr sz="24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Research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Interests: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50000"/>
              </a:lnSpc>
              <a:spcBef>
                <a:spcPts val="5"/>
              </a:spcBef>
              <a:buClr>
                <a:srgbClr val="3369E8"/>
              </a:buClr>
            </a:pPr>
            <a:endParaRPr sz="2500" dirty="0">
              <a:latin typeface="Arial"/>
              <a:cs typeface="Arial"/>
            </a:endParaRPr>
          </a:p>
          <a:p>
            <a:pPr marL="661035" indent="-191770">
              <a:lnSpc>
                <a:spcPct val="150000"/>
              </a:lnSpc>
              <a:buClr>
                <a:srgbClr val="3369E8"/>
              </a:buClr>
              <a:buFontTx/>
              <a:buChar char="•"/>
              <a:tabLst>
                <a:tab pos="661670" algn="l"/>
              </a:tabLst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Behavioral</a:t>
            </a:r>
            <a:r>
              <a:rPr lang="en-US" sz="24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Economics</a:t>
            </a:r>
          </a:p>
          <a:p>
            <a:pPr marL="661035" indent="-191770">
              <a:lnSpc>
                <a:spcPct val="150000"/>
              </a:lnSpc>
              <a:buClr>
                <a:srgbClr val="3369E8"/>
              </a:buClr>
              <a:buFontTx/>
              <a:buChar char="•"/>
              <a:tabLst>
                <a:tab pos="661670" algn="l"/>
              </a:tabLst>
            </a:pP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Computational</a:t>
            </a:r>
            <a:r>
              <a:rPr lang="en-US" sz="24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Economics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609600" y="762000"/>
            <a:ext cx="356171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About </a:t>
            </a:r>
            <a:r>
              <a:rPr sz="3200" spc="3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63BE31CE-95B1-2D8E-CC4C-E9253B02B151}"/>
              </a:ext>
            </a:extLst>
          </p:cNvPr>
          <p:cNvSpPr txBox="1">
            <a:spLocks/>
          </p:cNvSpPr>
          <p:nvPr/>
        </p:nvSpPr>
        <p:spPr>
          <a:xfrm>
            <a:off x="609600" y="762000"/>
            <a:ext cx="5181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kern="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Course Objectives</a:t>
            </a:r>
            <a:endParaRPr lang="en-US" sz="3200" kern="0" spc="35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F4E81D6B-575E-16B2-694C-C7339E260B36}"/>
              </a:ext>
            </a:extLst>
          </p:cNvPr>
          <p:cNvSpPr txBox="1"/>
          <p:nvPr/>
        </p:nvSpPr>
        <p:spPr>
          <a:xfrm>
            <a:off x="762000" y="1752600"/>
            <a:ext cx="8077200" cy="420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-5" dirty="0">
                <a:latin typeface="Arial"/>
                <a:cs typeface="Arial"/>
              </a:rPr>
              <a:t>Establish basic understanding in the field of computational economics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n-US" sz="2200" spc="-5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-5" dirty="0">
                <a:latin typeface="Arial"/>
                <a:cs typeface="Arial"/>
              </a:rPr>
              <a:t>Getting familiar with python as a coding language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n-US" sz="2200" b="1" spc="-5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-5" dirty="0">
                <a:latin typeface="Arial"/>
                <a:cs typeface="Arial"/>
              </a:rPr>
              <a:t>Learn several classic applications: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n-US" sz="2200" spc="-5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-5" dirty="0">
                <a:latin typeface="Arial"/>
                <a:cs typeface="Arial"/>
              </a:rPr>
              <a:t>	- Algorithms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-5" dirty="0">
                <a:latin typeface="Arial"/>
                <a:cs typeface="Arial"/>
              </a:rPr>
              <a:t>	- Agent-based simulation (Micro)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-5" dirty="0">
                <a:latin typeface="Arial"/>
                <a:cs typeface="Arial"/>
              </a:rPr>
              <a:t>	- Dynamic system simulation (Macro)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-5" dirty="0">
                <a:latin typeface="Arial"/>
                <a:cs typeface="Arial"/>
              </a:rPr>
              <a:t>	- Machine Learning and Predictive Modeling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n-US" sz="2200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3132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E8593-C0E0-0A47-084B-22F0905E7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B140A878-31A0-989E-D3FC-EF0DC20CD00E}"/>
              </a:ext>
            </a:extLst>
          </p:cNvPr>
          <p:cNvSpPr txBox="1">
            <a:spLocks/>
          </p:cNvSpPr>
          <p:nvPr/>
        </p:nvSpPr>
        <p:spPr>
          <a:xfrm>
            <a:off x="609600" y="762000"/>
            <a:ext cx="5181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kern="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Course Objectives</a:t>
            </a:r>
            <a:endParaRPr lang="en-US" sz="3200" kern="0" spc="35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B9B6C6E1-05F8-C7C0-58C9-0670A6326C9C}"/>
              </a:ext>
            </a:extLst>
          </p:cNvPr>
          <p:cNvSpPr txBox="1"/>
          <p:nvPr/>
        </p:nvSpPr>
        <p:spPr>
          <a:xfrm>
            <a:off x="838200" y="1828800"/>
            <a:ext cx="7467600" cy="35009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n-US" sz="2200" spc="-5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-5" dirty="0">
                <a:latin typeface="Arial"/>
                <a:cs typeface="Arial"/>
              </a:rPr>
              <a:t>Build your confidence in coding (but this is not a pure coding class)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n-US" sz="2200" spc="-5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-5" dirty="0">
                <a:latin typeface="Arial"/>
                <a:cs typeface="Arial"/>
              </a:rPr>
              <a:t>Experience the evolving workflow in coding:</a:t>
            </a:r>
          </a:p>
          <a:p>
            <a:pPr marL="812800" lvl="1" indent="-342900" algn="just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spc="-5" dirty="0">
                <a:latin typeface="Arial"/>
                <a:cs typeface="Arial"/>
              </a:rPr>
              <a:t>Manual</a:t>
            </a:r>
          </a:p>
          <a:p>
            <a:pPr marL="812800" lvl="1" indent="-342900" algn="just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spc="-5" dirty="0">
                <a:latin typeface="Arial"/>
                <a:cs typeface="Arial"/>
                <a:sym typeface="Wingdings" pitchFamily="2" charset="2"/>
              </a:rPr>
              <a:t>AI as a standalone tool </a:t>
            </a:r>
          </a:p>
          <a:p>
            <a:pPr marL="812800" lvl="1" indent="-342900" algn="just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spc="-5" dirty="0">
                <a:latin typeface="Arial"/>
                <a:cs typeface="Arial"/>
                <a:sym typeface="Wingdings" pitchFamily="2" charset="2"/>
              </a:rPr>
              <a:t>AI assisted coding</a:t>
            </a:r>
          </a:p>
          <a:p>
            <a:pPr marL="812800" lvl="1" indent="-342900" algn="just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spc="-5" dirty="0">
                <a:latin typeface="Arial"/>
                <a:cs typeface="Arial"/>
                <a:sym typeface="Wingdings" pitchFamily="2" charset="2"/>
              </a:rPr>
              <a:t>Agentic coding</a:t>
            </a:r>
            <a:endParaRPr lang="en-US" sz="2200" spc="-5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n-US" sz="2200" b="1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4311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68B01-56C6-0B7E-BF41-A185E97A1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5CE85948-3F00-EB04-BA36-64F279833AFD}"/>
              </a:ext>
            </a:extLst>
          </p:cNvPr>
          <p:cNvSpPr txBox="1">
            <a:spLocks/>
          </p:cNvSpPr>
          <p:nvPr/>
        </p:nvSpPr>
        <p:spPr>
          <a:xfrm>
            <a:off x="609600" y="3701841"/>
            <a:ext cx="5181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kern="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Course Structure</a:t>
            </a:r>
            <a:endParaRPr lang="en-US" sz="3200" kern="0" spc="35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1A8F109F-1CF6-E927-0E3F-5225A7C8710E}"/>
              </a:ext>
            </a:extLst>
          </p:cNvPr>
          <p:cNvSpPr txBox="1"/>
          <p:nvPr/>
        </p:nvSpPr>
        <p:spPr>
          <a:xfrm>
            <a:off x="1276667" y="4216633"/>
            <a:ext cx="659066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800" spc="-5" dirty="0">
                <a:latin typeface="Arial"/>
                <a:cs typeface="Arial"/>
              </a:rPr>
              <a:t>Lecture + Workshop + Project</a:t>
            </a:r>
            <a:r>
              <a:rPr lang="zh-CN" altLang="en-US" sz="2800" spc="-5" dirty="0">
                <a:latin typeface="Arial"/>
                <a:cs typeface="Arial"/>
              </a:rPr>
              <a:t> </a:t>
            </a:r>
            <a:endParaRPr lang="en-US" sz="2800" spc="-5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421E0-B0A7-DAD0-D00C-923FFDECA56D}"/>
              </a:ext>
            </a:extLst>
          </p:cNvPr>
          <p:cNvSpPr txBox="1"/>
          <p:nvPr/>
        </p:nvSpPr>
        <p:spPr>
          <a:xfrm>
            <a:off x="1133475" y="5715000"/>
            <a:ext cx="72628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https://sparks5969.github.io/course-computational-economics/</a:t>
            </a:r>
            <a:r>
              <a:rPr lang="en-US" sz="2200" dirty="0" err="1"/>
              <a:t>index.html</a:t>
            </a:r>
            <a:endParaRPr lang="en-US" sz="2200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88F0EC05-56AF-65DB-50E4-2466400324CC}"/>
              </a:ext>
            </a:extLst>
          </p:cNvPr>
          <p:cNvSpPr txBox="1">
            <a:spLocks/>
          </p:cNvSpPr>
          <p:nvPr/>
        </p:nvSpPr>
        <p:spPr>
          <a:xfrm>
            <a:off x="609600" y="5209733"/>
            <a:ext cx="5181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kern="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Course Website</a:t>
            </a:r>
            <a:endParaRPr lang="en-US" sz="3200" kern="0" spc="35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BDBAD913-1806-9626-B1C3-344364C507FA}"/>
              </a:ext>
            </a:extLst>
          </p:cNvPr>
          <p:cNvSpPr txBox="1">
            <a:spLocks/>
          </p:cNvSpPr>
          <p:nvPr/>
        </p:nvSpPr>
        <p:spPr>
          <a:xfrm>
            <a:off x="609600" y="844372"/>
            <a:ext cx="5181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kern="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Course Content</a:t>
            </a:r>
            <a:endParaRPr lang="en-US" sz="3200" kern="0" spc="35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2BB4A77-7615-EA52-2118-89C6C2B04694}"/>
              </a:ext>
            </a:extLst>
          </p:cNvPr>
          <p:cNvSpPr txBox="1"/>
          <p:nvPr/>
        </p:nvSpPr>
        <p:spPr>
          <a:xfrm>
            <a:off x="1123950" y="1439683"/>
            <a:ext cx="6590665" cy="17568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-5" dirty="0">
                <a:latin typeface="Arial"/>
                <a:cs typeface="Arial"/>
              </a:rPr>
              <a:t>Module 1. Introduction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-5" dirty="0">
                <a:latin typeface="Arial"/>
                <a:cs typeface="Arial"/>
              </a:rPr>
              <a:t>Module 2. Gale-Shapely Algorithm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-5" dirty="0">
                <a:latin typeface="Arial"/>
                <a:cs typeface="Arial"/>
              </a:rPr>
              <a:t>Module 3. Agent-Based Simulation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-5" dirty="0">
                <a:latin typeface="Arial"/>
                <a:cs typeface="Arial"/>
              </a:rPr>
              <a:t>Module 4. Dynamic System Simulation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-5" dirty="0">
                <a:latin typeface="Arial"/>
                <a:cs typeface="Arial"/>
              </a:rPr>
              <a:t>Module 5. Data Analysis and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259101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3150" y="2375095"/>
            <a:ext cx="6590665" cy="2189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200" b="1" spc="-5" dirty="0">
                <a:solidFill>
                  <a:srgbClr val="3369E8"/>
                </a:solidFill>
                <a:latin typeface="Arial"/>
                <a:cs typeface="Arial"/>
              </a:rPr>
              <a:t>Computational</a:t>
            </a:r>
            <a:r>
              <a:rPr sz="2200" b="1" spc="87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3369E8"/>
                </a:solidFill>
                <a:latin typeface="Arial"/>
                <a:cs typeface="Arial"/>
              </a:rPr>
              <a:t>Economics</a:t>
            </a:r>
            <a:r>
              <a:rPr sz="2200" b="1" spc="89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2200" spc="8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200" spc="8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rapidly</a:t>
            </a:r>
            <a:r>
              <a:rPr sz="2200" spc="8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growing</a:t>
            </a:r>
            <a:endParaRPr sz="2200" dirty="0">
              <a:latin typeface="Arial"/>
              <a:cs typeface="Arial"/>
            </a:endParaRPr>
          </a:p>
          <a:p>
            <a:pPr marL="12700" marR="5080" algn="just">
              <a:lnSpc>
                <a:spcPct val="181800"/>
              </a:lnSpc>
            </a:pP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multidisciplinary field that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uses advanced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computing </a:t>
            </a:r>
            <a:r>
              <a:rPr sz="220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capabilities</a:t>
            </a:r>
            <a:r>
              <a:rPr sz="2200" spc="-2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200" spc="-2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understan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2200" spc="-2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an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2200" spc="-2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solve</a:t>
            </a:r>
            <a:r>
              <a:rPr sz="2200" spc="-2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complex</a:t>
            </a:r>
            <a:r>
              <a:rPr sz="2200" spc="-2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problems 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 all branches</a:t>
            </a:r>
            <a:r>
              <a:rPr sz="22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in economics.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972819" y="933624"/>
            <a:ext cx="60483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Computational</a:t>
            </a:r>
            <a:r>
              <a:rPr sz="3200" spc="1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3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Economics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90800" y="2388061"/>
            <a:ext cx="4168775" cy="3536315"/>
            <a:chOff x="2556278" y="1824983"/>
            <a:chExt cx="4168775" cy="3536315"/>
          </a:xfrm>
        </p:grpSpPr>
        <p:sp>
          <p:nvSpPr>
            <p:cNvPr id="4" name="object 4"/>
            <p:cNvSpPr/>
            <p:nvPr/>
          </p:nvSpPr>
          <p:spPr>
            <a:xfrm>
              <a:off x="3337285" y="1850383"/>
              <a:ext cx="2464435" cy="2464435"/>
            </a:xfrm>
            <a:custGeom>
              <a:avLst/>
              <a:gdLst/>
              <a:ahLst/>
              <a:cxnLst/>
              <a:rect l="l" t="t" r="r" b="b"/>
              <a:pathLst>
                <a:path w="2464435" h="2464435">
                  <a:moveTo>
                    <a:pt x="1232014" y="2464041"/>
                  </a:moveTo>
                  <a:lnTo>
                    <a:pt x="1280391" y="2463108"/>
                  </a:lnTo>
                  <a:lnTo>
                    <a:pt x="1328296" y="2460334"/>
                  </a:lnTo>
                  <a:lnTo>
                    <a:pt x="1375694" y="2455752"/>
                  </a:lnTo>
                  <a:lnTo>
                    <a:pt x="1422551" y="2449397"/>
                  </a:lnTo>
                  <a:lnTo>
                    <a:pt x="1468833" y="2441302"/>
                  </a:lnTo>
                  <a:lnTo>
                    <a:pt x="1514505" y="2431503"/>
                  </a:lnTo>
                  <a:lnTo>
                    <a:pt x="1559534" y="2420032"/>
                  </a:lnTo>
                  <a:lnTo>
                    <a:pt x="1603885" y="2406926"/>
                  </a:lnTo>
                  <a:lnTo>
                    <a:pt x="1647523" y="2392217"/>
                  </a:lnTo>
                  <a:lnTo>
                    <a:pt x="1690416" y="2375940"/>
                  </a:lnTo>
                  <a:lnTo>
                    <a:pt x="1732528" y="2358129"/>
                  </a:lnTo>
                  <a:lnTo>
                    <a:pt x="1773825" y="2338818"/>
                  </a:lnTo>
                  <a:lnTo>
                    <a:pt x="1814273" y="2318043"/>
                  </a:lnTo>
                  <a:lnTo>
                    <a:pt x="1853837" y="2295836"/>
                  </a:lnTo>
                  <a:lnTo>
                    <a:pt x="1892484" y="2272232"/>
                  </a:lnTo>
                  <a:lnTo>
                    <a:pt x="1930180" y="2247266"/>
                  </a:lnTo>
                  <a:lnTo>
                    <a:pt x="1966889" y="2220971"/>
                  </a:lnTo>
                  <a:lnTo>
                    <a:pt x="2002578" y="2193383"/>
                  </a:lnTo>
                  <a:lnTo>
                    <a:pt x="2037213" y="2164534"/>
                  </a:lnTo>
                  <a:lnTo>
                    <a:pt x="2070759" y="2134460"/>
                  </a:lnTo>
                  <a:lnTo>
                    <a:pt x="2103181" y="2103194"/>
                  </a:lnTo>
                  <a:lnTo>
                    <a:pt x="2134447" y="2070771"/>
                  </a:lnTo>
                  <a:lnTo>
                    <a:pt x="2164521" y="2037225"/>
                  </a:lnTo>
                  <a:lnTo>
                    <a:pt x="2193370" y="2002591"/>
                  </a:lnTo>
                  <a:lnTo>
                    <a:pt x="2220959" y="1966902"/>
                  </a:lnTo>
                  <a:lnTo>
                    <a:pt x="2247253" y="1930192"/>
                  </a:lnTo>
                  <a:lnTo>
                    <a:pt x="2272220" y="1892497"/>
                  </a:lnTo>
                  <a:lnTo>
                    <a:pt x="2295823" y="1853850"/>
                  </a:lnTo>
                  <a:lnTo>
                    <a:pt x="2318030" y="1814285"/>
                  </a:lnTo>
                  <a:lnTo>
                    <a:pt x="2338806" y="1773837"/>
                  </a:lnTo>
                  <a:lnTo>
                    <a:pt x="2358116" y="1732540"/>
                  </a:lnTo>
                  <a:lnTo>
                    <a:pt x="2375927" y="1690429"/>
                  </a:lnTo>
                  <a:lnTo>
                    <a:pt x="2392204" y="1647536"/>
                  </a:lnTo>
                  <a:lnTo>
                    <a:pt x="2406913" y="1603897"/>
                  </a:lnTo>
                  <a:lnTo>
                    <a:pt x="2420020" y="1559547"/>
                  </a:lnTo>
                  <a:lnTo>
                    <a:pt x="2431490" y="1514518"/>
                  </a:lnTo>
                  <a:lnTo>
                    <a:pt x="2441290" y="1468845"/>
                  </a:lnTo>
                  <a:lnTo>
                    <a:pt x="2449384" y="1422563"/>
                  </a:lnTo>
                  <a:lnTo>
                    <a:pt x="2455740" y="1375706"/>
                  </a:lnTo>
                  <a:lnTo>
                    <a:pt x="2460321" y="1328308"/>
                  </a:lnTo>
                  <a:lnTo>
                    <a:pt x="2463096" y="1280404"/>
                  </a:lnTo>
                  <a:lnTo>
                    <a:pt x="2464028" y="1232027"/>
                  </a:lnTo>
                  <a:lnTo>
                    <a:pt x="2463096" y="1183649"/>
                  </a:lnTo>
                  <a:lnTo>
                    <a:pt x="2460321" y="1135745"/>
                  </a:lnTo>
                  <a:lnTo>
                    <a:pt x="2455740" y="1088346"/>
                  </a:lnTo>
                  <a:lnTo>
                    <a:pt x="2449384" y="1041489"/>
                  </a:lnTo>
                  <a:lnTo>
                    <a:pt x="2441290" y="995207"/>
                  </a:lnTo>
                  <a:lnTo>
                    <a:pt x="2431490" y="949535"/>
                  </a:lnTo>
                  <a:lnTo>
                    <a:pt x="2420020" y="904506"/>
                  </a:lnTo>
                  <a:lnTo>
                    <a:pt x="2406913" y="860154"/>
                  </a:lnTo>
                  <a:lnTo>
                    <a:pt x="2392204" y="816515"/>
                  </a:lnTo>
                  <a:lnTo>
                    <a:pt x="2375927" y="773623"/>
                  </a:lnTo>
                  <a:lnTo>
                    <a:pt x="2358116" y="731510"/>
                  </a:lnTo>
                  <a:lnTo>
                    <a:pt x="2338806" y="690213"/>
                  </a:lnTo>
                  <a:lnTo>
                    <a:pt x="2318030" y="649765"/>
                  </a:lnTo>
                  <a:lnTo>
                    <a:pt x="2295823" y="610200"/>
                  </a:lnTo>
                  <a:lnTo>
                    <a:pt x="2272220" y="571552"/>
                  </a:lnTo>
                  <a:lnTo>
                    <a:pt x="2247253" y="533856"/>
                  </a:lnTo>
                  <a:lnTo>
                    <a:pt x="2220959" y="497147"/>
                  </a:lnTo>
                  <a:lnTo>
                    <a:pt x="2193370" y="461457"/>
                  </a:lnTo>
                  <a:lnTo>
                    <a:pt x="2164521" y="426822"/>
                  </a:lnTo>
                  <a:lnTo>
                    <a:pt x="2134447" y="393276"/>
                  </a:lnTo>
                  <a:lnTo>
                    <a:pt x="2103181" y="360853"/>
                  </a:lnTo>
                  <a:lnTo>
                    <a:pt x="2070759" y="329586"/>
                  </a:lnTo>
                  <a:lnTo>
                    <a:pt x="2037213" y="299512"/>
                  </a:lnTo>
                  <a:lnTo>
                    <a:pt x="2002578" y="270663"/>
                  </a:lnTo>
                  <a:lnTo>
                    <a:pt x="1966889" y="243073"/>
                  </a:lnTo>
                  <a:lnTo>
                    <a:pt x="1930180" y="216778"/>
                  </a:lnTo>
                  <a:lnTo>
                    <a:pt x="1892484" y="191812"/>
                  </a:lnTo>
                  <a:lnTo>
                    <a:pt x="1853837" y="168208"/>
                  </a:lnTo>
                  <a:lnTo>
                    <a:pt x="1814273" y="146001"/>
                  </a:lnTo>
                  <a:lnTo>
                    <a:pt x="1773825" y="125224"/>
                  </a:lnTo>
                  <a:lnTo>
                    <a:pt x="1732528" y="105914"/>
                  </a:lnTo>
                  <a:lnTo>
                    <a:pt x="1690416" y="88103"/>
                  </a:lnTo>
                  <a:lnTo>
                    <a:pt x="1647523" y="71825"/>
                  </a:lnTo>
                  <a:lnTo>
                    <a:pt x="1603885" y="57116"/>
                  </a:lnTo>
                  <a:lnTo>
                    <a:pt x="1559534" y="44009"/>
                  </a:lnTo>
                  <a:lnTo>
                    <a:pt x="1514505" y="32538"/>
                  </a:lnTo>
                  <a:lnTo>
                    <a:pt x="1468833" y="22739"/>
                  </a:lnTo>
                  <a:lnTo>
                    <a:pt x="1422551" y="14644"/>
                  </a:lnTo>
                  <a:lnTo>
                    <a:pt x="1375694" y="8288"/>
                  </a:lnTo>
                  <a:lnTo>
                    <a:pt x="1328296" y="3706"/>
                  </a:lnTo>
                  <a:lnTo>
                    <a:pt x="1280391" y="932"/>
                  </a:lnTo>
                  <a:lnTo>
                    <a:pt x="1232014" y="0"/>
                  </a:lnTo>
                  <a:lnTo>
                    <a:pt x="1183637" y="932"/>
                  </a:lnTo>
                  <a:lnTo>
                    <a:pt x="1135732" y="3706"/>
                  </a:lnTo>
                  <a:lnTo>
                    <a:pt x="1088334" y="8288"/>
                  </a:lnTo>
                  <a:lnTo>
                    <a:pt x="1041477" y="14644"/>
                  </a:lnTo>
                  <a:lnTo>
                    <a:pt x="995195" y="22739"/>
                  </a:lnTo>
                  <a:lnTo>
                    <a:pt x="949523" y="32538"/>
                  </a:lnTo>
                  <a:lnTo>
                    <a:pt x="904494" y="44009"/>
                  </a:lnTo>
                  <a:lnTo>
                    <a:pt x="860143" y="57116"/>
                  </a:lnTo>
                  <a:lnTo>
                    <a:pt x="816504" y="71825"/>
                  </a:lnTo>
                  <a:lnTo>
                    <a:pt x="773612" y="88103"/>
                  </a:lnTo>
                  <a:lnTo>
                    <a:pt x="731500" y="105914"/>
                  </a:lnTo>
                  <a:lnTo>
                    <a:pt x="690203" y="125224"/>
                  </a:lnTo>
                  <a:lnTo>
                    <a:pt x="649755" y="146001"/>
                  </a:lnTo>
                  <a:lnTo>
                    <a:pt x="610190" y="168208"/>
                  </a:lnTo>
                  <a:lnTo>
                    <a:pt x="571543" y="191812"/>
                  </a:lnTo>
                  <a:lnTo>
                    <a:pt x="533848" y="216778"/>
                  </a:lnTo>
                  <a:lnTo>
                    <a:pt x="497139" y="243073"/>
                  </a:lnTo>
                  <a:lnTo>
                    <a:pt x="461450" y="270663"/>
                  </a:lnTo>
                  <a:lnTo>
                    <a:pt x="426815" y="299512"/>
                  </a:lnTo>
                  <a:lnTo>
                    <a:pt x="393269" y="329586"/>
                  </a:lnTo>
                  <a:lnTo>
                    <a:pt x="360846" y="360853"/>
                  </a:lnTo>
                  <a:lnTo>
                    <a:pt x="329580" y="393276"/>
                  </a:lnTo>
                  <a:lnTo>
                    <a:pt x="299506" y="426822"/>
                  </a:lnTo>
                  <a:lnTo>
                    <a:pt x="270658" y="461457"/>
                  </a:lnTo>
                  <a:lnTo>
                    <a:pt x="243069" y="497147"/>
                  </a:lnTo>
                  <a:lnTo>
                    <a:pt x="216774" y="533856"/>
                  </a:lnTo>
                  <a:lnTo>
                    <a:pt x="191808" y="571552"/>
                  </a:lnTo>
                  <a:lnTo>
                    <a:pt x="168204" y="610200"/>
                  </a:lnTo>
                  <a:lnTo>
                    <a:pt x="145998" y="649765"/>
                  </a:lnTo>
                  <a:lnTo>
                    <a:pt x="125222" y="690213"/>
                  </a:lnTo>
                  <a:lnTo>
                    <a:pt x="105912" y="731510"/>
                  </a:lnTo>
                  <a:lnTo>
                    <a:pt x="88101" y="773623"/>
                  </a:lnTo>
                  <a:lnTo>
                    <a:pt x="71824" y="816515"/>
                  </a:lnTo>
                  <a:lnTo>
                    <a:pt x="57115" y="860154"/>
                  </a:lnTo>
                  <a:lnTo>
                    <a:pt x="44008" y="904506"/>
                  </a:lnTo>
                  <a:lnTo>
                    <a:pt x="32538" y="949535"/>
                  </a:lnTo>
                  <a:lnTo>
                    <a:pt x="22738" y="995207"/>
                  </a:lnTo>
                  <a:lnTo>
                    <a:pt x="14643" y="1041489"/>
                  </a:lnTo>
                  <a:lnTo>
                    <a:pt x="8288" y="1088346"/>
                  </a:lnTo>
                  <a:lnTo>
                    <a:pt x="3706" y="1135745"/>
                  </a:lnTo>
                  <a:lnTo>
                    <a:pt x="932" y="1183649"/>
                  </a:lnTo>
                  <a:lnTo>
                    <a:pt x="0" y="1232027"/>
                  </a:lnTo>
                  <a:lnTo>
                    <a:pt x="932" y="1280404"/>
                  </a:lnTo>
                  <a:lnTo>
                    <a:pt x="3706" y="1328308"/>
                  </a:lnTo>
                  <a:lnTo>
                    <a:pt x="8288" y="1375706"/>
                  </a:lnTo>
                  <a:lnTo>
                    <a:pt x="14643" y="1422563"/>
                  </a:lnTo>
                  <a:lnTo>
                    <a:pt x="22738" y="1468845"/>
                  </a:lnTo>
                  <a:lnTo>
                    <a:pt x="32538" y="1514518"/>
                  </a:lnTo>
                  <a:lnTo>
                    <a:pt x="44008" y="1559547"/>
                  </a:lnTo>
                  <a:lnTo>
                    <a:pt x="57115" y="1603897"/>
                  </a:lnTo>
                  <a:lnTo>
                    <a:pt x="71824" y="1647536"/>
                  </a:lnTo>
                  <a:lnTo>
                    <a:pt x="88101" y="1690429"/>
                  </a:lnTo>
                  <a:lnTo>
                    <a:pt x="105912" y="1732540"/>
                  </a:lnTo>
                  <a:lnTo>
                    <a:pt x="125222" y="1773837"/>
                  </a:lnTo>
                  <a:lnTo>
                    <a:pt x="145998" y="1814285"/>
                  </a:lnTo>
                  <a:lnTo>
                    <a:pt x="168204" y="1853850"/>
                  </a:lnTo>
                  <a:lnTo>
                    <a:pt x="191808" y="1892497"/>
                  </a:lnTo>
                  <a:lnTo>
                    <a:pt x="216774" y="1930192"/>
                  </a:lnTo>
                  <a:lnTo>
                    <a:pt x="243069" y="1966902"/>
                  </a:lnTo>
                  <a:lnTo>
                    <a:pt x="270658" y="2002591"/>
                  </a:lnTo>
                  <a:lnTo>
                    <a:pt x="299506" y="2037225"/>
                  </a:lnTo>
                  <a:lnTo>
                    <a:pt x="329580" y="2070771"/>
                  </a:lnTo>
                  <a:lnTo>
                    <a:pt x="360846" y="2103194"/>
                  </a:lnTo>
                  <a:lnTo>
                    <a:pt x="393269" y="2134460"/>
                  </a:lnTo>
                  <a:lnTo>
                    <a:pt x="426815" y="2164534"/>
                  </a:lnTo>
                  <a:lnTo>
                    <a:pt x="461450" y="2193383"/>
                  </a:lnTo>
                  <a:lnTo>
                    <a:pt x="497139" y="2220971"/>
                  </a:lnTo>
                  <a:lnTo>
                    <a:pt x="533848" y="2247266"/>
                  </a:lnTo>
                  <a:lnTo>
                    <a:pt x="571543" y="2272232"/>
                  </a:lnTo>
                  <a:lnTo>
                    <a:pt x="610190" y="2295836"/>
                  </a:lnTo>
                  <a:lnTo>
                    <a:pt x="649755" y="2318043"/>
                  </a:lnTo>
                  <a:lnTo>
                    <a:pt x="690203" y="2338818"/>
                  </a:lnTo>
                  <a:lnTo>
                    <a:pt x="731500" y="2358129"/>
                  </a:lnTo>
                  <a:lnTo>
                    <a:pt x="773612" y="2375940"/>
                  </a:lnTo>
                  <a:lnTo>
                    <a:pt x="816504" y="2392217"/>
                  </a:lnTo>
                  <a:lnTo>
                    <a:pt x="860143" y="2406926"/>
                  </a:lnTo>
                  <a:lnTo>
                    <a:pt x="904494" y="2420032"/>
                  </a:lnTo>
                  <a:lnTo>
                    <a:pt x="949523" y="2431503"/>
                  </a:lnTo>
                  <a:lnTo>
                    <a:pt x="995195" y="2441302"/>
                  </a:lnTo>
                  <a:lnTo>
                    <a:pt x="1041477" y="2449397"/>
                  </a:lnTo>
                  <a:lnTo>
                    <a:pt x="1088334" y="2455752"/>
                  </a:lnTo>
                  <a:lnTo>
                    <a:pt x="1135732" y="2460334"/>
                  </a:lnTo>
                  <a:lnTo>
                    <a:pt x="1183637" y="2463108"/>
                  </a:lnTo>
                  <a:lnTo>
                    <a:pt x="1232014" y="2464041"/>
                  </a:lnTo>
                  <a:close/>
                </a:path>
              </a:pathLst>
            </a:custGeom>
            <a:ln w="50800">
              <a:solidFill>
                <a:srgbClr val="3369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81678" y="2871463"/>
              <a:ext cx="2464435" cy="2464435"/>
            </a:xfrm>
            <a:custGeom>
              <a:avLst/>
              <a:gdLst/>
              <a:ahLst/>
              <a:cxnLst/>
              <a:rect l="l" t="t" r="r" b="b"/>
              <a:pathLst>
                <a:path w="2464435" h="2464435">
                  <a:moveTo>
                    <a:pt x="1232014" y="2464041"/>
                  </a:moveTo>
                  <a:lnTo>
                    <a:pt x="1280391" y="2463108"/>
                  </a:lnTo>
                  <a:lnTo>
                    <a:pt x="1328296" y="2460334"/>
                  </a:lnTo>
                  <a:lnTo>
                    <a:pt x="1375694" y="2455752"/>
                  </a:lnTo>
                  <a:lnTo>
                    <a:pt x="1422551" y="2449397"/>
                  </a:lnTo>
                  <a:lnTo>
                    <a:pt x="1468833" y="2441302"/>
                  </a:lnTo>
                  <a:lnTo>
                    <a:pt x="1514505" y="2431503"/>
                  </a:lnTo>
                  <a:lnTo>
                    <a:pt x="1559534" y="2420032"/>
                  </a:lnTo>
                  <a:lnTo>
                    <a:pt x="1603885" y="2406926"/>
                  </a:lnTo>
                  <a:lnTo>
                    <a:pt x="1647523" y="2392217"/>
                  </a:lnTo>
                  <a:lnTo>
                    <a:pt x="1690416" y="2375940"/>
                  </a:lnTo>
                  <a:lnTo>
                    <a:pt x="1732528" y="2358129"/>
                  </a:lnTo>
                  <a:lnTo>
                    <a:pt x="1773825" y="2338818"/>
                  </a:lnTo>
                  <a:lnTo>
                    <a:pt x="1814273" y="2318043"/>
                  </a:lnTo>
                  <a:lnTo>
                    <a:pt x="1853837" y="2295836"/>
                  </a:lnTo>
                  <a:lnTo>
                    <a:pt x="1892484" y="2272232"/>
                  </a:lnTo>
                  <a:lnTo>
                    <a:pt x="1930180" y="2247266"/>
                  </a:lnTo>
                  <a:lnTo>
                    <a:pt x="1966889" y="2220971"/>
                  </a:lnTo>
                  <a:lnTo>
                    <a:pt x="2002578" y="2193383"/>
                  </a:lnTo>
                  <a:lnTo>
                    <a:pt x="2037213" y="2164534"/>
                  </a:lnTo>
                  <a:lnTo>
                    <a:pt x="2070759" y="2134460"/>
                  </a:lnTo>
                  <a:lnTo>
                    <a:pt x="2103181" y="2103194"/>
                  </a:lnTo>
                  <a:lnTo>
                    <a:pt x="2134447" y="2070771"/>
                  </a:lnTo>
                  <a:lnTo>
                    <a:pt x="2164521" y="2037225"/>
                  </a:lnTo>
                  <a:lnTo>
                    <a:pt x="2193370" y="2002591"/>
                  </a:lnTo>
                  <a:lnTo>
                    <a:pt x="2220959" y="1966902"/>
                  </a:lnTo>
                  <a:lnTo>
                    <a:pt x="2247253" y="1930192"/>
                  </a:lnTo>
                  <a:lnTo>
                    <a:pt x="2272220" y="1892497"/>
                  </a:lnTo>
                  <a:lnTo>
                    <a:pt x="2295823" y="1853850"/>
                  </a:lnTo>
                  <a:lnTo>
                    <a:pt x="2318030" y="1814285"/>
                  </a:lnTo>
                  <a:lnTo>
                    <a:pt x="2338806" y="1773837"/>
                  </a:lnTo>
                  <a:lnTo>
                    <a:pt x="2358116" y="1732540"/>
                  </a:lnTo>
                  <a:lnTo>
                    <a:pt x="2375927" y="1690429"/>
                  </a:lnTo>
                  <a:lnTo>
                    <a:pt x="2392204" y="1647536"/>
                  </a:lnTo>
                  <a:lnTo>
                    <a:pt x="2406913" y="1603897"/>
                  </a:lnTo>
                  <a:lnTo>
                    <a:pt x="2420020" y="1559547"/>
                  </a:lnTo>
                  <a:lnTo>
                    <a:pt x="2431490" y="1514518"/>
                  </a:lnTo>
                  <a:lnTo>
                    <a:pt x="2441290" y="1468845"/>
                  </a:lnTo>
                  <a:lnTo>
                    <a:pt x="2449384" y="1422563"/>
                  </a:lnTo>
                  <a:lnTo>
                    <a:pt x="2455740" y="1375706"/>
                  </a:lnTo>
                  <a:lnTo>
                    <a:pt x="2460321" y="1328308"/>
                  </a:lnTo>
                  <a:lnTo>
                    <a:pt x="2463096" y="1280404"/>
                  </a:lnTo>
                  <a:lnTo>
                    <a:pt x="2464028" y="1232027"/>
                  </a:lnTo>
                  <a:lnTo>
                    <a:pt x="2463096" y="1183649"/>
                  </a:lnTo>
                  <a:lnTo>
                    <a:pt x="2460321" y="1135745"/>
                  </a:lnTo>
                  <a:lnTo>
                    <a:pt x="2455740" y="1088346"/>
                  </a:lnTo>
                  <a:lnTo>
                    <a:pt x="2449384" y="1041489"/>
                  </a:lnTo>
                  <a:lnTo>
                    <a:pt x="2441290" y="995207"/>
                  </a:lnTo>
                  <a:lnTo>
                    <a:pt x="2431490" y="949535"/>
                  </a:lnTo>
                  <a:lnTo>
                    <a:pt x="2420020" y="904506"/>
                  </a:lnTo>
                  <a:lnTo>
                    <a:pt x="2406913" y="860154"/>
                  </a:lnTo>
                  <a:lnTo>
                    <a:pt x="2392204" y="816515"/>
                  </a:lnTo>
                  <a:lnTo>
                    <a:pt x="2375927" y="773623"/>
                  </a:lnTo>
                  <a:lnTo>
                    <a:pt x="2358116" y="731510"/>
                  </a:lnTo>
                  <a:lnTo>
                    <a:pt x="2338806" y="690213"/>
                  </a:lnTo>
                  <a:lnTo>
                    <a:pt x="2318030" y="649765"/>
                  </a:lnTo>
                  <a:lnTo>
                    <a:pt x="2295823" y="610200"/>
                  </a:lnTo>
                  <a:lnTo>
                    <a:pt x="2272220" y="571552"/>
                  </a:lnTo>
                  <a:lnTo>
                    <a:pt x="2247253" y="533856"/>
                  </a:lnTo>
                  <a:lnTo>
                    <a:pt x="2220959" y="497147"/>
                  </a:lnTo>
                  <a:lnTo>
                    <a:pt x="2193370" y="461457"/>
                  </a:lnTo>
                  <a:lnTo>
                    <a:pt x="2164521" y="426822"/>
                  </a:lnTo>
                  <a:lnTo>
                    <a:pt x="2134447" y="393276"/>
                  </a:lnTo>
                  <a:lnTo>
                    <a:pt x="2103181" y="360853"/>
                  </a:lnTo>
                  <a:lnTo>
                    <a:pt x="2070759" y="329586"/>
                  </a:lnTo>
                  <a:lnTo>
                    <a:pt x="2037213" y="299512"/>
                  </a:lnTo>
                  <a:lnTo>
                    <a:pt x="2002578" y="270663"/>
                  </a:lnTo>
                  <a:lnTo>
                    <a:pt x="1966889" y="243073"/>
                  </a:lnTo>
                  <a:lnTo>
                    <a:pt x="1930180" y="216778"/>
                  </a:lnTo>
                  <a:lnTo>
                    <a:pt x="1892484" y="191812"/>
                  </a:lnTo>
                  <a:lnTo>
                    <a:pt x="1853837" y="168208"/>
                  </a:lnTo>
                  <a:lnTo>
                    <a:pt x="1814273" y="146001"/>
                  </a:lnTo>
                  <a:lnTo>
                    <a:pt x="1773825" y="125224"/>
                  </a:lnTo>
                  <a:lnTo>
                    <a:pt x="1732528" y="105914"/>
                  </a:lnTo>
                  <a:lnTo>
                    <a:pt x="1690416" y="88103"/>
                  </a:lnTo>
                  <a:lnTo>
                    <a:pt x="1647523" y="71825"/>
                  </a:lnTo>
                  <a:lnTo>
                    <a:pt x="1603885" y="57116"/>
                  </a:lnTo>
                  <a:lnTo>
                    <a:pt x="1559534" y="44009"/>
                  </a:lnTo>
                  <a:lnTo>
                    <a:pt x="1514505" y="32538"/>
                  </a:lnTo>
                  <a:lnTo>
                    <a:pt x="1468833" y="22739"/>
                  </a:lnTo>
                  <a:lnTo>
                    <a:pt x="1422551" y="14644"/>
                  </a:lnTo>
                  <a:lnTo>
                    <a:pt x="1375694" y="8288"/>
                  </a:lnTo>
                  <a:lnTo>
                    <a:pt x="1328296" y="3706"/>
                  </a:lnTo>
                  <a:lnTo>
                    <a:pt x="1280391" y="932"/>
                  </a:lnTo>
                  <a:lnTo>
                    <a:pt x="1232014" y="0"/>
                  </a:lnTo>
                  <a:lnTo>
                    <a:pt x="1183637" y="932"/>
                  </a:lnTo>
                  <a:lnTo>
                    <a:pt x="1135732" y="3706"/>
                  </a:lnTo>
                  <a:lnTo>
                    <a:pt x="1088334" y="8288"/>
                  </a:lnTo>
                  <a:lnTo>
                    <a:pt x="1041477" y="14644"/>
                  </a:lnTo>
                  <a:lnTo>
                    <a:pt x="995195" y="22739"/>
                  </a:lnTo>
                  <a:lnTo>
                    <a:pt x="949523" y="32538"/>
                  </a:lnTo>
                  <a:lnTo>
                    <a:pt x="904494" y="44009"/>
                  </a:lnTo>
                  <a:lnTo>
                    <a:pt x="860143" y="57116"/>
                  </a:lnTo>
                  <a:lnTo>
                    <a:pt x="816504" y="71825"/>
                  </a:lnTo>
                  <a:lnTo>
                    <a:pt x="773612" y="88103"/>
                  </a:lnTo>
                  <a:lnTo>
                    <a:pt x="731500" y="105914"/>
                  </a:lnTo>
                  <a:lnTo>
                    <a:pt x="690203" y="125224"/>
                  </a:lnTo>
                  <a:lnTo>
                    <a:pt x="649755" y="146001"/>
                  </a:lnTo>
                  <a:lnTo>
                    <a:pt x="610190" y="168208"/>
                  </a:lnTo>
                  <a:lnTo>
                    <a:pt x="571543" y="191812"/>
                  </a:lnTo>
                  <a:lnTo>
                    <a:pt x="533848" y="216778"/>
                  </a:lnTo>
                  <a:lnTo>
                    <a:pt x="497139" y="243073"/>
                  </a:lnTo>
                  <a:lnTo>
                    <a:pt x="461450" y="270663"/>
                  </a:lnTo>
                  <a:lnTo>
                    <a:pt x="426815" y="299512"/>
                  </a:lnTo>
                  <a:lnTo>
                    <a:pt x="393269" y="329586"/>
                  </a:lnTo>
                  <a:lnTo>
                    <a:pt x="360846" y="360853"/>
                  </a:lnTo>
                  <a:lnTo>
                    <a:pt x="329580" y="393276"/>
                  </a:lnTo>
                  <a:lnTo>
                    <a:pt x="299506" y="426822"/>
                  </a:lnTo>
                  <a:lnTo>
                    <a:pt x="270658" y="461457"/>
                  </a:lnTo>
                  <a:lnTo>
                    <a:pt x="243069" y="497147"/>
                  </a:lnTo>
                  <a:lnTo>
                    <a:pt x="216774" y="533856"/>
                  </a:lnTo>
                  <a:lnTo>
                    <a:pt x="191808" y="571552"/>
                  </a:lnTo>
                  <a:lnTo>
                    <a:pt x="168204" y="610200"/>
                  </a:lnTo>
                  <a:lnTo>
                    <a:pt x="145998" y="649765"/>
                  </a:lnTo>
                  <a:lnTo>
                    <a:pt x="125222" y="690213"/>
                  </a:lnTo>
                  <a:lnTo>
                    <a:pt x="105912" y="731510"/>
                  </a:lnTo>
                  <a:lnTo>
                    <a:pt x="88101" y="773623"/>
                  </a:lnTo>
                  <a:lnTo>
                    <a:pt x="71824" y="816515"/>
                  </a:lnTo>
                  <a:lnTo>
                    <a:pt x="57115" y="860154"/>
                  </a:lnTo>
                  <a:lnTo>
                    <a:pt x="44008" y="904506"/>
                  </a:lnTo>
                  <a:lnTo>
                    <a:pt x="32538" y="949535"/>
                  </a:lnTo>
                  <a:lnTo>
                    <a:pt x="22738" y="995207"/>
                  </a:lnTo>
                  <a:lnTo>
                    <a:pt x="14643" y="1041489"/>
                  </a:lnTo>
                  <a:lnTo>
                    <a:pt x="8288" y="1088346"/>
                  </a:lnTo>
                  <a:lnTo>
                    <a:pt x="3706" y="1135745"/>
                  </a:lnTo>
                  <a:lnTo>
                    <a:pt x="932" y="1183649"/>
                  </a:lnTo>
                  <a:lnTo>
                    <a:pt x="0" y="1232027"/>
                  </a:lnTo>
                  <a:lnTo>
                    <a:pt x="932" y="1280404"/>
                  </a:lnTo>
                  <a:lnTo>
                    <a:pt x="3706" y="1328308"/>
                  </a:lnTo>
                  <a:lnTo>
                    <a:pt x="8288" y="1375706"/>
                  </a:lnTo>
                  <a:lnTo>
                    <a:pt x="14643" y="1422563"/>
                  </a:lnTo>
                  <a:lnTo>
                    <a:pt x="22738" y="1468845"/>
                  </a:lnTo>
                  <a:lnTo>
                    <a:pt x="32538" y="1514518"/>
                  </a:lnTo>
                  <a:lnTo>
                    <a:pt x="44008" y="1559547"/>
                  </a:lnTo>
                  <a:lnTo>
                    <a:pt x="57115" y="1603897"/>
                  </a:lnTo>
                  <a:lnTo>
                    <a:pt x="71824" y="1647536"/>
                  </a:lnTo>
                  <a:lnTo>
                    <a:pt x="88101" y="1690429"/>
                  </a:lnTo>
                  <a:lnTo>
                    <a:pt x="105912" y="1732540"/>
                  </a:lnTo>
                  <a:lnTo>
                    <a:pt x="125222" y="1773837"/>
                  </a:lnTo>
                  <a:lnTo>
                    <a:pt x="145998" y="1814285"/>
                  </a:lnTo>
                  <a:lnTo>
                    <a:pt x="168204" y="1853850"/>
                  </a:lnTo>
                  <a:lnTo>
                    <a:pt x="191808" y="1892497"/>
                  </a:lnTo>
                  <a:lnTo>
                    <a:pt x="216774" y="1930192"/>
                  </a:lnTo>
                  <a:lnTo>
                    <a:pt x="243069" y="1966902"/>
                  </a:lnTo>
                  <a:lnTo>
                    <a:pt x="270658" y="2002591"/>
                  </a:lnTo>
                  <a:lnTo>
                    <a:pt x="299506" y="2037225"/>
                  </a:lnTo>
                  <a:lnTo>
                    <a:pt x="329580" y="2070771"/>
                  </a:lnTo>
                  <a:lnTo>
                    <a:pt x="360846" y="2103194"/>
                  </a:lnTo>
                  <a:lnTo>
                    <a:pt x="393269" y="2134460"/>
                  </a:lnTo>
                  <a:lnTo>
                    <a:pt x="426815" y="2164534"/>
                  </a:lnTo>
                  <a:lnTo>
                    <a:pt x="461450" y="2193383"/>
                  </a:lnTo>
                  <a:lnTo>
                    <a:pt x="497139" y="2220971"/>
                  </a:lnTo>
                  <a:lnTo>
                    <a:pt x="533848" y="2247266"/>
                  </a:lnTo>
                  <a:lnTo>
                    <a:pt x="571543" y="2272232"/>
                  </a:lnTo>
                  <a:lnTo>
                    <a:pt x="610190" y="2295836"/>
                  </a:lnTo>
                  <a:lnTo>
                    <a:pt x="649755" y="2318043"/>
                  </a:lnTo>
                  <a:lnTo>
                    <a:pt x="690203" y="2338818"/>
                  </a:lnTo>
                  <a:lnTo>
                    <a:pt x="731500" y="2358129"/>
                  </a:lnTo>
                  <a:lnTo>
                    <a:pt x="773612" y="2375940"/>
                  </a:lnTo>
                  <a:lnTo>
                    <a:pt x="816504" y="2392217"/>
                  </a:lnTo>
                  <a:lnTo>
                    <a:pt x="860143" y="2406926"/>
                  </a:lnTo>
                  <a:lnTo>
                    <a:pt x="904494" y="2420032"/>
                  </a:lnTo>
                  <a:lnTo>
                    <a:pt x="949523" y="2431503"/>
                  </a:lnTo>
                  <a:lnTo>
                    <a:pt x="995195" y="2441302"/>
                  </a:lnTo>
                  <a:lnTo>
                    <a:pt x="1041477" y="2449397"/>
                  </a:lnTo>
                  <a:lnTo>
                    <a:pt x="1088334" y="2455752"/>
                  </a:lnTo>
                  <a:lnTo>
                    <a:pt x="1135732" y="2460334"/>
                  </a:lnTo>
                  <a:lnTo>
                    <a:pt x="1183637" y="2463108"/>
                  </a:lnTo>
                  <a:lnTo>
                    <a:pt x="1232014" y="2464041"/>
                  </a:lnTo>
                  <a:close/>
                </a:path>
              </a:pathLst>
            </a:custGeom>
            <a:ln w="50800">
              <a:solidFill>
                <a:srgbClr val="F08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35218" y="2871463"/>
              <a:ext cx="2464435" cy="2464435"/>
            </a:xfrm>
            <a:custGeom>
              <a:avLst/>
              <a:gdLst/>
              <a:ahLst/>
              <a:cxnLst/>
              <a:rect l="l" t="t" r="r" b="b"/>
              <a:pathLst>
                <a:path w="2464434" h="2464435">
                  <a:moveTo>
                    <a:pt x="1232014" y="2464041"/>
                  </a:moveTo>
                  <a:lnTo>
                    <a:pt x="1280391" y="2463108"/>
                  </a:lnTo>
                  <a:lnTo>
                    <a:pt x="1328296" y="2460334"/>
                  </a:lnTo>
                  <a:lnTo>
                    <a:pt x="1375694" y="2455752"/>
                  </a:lnTo>
                  <a:lnTo>
                    <a:pt x="1422551" y="2449397"/>
                  </a:lnTo>
                  <a:lnTo>
                    <a:pt x="1468833" y="2441302"/>
                  </a:lnTo>
                  <a:lnTo>
                    <a:pt x="1514505" y="2431503"/>
                  </a:lnTo>
                  <a:lnTo>
                    <a:pt x="1559534" y="2420032"/>
                  </a:lnTo>
                  <a:lnTo>
                    <a:pt x="1603885" y="2406926"/>
                  </a:lnTo>
                  <a:lnTo>
                    <a:pt x="1647523" y="2392217"/>
                  </a:lnTo>
                  <a:lnTo>
                    <a:pt x="1690416" y="2375940"/>
                  </a:lnTo>
                  <a:lnTo>
                    <a:pt x="1732528" y="2358129"/>
                  </a:lnTo>
                  <a:lnTo>
                    <a:pt x="1773825" y="2338818"/>
                  </a:lnTo>
                  <a:lnTo>
                    <a:pt x="1814273" y="2318043"/>
                  </a:lnTo>
                  <a:lnTo>
                    <a:pt x="1853837" y="2295836"/>
                  </a:lnTo>
                  <a:lnTo>
                    <a:pt x="1892484" y="2272232"/>
                  </a:lnTo>
                  <a:lnTo>
                    <a:pt x="1930180" y="2247266"/>
                  </a:lnTo>
                  <a:lnTo>
                    <a:pt x="1966889" y="2220971"/>
                  </a:lnTo>
                  <a:lnTo>
                    <a:pt x="2002578" y="2193383"/>
                  </a:lnTo>
                  <a:lnTo>
                    <a:pt x="2037213" y="2164534"/>
                  </a:lnTo>
                  <a:lnTo>
                    <a:pt x="2070759" y="2134460"/>
                  </a:lnTo>
                  <a:lnTo>
                    <a:pt x="2103181" y="2103194"/>
                  </a:lnTo>
                  <a:lnTo>
                    <a:pt x="2134447" y="2070771"/>
                  </a:lnTo>
                  <a:lnTo>
                    <a:pt x="2164521" y="2037225"/>
                  </a:lnTo>
                  <a:lnTo>
                    <a:pt x="2193370" y="2002591"/>
                  </a:lnTo>
                  <a:lnTo>
                    <a:pt x="2220959" y="1966902"/>
                  </a:lnTo>
                  <a:lnTo>
                    <a:pt x="2247253" y="1930192"/>
                  </a:lnTo>
                  <a:lnTo>
                    <a:pt x="2272220" y="1892497"/>
                  </a:lnTo>
                  <a:lnTo>
                    <a:pt x="2295823" y="1853850"/>
                  </a:lnTo>
                  <a:lnTo>
                    <a:pt x="2318030" y="1814285"/>
                  </a:lnTo>
                  <a:lnTo>
                    <a:pt x="2338806" y="1773837"/>
                  </a:lnTo>
                  <a:lnTo>
                    <a:pt x="2358116" y="1732540"/>
                  </a:lnTo>
                  <a:lnTo>
                    <a:pt x="2375927" y="1690429"/>
                  </a:lnTo>
                  <a:lnTo>
                    <a:pt x="2392204" y="1647536"/>
                  </a:lnTo>
                  <a:lnTo>
                    <a:pt x="2406913" y="1603897"/>
                  </a:lnTo>
                  <a:lnTo>
                    <a:pt x="2420020" y="1559547"/>
                  </a:lnTo>
                  <a:lnTo>
                    <a:pt x="2431490" y="1514518"/>
                  </a:lnTo>
                  <a:lnTo>
                    <a:pt x="2441290" y="1468845"/>
                  </a:lnTo>
                  <a:lnTo>
                    <a:pt x="2449384" y="1422563"/>
                  </a:lnTo>
                  <a:lnTo>
                    <a:pt x="2455740" y="1375706"/>
                  </a:lnTo>
                  <a:lnTo>
                    <a:pt x="2460321" y="1328308"/>
                  </a:lnTo>
                  <a:lnTo>
                    <a:pt x="2463096" y="1280404"/>
                  </a:lnTo>
                  <a:lnTo>
                    <a:pt x="2464028" y="1232027"/>
                  </a:lnTo>
                  <a:lnTo>
                    <a:pt x="2463096" y="1183649"/>
                  </a:lnTo>
                  <a:lnTo>
                    <a:pt x="2460321" y="1135745"/>
                  </a:lnTo>
                  <a:lnTo>
                    <a:pt x="2455740" y="1088346"/>
                  </a:lnTo>
                  <a:lnTo>
                    <a:pt x="2449384" y="1041489"/>
                  </a:lnTo>
                  <a:lnTo>
                    <a:pt x="2441290" y="995207"/>
                  </a:lnTo>
                  <a:lnTo>
                    <a:pt x="2431490" y="949535"/>
                  </a:lnTo>
                  <a:lnTo>
                    <a:pt x="2420020" y="904506"/>
                  </a:lnTo>
                  <a:lnTo>
                    <a:pt x="2406913" y="860154"/>
                  </a:lnTo>
                  <a:lnTo>
                    <a:pt x="2392204" y="816515"/>
                  </a:lnTo>
                  <a:lnTo>
                    <a:pt x="2375927" y="773623"/>
                  </a:lnTo>
                  <a:lnTo>
                    <a:pt x="2358116" y="731510"/>
                  </a:lnTo>
                  <a:lnTo>
                    <a:pt x="2338806" y="690213"/>
                  </a:lnTo>
                  <a:lnTo>
                    <a:pt x="2318030" y="649765"/>
                  </a:lnTo>
                  <a:lnTo>
                    <a:pt x="2295823" y="610200"/>
                  </a:lnTo>
                  <a:lnTo>
                    <a:pt x="2272220" y="571552"/>
                  </a:lnTo>
                  <a:lnTo>
                    <a:pt x="2247253" y="533856"/>
                  </a:lnTo>
                  <a:lnTo>
                    <a:pt x="2220959" y="497147"/>
                  </a:lnTo>
                  <a:lnTo>
                    <a:pt x="2193370" y="461457"/>
                  </a:lnTo>
                  <a:lnTo>
                    <a:pt x="2164521" y="426822"/>
                  </a:lnTo>
                  <a:lnTo>
                    <a:pt x="2134447" y="393276"/>
                  </a:lnTo>
                  <a:lnTo>
                    <a:pt x="2103181" y="360853"/>
                  </a:lnTo>
                  <a:lnTo>
                    <a:pt x="2070759" y="329586"/>
                  </a:lnTo>
                  <a:lnTo>
                    <a:pt x="2037213" y="299512"/>
                  </a:lnTo>
                  <a:lnTo>
                    <a:pt x="2002578" y="270663"/>
                  </a:lnTo>
                  <a:lnTo>
                    <a:pt x="1966889" y="243073"/>
                  </a:lnTo>
                  <a:lnTo>
                    <a:pt x="1930180" y="216778"/>
                  </a:lnTo>
                  <a:lnTo>
                    <a:pt x="1892484" y="191812"/>
                  </a:lnTo>
                  <a:lnTo>
                    <a:pt x="1853837" y="168208"/>
                  </a:lnTo>
                  <a:lnTo>
                    <a:pt x="1814273" y="146001"/>
                  </a:lnTo>
                  <a:lnTo>
                    <a:pt x="1773825" y="125224"/>
                  </a:lnTo>
                  <a:lnTo>
                    <a:pt x="1732528" y="105914"/>
                  </a:lnTo>
                  <a:lnTo>
                    <a:pt x="1690416" y="88103"/>
                  </a:lnTo>
                  <a:lnTo>
                    <a:pt x="1647523" y="71825"/>
                  </a:lnTo>
                  <a:lnTo>
                    <a:pt x="1603885" y="57116"/>
                  </a:lnTo>
                  <a:lnTo>
                    <a:pt x="1559534" y="44009"/>
                  </a:lnTo>
                  <a:lnTo>
                    <a:pt x="1514505" y="32538"/>
                  </a:lnTo>
                  <a:lnTo>
                    <a:pt x="1468833" y="22739"/>
                  </a:lnTo>
                  <a:lnTo>
                    <a:pt x="1422551" y="14644"/>
                  </a:lnTo>
                  <a:lnTo>
                    <a:pt x="1375694" y="8288"/>
                  </a:lnTo>
                  <a:lnTo>
                    <a:pt x="1328296" y="3706"/>
                  </a:lnTo>
                  <a:lnTo>
                    <a:pt x="1280391" y="932"/>
                  </a:lnTo>
                  <a:lnTo>
                    <a:pt x="1232014" y="0"/>
                  </a:lnTo>
                  <a:lnTo>
                    <a:pt x="1183637" y="932"/>
                  </a:lnTo>
                  <a:lnTo>
                    <a:pt x="1135732" y="3706"/>
                  </a:lnTo>
                  <a:lnTo>
                    <a:pt x="1088334" y="8288"/>
                  </a:lnTo>
                  <a:lnTo>
                    <a:pt x="1041477" y="14644"/>
                  </a:lnTo>
                  <a:lnTo>
                    <a:pt x="995195" y="22739"/>
                  </a:lnTo>
                  <a:lnTo>
                    <a:pt x="949523" y="32538"/>
                  </a:lnTo>
                  <a:lnTo>
                    <a:pt x="904494" y="44009"/>
                  </a:lnTo>
                  <a:lnTo>
                    <a:pt x="860143" y="57116"/>
                  </a:lnTo>
                  <a:lnTo>
                    <a:pt x="816504" y="71825"/>
                  </a:lnTo>
                  <a:lnTo>
                    <a:pt x="773612" y="88103"/>
                  </a:lnTo>
                  <a:lnTo>
                    <a:pt x="731500" y="105914"/>
                  </a:lnTo>
                  <a:lnTo>
                    <a:pt x="690203" y="125224"/>
                  </a:lnTo>
                  <a:lnTo>
                    <a:pt x="649755" y="146001"/>
                  </a:lnTo>
                  <a:lnTo>
                    <a:pt x="610190" y="168208"/>
                  </a:lnTo>
                  <a:lnTo>
                    <a:pt x="571543" y="191812"/>
                  </a:lnTo>
                  <a:lnTo>
                    <a:pt x="533848" y="216778"/>
                  </a:lnTo>
                  <a:lnTo>
                    <a:pt x="497139" y="243073"/>
                  </a:lnTo>
                  <a:lnTo>
                    <a:pt x="461450" y="270663"/>
                  </a:lnTo>
                  <a:lnTo>
                    <a:pt x="426815" y="299512"/>
                  </a:lnTo>
                  <a:lnTo>
                    <a:pt x="393269" y="329586"/>
                  </a:lnTo>
                  <a:lnTo>
                    <a:pt x="360846" y="360853"/>
                  </a:lnTo>
                  <a:lnTo>
                    <a:pt x="329580" y="393276"/>
                  </a:lnTo>
                  <a:lnTo>
                    <a:pt x="299506" y="426822"/>
                  </a:lnTo>
                  <a:lnTo>
                    <a:pt x="270658" y="461457"/>
                  </a:lnTo>
                  <a:lnTo>
                    <a:pt x="243069" y="497147"/>
                  </a:lnTo>
                  <a:lnTo>
                    <a:pt x="216774" y="533856"/>
                  </a:lnTo>
                  <a:lnTo>
                    <a:pt x="191808" y="571552"/>
                  </a:lnTo>
                  <a:lnTo>
                    <a:pt x="168204" y="610200"/>
                  </a:lnTo>
                  <a:lnTo>
                    <a:pt x="145998" y="649765"/>
                  </a:lnTo>
                  <a:lnTo>
                    <a:pt x="125222" y="690213"/>
                  </a:lnTo>
                  <a:lnTo>
                    <a:pt x="105912" y="731510"/>
                  </a:lnTo>
                  <a:lnTo>
                    <a:pt x="88101" y="773623"/>
                  </a:lnTo>
                  <a:lnTo>
                    <a:pt x="71824" y="816515"/>
                  </a:lnTo>
                  <a:lnTo>
                    <a:pt x="57115" y="860154"/>
                  </a:lnTo>
                  <a:lnTo>
                    <a:pt x="44008" y="904506"/>
                  </a:lnTo>
                  <a:lnTo>
                    <a:pt x="32538" y="949535"/>
                  </a:lnTo>
                  <a:lnTo>
                    <a:pt x="22738" y="995207"/>
                  </a:lnTo>
                  <a:lnTo>
                    <a:pt x="14643" y="1041489"/>
                  </a:lnTo>
                  <a:lnTo>
                    <a:pt x="8288" y="1088346"/>
                  </a:lnTo>
                  <a:lnTo>
                    <a:pt x="3706" y="1135745"/>
                  </a:lnTo>
                  <a:lnTo>
                    <a:pt x="932" y="1183649"/>
                  </a:lnTo>
                  <a:lnTo>
                    <a:pt x="0" y="1232027"/>
                  </a:lnTo>
                  <a:lnTo>
                    <a:pt x="932" y="1280404"/>
                  </a:lnTo>
                  <a:lnTo>
                    <a:pt x="3706" y="1328308"/>
                  </a:lnTo>
                  <a:lnTo>
                    <a:pt x="8288" y="1375706"/>
                  </a:lnTo>
                  <a:lnTo>
                    <a:pt x="14643" y="1422563"/>
                  </a:lnTo>
                  <a:lnTo>
                    <a:pt x="22738" y="1468845"/>
                  </a:lnTo>
                  <a:lnTo>
                    <a:pt x="32538" y="1514518"/>
                  </a:lnTo>
                  <a:lnTo>
                    <a:pt x="44008" y="1559547"/>
                  </a:lnTo>
                  <a:lnTo>
                    <a:pt x="57115" y="1603897"/>
                  </a:lnTo>
                  <a:lnTo>
                    <a:pt x="71824" y="1647536"/>
                  </a:lnTo>
                  <a:lnTo>
                    <a:pt x="88101" y="1690429"/>
                  </a:lnTo>
                  <a:lnTo>
                    <a:pt x="105912" y="1732540"/>
                  </a:lnTo>
                  <a:lnTo>
                    <a:pt x="125222" y="1773837"/>
                  </a:lnTo>
                  <a:lnTo>
                    <a:pt x="145998" y="1814285"/>
                  </a:lnTo>
                  <a:lnTo>
                    <a:pt x="168204" y="1853850"/>
                  </a:lnTo>
                  <a:lnTo>
                    <a:pt x="191808" y="1892497"/>
                  </a:lnTo>
                  <a:lnTo>
                    <a:pt x="216774" y="1930192"/>
                  </a:lnTo>
                  <a:lnTo>
                    <a:pt x="243069" y="1966902"/>
                  </a:lnTo>
                  <a:lnTo>
                    <a:pt x="270658" y="2002591"/>
                  </a:lnTo>
                  <a:lnTo>
                    <a:pt x="299506" y="2037225"/>
                  </a:lnTo>
                  <a:lnTo>
                    <a:pt x="329580" y="2070771"/>
                  </a:lnTo>
                  <a:lnTo>
                    <a:pt x="360846" y="2103194"/>
                  </a:lnTo>
                  <a:lnTo>
                    <a:pt x="393269" y="2134460"/>
                  </a:lnTo>
                  <a:lnTo>
                    <a:pt x="426815" y="2164534"/>
                  </a:lnTo>
                  <a:lnTo>
                    <a:pt x="461450" y="2193383"/>
                  </a:lnTo>
                  <a:lnTo>
                    <a:pt x="497139" y="2220971"/>
                  </a:lnTo>
                  <a:lnTo>
                    <a:pt x="533848" y="2247266"/>
                  </a:lnTo>
                  <a:lnTo>
                    <a:pt x="571543" y="2272232"/>
                  </a:lnTo>
                  <a:lnTo>
                    <a:pt x="610190" y="2295836"/>
                  </a:lnTo>
                  <a:lnTo>
                    <a:pt x="649755" y="2318043"/>
                  </a:lnTo>
                  <a:lnTo>
                    <a:pt x="690203" y="2338818"/>
                  </a:lnTo>
                  <a:lnTo>
                    <a:pt x="731500" y="2358129"/>
                  </a:lnTo>
                  <a:lnTo>
                    <a:pt x="773612" y="2375940"/>
                  </a:lnTo>
                  <a:lnTo>
                    <a:pt x="816504" y="2392217"/>
                  </a:lnTo>
                  <a:lnTo>
                    <a:pt x="860143" y="2406926"/>
                  </a:lnTo>
                  <a:lnTo>
                    <a:pt x="904494" y="2420032"/>
                  </a:lnTo>
                  <a:lnTo>
                    <a:pt x="949523" y="2431503"/>
                  </a:lnTo>
                  <a:lnTo>
                    <a:pt x="995195" y="2441302"/>
                  </a:lnTo>
                  <a:lnTo>
                    <a:pt x="1041477" y="2449397"/>
                  </a:lnTo>
                  <a:lnTo>
                    <a:pt x="1088334" y="2455752"/>
                  </a:lnTo>
                  <a:lnTo>
                    <a:pt x="1135732" y="2460334"/>
                  </a:lnTo>
                  <a:lnTo>
                    <a:pt x="1183637" y="2463108"/>
                  </a:lnTo>
                  <a:lnTo>
                    <a:pt x="1232014" y="2464041"/>
                  </a:lnTo>
                  <a:close/>
                </a:path>
              </a:pathLst>
            </a:custGeom>
            <a:ln w="50800">
              <a:solidFill>
                <a:srgbClr val="40A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43247" y="3200399"/>
              <a:ext cx="808990" cy="1106170"/>
            </a:xfrm>
            <a:custGeom>
              <a:avLst/>
              <a:gdLst/>
              <a:ahLst/>
              <a:cxnLst/>
              <a:rect l="l" t="t" r="r" b="b"/>
              <a:pathLst>
                <a:path w="808989" h="1106170">
                  <a:moveTo>
                    <a:pt x="397332" y="0"/>
                  </a:moveTo>
                  <a:lnTo>
                    <a:pt x="210642" y="190500"/>
                  </a:lnTo>
                  <a:lnTo>
                    <a:pt x="134442" y="346710"/>
                  </a:lnTo>
                  <a:lnTo>
                    <a:pt x="54432" y="518159"/>
                  </a:lnTo>
                  <a:lnTo>
                    <a:pt x="12522" y="693420"/>
                  </a:lnTo>
                  <a:lnTo>
                    <a:pt x="0" y="1062990"/>
                  </a:lnTo>
                  <a:lnTo>
                    <a:pt x="107772" y="1093470"/>
                  </a:lnTo>
                  <a:lnTo>
                    <a:pt x="294462" y="1099578"/>
                  </a:lnTo>
                  <a:lnTo>
                    <a:pt x="450672" y="1105928"/>
                  </a:lnTo>
                  <a:lnTo>
                    <a:pt x="599262" y="1082040"/>
                  </a:lnTo>
                  <a:lnTo>
                    <a:pt x="679272" y="1059180"/>
                  </a:lnTo>
                  <a:lnTo>
                    <a:pt x="778332" y="1024890"/>
                  </a:lnTo>
                  <a:lnTo>
                    <a:pt x="808812" y="1021080"/>
                  </a:lnTo>
                  <a:lnTo>
                    <a:pt x="808812" y="781050"/>
                  </a:lnTo>
                  <a:lnTo>
                    <a:pt x="747852" y="533400"/>
                  </a:lnTo>
                  <a:lnTo>
                    <a:pt x="667842" y="335280"/>
                  </a:lnTo>
                  <a:lnTo>
                    <a:pt x="516712" y="118110"/>
                  </a:lnTo>
                  <a:lnTo>
                    <a:pt x="397332" y="0"/>
                  </a:lnTo>
                  <a:close/>
                </a:path>
              </a:pathLst>
            </a:custGeom>
            <a:solidFill>
              <a:srgbClr val="EA86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43247" y="3200399"/>
              <a:ext cx="808990" cy="1106170"/>
            </a:xfrm>
            <a:custGeom>
              <a:avLst/>
              <a:gdLst/>
              <a:ahLst/>
              <a:cxnLst/>
              <a:rect l="l" t="t" r="r" b="b"/>
              <a:pathLst>
                <a:path w="808989" h="1106170">
                  <a:moveTo>
                    <a:pt x="397332" y="0"/>
                  </a:moveTo>
                  <a:lnTo>
                    <a:pt x="210642" y="190500"/>
                  </a:lnTo>
                  <a:lnTo>
                    <a:pt x="134442" y="346710"/>
                  </a:lnTo>
                  <a:lnTo>
                    <a:pt x="54432" y="518159"/>
                  </a:lnTo>
                  <a:lnTo>
                    <a:pt x="12522" y="693420"/>
                  </a:lnTo>
                  <a:lnTo>
                    <a:pt x="6350" y="876300"/>
                  </a:lnTo>
                  <a:lnTo>
                    <a:pt x="0" y="1062990"/>
                  </a:lnTo>
                  <a:lnTo>
                    <a:pt x="107772" y="1093470"/>
                  </a:lnTo>
                  <a:lnTo>
                    <a:pt x="294462" y="1099578"/>
                  </a:lnTo>
                  <a:lnTo>
                    <a:pt x="450672" y="1105928"/>
                  </a:lnTo>
                  <a:lnTo>
                    <a:pt x="599262" y="1082040"/>
                  </a:lnTo>
                  <a:lnTo>
                    <a:pt x="679272" y="1059180"/>
                  </a:lnTo>
                  <a:lnTo>
                    <a:pt x="778332" y="1024890"/>
                  </a:lnTo>
                  <a:lnTo>
                    <a:pt x="808812" y="1021080"/>
                  </a:lnTo>
                  <a:lnTo>
                    <a:pt x="808812" y="781050"/>
                  </a:lnTo>
                  <a:lnTo>
                    <a:pt x="747852" y="533400"/>
                  </a:lnTo>
                  <a:lnTo>
                    <a:pt x="667842" y="335280"/>
                  </a:lnTo>
                  <a:lnTo>
                    <a:pt x="516712" y="118110"/>
                  </a:lnTo>
                  <a:lnTo>
                    <a:pt x="397332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77587" y="2726350"/>
            <a:ext cx="12674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Economics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2909464" y="4933825"/>
            <a:ext cx="10344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08D00"/>
                </a:solidFill>
                <a:latin typeface="Times New Roman"/>
                <a:cs typeface="Times New Roman"/>
              </a:rPr>
              <a:t>Statistics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6733" y="4906520"/>
            <a:ext cx="1143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40AD49"/>
                </a:solidFill>
                <a:latin typeface="Times New Roman"/>
                <a:cs typeface="Times New Roman"/>
              </a:rPr>
              <a:t>Computer  </a:t>
            </a:r>
            <a:r>
              <a:rPr sz="2200" spc="-5" dirty="0">
                <a:solidFill>
                  <a:srgbClr val="40AD49"/>
                </a:solidFill>
                <a:latin typeface="Times New Roman"/>
                <a:cs typeface="Times New Roman"/>
              </a:rPr>
              <a:t>Science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532D5987-2B57-CDC9-17D5-C0775CE3324F}"/>
              </a:ext>
            </a:extLst>
          </p:cNvPr>
          <p:cNvSpPr txBox="1">
            <a:spLocks/>
          </p:cNvSpPr>
          <p:nvPr/>
        </p:nvSpPr>
        <p:spPr>
          <a:xfrm>
            <a:off x="972819" y="933624"/>
            <a:ext cx="60483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Computational</a:t>
            </a:r>
            <a:r>
              <a:rPr lang="en-US" sz="3200" kern="0" spc="1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3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Economics</a:t>
            </a:r>
            <a:endParaRPr lang="en-US" sz="3200" kern="0" spc="3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72819" y="933624"/>
            <a:ext cx="675703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Where</a:t>
            </a:r>
            <a:r>
              <a:rPr sz="3200" spc="5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</a:t>
            </a:r>
            <a:r>
              <a:rPr sz="3200" spc="5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</a:t>
            </a:r>
            <a:r>
              <a:rPr sz="3200" spc="5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future</a:t>
            </a:r>
            <a:r>
              <a:rPr sz="3200" spc="6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3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career?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0031" y="2316577"/>
            <a:ext cx="5874385" cy="2943225"/>
            <a:chOff x="1510031" y="2316577"/>
            <a:chExt cx="5874385" cy="2943225"/>
          </a:xfrm>
        </p:grpSpPr>
        <p:sp>
          <p:nvSpPr>
            <p:cNvPr id="4" name="object 4"/>
            <p:cNvSpPr/>
            <p:nvPr/>
          </p:nvSpPr>
          <p:spPr>
            <a:xfrm>
              <a:off x="1520882" y="2322927"/>
              <a:ext cx="2921635" cy="2930525"/>
            </a:xfrm>
            <a:custGeom>
              <a:avLst/>
              <a:gdLst/>
              <a:ahLst/>
              <a:cxnLst/>
              <a:rect l="l" t="t" r="r" b="b"/>
              <a:pathLst>
                <a:path w="2921635" h="2930525">
                  <a:moveTo>
                    <a:pt x="2921571" y="0"/>
                  </a:moveTo>
                  <a:lnTo>
                    <a:pt x="0" y="293038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51440" y="2322934"/>
              <a:ext cx="2921635" cy="2921635"/>
            </a:xfrm>
            <a:custGeom>
              <a:avLst/>
              <a:gdLst/>
              <a:ahLst/>
              <a:cxnLst/>
              <a:rect l="l" t="t" r="r" b="b"/>
              <a:pathLst>
                <a:path w="2921634" h="2921635">
                  <a:moveTo>
                    <a:pt x="0" y="0"/>
                  </a:moveTo>
                  <a:lnTo>
                    <a:pt x="2921584" y="292159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16381" y="5249015"/>
              <a:ext cx="5861685" cy="0"/>
            </a:xfrm>
            <a:custGeom>
              <a:avLst/>
              <a:gdLst/>
              <a:ahLst/>
              <a:cxnLst/>
              <a:rect l="l" t="t" r="r" b="b"/>
              <a:pathLst>
                <a:path w="5861684">
                  <a:moveTo>
                    <a:pt x="586113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55340" y="1875204"/>
            <a:ext cx="20307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Economic</a:t>
            </a:r>
            <a:r>
              <a:rPr sz="2200" spc="-130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Theory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400" y="5288964"/>
            <a:ext cx="10344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08D00"/>
                </a:solidFill>
                <a:latin typeface="Times New Roman"/>
                <a:cs typeface="Times New Roman"/>
              </a:rPr>
              <a:t>Statistics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22440" y="5234354"/>
            <a:ext cx="1561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40AD49"/>
                </a:solidFill>
                <a:latin typeface="Times New Roman"/>
                <a:cs typeface="Times New Roman"/>
              </a:rPr>
              <a:t>Programming  Skills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12811" y="2643950"/>
            <a:ext cx="4711700" cy="2364740"/>
            <a:chOff x="2112811" y="2643950"/>
            <a:chExt cx="4711700" cy="2364740"/>
          </a:xfrm>
        </p:grpSpPr>
        <p:sp>
          <p:nvSpPr>
            <p:cNvPr id="11" name="object 11"/>
            <p:cNvSpPr/>
            <p:nvPr/>
          </p:nvSpPr>
          <p:spPr>
            <a:xfrm>
              <a:off x="2119161" y="2650300"/>
              <a:ext cx="2345055" cy="2352040"/>
            </a:xfrm>
            <a:custGeom>
              <a:avLst/>
              <a:gdLst/>
              <a:ahLst/>
              <a:cxnLst/>
              <a:rect l="l" t="t" r="r" b="b"/>
              <a:pathLst>
                <a:path w="2345054" h="2352040">
                  <a:moveTo>
                    <a:pt x="2344762" y="0"/>
                  </a:moveTo>
                  <a:lnTo>
                    <a:pt x="0" y="235183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72912" y="2650305"/>
              <a:ext cx="2345055" cy="2345055"/>
            </a:xfrm>
            <a:custGeom>
              <a:avLst/>
              <a:gdLst/>
              <a:ahLst/>
              <a:cxnLst/>
              <a:rect l="l" t="t" r="r" b="b"/>
              <a:pathLst>
                <a:path w="2345054" h="2345054">
                  <a:moveTo>
                    <a:pt x="0" y="0"/>
                  </a:moveTo>
                  <a:lnTo>
                    <a:pt x="2344775" y="234477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14666" y="4998321"/>
              <a:ext cx="4707890" cy="0"/>
            </a:xfrm>
            <a:custGeom>
              <a:avLst/>
              <a:gdLst/>
              <a:ahLst/>
              <a:cxnLst/>
              <a:rect l="l" t="t" r="r" b="b"/>
              <a:pathLst>
                <a:path w="4707890">
                  <a:moveTo>
                    <a:pt x="470750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15865" y="3011844"/>
              <a:ext cx="1734185" cy="1739900"/>
            </a:xfrm>
            <a:custGeom>
              <a:avLst/>
              <a:gdLst/>
              <a:ahLst/>
              <a:cxnLst/>
              <a:rect l="l" t="t" r="r" b="b"/>
              <a:pathLst>
                <a:path w="1734185" h="1739900">
                  <a:moveTo>
                    <a:pt x="1734121" y="0"/>
                  </a:moveTo>
                  <a:lnTo>
                    <a:pt x="0" y="173946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8973" y="3011850"/>
              <a:ext cx="1734185" cy="1734820"/>
            </a:xfrm>
            <a:custGeom>
              <a:avLst/>
              <a:gdLst/>
              <a:ahLst/>
              <a:cxnLst/>
              <a:rect l="l" t="t" r="r" b="b"/>
              <a:pathLst>
                <a:path w="1734185" h="1734820">
                  <a:moveTo>
                    <a:pt x="0" y="0"/>
                  </a:moveTo>
                  <a:lnTo>
                    <a:pt x="1734134" y="1734223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11373" y="4747995"/>
              <a:ext cx="3486785" cy="0"/>
            </a:xfrm>
            <a:custGeom>
              <a:avLst/>
              <a:gdLst/>
              <a:ahLst/>
              <a:cxnLst/>
              <a:rect l="l" t="t" r="r" b="b"/>
              <a:pathLst>
                <a:path w="3486785">
                  <a:moveTo>
                    <a:pt x="3486226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11912" y="3367444"/>
              <a:ext cx="1143635" cy="1146810"/>
            </a:xfrm>
            <a:custGeom>
              <a:avLst/>
              <a:gdLst/>
              <a:ahLst/>
              <a:cxnLst/>
              <a:rect l="l" t="t" r="r" b="b"/>
              <a:pathLst>
                <a:path w="1143635" h="1146810">
                  <a:moveTo>
                    <a:pt x="1143241" y="0"/>
                  </a:moveTo>
                  <a:lnTo>
                    <a:pt x="0" y="1146784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64140" y="3367450"/>
              <a:ext cx="1143635" cy="1143635"/>
            </a:xfrm>
            <a:custGeom>
              <a:avLst/>
              <a:gdLst/>
              <a:ahLst/>
              <a:cxnLst/>
              <a:rect l="l" t="t" r="r" b="b"/>
              <a:pathLst>
                <a:path w="1143635" h="1143635">
                  <a:moveTo>
                    <a:pt x="0" y="0"/>
                  </a:moveTo>
                  <a:lnTo>
                    <a:pt x="1143254" y="1143317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07419" y="4511405"/>
              <a:ext cx="2305050" cy="0"/>
            </a:xfrm>
            <a:custGeom>
              <a:avLst/>
              <a:gdLst/>
              <a:ahLst/>
              <a:cxnLst/>
              <a:rect l="l" t="t" r="r" b="b"/>
              <a:pathLst>
                <a:path w="2305050">
                  <a:moveTo>
                    <a:pt x="230446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42819" y="3661932"/>
              <a:ext cx="597535" cy="640715"/>
            </a:xfrm>
            <a:custGeom>
              <a:avLst/>
              <a:gdLst/>
              <a:ahLst/>
              <a:cxnLst/>
              <a:rect l="l" t="t" r="r" b="b"/>
              <a:pathLst>
                <a:path w="597535" h="640714">
                  <a:moveTo>
                    <a:pt x="597509" y="0"/>
                  </a:moveTo>
                  <a:lnTo>
                    <a:pt x="0" y="64030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49607" y="3661938"/>
              <a:ext cx="597535" cy="638810"/>
            </a:xfrm>
            <a:custGeom>
              <a:avLst/>
              <a:gdLst/>
              <a:ahLst/>
              <a:cxnLst/>
              <a:rect l="l" t="t" r="r" b="b"/>
              <a:pathLst>
                <a:path w="597535" h="638810">
                  <a:moveTo>
                    <a:pt x="0" y="0"/>
                  </a:moveTo>
                  <a:lnTo>
                    <a:pt x="597522" y="638352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8168" y="4299690"/>
              <a:ext cx="1214120" cy="0"/>
            </a:xfrm>
            <a:custGeom>
              <a:avLst/>
              <a:gdLst/>
              <a:ahLst/>
              <a:cxnLst/>
              <a:rect l="l" t="t" r="r" b="b"/>
              <a:pathLst>
                <a:path w="1214120">
                  <a:moveTo>
                    <a:pt x="121359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10031" y="2316577"/>
            <a:ext cx="5874385" cy="2943225"/>
            <a:chOff x="1510031" y="2316577"/>
            <a:chExt cx="5874385" cy="2943225"/>
          </a:xfrm>
        </p:grpSpPr>
        <p:sp>
          <p:nvSpPr>
            <p:cNvPr id="4" name="object 4"/>
            <p:cNvSpPr/>
            <p:nvPr/>
          </p:nvSpPr>
          <p:spPr>
            <a:xfrm>
              <a:off x="1520882" y="2322927"/>
              <a:ext cx="2921635" cy="2930525"/>
            </a:xfrm>
            <a:custGeom>
              <a:avLst/>
              <a:gdLst/>
              <a:ahLst/>
              <a:cxnLst/>
              <a:rect l="l" t="t" r="r" b="b"/>
              <a:pathLst>
                <a:path w="2921635" h="2930525">
                  <a:moveTo>
                    <a:pt x="2921571" y="0"/>
                  </a:moveTo>
                  <a:lnTo>
                    <a:pt x="0" y="293038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51440" y="2322934"/>
              <a:ext cx="2921635" cy="2921635"/>
            </a:xfrm>
            <a:custGeom>
              <a:avLst/>
              <a:gdLst/>
              <a:ahLst/>
              <a:cxnLst/>
              <a:rect l="l" t="t" r="r" b="b"/>
              <a:pathLst>
                <a:path w="2921634" h="2921635">
                  <a:moveTo>
                    <a:pt x="0" y="0"/>
                  </a:moveTo>
                  <a:lnTo>
                    <a:pt x="2921584" y="292159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16381" y="5249015"/>
              <a:ext cx="5861685" cy="0"/>
            </a:xfrm>
            <a:custGeom>
              <a:avLst/>
              <a:gdLst/>
              <a:ahLst/>
              <a:cxnLst/>
              <a:rect l="l" t="t" r="r" b="b"/>
              <a:pathLst>
                <a:path w="5861684">
                  <a:moveTo>
                    <a:pt x="586113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55340" y="1875204"/>
            <a:ext cx="20307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Economic</a:t>
            </a:r>
            <a:r>
              <a:rPr sz="2200" spc="-130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Theory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400" y="5288964"/>
            <a:ext cx="10344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08D00"/>
                </a:solidFill>
                <a:latin typeface="Times New Roman"/>
                <a:cs typeface="Times New Roman"/>
              </a:rPr>
              <a:t>Statistics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22440" y="5234354"/>
            <a:ext cx="1561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40AD49"/>
                </a:solidFill>
                <a:latin typeface="Times New Roman"/>
                <a:cs typeface="Times New Roman"/>
              </a:rPr>
              <a:t>Programming  Skills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12811" y="2293044"/>
            <a:ext cx="4711700" cy="2715895"/>
            <a:chOff x="2112811" y="2293044"/>
            <a:chExt cx="4711700" cy="2715895"/>
          </a:xfrm>
        </p:grpSpPr>
        <p:sp>
          <p:nvSpPr>
            <p:cNvPr id="11" name="object 11"/>
            <p:cNvSpPr/>
            <p:nvPr/>
          </p:nvSpPr>
          <p:spPr>
            <a:xfrm>
              <a:off x="2119161" y="2650300"/>
              <a:ext cx="2345055" cy="2352040"/>
            </a:xfrm>
            <a:custGeom>
              <a:avLst/>
              <a:gdLst/>
              <a:ahLst/>
              <a:cxnLst/>
              <a:rect l="l" t="t" r="r" b="b"/>
              <a:pathLst>
                <a:path w="2345054" h="2352040">
                  <a:moveTo>
                    <a:pt x="2344762" y="0"/>
                  </a:moveTo>
                  <a:lnTo>
                    <a:pt x="0" y="235183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72912" y="2650305"/>
              <a:ext cx="2345055" cy="2345055"/>
            </a:xfrm>
            <a:custGeom>
              <a:avLst/>
              <a:gdLst/>
              <a:ahLst/>
              <a:cxnLst/>
              <a:rect l="l" t="t" r="r" b="b"/>
              <a:pathLst>
                <a:path w="2345054" h="2345054">
                  <a:moveTo>
                    <a:pt x="0" y="0"/>
                  </a:moveTo>
                  <a:lnTo>
                    <a:pt x="2344775" y="234477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14666" y="4998321"/>
              <a:ext cx="4707890" cy="0"/>
            </a:xfrm>
            <a:custGeom>
              <a:avLst/>
              <a:gdLst/>
              <a:ahLst/>
              <a:cxnLst/>
              <a:rect l="l" t="t" r="r" b="b"/>
              <a:pathLst>
                <a:path w="4707890">
                  <a:moveTo>
                    <a:pt x="470750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15865" y="3011844"/>
              <a:ext cx="1734185" cy="1739900"/>
            </a:xfrm>
            <a:custGeom>
              <a:avLst/>
              <a:gdLst/>
              <a:ahLst/>
              <a:cxnLst/>
              <a:rect l="l" t="t" r="r" b="b"/>
              <a:pathLst>
                <a:path w="1734185" h="1739900">
                  <a:moveTo>
                    <a:pt x="1734121" y="0"/>
                  </a:moveTo>
                  <a:lnTo>
                    <a:pt x="0" y="173946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8973" y="3011850"/>
              <a:ext cx="1734185" cy="1734820"/>
            </a:xfrm>
            <a:custGeom>
              <a:avLst/>
              <a:gdLst/>
              <a:ahLst/>
              <a:cxnLst/>
              <a:rect l="l" t="t" r="r" b="b"/>
              <a:pathLst>
                <a:path w="1734185" h="1734820">
                  <a:moveTo>
                    <a:pt x="0" y="0"/>
                  </a:moveTo>
                  <a:lnTo>
                    <a:pt x="1734134" y="1734223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11373" y="4747995"/>
              <a:ext cx="3486785" cy="0"/>
            </a:xfrm>
            <a:custGeom>
              <a:avLst/>
              <a:gdLst/>
              <a:ahLst/>
              <a:cxnLst/>
              <a:rect l="l" t="t" r="r" b="b"/>
              <a:pathLst>
                <a:path w="3486785">
                  <a:moveTo>
                    <a:pt x="3486226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11912" y="3367444"/>
              <a:ext cx="1143635" cy="1146810"/>
            </a:xfrm>
            <a:custGeom>
              <a:avLst/>
              <a:gdLst/>
              <a:ahLst/>
              <a:cxnLst/>
              <a:rect l="l" t="t" r="r" b="b"/>
              <a:pathLst>
                <a:path w="1143635" h="1146810">
                  <a:moveTo>
                    <a:pt x="1143241" y="0"/>
                  </a:moveTo>
                  <a:lnTo>
                    <a:pt x="0" y="1146784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64140" y="3367450"/>
              <a:ext cx="1143635" cy="1143635"/>
            </a:xfrm>
            <a:custGeom>
              <a:avLst/>
              <a:gdLst/>
              <a:ahLst/>
              <a:cxnLst/>
              <a:rect l="l" t="t" r="r" b="b"/>
              <a:pathLst>
                <a:path w="1143635" h="1143635">
                  <a:moveTo>
                    <a:pt x="0" y="0"/>
                  </a:moveTo>
                  <a:lnTo>
                    <a:pt x="1143254" y="1143317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07419" y="4511405"/>
              <a:ext cx="2305050" cy="0"/>
            </a:xfrm>
            <a:custGeom>
              <a:avLst/>
              <a:gdLst/>
              <a:ahLst/>
              <a:cxnLst/>
              <a:rect l="l" t="t" r="r" b="b"/>
              <a:pathLst>
                <a:path w="2305050">
                  <a:moveTo>
                    <a:pt x="230446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42819" y="3661932"/>
              <a:ext cx="597535" cy="640715"/>
            </a:xfrm>
            <a:custGeom>
              <a:avLst/>
              <a:gdLst/>
              <a:ahLst/>
              <a:cxnLst/>
              <a:rect l="l" t="t" r="r" b="b"/>
              <a:pathLst>
                <a:path w="597535" h="640714">
                  <a:moveTo>
                    <a:pt x="597509" y="0"/>
                  </a:moveTo>
                  <a:lnTo>
                    <a:pt x="0" y="64030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49607" y="3661938"/>
              <a:ext cx="597535" cy="638810"/>
            </a:xfrm>
            <a:custGeom>
              <a:avLst/>
              <a:gdLst/>
              <a:ahLst/>
              <a:cxnLst/>
              <a:rect l="l" t="t" r="r" b="b"/>
              <a:pathLst>
                <a:path w="597535" h="638810">
                  <a:moveTo>
                    <a:pt x="0" y="0"/>
                  </a:moveTo>
                  <a:lnTo>
                    <a:pt x="597522" y="638352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8168" y="4299690"/>
              <a:ext cx="1214120" cy="0"/>
            </a:xfrm>
            <a:custGeom>
              <a:avLst/>
              <a:gdLst/>
              <a:ahLst/>
              <a:cxnLst/>
              <a:rect l="l" t="t" r="r" b="b"/>
              <a:pathLst>
                <a:path w="1214120">
                  <a:moveTo>
                    <a:pt x="121359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11371" y="2318444"/>
              <a:ext cx="2540635" cy="2437765"/>
            </a:xfrm>
            <a:custGeom>
              <a:avLst/>
              <a:gdLst/>
              <a:ahLst/>
              <a:cxnLst/>
              <a:rect l="l" t="t" r="r" b="b"/>
              <a:pathLst>
                <a:path w="2540635" h="2437765">
                  <a:moveTo>
                    <a:pt x="1743113" y="0"/>
                  </a:moveTo>
                  <a:lnTo>
                    <a:pt x="0" y="2437345"/>
                  </a:lnTo>
                  <a:lnTo>
                    <a:pt x="2540063" y="1872551"/>
                  </a:lnTo>
                  <a:lnTo>
                    <a:pt x="1743113" y="0"/>
                  </a:lnTo>
                  <a:close/>
                </a:path>
              </a:pathLst>
            </a:custGeom>
            <a:ln w="50800">
              <a:solidFill>
                <a:srgbClr val="3369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838960" y="3050649"/>
            <a:ext cx="12211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Economist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DC0FB6B8-0C89-61C9-4DD6-31EED1D39A1C}"/>
              </a:ext>
            </a:extLst>
          </p:cNvPr>
          <p:cNvSpPr txBox="1">
            <a:spLocks/>
          </p:cNvSpPr>
          <p:nvPr/>
        </p:nvSpPr>
        <p:spPr>
          <a:xfrm>
            <a:off x="972819" y="933624"/>
            <a:ext cx="675703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Where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future</a:t>
            </a:r>
            <a:r>
              <a:rPr lang="en-US" sz="3200" kern="0" spc="6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3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career?</a:t>
            </a:r>
            <a:endParaRPr lang="en-US" sz="3200" kern="0" spc="35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10031" y="2316577"/>
            <a:ext cx="5874385" cy="2943225"/>
            <a:chOff x="1510031" y="2316577"/>
            <a:chExt cx="5874385" cy="2943225"/>
          </a:xfrm>
        </p:grpSpPr>
        <p:sp>
          <p:nvSpPr>
            <p:cNvPr id="4" name="object 4"/>
            <p:cNvSpPr/>
            <p:nvPr/>
          </p:nvSpPr>
          <p:spPr>
            <a:xfrm>
              <a:off x="1520882" y="2322927"/>
              <a:ext cx="2921635" cy="2930525"/>
            </a:xfrm>
            <a:custGeom>
              <a:avLst/>
              <a:gdLst/>
              <a:ahLst/>
              <a:cxnLst/>
              <a:rect l="l" t="t" r="r" b="b"/>
              <a:pathLst>
                <a:path w="2921635" h="2930525">
                  <a:moveTo>
                    <a:pt x="2921571" y="0"/>
                  </a:moveTo>
                  <a:lnTo>
                    <a:pt x="0" y="293038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51440" y="2322934"/>
              <a:ext cx="2921635" cy="2921635"/>
            </a:xfrm>
            <a:custGeom>
              <a:avLst/>
              <a:gdLst/>
              <a:ahLst/>
              <a:cxnLst/>
              <a:rect l="l" t="t" r="r" b="b"/>
              <a:pathLst>
                <a:path w="2921634" h="2921635">
                  <a:moveTo>
                    <a:pt x="0" y="0"/>
                  </a:moveTo>
                  <a:lnTo>
                    <a:pt x="2921584" y="292159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16381" y="5249015"/>
              <a:ext cx="5861685" cy="0"/>
            </a:xfrm>
            <a:custGeom>
              <a:avLst/>
              <a:gdLst/>
              <a:ahLst/>
              <a:cxnLst/>
              <a:rect l="l" t="t" r="r" b="b"/>
              <a:pathLst>
                <a:path w="5861684">
                  <a:moveTo>
                    <a:pt x="586113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55340" y="1875204"/>
            <a:ext cx="20307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Economic</a:t>
            </a:r>
            <a:r>
              <a:rPr sz="2200" spc="-130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Theory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400" y="5288964"/>
            <a:ext cx="10344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08D00"/>
                </a:solidFill>
                <a:latin typeface="Times New Roman"/>
                <a:cs typeface="Times New Roman"/>
              </a:rPr>
              <a:t>Statistics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22440" y="5234354"/>
            <a:ext cx="1561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40AD49"/>
                </a:solidFill>
                <a:latin typeface="Times New Roman"/>
                <a:cs typeface="Times New Roman"/>
              </a:rPr>
              <a:t>Programming  Skill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53539" y="2643950"/>
            <a:ext cx="5170805" cy="2598420"/>
            <a:chOff x="1653539" y="2643950"/>
            <a:chExt cx="5170805" cy="2598420"/>
          </a:xfrm>
        </p:grpSpPr>
        <p:sp>
          <p:nvSpPr>
            <p:cNvPr id="11" name="object 11"/>
            <p:cNvSpPr/>
            <p:nvPr/>
          </p:nvSpPr>
          <p:spPr>
            <a:xfrm>
              <a:off x="2119161" y="2650300"/>
              <a:ext cx="2345055" cy="2352040"/>
            </a:xfrm>
            <a:custGeom>
              <a:avLst/>
              <a:gdLst/>
              <a:ahLst/>
              <a:cxnLst/>
              <a:rect l="l" t="t" r="r" b="b"/>
              <a:pathLst>
                <a:path w="2345054" h="2352040">
                  <a:moveTo>
                    <a:pt x="2344762" y="0"/>
                  </a:moveTo>
                  <a:lnTo>
                    <a:pt x="0" y="235183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72912" y="2650305"/>
              <a:ext cx="2345055" cy="2345055"/>
            </a:xfrm>
            <a:custGeom>
              <a:avLst/>
              <a:gdLst/>
              <a:ahLst/>
              <a:cxnLst/>
              <a:rect l="l" t="t" r="r" b="b"/>
              <a:pathLst>
                <a:path w="2345054" h="2345054">
                  <a:moveTo>
                    <a:pt x="0" y="0"/>
                  </a:moveTo>
                  <a:lnTo>
                    <a:pt x="2344775" y="234477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14666" y="4998321"/>
              <a:ext cx="4707890" cy="0"/>
            </a:xfrm>
            <a:custGeom>
              <a:avLst/>
              <a:gdLst/>
              <a:ahLst/>
              <a:cxnLst/>
              <a:rect l="l" t="t" r="r" b="b"/>
              <a:pathLst>
                <a:path w="4707890">
                  <a:moveTo>
                    <a:pt x="470750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15865" y="3011844"/>
              <a:ext cx="1734185" cy="1739900"/>
            </a:xfrm>
            <a:custGeom>
              <a:avLst/>
              <a:gdLst/>
              <a:ahLst/>
              <a:cxnLst/>
              <a:rect l="l" t="t" r="r" b="b"/>
              <a:pathLst>
                <a:path w="1734185" h="1739900">
                  <a:moveTo>
                    <a:pt x="1734121" y="0"/>
                  </a:moveTo>
                  <a:lnTo>
                    <a:pt x="0" y="173946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8973" y="3011850"/>
              <a:ext cx="1734185" cy="1734820"/>
            </a:xfrm>
            <a:custGeom>
              <a:avLst/>
              <a:gdLst/>
              <a:ahLst/>
              <a:cxnLst/>
              <a:rect l="l" t="t" r="r" b="b"/>
              <a:pathLst>
                <a:path w="1734185" h="1734820">
                  <a:moveTo>
                    <a:pt x="0" y="0"/>
                  </a:moveTo>
                  <a:lnTo>
                    <a:pt x="1734134" y="1734223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11373" y="4747995"/>
              <a:ext cx="3486785" cy="0"/>
            </a:xfrm>
            <a:custGeom>
              <a:avLst/>
              <a:gdLst/>
              <a:ahLst/>
              <a:cxnLst/>
              <a:rect l="l" t="t" r="r" b="b"/>
              <a:pathLst>
                <a:path w="3486785">
                  <a:moveTo>
                    <a:pt x="3486226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11912" y="3367444"/>
              <a:ext cx="1143635" cy="1146810"/>
            </a:xfrm>
            <a:custGeom>
              <a:avLst/>
              <a:gdLst/>
              <a:ahLst/>
              <a:cxnLst/>
              <a:rect l="l" t="t" r="r" b="b"/>
              <a:pathLst>
                <a:path w="1143635" h="1146810">
                  <a:moveTo>
                    <a:pt x="1143241" y="0"/>
                  </a:moveTo>
                  <a:lnTo>
                    <a:pt x="0" y="1146784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64140" y="3367450"/>
              <a:ext cx="1143635" cy="1143635"/>
            </a:xfrm>
            <a:custGeom>
              <a:avLst/>
              <a:gdLst/>
              <a:ahLst/>
              <a:cxnLst/>
              <a:rect l="l" t="t" r="r" b="b"/>
              <a:pathLst>
                <a:path w="1143635" h="1143635">
                  <a:moveTo>
                    <a:pt x="0" y="0"/>
                  </a:moveTo>
                  <a:lnTo>
                    <a:pt x="1143254" y="1143317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07419" y="4511405"/>
              <a:ext cx="2305050" cy="0"/>
            </a:xfrm>
            <a:custGeom>
              <a:avLst/>
              <a:gdLst/>
              <a:ahLst/>
              <a:cxnLst/>
              <a:rect l="l" t="t" r="r" b="b"/>
              <a:pathLst>
                <a:path w="2305050">
                  <a:moveTo>
                    <a:pt x="230446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42819" y="3661932"/>
              <a:ext cx="597535" cy="640715"/>
            </a:xfrm>
            <a:custGeom>
              <a:avLst/>
              <a:gdLst/>
              <a:ahLst/>
              <a:cxnLst/>
              <a:rect l="l" t="t" r="r" b="b"/>
              <a:pathLst>
                <a:path w="597535" h="640714">
                  <a:moveTo>
                    <a:pt x="597509" y="0"/>
                  </a:moveTo>
                  <a:lnTo>
                    <a:pt x="0" y="64030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49607" y="3661938"/>
              <a:ext cx="597535" cy="638810"/>
            </a:xfrm>
            <a:custGeom>
              <a:avLst/>
              <a:gdLst/>
              <a:ahLst/>
              <a:cxnLst/>
              <a:rect l="l" t="t" r="r" b="b"/>
              <a:pathLst>
                <a:path w="597535" h="638810">
                  <a:moveTo>
                    <a:pt x="0" y="0"/>
                  </a:moveTo>
                  <a:lnTo>
                    <a:pt x="597522" y="638352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8168" y="4299690"/>
              <a:ext cx="1214120" cy="0"/>
            </a:xfrm>
            <a:custGeom>
              <a:avLst/>
              <a:gdLst/>
              <a:ahLst/>
              <a:cxnLst/>
              <a:rect l="l" t="t" r="r" b="b"/>
              <a:pathLst>
                <a:path w="1214120">
                  <a:moveTo>
                    <a:pt x="121359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91639" y="3362965"/>
              <a:ext cx="4389120" cy="1841500"/>
            </a:xfrm>
            <a:custGeom>
              <a:avLst/>
              <a:gdLst/>
              <a:ahLst/>
              <a:cxnLst/>
              <a:rect l="l" t="t" r="r" b="b"/>
              <a:pathLst>
                <a:path w="4389120" h="1841500">
                  <a:moveTo>
                    <a:pt x="0" y="1841068"/>
                  </a:moveTo>
                  <a:lnTo>
                    <a:pt x="4389120" y="1155738"/>
                  </a:lnTo>
                  <a:lnTo>
                    <a:pt x="2762846" y="0"/>
                  </a:lnTo>
                  <a:lnTo>
                    <a:pt x="0" y="1841068"/>
                  </a:lnTo>
                  <a:close/>
                </a:path>
              </a:pathLst>
            </a:custGeom>
            <a:ln w="76200">
              <a:solidFill>
                <a:srgbClr val="F08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47419" y="3702470"/>
            <a:ext cx="15843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08D00"/>
                </a:solidFill>
                <a:latin typeface="Times New Roman"/>
                <a:cs typeface="Times New Roman"/>
              </a:rPr>
              <a:t>Data</a:t>
            </a:r>
            <a:r>
              <a:rPr sz="2200" spc="-8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08D00"/>
                </a:solidFill>
                <a:latin typeface="Times New Roman"/>
                <a:cs typeface="Times New Roman"/>
              </a:rPr>
              <a:t>Scientist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BE236196-ACF0-D5B8-FE92-9C8C5EA104B2}"/>
              </a:ext>
            </a:extLst>
          </p:cNvPr>
          <p:cNvSpPr txBox="1">
            <a:spLocks/>
          </p:cNvSpPr>
          <p:nvPr/>
        </p:nvSpPr>
        <p:spPr>
          <a:xfrm>
            <a:off x="972819" y="933624"/>
            <a:ext cx="675703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Where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future</a:t>
            </a:r>
            <a:r>
              <a:rPr lang="en-US" sz="3200" kern="0" spc="6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3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career?</a:t>
            </a:r>
            <a:endParaRPr lang="en-US" sz="3200" kern="0" spc="35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10031" y="2316577"/>
            <a:ext cx="5874385" cy="2943225"/>
            <a:chOff x="1510031" y="2316577"/>
            <a:chExt cx="5874385" cy="2943225"/>
          </a:xfrm>
        </p:grpSpPr>
        <p:sp>
          <p:nvSpPr>
            <p:cNvPr id="4" name="object 4"/>
            <p:cNvSpPr/>
            <p:nvPr/>
          </p:nvSpPr>
          <p:spPr>
            <a:xfrm>
              <a:off x="1520882" y="2322927"/>
              <a:ext cx="2921635" cy="2930525"/>
            </a:xfrm>
            <a:custGeom>
              <a:avLst/>
              <a:gdLst/>
              <a:ahLst/>
              <a:cxnLst/>
              <a:rect l="l" t="t" r="r" b="b"/>
              <a:pathLst>
                <a:path w="2921635" h="2930525">
                  <a:moveTo>
                    <a:pt x="2921571" y="0"/>
                  </a:moveTo>
                  <a:lnTo>
                    <a:pt x="0" y="293038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51440" y="2322934"/>
              <a:ext cx="2921635" cy="2921635"/>
            </a:xfrm>
            <a:custGeom>
              <a:avLst/>
              <a:gdLst/>
              <a:ahLst/>
              <a:cxnLst/>
              <a:rect l="l" t="t" r="r" b="b"/>
              <a:pathLst>
                <a:path w="2921634" h="2921635">
                  <a:moveTo>
                    <a:pt x="0" y="0"/>
                  </a:moveTo>
                  <a:lnTo>
                    <a:pt x="2921584" y="292159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16381" y="5249015"/>
              <a:ext cx="5861685" cy="0"/>
            </a:xfrm>
            <a:custGeom>
              <a:avLst/>
              <a:gdLst/>
              <a:ahLst/>
              <a:cxnLst/>
              <a:rect l="l" t="t" r="r" b="b"/>
              <a:pathLst>
                <a:path w="5861684">
                  <a:moveTo>
                    <a:pt x="586113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55340" y="1875204"/>
            <a:ext cx="20307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Economic</a:t>
            </a:r>
            <a:r>
              <a:rPr sz="2200" spc="-130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Theory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400" y="5288964"/>
            <a:ext cx="10344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08D00"/>
                </a:solidFill>
                <a:latin typeface="Times New Roman"/>
                <a:cs typeface="Times New Roman"/>
              </a:rPr>
              <a:t>Statistics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22440" y="5234354"/>
            <a:ext cx="1561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40AD49"/>
                </a:solidFill>
                <a:latin typeface="Times New Roman"/>
                <a:cs typeface="Times New Roman"/>
              </a:rPr>
              <a:t>Programming  Skills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12811" y="2643950"/>
            <a:ext cx="5042535" cy="2530475"/>
            <a:chOff x="2112811" y="2643950"/>
            <a:chExt cx="5042535" cy="2530475"/>
          </a:xfrm>
        </p:grpSpPr>
        <p:sp>
          <p:nvSpPr>
            <p:cNvPr id="11" name="object 11"/>
            <p:cNvSpPr/>
            <p:nvPr/>
          </p:nvSpPr>
          <p:spPr>
            <a:xfrm>
              <a:off x="2119161" y="2650300"/>
              <a:ext cx="2345055" cy="2352040"/>
            </a:xfrm>
            <a:custGeom>
              <a:avLst/>
              <a:gdLst/>
              <a:ahLst/>
              <a:cxnLst/>
              <a:rect l="l" t="t" r="r" b="b"/>
              <a:pathLst>
                <a:path w="2345054" h="2352040">
                  <a:moveTo>
                    <a:pt x="2344762" y="0"/>
                  </a:moveTo>
                  <a:lnTo>
                    <a:pt x="0" y="235183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72912" y="2650305"/>
              <a:ext cx="2345055" cy="2345055"/>
            </a:xfrm>
            <a:custGeom>
              <a:avLst/>
              <a:gdLst/>
              <a:ahLst/>
              <a:cxnLst/>
              <a:rect l="l" t="t" r="r" b="b"/>
              <a:pathLst>
                <a:path w="2345054" h="2345054">
                  <a:moveTo>
                    <a:pt x="0" y="0"/>
                  </a:moveTo>
                  <a:lnTo>
                    <a:pt x="2344775" y="234477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14666" y="4998321"/>
              <a:ext cx="4707890" cy="0"/>
            </a:xfrm>
            <a:custGeom>
              <a:avLst/>
              <a:gdLst/>
              <a:ahLst/>
              <a:cxnLst/>
              <a:rect l="l" t="t" r="r" b="b"/>
              <a:pathLst>
                <a:path w="4707890">
                  <a:moveTo>
                    <a:pt x="470750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15865" y="3011844"/>
              <a:ext cx="1734185" cy="1739900"/>
            </a:xfrm>
            <a:custGeom>
              <a:avLst/>
              <a:gdLst/>
              <a:ahLst/>
              <a:cxnLst/>
              <a:rect l="l" t="t" r="r" b="b"/>
              <a:pathLst>
                <a:path w="1734185" h="1739900">
                  <a:moveTo>
                    <a:pt x="1734121" y="0"/>
                  </a:moveTo>
                  <a:lnTo>
                    <a:pt x="0" y="173946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8973" y="3011850"/>
              <a:ext cx="1734185" cy="1734820"/>
            </a:xfrm>
            <a:custGeom>
              <a:avLst/>
              <a:gdLst/>
              <a:ahLst/>
              <a:cxnLst/>
              <a:rect l="l" t="t" r="r" b="b"/>
              <a:pathLst>
                <a:path w="1734185" h="1734820">
                  <a:moveTo>
                    <a:pt x="0" y="0"/>
                  </a:moveTo>
                  <a:lnTo>
                    <a:pt x="1734134" y="1734223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11373" y="4747995"/>
              <a:ext cx="3486785" cy="0"/>
            </a:xfrm>
            <a:custGeom>
              <a:avLst/>
              <a:gdLst/>
              <a:ahLst/>
              <a:cxnLst/>
              <a:rect l="l" t="t" r="r" b="b"/>
              <a:pathLst>
                <a:path w="3486785">
                  <a:moveTo>
                    <a:pt x="3486226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11912" y="3367444"/>
              <a:ext cx="1143635" cy="1146810"/>
            </a:xfrm>
            <a:custGeom>
              <a:avLst/>
              <a:gdLst/>
              <a:ahLst/>
              <a:cxnLst/>
              <a:rect l="l" t="t" r="r" b="b"/>
              <a:pathLst>
                <a:path w="1143635" h="1146810">
                  <a:moveTo>
                    <a:pt x="1143241" y="0"/>
                  </a:moveTo>
                  <a:lnTo>
                    <a:pt x="0" y="1146784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64140" y="3367450"/>
              <a:ext cx="1143635" cy="1143635"/>
            </a:xfrm>
            <a:custGeom>
              <a:avLst/>
              <a:gdLst/>
              <a:ahLst/>
              <a:cxnLst/>
              <a:rect l="l" t="t" r="r" b="b"/>
              <a:pathLst>
                <a:path w="1143635" h="1143635">
                  <a:moveTo>
                    <a:pt x="0" y="0"/>
                  </a:moveTo>
                  <a:lnTo>
                    <a:pt x="1143254" y="1143317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07419" y="4511405"/>
              <a:ext cx="2305050" cy="0"/>
            </a:xfrm>
            <a:custGeom>
              <a:avLst/>
              <a:gdLst/>
              <a:ahLst/>
              <a:cxnLst/>
              <a:rect l="l" t="t" r="r" b="b"/>
              <a:pathLst>
                <a:path w="2305050">
                  <a:moveTo>
                    <a:pt x="230446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42819" y="3661932"/>
              <a:ext cx="597535" cy="640715"/>
            </a:xfrm>
            <a:custGeom>
              <a:avLst/>
              <a:gdLst/>
              <a:ahLst/>
              <a:cxnLst/>
              <a:rect l="l" t="t" r="r" b="b"/>
              <a:pathLst>
                <a:path w="597535" h="640714">
                  <a:moveTo>
                    <a:pt x="597509" y="0"/>
                  </a:moveTo>
                  <a:lnTo>
                    <a:pt x="0" y="64030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49607" y="3661938"/>
              <a:ext cx="597535" cy="638810"/>
            </a:xfrm>
            <a:custGeom>
              <a:avLst/>
              <a:gdLst/>
              <a:ahLst/>
              <a:cxnLst/>
              <a:rect l="l" t="t" r="r" b="b"/>
              <a:pathLst>
                <a:path w="597535" h="638810">
                  <a:moveTo>
                    <a:pt x="0" y="0"/>
                  </a:moveTo>
                  <a:lnTo>
                    <a:pt x="597522" y="638352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8168" y="4299690"/>
              <a:ext cx="1214120" cy="0"/>
            </a:xfrm>
            <a:custGeom>
              <a:avLst/>
              <a:gdLst/>
              <a:ahLst/>
              <a:cxnLst/>
              <a:rect l="l" t="t" r="r" b="b"/>
              <a:pathLst>
                <a:path w="1214120">
                  <a:moveTo>
                    <a:pt x="121359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11373" y="4114798"/>
              <a:ext cx="4406265" cy="1021080"/>
            </a:xfrm>
            <a:custGeom>
              <a:avLst/>
              <a:gdLst/>
              <a:ahLst/>
              <a:cxnLst/>
              <a:rect l="l" t="t" r="r" b="b"/>
              <a:pathLst>
                <a:path w="4406265" h="1021079">
                  <a:moveTo>
                    <a:pt x="4405706" y="1021079"/>
                  </a:moveTo>
                  <a:lnTo>
                    <a:pt x="2226386" y="0"/>
                  </a:lnTo>
                  <a:lnTo>
                    <a:pt x="0" y="701039"/>
                  </a:lnTo>
                  <a:lnTo>
                    <a:pt x="4405706" y="1021079"/>
                  </a:lnTo>
                  <a:close/>
                </a:path>
              </a:pathLst>
            </a:custGeom>
            <a:ln w="76200">
              <a:solidFill>
                <a:srgbClr val="40A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692355" y="3587004"/>
            <a:ext cx="11887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40AD49"/>
                </a:solidFill>
                <a:latin typeface="Times New Roman"/>
                <a:cs typeface="Times New Roman"/>
              </a:rPr>
              <a:t>Full stack </a:t>
            </a:r>
            <a:r>
              <a:rPr sz="2200" spc="-535" dirty="0">
                <a:solidFill>
                  <a:srgbClr val="40AD49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AD49"/>
                </a:solidFill>
                <a:latin typeface="Times New Roman"/>
                <a:cs typeface="Times New Roman"/>
              </a:rPr>
              <a:t>Developer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7D1337C6-41C3-180B-AB06-F966B43421A4}"/>
              </a:ext>
            </a:extLst>
          </p:cNvPr>
          <p:cNvSpPr txBox="1">
            <a:spLocks/>
          </p:cNvSpPr>
          <p:nvPr/>
        </p:nvSpPr>
        <p:spPr>
          <a:xfrm>
            <a:off x="972819" y="933624"/>
            <a:ext cx="675703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Where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future</a:t>
            </a:r>
            <a:r>
              <a:rPr lang="en-US" sz="3200" kern="0" spc="6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3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career?</a:t>
            </a:r>
            <a:endParaRPr lang="en-US" sz="3200" kern="0" spc="35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E8107-C7E3-C146-873D-3EC0E1466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9DC1146-8BFB-6A1F-EE40-BC9DCBA1EE01}"/>
              </a:ext>
            </a:extLst>
          </p:cNvPr>
          <p:cNvGrpSpPr/>
          <p:nvPr/>
        </p:nvGrpSpPr>
        <p:grpSpPr>
          <a:xfrm>
            <a:off x="1510031" y="2316577"/>
            <a:ext cx="5874385" cy="2943225"/>
            <a:chOff x="1510031" y="2316577"/>
            <a:chExt cx="5874385" cy="29432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1706962-76DE-B739-51C9-11FDB01E6713}"/>
                </a:ext>
              </a:extLst>
            </p:cNvPr>
            <p:cNvSpPr/>
            <p:nvPr/>
          </p:nvSpPr>
          <p:spPr>
            <a:xfrm>
              <a:off x="1520882" y="2322927"/>
              <a:ext cx="2921635" cy="2930525"/>
            </a:xfrm>
            <a:custGeom>
              <a:avLst/>
              <a:gdLst/>
              <a:ahLst/>
              <a:cxnLst/>
              <a:rect l="l" t="t" r="r" b="b"/>
              <a:pathLst>
                <a:path w="2921635" h="2930525">
                  <a:moveTo>
                    <a:pt x="2921571" y="0"/>
                  </a:moveTo>
                  <a:lnTo>
                    <a:pt x="0" y="293038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F79B9FB-5DCA-4612-6548-42385C54E2F9}"/>
                </a:ext>
              </a:extLst>
            </p:cNvPr>
            <p:cNvSpPr/>
            <p:nvPr/>
          </p:nvSpPr>
          <p:spPr>
            <a:xfrm>
              <a:off x="4451440" y="2322934"/>
              <a:ext cx="2921635" cy="2921635"/>
            </a:xfrm>
            <a:custGeom>
              <a:avLst/>
              <a:gdLst/>
              <a:ahLst/>
              <a:cxnLst/>
              <a:rect l="l" t="t" r="r" b="b"/>
              <a:pathLst>
                <a:path w="2921634" h="2921635">
                  <a:moveTo>
                    <a:pt x="0" y="0"/>
                  </a:moveTo>
                  <a:lnTo>
                    <a:pt x="2921584" y="292159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CB203FC-374B-1759-4349-3CDD05EE2A5E}"/>
                </a:ext>
              </a:extLst>
            </p:cNvPr>
            <p:cNvSpPr/>
            <p:nvPr/>
          </p:nvSpPr>
          <p:spPr>
            <a:xfrm>
              <a:off x="1516381" y="5249015"/>
              <a:ext cx="5861685" cy="0"/>
            </a:xfrm>
            <a:custGeom>
              <a:avLst/>
              <a:gdLst/>
              <a:ahLst/>
              <a:cxnLst/>
              <a:rect l="l" t="t" r="r" b="b"/>
              <a:pathLst>
                <a:path w="5861684">
                  <a:moveTo>
                    <a:pt x="586113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8769A9DF-DF7A-AE46-32D7-E8F4C5D2A352}"/>
              </a:ext>
            </a:extLst>
          </p:cNvPr>
          <p:cNvSpPr txBox="1"/>
          <p:nvPr/>
        </p:nvSpPr>
        <p:spPr>
          <a:xfrm>
            <a:off x="3355340" y="1875204"/>
            <a:ext cx="20307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Economic</a:t>
            </a:r>
            <a:r>
              <a:rPr sz="2200" spc="-130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Theory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602A5EC-2C9A-47BC-634C-41ECB2A05B26}"/>
              </a:ext>
            </a:extLst>
          </p:cNvPr>
          <p:cNvSpPr txBox="1"/>
          <p:nvPr/>
        </p:nvSpPr>
        <p:spPr>
          <a:xfrm>
            <a:off x="787400" y="5288964"/>
            <a:ext cx="10344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08D00"/>
                </a:solidFill>
                <a:latin typeface="Times New Roman"/>
                <a:cs typeface="Times New Roman"/>
              </a:rPr>
              <a:t>Statistics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ABB0418-6A05-33B9-232E-638AE3BFCA0A}"/>
              </a:ext>
            </a:extLst>
          </p:cNvPr>
          <p:cNvSpPr txBox="1"/>
          <p:nvPr/>
        </p:nvSpPr>
        <p:spPr>
          <a:xfrm>
            <a:off x="6822440" y="5234354"/>
            <a:ext cx="1561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40AD49"/>
                </a:solidFill>
                <a:latin typeface="Times New Roman"/>
                <a:cs typeface="Times New Roman"/>
              </a:rPr>
              <a:t>Programming  Skills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54C8D5B8-5306-52EA-3AC5-C1E6A2C9A7BF}"/>
              </a:ext>
            </a:extLst>
          </p:cNvPr>
          <p:cNvGrpSpPr/>
          <p:nvPr/>
        </p:nvGrpSpPr>
        <p:grpSpPr>
          <a:xfrm>
            <a:off x="2114666" y="2650300"/>
            <a:ext cx="4707890" cy="2352040"/>
            <a:chOff x="2114666" y="2650300"/>
            <a:chExt cx="4707890" cy="235204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51C844E-E9D0-0003-B74F-FD2CE54AB891}"/>
                </a:ext>
              </a:extLst>
            </p:cNvPr>
            <p:cNvSpPr/>
            <p:nvPr/>
          </p:nvSpPr>
          <p:spPr>
            <a:xfrm>
              <a:off x="2119161" y="2650300"/>
              <a:ext cx="2345055" cy="2352040"/>
            </a:xfrm>
            <a:custGeom>
              <a:avLst/>
              <a:gdLst/>
              <a:ahLst/>
              <a:cxnLst/>
              <a:rect l="l" t="t" r="r" b="b"/>
              <a:pathLst>
                <a:path w="2345054" h="2352040">
                  <a:moveTo>
                    <a:pt x="2344762" y="0"/>
                  </a:moveTo>
                  <a:lnTo>
                    <a:pt x="0" y="235183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FDBE0493-B2DC-112E-18BA-3F8C4FDBFCC4}"/>
                </a:ext>
              </a:extLst>
            </p:cNvPr>
            <p:cNvSpPr/>
            <p:nvPr/>
          </p:nvSpPr>
          <p:spPr>
            <a:xfrm>
              <a:off x="4472912" y="2650305"/>
              <a:ext cx="2345055" cy="2345055"/>
            </a:xfrm>
            <a:custGeom>
              <a:avLst/>
              <a:gdLst/>
              <a:ahLst/>
              <a:cxnLst/>
              <a:rect l="l" t="t" r="r" b="b"/>
              <a:pathLst>
                <a:path w="2345054" h="2345054">
                  <a:moveTo>
                    <a:pt x="0" y="0"/>
                  </a:moveTo>
                  <a:lnTo>
                    <a:pt x="2344775" y="234477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05FCD376-23B7-189E-BC26-3D51BAAF25EA}"/>
                </a:ext>
              </a:extLst>
            </p:cNvPr>
            <p:cNvSpPr/>
            <p:nvPr/>
          </p:nvSpPr>
          <p:spPr>
            <a:xfrm>
              <a:off x="2114666" y="4998321"/>
              <a:ext cx="4707890" cy="0"/>
            </a:xfrm>
            <a:custGeom>
              <a:avLst/>
              <a:gdLst/>
              <a:ahLst/>
              <a:cxnLst/>
              <a:rect l="l" t="t" r="r" b="b"/>
              <a:pathLst>
                <a:path w="4707890">
                  <a:moveTo>
                    <a:pt x="470750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3FD7A1E-F2E5-EBDB-D2FB-384D15709C39}"/>
                </a:ext>
              </a:extLst>
            </p:cNvPr>
            <p:cNvSpPr/>
            <p:nvPr/>
          </p:nvSpPr>
          <p:spPr>
            <a:xfrm>
              <a:off x="2715865" y="3011844"/>
              <a:ext cx="1734185" cy="1739900"/>
            </a:xfrm>
            <a:custGeom>
              <a:avLst/>
              <a:gdLst/>
              <a:ahLst/>
              <a:cxnLst/>
              <a:rect l="l" t="t" r="r" b="b"/>
              <a:pathLst>
                <a:path w="1734185" h="1739900">
                  <a:moveTo>
                    <a:pt x="1734121" y="0"/>
                  </a:moveTo>
                  <a:lnTo>
                    <a:pt x="0" y="173946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ED3B183F-9427-B4B4-28BE-9BA7511F2275}"/>
                </a:ext>
              </a:extLst>
            </p:cNvPr>
            <p:cNvSpPr/>
            <p:nvPr/>
          </p:nvSpPr>
          <p:spPr>
            <a:xfrm>
              <a:off x="4458973" y="3011850"/>
              <a:ext cx="1734185" cy="1734820"/>
            </a:xfrm>
            <a:custGeom>
              <a:avLst/>
              <a:gdLst/>
              <a:ahLst/>
              <a:cxnLst/>
              <a:rect l="l" t="t" r="r" b="b"/>
              <a:pathLst>
                <a:path w="1734185" h="1734820">
                  <a:moveTo>
                    <a:pt x="0" y="0"/>
                  </a:moveTo>
                  <a:lnTo>
                    <a:pt x="1734134" y="1734223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761F5ACF-16B9-7D01-F61B-9453546AE9FA}"/>
                </a:ext>
              </a:extLst>
            </p:cNvPr>
            <p:cNvSpPr/>
            <p:nvPr/>
          </p:nvSpPr>
          <p:spPr>
            <a:xfrm>
              <a:off x="2711373" y="4747995"/>
              <a:ext cx="3486785" cy="0"/>
            </a:xfrm>
            <a:custGeom>
              <a:avLst/>
              <a:gdLst/>
              <a:ahLst/>
              <a:cxnLst/>
              <a:rect l="l" t="t" r="r" b="b"/>
              <a:pathLst>
                <a:path w="3486785">
                  <a:moveTo>
                    <a:pt x="3486226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470E3198-3AF9-C4D9-3A51-6746C1B4C50F}"/>
                </a:ext>
              </a:extLst>
            </p:cNvPr>
            <p:cNvSpPr/>
            <p:nvPr/>
          </p:nvSpPr>
          <p:spPr>
            <a:xfrm>
              <a:off x="3311912" y="3367444"/>
              <a:ext cx="1143635" cy="1146810"/>
            </a:xfrm>
            <a:custGeom>
              <a:avLst/>
              <a:gdLst/>
              <a:ahLst/>
              <a:cxnLst/>
              <a:rect l="l" t="t" r="r" b="b"/>
              <a:pathLst>
                <a:path w="1143635" h="1146810">
                  <a:moveTo>
                    <a:pt x="1143241" y="0"/>
                  </a:moveTo>
                  <a:lnTo>
                    <a:pt x="0" y="1146784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E2AB3029-79E6-A0D2-2F6E-BBFAC9165B43}"/>
                </a:ext>
              </a:extLst>
            </p:cNvPr>
            <p:cNvSpPr/>
            <p:nvPr/>
          </p:nvSpPr>
          <p:spPr>
            <a:xfrm>
              <a:off x="4464140" y="3367450"/>
              <a:ext cx="1143635" cy="1143635"/>
            </a:xfrm>
            <a:custGeom>
              <a:avLst/>
              <a:gdLst/>
              <a:ahLst/>
              <a:cxnLst/>
              <a:rect l="l" t="t" r="r" b="b"/>
              <a:pathLst>
                <a:path w="1143635" h="1143635">
                  <a:moveTo>
                    <a:pt x="0" y="0"/>
                  </a:moveTo>
                  <a:lnTo>
                    <a:pt x="1143254" y="1143317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AD73F835-04BA-5817-3437-525756CE7173}"/>
                </a:ext>
              </a:extLst>
            </p:cNvPr>
            <p:cNvSpPr/>
            <p:nvPr/>
          </p:nvSpPr>
          <p:spPr>
            <a:xfrm>
              <a:off x="3307419" y="4511405"/>
              <a:ext cx="2305050" cy="0"/>
            </a:xfrm>
            <a:custGeom>
              <a:avLst/>
              <a:gdLst/>
              <a:ahLst/>
              <a:cxnLst/>
              <a:rect l="l" t="t" r="r" b="b"/>
              <a:pathLst>
                <a:path w="2305050">
                  <a:moveTo>
                    <a:pt x="230446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55B32A24-D8CE-18BE-7AA9-F1C5AE3C56B1}"/>
                </a:ext>
              </a:extLst>
            </p:cNvPr>
            <p:cNvSpPr/>
            <p:nvPr/>
          </p:nvSpPr>
          <p:spPr>
            <a:xfrm>
              <a:off x="3842819" y="3661932"/>
              <a:ext cx="597535" cy="640715"/>
            </a:xfrm>
            <a:custGeom>
              <a:avLst/>
              <a:gdLst/>
              <a:ahLst/>
              <a:cxnLst/>
              <a:rect l="l" t="t" r="r" b="b"/>
              <a:pathLst>
                <a:path w="597535" h="640714">
                  <a:moveTo>
                    <a:pt x="597509" y="0"/>
                  </a:moveTo>
                  <a:lnTo>
                    <a:pt x="0" y="64030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33B17A3A-20F4-C5C3-D93F-82AA0A202D21}"/>
                </a:ext>
              </a:extLst>
            </p:cNvPr>
            <p:cNvSpPr/>
            <p:nvPr/>
          </p:nvSpPr>
          <p:spPr>
            <a:xfrm>
              <a:off x="4449607" y="3661938"/>
              <a:ext cx="597535" cy="638810"/>
            </a:xfrm>
            <a:custGeom>
              <a:avLst/>
              <a:gdLst/>
              <a:ahLst/>
              <a:cxnLst/>
              <a:rect l="l" t="t" r="r" b="b"/>
              <a:pathLst>
                <a:path w="597535" h="638810">
                  <a:moveTo>
                    <a:pt x="0" y="0"/>
                  </a:moveTo>
                  <a:lnTo>
                    <a:pt x="597522" y="638352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26F1CD66-80FF-96AB-FE5B-09C3D0402E63}"/>
                </a:ext>
              </a:extLst>
            </p:cNvPr>
            <p:cNvSpPr/>
            <p:nvPr/>
          </p:nvSpPr>
          <p:spPr>
            <a:xfrm>
              <a:off x="3838168" y="4299690"/>
              <a:ext cx="1214120" cy="0"/>
            </a:xfrm>
            <a:custGeom>
              <a:avLst/>
              <a:gdLst/>
              <a:ahLst/>
              <a:cxnLst/>
              <a:rect l="l" t="t" r="r" b="b"/>
              <a:pathLst>
                <a:path w="1214120">
                  <a:moveTo>
                    <a:pt x="121359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>
            <a:extLst>
              <a:ext uri="{FF2B5EF4-FFF2-40B4-BE49-F238E27FC236}">
                <a16:creationId xmlns:a16="http://schemas.microsoft.com/office/drawing/2014/main" id="{6AC7D687-713C-7548-D5C8-6D55AC689C4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17A33E96-98A3-B726-A04F-94BDE1A667C8}"/>
              </a:ext>
            </a:extLst>
          </p:cNvPr>
          <p:cNvSpPr txBox="1">
            <a:spLocks/>
          </p:cNvSpPr>
          <p:nvPr/>
        </p:nvSpPr>
        <p:spPr>
          <a:xfrm>
            <a:off x="491027" y="951113"/>
            <a:ext cx="816194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 you want to build your skill profile</a:t>
            </a:r>
            <a:r>
              <a:rPr lang="en-US" sz="2800" kern="0" spc="3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66431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5B7A9B-4435-6F00-5FE0-B0ED0102274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914239" y="1097295"/>
            <a:ext cx="7311390" cy="492443"/>
          </a:xfrm>
          <a:prstGeom prst="rect">
            <a:avLst/>
          </a:prstGeom>
        </p:spPr>
        <p:txBody>
          <a:bodyPr/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Careers &amp; Identity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63897BA1-867D-6166-4F58-7A4F841FB856}"/>
              </a:ext>
            </a:extLst>
          </p:cNvPr>
          <p:cNvSpPr txBox="1"/>
          <p:nvPr/>
        </p:nvSpPr>
        <p:spPr>
          <a:xfrm>
            <a:off x="914239" y="2057400"/>
            <a:ext cx="7162960" cy="733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You already are:</a:t>
            </a:r>
          </a:p>
          <a:p>
            <a:pPr marL="812800" lvl="1" indent="-342900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Economist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C6C0BEE0-AE1E-7469-4B31-BF50342A6A79}"/>
              </a:ext>
            </a:extLst>
          </p:cNvPr>
          <p:cNvSpPr txBox="1"/>
          <p:nvPr/>
        </p:nvSpPr>
        <p:spPr>
          <a:xfrm>
            <a:off x="838200" y="3962400"/>
            <a:ext cx="8077200" cy="17876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Additional skills you’ll leave with:</a:t>
            </a:r>
          </a:p>
          <a:p>
            <a:pPr marL="812800" lvl="1" indent="-342900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Coding fluency + AI assisted workflow</a:t>
            </a:r>
          </a:p>
          <a:p>
            <a:pPr marL="812800" lvl="1" indent="-342900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Simulation &amp; Modeling skills</a:t>
            </a:r>
          </a:p>
          <a:p>
            <a:pPr marL="812800" lvl="1" indent="-342900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Ability to apply economic thinking computationally</a:t>
            </a:r>
          </a:p>
          <a:p>
            <a:pPr marL="812800" lvl="1" indent="-342900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Skill portfolio that you can showcase</a:t>
            </a:r>
            <a:endParaRPr sz="2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8207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D8217C-84A4-384C-B9BA-7D3E6D23E1A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828800" y="3048000"/>
            <a:ext cx="6096000" cy="646331"/>
          </a:xfrm>
          <a:prstGeom prst="rect">
            <a:avLst/>
          </a:prstGeom>
        </p:spPr>
        <p:txBody>
          <a:bodyPr/>
          <a:lstStyle/>
          <a:p>
            <a:r>
              <a:rPr lang="en-US" sz="4200" dirty="0">
                <a:solidFill>
                  <a:schemeClr val="accent6"/>
                </a:solidFill>
              </a:rPr>
              <a:t>Learning by doing</a:t>
            </a:r>
          </a:p>
        </p:txBody>
      </p:sp>
      <p:pic>
        <p:nvPicPr>
          <p:cNvPr id="4" name="Graphic 3" descr="Swimming with solid fill">
            <a:extLst>
              <a:ext uri="{FF2B5EF4-FFF2-40B4-BE49-F238E27FC236}">
                <a16:creationId xmlns:a16="http://schemas.microsoft.com/office/drawing/2014/main" id="{501F5A1D-FC0E-4641-AE43-C067588F9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9379" y="291396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09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668" y="4947286"/>
            <a:ext cx="920504" cy="16808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596900" y="990656"/>
            <a:ext cx="78663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</a:t>
            </a:r>
            <a:r>
              <a:rPr sz="3200" spc="4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sz="3200" spc="5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3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stag </a:t>
            </a:r>
            <a:r>
              <a:rPr sz="3200" spc="-125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</a:t>
            </a:r>
            <a:r>
              <a:rPr sz="3200" spc="6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</a:t>
            </a:r>
            <a:r>
              <a:rPr sz="3200" spc="6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steps</a:t>
            </a:r>
            <a:r>
              <a:rPr sz="3200" spc="6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96900" y="2622606"/>
            <a:ext cx="1550670" cy="538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80"/>
              </a:lnSpc>
              <a:spcBef>
                <a:spcPts val="100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Step</a:t>
            </a:r>
            <a:r>
              <a:rPr sz="18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1.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260"/>
              </a:lnSpc>
            </a:pP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head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nec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C672C-F75E-A9BD-0436-21EF1EE5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72A0136-21BE-07E2-8881-378A56DA253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668" y="4947286"/>
            <a:ext cx="920504" cy="1680898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C667ABA2-AEA8-9804-7105-AC10602A016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96900" y="990656"/>
            <a:ext cx="78663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</a:t>
            </a:r>
            <a:r>
              <a:rPr sz="3200" spc="4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sz="3200" spc="5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3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stag </a:t>
            </a:r>
            <a:r>
              <a:rPr sz="3200" spc="-125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</a:t>
            </a:r>
            <a:r>
              <a:rPr sz="3200" spc="6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</a:t>
            </a:r>
            <a:r>
              <a:rPr sz="3200" spc="6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steps</a:t>
            </a:r>
            <a:r>
              <a:rPr sz="3200" spc="6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B691934-7DEE-A298-4EA2-9CD4D92BF59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9E38E5B-5750-B16A-0CB7-4DF88AA06BD4}"/>
              </a:ext>
            </a:extLst>
          </p:cNvPr>
          <p:cNvSpPr txBox="1"/>
          <p:nvPr/>
        </p:nvSpPr>
        <p:spPr>
          <a:xfrm>
            <a:off x="596900" y="2622606"/>
            <a:ext cx="1550670" cy="538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80"/>
              </a:lnSpc>
              <a:spcBef>
                <a:spcPts val="100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Step</a:t>
            </a:r>
            <a:r>
              <a:rPr sz="18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1.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260"/>
              </a:lnSpc>
            </a:pP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head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nec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CF73AB62-1D92-0FF2-8DE6-A0E0F06AAD4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51860" y="4407777"/>
            <a:ext cx="1600198" cy="2251737"/>
          </a:xfrm>
          <a:prstGeom prst="rect">
            <a:avLst/>
          </a:prstGeom>
        </p:spPr>
      </p:pic>
      <p:sp>
        <p:nvSpPr>
          <p:cNvPr id="7" name="object 8">
            <a:extLst>
              <a:ext uri="{FF2B5EF4-FFF2-40B4-BE49-F238E27FC236}">
                <a16:creationId xmlns:a16="http://schemas.microsoft.com/office/drawing/2014/main" id="{50598E14-E94D-59E5-0809-D37097AB53C4}"/>
              </a:ext>
            </a:extLst>
          </p:cNvPr>
          <p:cNvSpPr txBox="1"/>
          <p:nvPr/>
        </p:nvSpPr>
        <p:spPr>
          <a:xfrm>
            <a:off x="3340100" y="2622606"/>
            <a:ext cx="18230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Step</a:t>
            </a:r>
            <a:r>
              <a:rPr sz="18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2.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ts val="1800"/>
              </a:lnSpc>
              <a:spcBef>
                <a:spcPts val="180"/>
              </a:spcBef>
              <a:tabLst>
                <a:tab pos="688975" algn="l"/>
                <a:tab pos="1428750" algn="l"/>
              </a:tabLst>
            </a:pP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ad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d	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ear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	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some</a:t>
            </a:r>
            <a:r>
              <a:rPr sz="18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antlers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8330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0074" y="4988561"/>
            <a:ext cx="920505" cy="16808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532786" y="6554762"/>
            <a:ext cx="551180" cy="170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00" spc="-5" dirty="0">
                <a:solidFill>
                  <a:srgbClr val="231F20"/>
                </a:solidFill>
                <a:latin typeface="Arial"/>
                <a:cs typeface="Arial"/>
              </a:rPr>
              <a:t>pag</a:t>
            </a: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200" spc="-5" dirty="0">
                <a:solidFill>
                  <a:srgbClr val="231F20"/>
                </a:solidFill>
                <a:latin typeface="Arial"/>
                <a:cs typeface="Arial"/>
              </a:rPr>
              <a:t> 16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51860" y="4407777"/>
            <a:ext cx="1600198" cy="225173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45734" y="2167254"/>
            <a:ext cx="3837940" cy="45288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6900" y="2622606"/>
            <a:ext cx="1550670" cy="538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80"/>
              </a:lnSpc>
              <a:spcBef>
                <a:spcPts val="100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Step</a:t>
            </a:r>
            <a:r>
              <a:rPr sz="18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1.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260"/>
              </a:lnSpc>
            </a:pP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head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nec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0100" y="2622606"/>
            <a:ext cx="18230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Step</a:t>
            </a:r>
            <a:r>
              <a:rPr sz="18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2.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ts val="1800"/>
              </a:lnSpc>
              <a:spcBef>
                <a:spcPts val="180"/>
              </a:spcBef>
              <a:tabLst>
                <a:tab pos="688975" algn="l"/>
                <a:tab pos="1428750" algn="l"/>
              </a:tabLst>
            </a:pP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ad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d	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ear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	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some</a:t>
            </a:r>
            <a:r>
              <a:rPr sz="18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antlers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41084" y="2622606"/>
            <a:ext cx="225044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sz="1800" b="1" dirty="0">
                <a:solidFill>
                  <a:srgbClr val="3369E8"/>
                </a:solidFill>
                <a:latin typeface="Arial"/>
                <a:cs typeface="Arial"/>
              </a:rPr>
              <a:t>Step</a:t>
            </a:r>
            <a:r>
              <a:rPr sz="1800" b="1" spc="-5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3.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80"/>
              </a:lnSpc>
            </a:pP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ad</a:t>
            </a:r>
            <a:r>
              <a:rPr sz="1800" b="1" dirty="0">
                <a:solidFill>
                  <a:srgbClr val="3369E8"/>
                </a:solidFill>
                <a:latin typeface="Arial"/>
                <a:cs typeface="Arial"/>
              </a:rPr>
              <a:t>d</a:t>
            </a:r>
            <a:r>
              <a:rPr sz="1800" b="1" spc="-25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69E8"/>
                </a:solidFill>
                <a:latin typeface="Arial"/>
                <a:cs typeface="Arial"/>
              </a:rPr>
              <a:t>a</a:t>
            </a:r>
            <a:r>
              <a:rPr sz="1800" b="1" spc="-25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69E8"/>
                </a:solidFill>
                <a:latin typeface="Arial"/>
                <a:cs typeface="Arial"/>
              </a:rPr>
              <a:t>bit</a:t>
            </a:r>
            <a:r>
              <a:rPr sz="1800" b="1" spc="-25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mor</a:t>
            </a:r>
            <a:r>
              <a:rPr sz="1800" b="1" dirty="0">
                <a:solidFill>
                  <a:srgbClr val="3369E8"/>
                </a:solidFill>
                <a:latin typeface="Arial"/>
                <a:cs typeface="Arial"/>
              </a:rPr>
              <a:t>e</a:t>
            </a:r>
            <a:r>
              <a:rPr sz="1800" b="1" spc="-25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69E8"/>
                </a:solidFill>
                <a:latin typeface="Arial"/>
                <a:cs typeface="Arial"/>
              </a:rPr>
              <a:t>details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707FBB92-93DA-A624-F652-4C0058E04928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3200" kern="0" spc="2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</a:t>
            </a:r>
            <a:r>
              <a:rPr lang="en-US" sz="3200" kern="0" spc="4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</a:t>
            </a:r>
            <a:r>
              <a:rPr lang="en-US" sz="3200" kern="0" spc="4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</a:t>
            </a:r>
            <a:r>
              <a:rPr lang="en-US" sz="3200" kern="0" spc="4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3200" kern="0" spc="5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3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stag </a:t>
            </a:r>
            <a:r>
              <a:rPr lang="en-US" sz="3200" kern="0" spc="-125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</a:t>
            </a:r>
            <a:r>
              <a:rPr lang="en-US" sz="3200" kern="0" spc="6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</a:t>
            </a:r>
            <a:r>
              <a:rPr lang="en-US" sz="3200" kern="0" spc="6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steps</a:t>
            </a:r>
            <a:r>
              <a:rPr lang="en-US" sz="3200" kern="0" spc="6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en-US" sz="32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2830" y="1735093"/>
            <a:ext cx="561594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231F20"/>
                </a:solidFill>
                <a:latin typeface="Arial"/>
                <a:cs typeface="Arial"/>
              </a:rPr>
              <a:t>I wanted to build a car…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3A372BCC-B106-7B84-1CC8-FAB58FCAC6C6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32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</a:t>
            </a:r>
            <a:r>
              <a:rPr lang="en-US" sz="3200" kern="0" spc="4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</a:t>
            </a:r>
            <a:r>
              <a:rPr lang="en-US" sz="3200" kern="0" spc="4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build a car in the era of AI</a:t>
            </a:r>
            <a:endParaRPr lang="en-US" sz="32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Picture 3" descr="A blue car with yellow and red logo&#10;&#10;AI-generated content may be incorrect.">
            <a:extLst>
              <a:ext uri="{FF2B5EF4-FFF2-40B4-BE49-F238E27FC236}">
                <a16:creationId xmlns:a16="http://schemas.microsoft.com/office/drawing/2014/main" id="{C8D4AA54-6C7C-5EB7-F7F4-671418B0F7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3120731"/>
            <a:ext cx="7162801" cy="335910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0FD38-30CD-7076-F3CB-BBB74D2BA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531BDF7-6BEC-0038-0850-E75C10DE0ED9}"/>
              </a:ext>
            </a:extLst>
          </p:cNvPr>
          <p:cNvSpPr txBox="1"/>
          <p:nvPr/>
        </p:nvSpPr>
        <p:spPr>
          <a:xfrm>
            <a:off x="1052830" y="1735093"/>
            <a:ext cx="561594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231F20"/>
                </a:solidFill>
                <a:latin typeface="Arial"/>
                <a:cs typeface="Arial"/>
              </a:rPr>
              <a:t>And let’s make it better…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BA1FF14-02CD-B8DB-2774-5AA4D7F5143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19</a:t>
            </a:fld>
            <a:endParaRPr dirty="0"/>
          </a:p>
        </p:txBody>
      </p:sp>
      <p:pic>
        <p:nvPicPr>
          <p:cNvPr id="5" name="Picture 4" descr="A blue sports car with a blue background&#10;&#10;AI-generated content may be incorrect.">
            <a:extLst>
              <a:ext uri="{FF2B5EF4-FFF2-40B4-BE49-F238E27FC236}">
                <a16:creationId xmlns:a16="http://schemas.microsoft.com/office/drawing/2014/main" id="{5B49F844-93F6-C207-6161-576D7C2CC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40" y="3154068"/>
            <a:ext cx="7480300" cy="32004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F1B683F3-A7BF-AD4B-4BFD-79B24786E02E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32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</a:t>
            </a:r>
            <a:r>
              <a:rPr lang="en-US" sz="3200" kern="0" spc="4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</a:t>
            </a:r>
            <a:r>
              <a:rPr lang="en-US" sz="3200" kern="0" spc="4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build a car in the era of AI</a:t>
            </a:r>
            <a:endParaRPr lang="en-US" sz="32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180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3790" y="3581400"/>
            <a:ext cx="17526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Just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D40F24"/>
                </a:solidFill>
                <a:latin typeface="Arial"/>
                <a:cs typeface="Arial"/>
              </a:rPr>
              <a:t>DO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it.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10C0A99-1B6E-E175-B262-9678250F5B5C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32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by Doing</a:t>
            </a:r>
            <a:endParaRPr lang="en-US" sz="32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233959-46DC-1440-662C-C909A9C44853}"/>
              </a:ext>
            </a:extLst>
          </p:cNvPr>
          <p:cNvSpPr txBox="1"/>
          <p:nvPr/>
        </p:nvSpPr>
        <p:spPr>
          <a:xfrm>
            <a:off x="990600" y="2526681"/>
            <a:ext cx="5354574" cy="1458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311785" indent="-457200">
              <a:lnSpc>
                <a:spcPct val="76900"/>
              </a:lnSpc>
              <a:spcBef>
                <a:spcPts val="2000"/>
              </a:spcBef>
              <a:buClr>
                <a:srgbClr val="3369E8"/>
              </a:buClr>
              <a:buFont typeface="Arial" panose="020B0604020202020204" pitchFamily="34" charset="0"/>
              <a:buChar char="•"/>
              <a:tabLst>
                <a:tab pos="220345" algn="l"/>
              </a:tabLst>
            </a:pP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Background in economics</a:t>
            </a:r>
          </a:p>
          <a:p>
            <a:pPr marL="469900" marR="311785" indent="-457200">
              <a:lnSpc>
                <a:spcPct val="76900"/>
              </a:lnSpc>
              <a:spcBef>
                <a:spcPts val="2000"/>
              </a:spcBef>
              <a:buClr>
                <a:srgbClr val="3369E8"/>
              </a:buClr>
              <a:buFont typeface="Arial" panose="020B0604020202020204" pitchFamily="34" charset="0"/>
              <a:buChar char="•"/>
              <a:tabLst>
                <a:tab pos="220345" algn="l"/>
              </a:tabLst>
            </a:pP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Background in programming</a:t>
            </a:r>
          </a:p>
          <a:p>
            <a:pPr marL="469900" marR="311785" indent="-457200">
              <a:lnSpc>
                <a:spcPct val="76900"/>
              </a:lnSpc>
              <a:spcBef>
                <a:spcPts val="2000"/>
              </a:spcBef>
              <a:buClr>
                <a:srgbClr val="3369E8"/>
              </a:buClr>
              <a:buFont typeface="Arial" panose="020B0604020202020204" pitchFamily="34" charset="0"/>
              <a:buChar char="•"/>
              <a:tabLst>
                <a:tab pos="220345" algn="l"/>
              </a:tabLst>
            </a:pP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Background in ‘vibe’ coding</a:t>
            </a:r>
            <a:endParaRPr lang="en-US" sz="2400" dirty="0">
              <a:solidFill>
                <a:srgbClr val="231F20"/>
              </a:solidFill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A2C7916-C688-43DB-9B37-9334F569D961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32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Pre-course Survey</a:t>
            </a:r>
            <a:endParaRPr lang="en-US" sz="32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326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819" y="1821868"/>
            <a:ext cx="6494145" cy="302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4483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Accept this fact: </a:t>
            </a:r>
            <a:r>
              <a:rPr sz="2400" spc="-5" dirty="0">
                <a:solidFill>
                  <a:srgbClr val="D40F24"/>
                </a:solidFill>
                <a:latin typeface="Arial"/>
                <a:cs typeface="Arial"/>
              </a:rPr>
              <a:t>bugs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will be part of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life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(if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ever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wanted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do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any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coding).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Some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general</a:t>
            </a:r>
            <a:r>
              <a:rPr sz="24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advices: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Don't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hate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bugs,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69E8"/>
                </a:solidFill>
                <a:latin typeface="Arial"/>
                <a:cs typeface="Arial"/>
              </a:rPr>
              <a:t>fix</a:t>
            </a:r>
            <a:r>
              <a:rPr sz="2400" b="1" spc="-2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them;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Don't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only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fix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bugs, </a:t>
            </a:r>
            <a:r>
              <a:rPr sz="2400" b="1" dirty="0">
                <a:solidFill>
                  <a:srgbClr val="3369E8"/>
                </a:solidFill>
                <a:latin typeface="Arial"/>
                <a:cs typeface="Arial"/>
              </a:rPr>
              <a:t>understand</a:t>
            </a:r>
            <a:r>
              <a:rPr sz="2400" b="1" spc="-2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them;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Don'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2400" spc="-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onl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y</a:t>
            </a:r>
            <a:r>
              <a:rPr sz="2400" spc="-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understan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2400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bugs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2400" spc="-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69E8"/>
                </a:solidFill>
                <a:latin typeface="Arial"/>
                <a:cs typeface="Arial"/>
              </a:rPr>
              <a:t>learn</a:t>
            </a:r>
            <a:r>
              <a:rPr sz="2400" b="1" spc="-17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sz="2400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them.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BBF5370-1BAB-C048-33F7-E707696655ED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28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Making mistakes is a great way to learn</a:t>
            </a:r>
            <a:endParaRPr lang="en-US" sz="28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2949" y="4602478"/>
            <a:ext cx="3561079" cy="611505"/>
            <a:chOff x="462949" y="4602478"/>
            <a:chExt cx="3561079" cy="611505"/>
          </a:xfrm>
        </p:grpSpPr>
        <p:sp>
          <p:nvSpPr>
            <p:cNvPr id="3" name="object 3"/>
            <p:cNvSpPr/>
            <p:nvPr/>
          </p:nvSpPr>
          <p:spPr>
            <a:xfrm>
              <a:off x="469299" y="4608828"/>
              <a:ext cx="3548379" cy="598805"/>
            </a:xfrm>
            <a:custGeom>
              <a:avLst/>
              <a:gdLst/>
              <a:ahLst/>
              <a:cxnLst/>
              <a:rect l="l" t="t" r="r" b="b"/>
              <a:pathLst>
                <a:path w="3548379" h="598804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446405"/>
                  </a:lnTo>
                  <a:lnTo>
                    <a:pt x="7769" y="494578"/>
                  </a:lnTo>
                  <a:lnTo>
                    <a:pt x="29405" y="536413"/>
                  </a:lnTo>
                  <a:lnTo>
                    <a:pt x="62396" y="569402"/>
                  </a:lnTo>
                  <a:lnTo>
                    <a:pt x="104231" y="591036"/>
                  </a:lnTo>
                  <a:lnTo>
                    <a:pt x="152400" y="598805"/>
                  </a:lnTo>
                  <a:lnTo>
                    <a:pt x="3395979" y="598805"/>
                  </a:lnTo>
                  <a:lnTo>
                    <a:pt x="3444148" y="591036"/>
                  </a:lnTo>
                  <a:lnTo>
                    <a:pt x="3485983" y="569402"/>
                  </a:lnTo>
                  <a:lnTo>
                    <a:pt x="3518974" y="536413"/>
                  </a:lnTo>
                  <a:lnTo>
                    <a:pt x="3540610" y="494578"/>
                  </a:lnTo>
                  <a:lnTo>
                    <a:pt x="3548379" y="44640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9299" y="4608828"/>
              <a:ext cx="3548379" cy="598805"/>
            </a:xfrm>
            <a:custGeom>
              <a:avLst/>
              <a:gdLst/>
              <a:ahLst/>
              <a:cxnLst/>
              <a:rect l="l" t="t" r="r" b="b"/>
              <a:pathLst>
                <a:path w="3548379" h="598804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446405"/>
                  </a:lnTo>
                  <a:lnTo>
                    <a:pt x="7769" y="494578"/>
                  </a:lnTo>
                  <a:lnTo>
                    <a:pt x="29405" y="536413"/>
                  </a:lnTo>
                  <a:lnTo>
                    <a:pt x="62396" y="569402"/>
                  </a:lnTo>
                  <a:lnTo>
                    <a:pt x="104231" y="591036"/>
                  </a:lnTo>
                  <a:lnTo>
                    <a:pt x="152400" y="598805"/>
                  </a:lnTo>
                  <a:lnTo>
                    <a:pt x="3395979" y="598805"/>
                  </a:lnTo>
                  <a:lnTo>
                    <a:pt x="3444148" y="591036"/>
                  </a:lnTo>
                  <a:lnTo>
                    <a:pt x="3485983" y="569402"/>
                  </a:lnTo>
                  <a:lnTo>
                    <a:pt x="3518974" y="536413"/>
                  </a:lnTo>
                  <a:lnTo>
                    <a:pt x="3540610" y="494578"/>
                  </a:lnTo>
                  <a:lnTo>
                    <a:pt x="3548379" y="44640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62949" y="3032757"/>
            <a:ext cx="3561079" cy="829944"/>
            <a:chOff x="462949" y="3032757"/>
            <a:chExt cx="3561079" cy="829944"/>
          </a:xfrm>
        </p:grpSpPr>
        <p:sp>
          <p:nvSpPr>
            <p:cNvPr id="6" name="object 6"/>
            <p:cNvSpPr/>
            <p:nvPr/>
          </p:nvSpPr>
          <p:spPr>
            <a:xfrm>
              <a:off x="469299" y="3039107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9299" y="3039107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50249" y="1747173"/>
            <a:ext cx="7400290" cy="3241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When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had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bug,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sometimes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will</a:t>
            </a:r>
            <a:r>
              <a:rPr sz="2400" spc="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see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some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error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messages: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800" b="1" spc="-5" dirty="0">
                <a:solidFill>
                  <a:srgbClr val="40AD49"/>
                </a:solidFill>
                <a:latin typeface="Times New Roman"/>
                <a:cs typeface="Times New Roman"/>
              </a:rPr>
              <a:t>In[1]</a:t>
            </a:r>
            <a:endParaRPr sz="1800">
              <a:latin typeface="Times New Roman"/>
              <a:cs typeface="Times New Roman"/>
            </a:endParaRPr>
          </a:p>
          <a:p>
            <a:pPr marL="158750" marR="5244465">
              <a:lnSpc>
                <a:spcPct val="100000"/>
              </a:lnSpc>
              <a:spcBef>
                <a:spcPts val="1025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my_list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[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3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5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7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9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 </a:t>
            </a:r>
            <a:r>
              <a:rPr sz="1800" spc="-48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print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(my_list[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5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solidFill>
                  <a:srgbClr val="D40F24"/>
                </a:solidFill>
                <a:latin typeface="Times New Roman"/>
                <a:cs typeface="Times New Roman"/>
              </a:rPr>
              <a:t>Out[1]</a:t>
            </a:r>
            <a:endParaRPr sz="1800">
              <a:latin typeface="Times New Roman"/>
              <a:cs typeface="Times New Roman"/>
            </a:endParaRPr>
          </a:p>
          <a:p>
            <a:pPr marL="193675">
              <a:lnSpc>
                <a:spcPct val="100000"/>
              </a:lnSpc>
              <a:spcBef>
                <a:spcPts val="1480"/>
              </a:spcBef>
            </a:pPr>
            <a:r>
              <a:rPr sz="1800" dirty="0">
                <a:solidFill>
                  <a:srgbClr val="D40F24"/>
                </a:solidFill>
                <a:latin typeface="Arial"/>
                <a:cs typeface="Arial"/>
              </a:rPr>
              <a:t>IndexError:</a:t>
            </a:r>
            <a:r>
              <a:rPr sz="1800" spc="-20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list</a:t>
            </a:r>
            <a:r>
              <a:rPr sz="18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index</a:t>
            </a:r>
            <a:r>
              <a:rPr sz="18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out</a:t>
            </a:r>
            <a:r>
              <a:rPr sz="18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range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5091F322-AFEA-41AD-35BE-80DF99A86F37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28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Making mistakes is a great way to learn</a:t>
            </a:r>
            <a:endParaRPr lang="en-US" sz="28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2949" y="4602478"/>
            <a:ext cx="3561079" cy="1112520"/>
            <a:chOff x="462949" y="4602478"/>
            <a:chExt cx="3561079" cy="1112520"/>
          </a:xfrm>
        </p:grpSpPr>
        <p:sp>
          <p:nvSpPr>
            <p:cNvPr id="3" name="object 3"/>
            <p:cNvSpPr/>
            <p:nvPr/>
          </p:nvSpPr>
          <p:spPr>
            <a:xfrm>
              <a:off x="469299" y="4608828"/>
              <a:ext cx="3548379" cy="1099820"/>
            </a:xfrm>
            <a:custGeom>
              <a:avLst/>
              <a:gdLst/>
              <a:ahLst/>
              <a:cxnLst/>
              <a:rect l="l" t="t" r="r" b="b"/>
              <a:pathLst>
                <a:path w="3548379" h="1099820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947419"/>
                  </a:lnTo>
                  <a:lnTo>
                    <a:pt x="7769" y="995593"/>
                  </a:lnTo>
                  <a:lnTo>
                    <a:pt x="29405" y="1037428"/>
                  </a:lnTo>
                  <a:lnTo>
                    <a:pt x="62396" y="1070417"/>
                  </a:lnTo>
                  <a:lnTo>
                    <a:pt x="104231" y="1092051"/>
                  </a:lnTo>
                  <a:lnTo>
                    <a:pt x="152400" y="1099820"/>
                  </a:lnTo>
                  <a:lnTo>
                    <a:pt x="3395979" y="1099820"/>
                  </a:lnTo>
                  <a:lnTo>
                    <a:pt x="3444148" y="1092051"/>
                  </a:lnTo>
                  <a:lnTo>
                    <a:pt x="3485983" y="1070417"/>
                  </a:lnTo>
                  <a:lnTo>
                    <a:pt x="3518974" y="1037428"/>
                  </a:lnTo>
                  <a:lnTo>
                    <a:pt x="3540610" y="995593"/>
                  </a:lnTo>
                  <a:lnTo>
                    <a:pt x="3548379" y="947419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9299" y="4608828"/>
              <a:ext cx="3548379" cy="1099820"/>
            </a:xfrm>
            <a:custGeom>
              <a:avLst/>
              <a:gdLst/>
              <a:ahLst/>
              <a:cxnLst/>
              <a:rect l="l" t="t" r="r" b="b"/>
              <a:pathLst>
                <a:path w="3548379" h="109982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947419"/>
                  </a:lnTo>
                  <a:lnTo>
                    <a:pt x="7769" y="995593"/>
                  </a:lnTo>
                  <a:lnTo>
                    <a:pt x="29405" y="1037428"/>
                  </a:lnTo>
                  <a:lnTo>
                    <a:pt x="62396" y="1070417"/>
                  </a:lnTo>
                  <a:lnTo>
                    <a:pt x="104231" y="1092051"/>
                  </a:lnTo>
                  <a:lnTo>
                    <a:pt x="152400" y="1099820"/>
                  </a:lnTo>
                  <a:lnTo>
                    <a:pt x="3395979" y="1099820"/>
                  </a:lnTo>
                  <a:lnTo>
                    <a:pt x="3444148" y="1092051"/>
                  </a:lnTo>
                  <a:lnTo>
                    <a:pt x="3485983" y="1070417"/>
                  </a:lnTo>
                  <a:lnTo>
                    <a:pt x="3518974" y="1037428"/>
                  </a:lnTo>
                  <a:lnTo>
                    <a:pt x="3540610" y="995593"/>
                  </a:lnTo>
                  <a:lnTo>
                    <a:pt x="3548379" y="947419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62949" y="3032757"/>
            <a:ext cx="3561079" cy="829944"/>
            <a:chOff x="462949" y="3032757"/>
            <a:chExt cx="3561079" cy="829944"/>
          </a:xfrm>
        </p:grpSpPr>
        <p:sp>
          <p:nvSpPr>
            <p:cNvPr id="6" name="object 6"/>
            <p:cNvSpPr/>
            <p:nvPr/>
          </p:nvSpPr>
          <p:spPr>
            <a:xfrm>
              <a:off x="469299" y="3039107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9299" y="3039107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4358640" y="1842771"/>
            <a:ext cx="0" cy="4024629"/>
          </a:xfrm>
          <a:custGeom>
            <a:avLst/>
            <a:gdLst/>
            <a:ahLst/>
            <a:cxnLst/>
            <a:rect l="l" t="t" r="r" b="b"/>
            <a:pathLst>
              <a:path h="4024629">
                <a:moveTo>
                  <a:pt x="0" y="0"/>
                </a:moveTo>
                <a:lnTo>
                  <a:pt x="0" y="4024629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0249" y="1747173"/>
            <a:ext cx="6075045" cy="3653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100"/>
              </a:spcBef>
              <a:tabLst>
                <a:tab pos="4502150" algn="l"/>
              </a:tabLst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In a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EC008C"/>
                </a:solidFill>
                <a:latin typeface="Arial"/>
                <a:cs typeface="Arial"/>
              </a:rPr>
              <a:t>bad</a:t>
            </a:r>
            <a:r>
              <a:rPr sz="240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coder's</a:t>
            </a:r>
            <a:r>
              <a:rPr sz="240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eyes:	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sz="240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40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do: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40AD49"/>
                </a:solidFill>
                <a:latin typeface="Times New Roman"/>
                <a:cs typeface="Times New Roman"/>
              </a:rPr>
              <a:t>In[1]</a:t>
            </a:r>
            <a:endParaRPr sz="1800">
              <a:latin typeface="Times New Roman"/>
              <a:cs typeface="Times New Roman"/>
            </a:endParaRPr>
          </a:p>
          <a:p>
            <a:pPr marL="180975" marR="389699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my_list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[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3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5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7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9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 </a:t>
            </a:r>
            <a:r>
              <a:rPr sz="1800" spc="-48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print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(my_list[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5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5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solidFill>
                  <a:srgbClr val="D40F24"/>
                </a:solidFill>
                <a:latin typeface="Times New Roman"/>
                <a:cs typeface="Times New Roman"/>
              </a:rPr>
              <a:t>Out[1]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1120"/>
              </a:spcBef>
            </a:pPr>
            <a:r>
              <a:rPr sz="2400" spc="-20" dirty="0">
                <a:solidFill>
                  <a:srgbClr val="D40F24"/>
                </a:solidFill>
                <a:latin typeface="Arial"/>
                <a:cs typeface="Arial"/>
              </a:rPr>
              <a:t>YouStupidHuman:</a:t>
            </a:r>
            <a:r>
              <a:rPr sz="2400" spc="-50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D40F24"/>
                </a:solidFill>
                <a:latin typeface="Arial"/>
                <a:cs typeface="Arial"/>
              </a:rPr>
              <a:t>bug</a:t>
            </a:r>
            <a:endParaRPr sz="24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2400" spc="-5" dirty="0">
                <a:solidFill>
                  <a:srgbClr val="D40F24"/>
                </a:solidFill>
                <a:latin typeface="Arial"/>
                <a:cs typeface="Arial"/>
              </a:rPr>
              <a:t>again?</a:t>
            </a:r>
            <a:r>
              <a:rPr sz="2400" spc="-30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D40F24"/>
                </a:solidFill>
                <a:latin typeface="Arial"/>
                <a:cs typeface="Arial"/>
              </a:rPr>
              <a:t>lol~</a:t>
            </a:r>
            <a:r>
              <a:rPr sz="2400" spc="-25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D40F24"/>
                </a:solidFill>
                <a:latin typeface="Arial"/>
                <a:cs typeface="Arial"/>
              </a:rPr>
              <a:t>lol~</a:t>
            </a:r>
            <a:r>
              <a:rPr sz="2400" spc="-25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D40F24"/>
                </a:solidFill>
                <a:latin typeface="Arial"/>
                <a:cs typeface="Arial"/>
              </a:rPr>
              <a:t>hahaha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00" y="3032760"/>
            <a:ext cx="2804172" cy="242030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CC6EEA2D-AB25-20F2-99EC-FC7C32410BE7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28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Making mistakes is a great way to learn</a:t>
            </a:r>
            <a:endParaRPr lang="en-US" sz="28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2949" y="4602478"/>
            <a:ext cx="3561079" cy="850900"/>
            <a:chOff x="462949" y="4602478"/>
            <a:chExt cx="3561079" cy="850900"/>
          </a:xfrm>
        </p:grpSpPr>
        <p:sp>
          <p:nvSpPr>
            <p:cNvPr id="3" name="object 3"/>
            <p:cNvSpPr/>
            <p:nvPr/>
          </p:nvSpPr>
          <p:spPr>
            <a:xfrm>
              <a:off x="469299" y="4608828"/>
              <a:ext cx="3548379" cy="838200"/>
            </a:xfrm>
            <a:custGeom>
              <a:avLst/>
              <a:gdLst/>
              <a:ahLst/>
              <a:cxnLst/>
              <a:rect l="l" t="t" r="r" b="b"/>
              <a:pathLst>
                <a:path w="3548379" h="838200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85482"/>
                  </a:lnTo>
                  <a:lnTo>
                    <a:pt x="7769" y="733655"/>
                  </a:lnTo>
                  <a:lnTo>
                    <a:pt x="29405" y="775491"/>
                  </a:lnTo>
                  <a:lnTo>
                    <a:pt x="62396" y="808480"/>
                  </a:lnTo>
                  <a:lnTo>
                    <a:pt x="104231" y="830113"/>
                  </a:lnTo>
                  <a:lnTo>
                    <a:pt x="152400" y="837882"/>
                  </a:lnTo>
                  <a:lnTo>
                    <a:pt x="3395979" y="837882"/>
                  </a:lnTo>
                  <a:lnTo>
                    <a:pt x="3444148" y="830113"/>
                  </a:lnTo>
                  <a:lnTo>
                    <a:pt x="3485983" y="808480"/>
                  </a:lnTo>
                  <a:lnTo>
                    <a:pt x="3518974" y="775491"/>
                  </a:lnTo>
                  <a:lnTo>
                    <a:pt x="3540610" y="733655"/>
                  </a:lnTo>
                  <a:lnTo>
                    <a:pt x="3548379" y="685482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9299" y="4608828"/>
              <a:ext cx="3548379" cy="838200"/>
            </a:xfrm>
            <a:custGeom>
              <a:avLst/>
              <a:gdLst/>
              <a:ahLst/>
              <a:cxnLst/>
              <a:rect l="l" t="t" r="r" b="b"/>
              <a:pathLst>
                <a:path w="3548379" h="8382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85482"/>
                  </a:lnTo>
                  <a:lnTo>
                    <a:pt x="7769" y="733655"/>
                  </a:lnTo>
                  <a:lnTo>
                    <a:pt x="29405" y="775491"/>
                  </a:lnTo>
                  <a:lnTo>
                    <a:pt x="62396" y="808480"/>
                  </a:lnTo>
                  <a:lnTo>
                    <a:pt x="104231" y="830113"/>
                  </a:lnTo>
                  <a:lnTo>
                    <a:pt x="152400" y="837882"/>
                  </a:lnTo>
                  <a:lnTo>
                    <a:pt x="3395979" y="837882"/>
                  </a:lnTo>
                  <a:lnTo>
                    <a:pt x="3444148" y="830113"/>
                  </a:lnTo>
                  <a:lnTo>
                    <a:pt x="3485983" y="808480"/>
                  </a:lnTo>
                  <a:lnTo>
                    <a:pt x="3518974" y="775491"/>
                  </a:lnTo>
                  <a:lnTo>
                    <a:pt x="3540610" y="733655"/>
                  </a:lnTo>
                  <a:lnTo>
                    <a:pt x="3548379" y="685482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62949" y="3032757"/>
            <a:ext cx="3561079" cy="829944"/>
            <a:chOff x="462949" y="3032757"/>
            <a:chExt cx="3561079" cy="829944"/>
          </a:xfrm>
        </p:grpSpPr>
        <p:sp>
          <p:nvSpPr>
            <p:cNvPr id="6" name="object 6"/>
            <p:cNvSpPr/>
            <p:nvPr/>
          </p:nvSpPr>
          <p:spPr>
            <a:xfrm>
              <a:off x="469299" y="3039107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9299" y="3039107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0249" y="2478242"/>
            <a:ext cx="2184400" cy="111442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800" b="1" spc="-5" dirty="0">
                <a:solidFill>
                  <a:srgbClr val="40AD49"/>
                </a:solidFill>
                <a:latin typeface="Times New Roman"/>
                <a:cs typeface="Times New Roman"/>
              </a:rPr>
              <a:t>In[1]</a:t>
            </a:r>
            <a:endParaRPr sz="1800">
              <a:latin typeface="Times New Roman"/>
              <a:cs typeface="Times New Roman"/>
            </a:endParaRPr>
          </a:p>
          <a:p>
            <a:pPr marL="185420" marR="5080">
              <a:lnSpc>
                <a:spcPct val="100000"/>
              </a:lnSpc>
              <a:spcBef>
                <a:spcPts val="1045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my_list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[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3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5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7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9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 </a:t>
            </a:r>
            <a:r>
              <a:rPr sz="1800" spc="-48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print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(my_list[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5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0259" y="4226438"/>
            <a:ext cx="3493135" cy="1011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D40F24"/>
                </a:solidFill>
                <a:latin typeface="Times New Roman"/>
                <a:cs typeface="Times New Roman"/>
              </a:rPr>
              <a:t>Out[1]</a:t>
            </a:r>
            <a:endParaRPr sz="1800">
              <a:latin typeface="Times New Roman"/>
              <a:cs typeface="Times New Roman"/>
            </a:endParaRPr>
          </a:p>
          <a:p>
            <a:pPr marL="113664" marR="5080">
              <a:lnSpc>
                <a:spcPct val="100000"/>
              </a:lnSpc>
              <a:spcBef>
                <a:spcPts val="1280"/>
              </a:spcBef>
            </a:pPr>
            <a:r>
              <a:rPr sz="1800" dirty="0">
                <a:solidFill>
                  <a:srgbClr val="D40F24"/>
                </a:solidFill>
                <a:latin typeface="Arial"/>
                <a:cs typeface="Arial"/>
              </a:rPr>
              <a:t>IndexError:</a:t>
            </a:r>
            <a:r>
              <a:rPr sz="1800" spc="-25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list</a:t>
            </a:r>
            <a:r>
              <a:rPr sz="18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index</a:t>
            </a:r>
            <a:r>
              <a:rPr sz="18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out</a:t>
            </a:r>
            <a:r>
              <a:rPr sz="18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range </a:t>
            </a:r>
            <a:r>
              <a:rPr sz="1800" spc="-48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AD49"/>
                </a:solidFill>
                <a:latin typeface="Arial"/>
                <a:cs typeface="Arial"/>
              </a:rPr>
              <a:t>I'm</a:t>
            </a:r>
            <a:r>
              <a:rPr sz="1800" spc="-10" dirty="0">
                <a:solidFill>
                  <a:srgbClr val="40AD4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AD49"/>
                </a:solidFill>
                <a:latin typeface="Arial"/>
                <a:cs typeface="Arial"/>
              </a:rPr>
              <a:t>confused,</a:t>
            </a:r>
            <a:r>
              <a:rPr sz="1800" spc="-5" dirty="0">
                <a:solidFill>
                  <a:srgbClr val="40AD49"/>
                </a:solidFill>
                <a:latin typeface="Arial"/>
                <a:cs typeface="Arial"/>
              </a:rPr>
              <a:t> please</a:t>
            </a:r>
            <a:r>
              <a:rPr sz="1800" spc="-10" dirty="0">
                <a:solidFill>
                  <a:srgbClr val="40AD4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AD49"/>
                </a:solidFill>
                <a:latin typeface="Arial"/>
                <a:cs typeface="Arial"/>
              </a:rPr>
              <a:t>help!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58640" y="1842771"/>
            <a:ext cx="0" cy="4024629"/>
          </a:xfrm>
          <a:custGeom>
            <a:avLst/>
            <a:gdLst/>
            <a:ahLst/>
            <a:cxnLst/>
            <a:rect l="l" t="t" r="r" b="b"/>
            <a:pathLst>
              <a:path h="4024629">
                <a:moveTo>
                  <a:pt x="0" y="0"/>
                </a:moveTo>
                <a:lnTo>
                  <a:pt x="0" y="4024629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3580" y="1747173"/>
            <a:ext cx="5821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48785" algn="l"/>
              </a:tabLst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In a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AD49"/>
                </a:solidFill>
                <a:latin typeface="Arial"/>
                <a:cs typeface="Arial"/>
              </a:rPr>
              <a:t>good</a:t>
            </a:r>
            <a:r>
              <a:rPr sz="2400" dirty="0">
                <a:solidFill>
                  <a:srgbClr val="40AD4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coder's</a:t>
            </a:r>
            <a:r>
              <a:rPr sz="240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eyes:	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sz="240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40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do: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39359" y="2507037"/>
            <a:ext cx="297370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41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69E8"/>
                </a:solidFill>
                <a:latin typeface="Arial"/>
                <a:cs typeface="Arial"/>
              </a:rPr>
              <a:t>Read</a:t>
            </a:r>
            <a:r>
              <a:rPr sz="1800" spc="-3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error</a:t>
            </a:r>
            <a:r>
              <a:rPr sz="18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message; </a:t>
            </a:r>
            <a:r>
              <a:rPr sz="1800" spc="-48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69E8"/>
                </a:solidFill>
                <a:latin typeface="Arial"/>
                <a:cs typeface="Arial"/>
              </a:rPr>
              <a:t>Identify</a:t>
            </a:r>
            <a:r>
              <a:rPr sz="1800" spc="-2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problem;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369E8"/>
                </a:solidFill>
                <a:latin typeface="Arial"/>
                <a:cs typeface="Arial"/>
              </a:rPr>
              <a:t>Fix</a:t>
            </a:r>
            <a:r>
              <a:rPr sz="1800" spc="-4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bug;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make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sure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69E8"/>
                </a:solidFill>
                <a:latin typeface="Arial"/>
                <a:cs typeface="Arial"/>
              </a:rPr>
              <a:t>understand</a:t>
            </a:r>
            <a:r>
              <a:rPr sz="1800" spc="-2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it; </a:t>
            </a:r>
            <a:r>
              <a:rPr sz="1800" spc="-48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69E8"/>
                </a:solidFill>
                <a:latin typeface="Arial"/>
                <a:cs typeface="Arial"/>
              </a:rPr>
              <a:t>Learn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 it.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56754" y="5742620"/>
            <a:ext cx="3561079" cy="488950"/>
            <a:chOff x="4656754" y="5742620"/>
            <a:chExt cx="3561079" cy="488950"/>
          </a:xfrm>
        </p:grpSpPr>
        <p:sp>
          <p:nvSpPr>
            <p:cNvPr id="15" name="object 15"/>
            <p:cNvSpPr/>
            <p:nvPr/>
          </p:nvSpPr>
          <p:spPr>
            <a:xfrm>
              <a:off x="4663104" y="5748970"/>
              <a:ext cx="3548379" cy="476250"/>
            </a:xfrm>
            <a:custGeom>
              <a:avLst/>
              <a:gdLst/>
              <a:ahLst/>
              <a:cxnLst/>
              <a:rect l="l" t="t" r="r" b="b"/>
              <a:pathLst>
                <a:path w="3548379" h="476250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323850"/>
                  </a:lnTo>
                  <a:lnTo>
                    <a:pt x="7769" y="372018"/>
                  </a:lnTo>
                  <a:lnTo>
                    <a:pt x="29405" y="413853"/>
                  </a:lnTo>
                  <a:lnTo>
                    <a:pt x="62396" y="446844"/>
                  </a:lnTo>
                  <a:lnTo>
                    <a:pt x="104231" y="468480"/>
                  </a:lnTo>
                  <a:lnTo>
                    <a:pt x="152400" y="476250"/>
                  </a:lnTo>
                  <a:lnTo>
                    <a:pt x="3395979" y="476250"/>
                  </a:lnTo>
                  <a:lnTo>
                    <a:pt x="3444148" y="468480"/>
                  </a:lnTo>
                  <a:lnTo>
                    <a:pt x="3485983" y="446844"/>
                  </a:lnTo>
                  <a:lnTo>
                    <a:pt x="3518974" y="413853"/>
                  </a:lnTo>
                  <a:lnTo>
                    <a:pt x="3540610" y="372018"/>
                  </a:lnTo>
                  <a:lnTo>
                    <a:pt x="3548379" y="323850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63104" y="5748970"/>
              <a:ext cx="3548379" cy="476250"/>
            </a:xfrm>
            <a:custGeom>
              <a:avLst/>
              <a:gdLst/>
              <a:ahLst/>
              <a:cxnLst/>
              <a:rect l="l" t="t" r="r" b="b"/>
              <a:pathLst>
                <a:path w="3548379" h="47625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323850"/>
                  </a:lnTo>
                  <a:lnTo>
                    <a:pt x="7769" y="372018"/>
                  </a:lnTo>
                  <a:lnTo>
                    <a:pt x="29405" y="413853"/>
                  </a:lnTo>
                  <a:lnTo>
                    <a:pt x="62396" y="446844"/>
                  </a:lnTo>
                  <a:lnTo>
                    <a:pt x="104231" y="468480"/>
                  </a:lnTo>
                  <a:lnTo>
                    <a:pt x="152400" y="476250"/>
                  </a:lnTo>
                  <a:lnTo>
                    <a:pt x="3395979" y="476250"/>
                  </a:lnTo>
                  <a:lnTo>
                    <a:pt x="3444148" y="468480"/>
                  </a:lnTo>
                  <a:lnTo>
                    <a:pt x="3485983" y="446844"/>
                  </a:lnTo>
                  <a:lnTo>
                    <a:pt x="3518974" y="413853"/>
                  </a:lnTo>
                  <a:lnTo>
                    <a:pt x="3540610" y="372018"/>
                  </a:lnTo>
                  <a:lnTo>
                    <a:pt x="3548379" y="323850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693250" y="4514850"/>
            <a:ext cx="3561079" cy="829944"/>
            <a:chOff x="4693250" y="4514850"/>
            <a:chExt cx="3561079" cy="829944"/>
          </a:xfrm>
        </p:grpSpPr>
        <p:sp>
          <p:nvSpPr>
            <p:cNvPr id="18" name="object 18"/>
            <p:cNvSpPr/>
            <p:nvPr/>
          </p:nvSpPr>
          <p:spPr>
            <a:xfrm>
              <a:off x="4699600" y="4521200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99600" y="4521200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80550" y="4093088"/>
            <a:ext cx="2182495" cy="1036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40AD49"/>
                </a:solidFill>
                <a:latin typeface="Times New Roman"/>
                <a:cs typeface="Times New Roman"/>
              </a:rPr>
              <a:t>In[2]</a:t>
            </a:r>
            <a:endParaRPr sz="1800" dirty="0">
              <a:latin typeface="Times New Roman"/>
              <a:cs typeface="Times New Roman"/>
            </a:endParaRPr>
          </a:p>
          <a:p>
            <a:pPr marL="180975" marR="5080">
              <a:lnSpc>
                <a:spcPct val="100000"/>
              </a:lnSpc>
              <a:spcBef>
                <a:spcPts val="1480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my_list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[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3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5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7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9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 </a:t>
            </a:r>
            <a:r>
              <a:rPr sz="1800" spc="-48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print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(my_list[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4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4644054" y="5240036"/>
            <a:ext cx="673735" cy="82740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b="1" dirty="0">
                <a:solidFill>
                  <a:srgbClr val="D40F24"/>
                </a:solidFill>
                <a:latin typeface="Times New Roman"/>
                <a:cs typeface="Times New Roman"/>
              </a:rPr>
              <a:t>Out[2]</a:t>
            </a:r>
            <a:endParaRPr sz="1800">
              <a:latin typeface="Times New Roman"/>
              <a:cs typeface="Times New Roman"/>
            </a:endParaRPr>
          </a:p>
          <a:p>
            <a:pPr marL="193675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C609B41B-8FA5-9A8A-EBE8-58798A6CDB7A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28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Making mistakes is a great way to learn</a:t>
            </a:r>
            <a:endParaRPr lang="en-US" sz="28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E386C-4D26-6A76-8FAB-A329AA727FCB}"/>
              </a:ext>
            </a:extLst>
          </p:cNvPr>
          <p:cNvSpPr txBox="1"/>
          <p:nvPr/>
        </p:nvSpPr>
        <p:spPr>
          <a:xfrm>
            <a:off x="1219200" y="2057400"/>
            <a:ext cx="7086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 error: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code breaks the language’s grammar rules, so it cannot run.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Runtime error: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code starts running but crashes during execution.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error: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code runs, but the logic is wrong, so it gives the wrong result (and you don’t even know it was wrong!).</a:t>
            </a:r>
          </a:p>
        </p:txBody>
      </p:sp>
    </p:spTree>
    <p:extLst>
      <p:ext uri="{BB962C8B-B14F-4D97-AF65-F5344CB8AC3E}">
        <p14:creationId xmlns:p14="http://schemas.microsoft.com/office/powerpoint/2010/main" val="3105505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9200" y="1905000"/>
            <a:ext cx="5710238" cy="41062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spc="-35" dirty="0">
                <a:solidFill>
                  <a:srgbClr val="231F20"/>
                </a:solidFill>
                <a:latin typeface="Arial"/>
                <a:cs typeface="Arial"/>
              </a:rPr>
              <a:t>Textbook: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no</a:t>
            </a:r>
            <a:r>
              <a:rPr sz="24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required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textbook</a:t>
            </a:r>
            <a:endParaRPr sz="24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sz="25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Programming</a:t>
            </a:r>
            <a:r>
              <a:rPr sz="24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software:</a:t>
            </a:r>
            <a:r>
              <a:rPr sz="24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Python</a:t>
            </a:r>
            <a:endParaRPr lang="en-US" sz="2400" dirty="0">
              <a:solidFill>
                <a:srgbClr val="231F20"/>
              </a:solidFill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31F20"/>
              </a:solidFill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IDE:</a:t>
            </a:r>
          </a:p>
          <a:p>
            <a:pPr marL="812800" lvl="1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Spyder</a:t>
            </a:r>
          </a:p>
          <a:p>
            <a:pPr marL="812800" lvl="1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Google </a:t>
            </a:r>
            <a:r>
              <a:rPr lang="en-US" sz="2400" dirty="0" err="1">
                <a:solidFill>
                  <a:srgbClr val="231F20"/>
                </a:solidFill>
                <a:latin typeface="Arial"/>
                <a:cs typeface="Arial"/>
              </a:rPr>
              <a:t>colab</a:t>
            </a:r>
            <a:endParaRPr lang="en-US" sz="2400" dirty="0">
              <a:solidFill>
                <a:srgbClr val="231F20"/>
              </a:solidFill>
              <a:latin typeface="Arial"/>
              <a:cs typeface="Arial"/>
            </a:endParaRPr>
          </a:p>
          <a:p>
            <a:pPr marL="812800" lvl="1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231F20"/>
                </a:solidFill>
                <a:latin typeface="Arial"/>
                <a:cs typeface="Arial"/>
              </a:rPr>
              <a:t>vscode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 or cursor</a:t>
            </a:r>
            <a:endParaRPr sz="24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sz="25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Hands-on</a:t>
            </a:r>
            <a:r>
              <a:rPr sz="24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learning</a:t>
            </a: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 (bring your laptop)</a:t>
            </a:r>
          </a:p>
          <a:p>
            <a:pPr marL="12700">
              <a:lnSpc>
                <a:spcPct val="100000"/>
              </a:lnSpc>
              <a:buClr>
                <a:schemeClr val="accent1"/>
              </a:buClr>
            </a:pPr>
            <a:endParaRPr lang="en-US" sz="2400" spc="-5" dirty="0">
              <a:solidFill>
                <a:srgbClr val="231F2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4CE5A6-2D16-E6AC-8064-18C63131B236}"/>
              </a:ext>
            </a:extLst>
          </p:cNvPr>
          <p:cNvSpPr txBox="1"/>
          <p:nvPr/>
        </p:nvSpPr>
        <p:spPr>
          <a:xfrm>
            <a:off x="1066800" y="2438400"/>
            <a:ext cx="6705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Computational method requires iteration, patience, and creativity;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Plan before you code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Learning by doing—it’s ok if code doesn’t run the first time.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B1687A8-670B-2018-037A-322DB6948CE7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28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Mindset</a:t>
            </a:r>
            <a:endParaRPr lang="en-US" sz="28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1020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D8217C-84A4-384C-B9BA-7D3E6D23E1A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19200" y="3105834"/>
            <a:ext cx="7315200" cy="646331"/>
          </a:xfrm>
          <a:prstGeom prst="rect">
            <a:avLst/>
          </a:prstGeom>
        </p:spPr>
        <p:txBody>
          <a:bodyPr/>
          <a:lstStyle/>
          <a:p>
            <a:r>
              <a:rPr lang="en-US" sz="4200" dirty="0">
                <a:solidFill>
                  <a:schemeClr val="accent6">
                    <a:lumMod val="75000"/>
                  </a:schemeClr>
                </a:solidFill>
              </a:rPr>
              <a:t>Please bring your laptop</a:t>
            </a:r>
          </a:p>
        </p:txBody>
      </p:sp>
    </p:spTree>
    <p:extLst>
      <p:ext uri="{BB962C8B-B14F-4D97-AF65-F5344CB8AC3E}">
        <p14:creationId xmlns:p14="http://schemas.microsoft.com/office/powerpoint/2010/main" val="3580899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8594-DF5A-57D9-8A99-B00AD730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6967C5-AB37-62BE-03F1-FE9D410BA505}"/>
              </a:ext>
            </a:extLst>
          </p:cNvPr>
          <p:cNvSpPr txBox="1"/>
          <p:nvPr/>
        </p:nvSpPr>
        <p:spPr>
          <a:xfrm>
            <a:off x="1219200" y="3276600"/>
            <a:ext cx="717100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“The hottest new programming language is English”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				— Andrej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Karpathy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4E758D5-C36C-A8A1-7562-3EC79748D96B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28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Vibe Coding</a:t>
            </a:r>
            <a:endParaRPr lang="en-US" sz="28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436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6195272-2273-AEDC-4B39-5ACD40D9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59071" y="3844326"/>
            <a:ext cx="2181874" cy="1390675"/>
          </a:xfrm>
          <a:prstGeom prst="roundRect">
            <a:avLst/>
          </a:prstGeom>
          <a:solidFill>
            <a:srgbClr val="7030A0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7030A0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E94CFA-7A1B-2AB6-8339-FC135162A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094" y="3804149"/>
            <a:ext cx="2191214" cy="138474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93C53B-012B-9E74-3106-698DDF6D2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60679" y="2336992"/>
            <a:ext cx="2214612" cy="133766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108A633-8E11-C83F-BF2B-A73C2BA7B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094" y="2345763"/>
            <a:ext cx="2212446" cy="134618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5DF24A-DA85-F7E5-F2BF-2305339BE7FE}"/>
              </a:ext>
            </a:extLst>
          </p:cNvPr>
          <p:cNvSpPr txBox="1"/>
          <p:nvPr/>
        </p:nvSpPr>
        <p:spPr>
          <a:xfrm>
            <a:off x="1110896" y="2830216"/>
            <a:ext cx="1357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Known to AI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D1D5FF-38D1-D72E-13D7-BCA82B0AE6C1}"/>
              </a:ext>
            </a:extLst>
          </p:cNvPr>
          <p:cNvSpPr txBox="1"/>
          <p:nvPr/>
        </p:nvSpPr>
        <p:spPr>
          <a:xfrm>
            <a:off x="899247" y="4401164"/>
            <a:ext cx="1618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Unknown to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49ED0C-7CE7-3DE9-7DDC-FC23336A7423}"/>
              </a:ext>
            </a:extLst>
          </p:cNvPr>
          <p:cNvSpPr txBox="1"/>
          <p:nvPr/>
        </p:nvSpPr>
        <p:spPr>
          <a:xfrm>
            <a:off x="3243599" y="1666414"/>
            <a:ext cx="1227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Known to Human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C83970-F5FA-9711-FBDC-FBEB114A88AE}"/>
              </a:ext>
            </a:extLst>
          </p:cNvPr>
          <p:cNvSpPr txBox="1"/>
          <p:nvPr/>
        </p:nvSpPr>
        <p:spPr>
          <a:xfrm>
            <a:off x="5441295" y="1677287"/>
            <a:ext cx="159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Unknown to Human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C1490C-4C6A-707C-85AF-1413BA7E4C5A}"/>
              </a:ext>
            </a:extLst>
          </p:cNvPr>
          <p:cNvSpPr txBox="1"/>
          <p:nvPr/>
        </p:nvSpPr>
        <p:spPr>
          <a:xfrm>
            <a:off x="3218299" y="2812858"/>
            <a:ext cx="1480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Working From Common Gound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92A5D2-D112-E546-46BD-4E3ACEDFD988}"/>
              </a:ext>
            </a:extLst>
          </p:cNvPr>
          <p:cNvSpPr txBox="1"/>
          <p:nvPr/>
        </p:nvSpPr>
        <p:spPr>
          <a:xfrm>
            <a:off x="3243599" y="4358021"/>
            <a:ext cx="172456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Guided by </a:t>
            </a:r>
            <a:br>
              <a:rPr lang="en-US" sz="1350" dirty="0"/>
            </a:br>
            <a:r>
              <a:rPr lang="en-US" sz="1350" dirty="0"/>
              <a:t>Human Judgement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052A09-A5EF-C8A7-DD45-32F17A0695FD}"/>
              </a:ext>
            </a:extLst>
          </p:cNvPr>
          <p:cNvSpPr txBox="1"/>
          <p:nvPr/>
        </p:nvSpPr>
        <p:spPr>
          <a:xfrm>
            <a:off x="5669086" y="2812859"/>
            <a:ext cx="121468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Powered by AI Capability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BDC7D4-3C0C-52C5-7BE2-78DCFE0270D4}"/>
              </a:ext>
            </a:extLst>
          </p:cNvPr>
          <p:cNvSpPr txBox="1"/>
          <p:nvPr/>
        </p:nvSpPr>
        <p:spPr>
          <a:xfrm>
            <a:off x="5441295" y="4331914"/>
            <a:ext cx="152394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Exploring the </a:t>
            </a:r>
            <a:br>
              <a:rPr lang="en-US" sz="1350" dirty="0"/>
            </a:br>
            <a:r>
              <a:rPr lang="en-US" sz="1350" dirty="0"/>
              <a:t>Unknown Together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D4194C9-B3F3-2BA9-41D4-A1D1EE81A25B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28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Human-AI Partnership</a:t>
            </a:r>
            <a:endParaRPr lang="en-US" sz="28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315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7F424D-EE67-432C-4291-285A1F9F6F42}"/>
              </a:ext>
            </a:extLst>
          </p:cNvPr>
          <p:cNvSpPr txBox="1"/>
          <p:nvPr/>
        </p:nvSpPr>
        <p:spPr>
          <a:xfrm>
            <a:off x="655922" y="1858320"/>
            <a:ext cx="38700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Known to Human, Known to AI</a:t>
            </a:r>
            <a:r>
              <a:rPr lang="en-US" sz="2200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0E5DE6-D5D3-E07D-6698-E582EA02B58D}"/>
              </a:ext>
            </a:extLst>
          </p:cNvPr>
          <p:cNvSpPr txBox="1"/>
          <p:nvPr/>
        </p:nvSpPr>
        <p:spPr>
          <a:xfrm>
            <a:off x="1462900" y="2243616"/>
            <a:ext cx="7528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Human and AI work smoothly with minimal explanation because they already understand the task and context in common terms.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9F458-B9C8-5800-5FE9-F1FD6F5B85F6}"/>
              </a:ext>
            </a:extLst>
          </p:cNvPr>
          <p:cNvSpPr txBox="1"/>
          <p:nvPr/>
        </p:nvSpPr>
        <p:spPr>
          <a:xfrm>
            <a:off x="632259" y="2951336"/>
            <a:ext cx="4192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Known to Human, Unknown to AI: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3C7593-983F-30ED-74D0-817C626A15B5}"/>
              </a:ext>
            </a:extLst>
          </p:cNvPr>
          <p:cNvSpPr txBox="1"/>
          <p:nvPr/>
        </p:nvSpPr>
        <p:spPr>
          <a:xfrm>
            <a:off x="1404614" y="3215835"/>
            <a:ext cx="6953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human leads with judgment, context, and values, while AI supports execution within those boundaries, accelerates and scales work by handling heavy-lifting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52E90-3F43-1BE3-74DB-4A80927C44C3}"/>
              </a:ext>
            </a:extLst>
          </p:cNvPr>
          <p:cNvSpPr txBox="1"/>
          <p:nvPr/>
        </p:nvSpPr>
        <p:spPr>
          <a:xfrm>
            <a:off x="632259" y="4217467"/>
            <a:ext cx="4192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Known to AI, Unknown to Human: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CD53E4-47A4-656D-AB63-FAA89A675245}"/>
              </a:ext>
            </a:extLst>
          </p:cNvPr>
          <p:cNvSpPr txBox="1"/>
          <p:nvPr/>
        </p:nvSpPr>
        <p:spPr>
          <a:xfrm>
            <a:off x="1472402" y="4532001"/>
            <a:ext cx="6865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human, as an inquisitor, elicits insights through iterative questioning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E2B711-4046-88E6-47D8-FF0B640B6642}"/>
              </a:ext>
            </a:extLst>
          </p:cNvPr>
          <p:cNvSpPr txBox="1"/>
          <p:nvPr/>
        </p:nvSpPr>
        <p:spPr>
          <a:xfrm>
            <a:off x="666349" y="5314494"/>
            <a:ext cx="45109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Unknown to Human, Unknown to AI: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7D25AC-1A65-1016-36FB-1BB164FE637F}"/>
              </a:ext>
            </a:extLst>
          </p:cNvPr>
          <p:cNvSpPr txBox="1"/>
          <p:nvPr/>
        </p:nvSpPr>
        <p:spPr>
          <a:xfrm>
            <a:off x="1510101" y="5612109"/>
            <a:ext cx="6953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Human and AI explore unknowns together, using dialogue and iteration to uncover insights neither could reach alone.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E464319-B059-5E31-D936-67F4B854A5B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1069756"/>
            <a:ext cx="7886700" cy="492443"/>
          </a:xfrm>
          <a:prstGeom prst="rect">
            <a:avLst/>
          </a:prstGeom>
        </p:spPr>
        <p:txBody>
          <a:bodyPr/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Johari’s Window</a:t>
            </a:r>
          </a:p>
        </p:txBody>
      </p:sp>
    </p:spTree>
    <p:extLst>
      <p:ext uri="{BB962C8B-B14F-4D97-AF65-F5344CB8AC3E}">
        <p14:creationId xmlns:p14="http://schemas.microsoft.com/office/powerpoint/2010/main" val="85342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724E3-859C-6D58-5E7F-BD63B2571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606EBFD-A23E-23BD-C562-556632C1C7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1069756"/>
            <a:ext cx="7886700" cy="492443"/>
          </a:xfrm>
          <a:prstGeom prst="rect">
            <a:avLst/>
          </a:prstGeom>
        </p:spPr>
        <p:txBody>
          <a:bodyPr/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Coding…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34806F-38D7-CFE6-BF21-D270D0BAB66A}"/>
              </a:ext>
            </a:extLst>
          </p:cNvPr>
          <p:cNvSpPr txBox="1"/>
          <p:nvPr/>
        </p:nvSpPr>
        <p:spPr>
          <a:xfrm>
            <a:off x="914400" y="1999294"/>
            <a:ext cx="489108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Do you think :</a:t>
            </a:r>
          </a:p>
          <a:p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AI fully understand your vision?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AI fully understand your intention</a:t>
            </a:r>
            <a:r>
              <a:rPr lang="en-US" sz="22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029EBF-8D97-C868-B4A5-E0E70F5C0396}"/>
              </a:ext>
            </a:extLst>
          </p:cNvPr>
          <p:cNvSpPr txBox="1"/>
          <p:nvPr/>
        </p:nvSpPr>
        <p:spPr>
          <a:xfrm>
            <a:off x="838200" y="4038600"/>
            <a:ext cx="7499938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When Coding is a skill that known to AI but not to you,</a:t>
            </a:r>
            <a:b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Do you want to:</a:t>
            </a:r>
          </a:p>
          <a:p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Blindly delegate the job to AI?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Learn from AI and establish the “common ground”?</a:t>
            </a:r>
          </a:p>
        </p:txBody>
      </p:sp>
    </p:spTree>
    <p:extLst>
      <p:ext uri="{BB962C8B-B14F-4D97-AF65-F5344CB8AC3E}">
        <p14:creationId xmlns:p14="http://schemas.microsoft.com/office/powerpoint/2010/main" val="10340308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snake coming out of an egg&#10;&#10;Description automatically generated">
            <a:extLst>
              <a:ext uri="{FF2B5EF4-FFF2-40B4-BE49-F238E27FC236}">
                <a16:creationId xmlns:a16="http://schemas.microsoft.com/office/drawing/2014/main" id="{E3D0DF68-B7D3-7345-9FDD-5180CD9675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760" y="2950464"/>
            <a:ext cx="3462945" cy="34629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E52C3D-98FF-DAAD-1207-8A3D87773BC4}"/>
              </a:ext>
            </a:extLst>
          </p:cNvPr>
          <p:cNvSpPr txBox="1"/>
          <p:nvPr/>
        </p:nvSpPr>
        <p:spPr>
          <a:xfrm>
            <a:off x="1371600" y="3056620"/>
            <a:ext cx="687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did the Python say when he came out of his shell?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B6678-A465-EEC7-80F2-0A300834045B}"/>
              </a:ext>
            </a:extLst>
          </p:cNvPr>
          <p:cNvSpPr txBox="1"/>
          <p:nvPr/>
        </p:nvSpPr>
        <p:spPr>
          <a:xfrm>
            <a:off x="1371600" y="3886200"/>
            <a:ext cx="68703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0070C0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Answer: </a:t>
            </a:r>
          </a:p>
          <a:p>
            <a:pPr algn="l"/>
            <a:endParaRPr lang="en-US" sz="2400" b="1" i="0" dirty="0">
              <a:solidFill>
                <a:srgbClr val="0070C0"/>
              </a:solidFill>
              <a:effectLst/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algn="l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Print</a:t>
            </a:r>
            <a:r>
              <a:rPr lang="en-US" b="1" dirty="0">
                <a:solidFill>
                  <a:srgbClr val="0070C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(“Hello World!”)</a:t>
            </a:r>
            <a:endParaRPr lang="en-US" b="1" i="0" dirty="0">
              <a:solidFill>
                <a:srgbClr val="0070C0"/>
              </a:solidFill>
              <a:effectLst/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44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05E9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3874</TotalTime>
  <Words>1688</Words>
  <Application>Microsoft Macintosh PowerPoint</Application>
  <PresentationFormat>On-screen Show (4:3)</PresentationFormat>
  <Paragraphs>288</Paragraphs>
  <Slides>34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MV Boli</vt:lpstr>
      <vt:lpstr>Times New Roman</vt:lpstr>
      <vt:lpstr>Verdana</vt:lpstr>
      <vt:lpstr>Office Theme</vt:lpstr>
      <vt:lpstr>Computational Economics</vt:lpstr>
      <vt:lpstr>About me</vt:lpstr>
      <vt:lpstr>PowerPoint Presentation</vt:lpstr>
      <vt:lpstr>PowerPoint Presentation</vt:lpstr>
      <vt:lpstr>PowerPoint Presentation</vt:lpstr>
      <vt:lpstr>Computational Economics</vt:lpstr>
      <vt:lpstr>PowerPoint Presentation</vt:lpstr>
      <vt:lpstr>Where is your future career?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draw a stag  in three steps ?</vt:lpstr>
      <vt:lpstr>How to draw a stag  in three steps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Johari’s Window</vt:lpstr>
      <vt:lpstr>For Coding…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Economics</dc:title>
  <cp:lastModifiedBy>Sining Wang</cp:lastModifiedBy>
  <cp:revision>37</cp:revision>
  <dcterms:created xsi:type="dcterms:W3CDTF">2021-08-18T20:56:28Z</dcterms:created>
  <dcterms:modified xsi:type="dcterms:W3CDTF">2026-07-04T14:15:08Z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2021-08-17T00:00:00Z</vt:filetime>
  </property>
  <property fmtid="{D5CDD505-2E9C-101B-9397-08002B2CF9AE}" pid="3" name="Creator">
    <vt:lpwstr>Adobe InDesign 16.3 (Macintosh)</vt:lpwstr>
  </property>
  <property fmtid="{D5CDD505-2E9C-101B-9397-08002B2CF9AE}" pid="4" name="LastSaved">
    <vt:filetime>2021-08-18T00:00:00Z</vt:filetime>
  </property>
</Properties>
</file>