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9"/>
  </p:notesMasterIdLst>
  <p:sldIdLst>
    <p:sldId id="256" r:id="rId2"/>
    <p:sldId id="257" r:id="rId3"/>
    <p:sldId id="258" r:id="rId4"/>
    <p:sldId id="260" r:id="rId5"/>
    <p:sldId id="331" r:id="rId6"/>
    <p:sldId id="261" r:id="rId7"/>
    <p:sldId id="333" r:id="rId8"/>
    <p:sldId id="329" r:id="rId9"/>
    <p:sldId id="327" r:id="rId10"/>
    <p:sldId id="326" r:id="rId11"/>
    <p:sldId id="321" r:id="rId12"/>
    <p:sldId id="324" r:id="rId13"/>
    <p:sldId id="334" r:id="rId14"/>
    <p:sldId id="335" r:id="rId15"/>
    <p:sldId id="336" r:id="rId16"/>
    <p:sldId id="347" r:id="rId17"/>
    <p:sldId id="330" r:id="rId18"/>
    <p:sldId id="338" r:id="rId19"/>
    <p:sldId id="340" r:id="rId20"/>
    <p:sldId id="342" r:id="rId21"/>
    <p:sldId id="341" r:id="rId22"/>
    <p:sldId id="343" r:id="rId23"/>
    <p:sldId id="344" r:id="rId24"/>
    <p:sldId id="345" r:id="rId25"/>
    <p:sldId id="346" r:id="rId26"/>
    <p:sldId id="348" r:id="rId27"/>
    <p:sldId id="263" r:id="rId28"/>
    <p:sldId id="311" r:id="rId29"/>
    <p:sldId id="312" r:id="rId30"/>
    <p:sldId id="349" r:id="rId31"/>
    <p:sldId id="313" r:id="rId32"/>
    <p:sldId id="337" r:id="rId33"/>
    <p:sldId id="350" r:id="rId34"/>
    <p:sldId id="339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63" r:id="rId48"/>
    <p:sldId id="364" r:id="rId49"/>
    <p:sldId id="365" r:id="rId50"/>
    <p:sldId id="366" r:id="rId51"/>
    <p:sldId id="367" r:id="rId52"/>
    <p:sldId id="368" r:id="rId53"/>
    <p:sldId id="267" r:id="rId54"/>
    <p:sldId id="370" r:id="rId55"/>
    <p:sldId id="371" r:id="rId56"/>
    <p:sldId id="372" r:id="rId57"/>
    <p:sldId id="400" r:id="rId58"/>
    <p:sldId id="384" r:id="rId59"/>
    <p:sldId id="401" r:id="rId60"/>
    <p:sldId id="402" r:id="rId61"/>
    <p:sldId id="403" r:id="rId62"/>
    <p:sldId id="404" r:id="rId63"/>
    <p:sldId id="394" r:id="rId64"/>
    <p:sldId id="387" r:id="rId65"/>
    <p:sldId id="395" r:id="rId66"/>
    <p:sldId id="388" r:id="rId67"/>
    <p:sldId id="389" r:id="rId68"/>
    <p:sldId id="396" r:id="rId69"/>
    <p:sldId id="405" r:id="rId70"/>
    <p:sldId id="369" r:id="rId71"/>
    <p:sldId id="285" r:id="rId72"/>
    <p:sldId id="286" r:id="rId73"/>
    <p:sldId id="407" r:id="rId74"/>
    <p:sldId id="408" r:id="rId75"/>
    <p:sldId id="409" r:id="rId76"/>
    <p:sldId id="410" r:id="rId77"/>
    <p:sldId id="411" r:id="rId78"/>
    <p:sldId id="412" r:id="rId79"/>
    <p:sldId id="293" r:id="rId80"/>
    <p:sldId id="294" r:id="rId81"/>
    <p:sldId id="295" r:id="rId82"/>
    <p:sldId id="296" r:id="rId83"/>
    <p:sldId id="297" r:id="rId84"/>
    <p:sldId id="298" r:id="rId85"/>
    <p:sldId id="299" r:id="rId86"/>
    <p:sldId id="300" r:id="rId87"/>
    <p:sldId id="429" r:id="rId88"/>
    <p:sldId id="418" r:id="rId89"/>
    <p:sldId id="419" r:id="rId90"/>
    <p:sldId id="421" r:id="rId91"/>
    <p:sldId id="422" r:id="rId92"/>
    <p:sldId id="423" r:id="rId93"/>
    <p:sldId id="424" r:id="rId94"/>
    <p:sldId id="425" r:id="rId95"/>
    <p:sldId id="426" r:id="rId96"/>
    <p:sldId id="427" r:id="rId97"/>
    <p:sldId id="416" r:id="rId98"/>
    <p:sldId id="431" r:id="rId99"/>
    <p:sldId id="301" r:id="rId100"/>
    <p:sldId id="432" r:id="rId101"/>
    <p:sldId id="433" r:id="rId102"/>
    <p:sldId id="434" r:id="rId103"/>
    <p:sldId id="435" r:id="rId104"/>
    <p:sldId id="436" r:id="rId105"/>
    <p:sldId id="373" r:id="rId106"/>
    <p:sldId id="437" r:id="rId107"/>
    <p:sldId id="439" r:id="rId108"/>
    <p:sldId id="314" r:id="rId109"/>
    <p:sldId id="440" r:id="rId110"/>
    <p:sldId id="441" r:id="rId111"/>
    <p:sldId id="442" r:id="rId112"/>
    <p:sldId id="443" r:id="rId113"/>
    <p:sldId id="444" r:id="rId114"/>
    <p:sldId id="445" r:id="rId115"/>
    <p:sldId id="446" r:id="rId116"/>
    <p:sldId id="447" r:id="rId117"/>
    <p:sldId id="448" r:id="rId1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F79646"/>
    <a:srgbClr val="27F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F612B-4862-F045-B7F3-CE932A867501}" v="91" dt="2021-12-02T17:24:54.9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1354"/>
    <p:restoredTop sz="75700" autoAdjust="0"/>
  </p:normalViewPr>
  <p:slideViewPr>
    <p:cSldViewPr>
      <p:cViewPr varScale="1">
        <p:scale>
          <a:sx n="125" d="100"/>
          <a:sy n="125" d="100"/>
        </p:scale>
        <p:origin x="53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125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Sining" userId="704a977d29132bd8" providerId="LiveId" clId="{BFDF612B-4862-F045-B7F3-CE932A867501}"/>
    <pc:docChg chg="undo custSel addSld delSld modSld sldOrd modMainMaster">
      <pc:chgData name="Wang Sining" userId="704a977d29132bd8" providerId="LiveId" clId="{BFDF612B-4862-F045-B7F3-CE932A867501}" dt="2021-12-02T17:24:54.915" v="3040"/>
      <pc:docMkLst>
        <pc:docMk/>
      </pc:docMkLst>
      <pc:sldChg chg="addSp delSp modSp mod">
        <pc:chgData name="Wang Sining" userId="704a977d29132bd8" providerId="LiveId" clId="{BFDF612B-4862-F045-B7F3-CE932A867501}" dt="2021-11-18T16:42:57.259" v="24" actId="20577"/>
        <pc:sldMkLst>
          <pc:docMk/>
          <pc:sldMk cId="0" sldId="256"/>
        </pc:sldMkLst>
        <pc:spChg chg="mod">
          <ac:chgData name="Wang Sining" userId="704a977d29132bd8" providerId="LiveId" clId="{BFDF612B-4862-F045-B7F3-CE932A867501}" dt="2021-11-18T16:37:52.840" v="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Wang Sining" userId="704a977d29132bd8" providerId="LiveId" clId="{BFDF612B-4862-F045-B7F3-CE932A867501}" dt="2021-11-18T16:42:57.259" v="2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Wang Sining" userId="704a977d29132bd8" providerId="LiveId" clId="{BFDF612B-4862-F045-B7F3-CE932A867501}" dt="2021-11-18T16:41:51.649" v="13"/>
          <ac:spMkLst>
            <pc:docMk/>
            <pc:sldMk cId="0" sldId="256"/>
            <ac:spMk id="16" creationId="{4EDA96A8-7B47-7D42-B8DC-A3D2233D85A9}"/>
          </ac:spMkLst>
        </pc:spChg>
        <pc:spChg chg="mod">
          <ac:chgData name="Wang Sining" userId="704a977d29132bd8" providerId="LiveId" clId="{BFDF612B-4862-F045-B7F3-CE932A867501}" dt="2021-11-18T16:41:51.649" v="13"/>
          <ac:spMkLst>
            <pc:docMk/>
            <pc:sldMk cId="0" sldId="256"/>
            <ac:spMk id="17" creationId="{B25F4D48-0AB4-E14C-B6FB-6FDD7A07F67C}"/>
          </ac:spMkLst>
        </pc:spChg>
        <pc:spChg chg="mod">
          <ac:chgData name="Wang Sining" userId="704a977d29132bd8" providerId="LiveId" clId="{BFDF612B-4862-F045-B7F3-CE932A867501}" dt="2021-11-18T16:41:51.649" v="13"/>
          <ac:spMkLst>
            <pc:docMk/>
            <pc:sldMk cId="0" sldId="256"/>
            <ac:spMk id="18" creationId="{7DD7D4F4-7E4B-5647-9F34-3DA850EDDF37}"/>
          </ac:spMkLst>
        </pc:spChg>
        <pc:grpChg chg="add del mod">
          <ac:chgData name="Wang Sining" userId="704a977d29132bd8" providerId="LiveId" clId="{BFDF612B-4862-F045-B7F3-CE932A867501}" dt="2021-11-18T16:41:50.709" v="12" actId="478"/>
          <ac:grpSpMkLst>
            <pc:docMk/>
            <pc:sldMk cId="0" sldId="256"/>
            <ac:grpSpMk id="2" creationId="{00000000-0000-0000-0000-000000000000}"/>
          </ac:grpSpMkLst>
        </pc:grpChg>
        <pc:grpChg chg="add mod">
          <ac:chgData name="Wang Sining" userId="704a977d29132bd8" providerId="LiveId" clId="{BFDF612B-4862-F045-B7F3-CE932A867501}" dt="2021-11-18T16:41:56.124" v="14" actId="167"/>
          <ac:grpSpMkLst>
            <pc:docMk/>
            <pc:sldMk cId="0" sldId="256"/>
            <ac:grpSpMk id="14" creationId="{00008A29-A960-574D-8F70-CA9D5A384E52}"/>
          </ac:grpSpMkLst>
        </pc:grpChg>
        <pc:picChg chg="add del">
          <ac:chgData name="Wang Sining" userId="704a977d29132bd8" providerId="LiveId" clId="{BFDF612B-4862-F045-B7F3-CE932A867501}" dt="2021-11-18T16:41:45.968" v="11" actId="478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Wang Sining" userId="704a977d29132bd8" providerId="LiveId" clId="{BFDF612B-4862-F045-B7F3-CE932A867501}" dt="2021-11-18T16:41:51.649" v="13"/>
          <ac:picMkLst>
            <pc:docMk/>
            <pc:sldMk cId="0" sldId="256"/>
            <ac:picMk id="15" creationId="{2FAD5BCE-435C-D842-A5AC-C8880B28785D}"/>
          </ac:picMkLst>
        </pc:picChg>
      </pc:sldChg>
      <pc:sldChg chg="modSp mod">
        <pc:chgData name="Wang Sining" userId="704a977d29132bd8" providerId="LiveId" clId="{BFDF612B-4862-F045-B7F3-CE932A867501}" dt="2021-11-18T16:55:16.812" v="297" actId="20577"/>
        <pc:sldMkLst>
          <pc:docMk/>
          <pc:sldMk cId="0" sldId="257"/>
        </pc:sldMkLst>
        <pc:spChg chg="mod">
          <ac:chgData name="Wang Sining" userId="704a977d29132bd8" providerId="LiveId" clId="{BFDF612B-4862-F045-B7F3-CE932A867501}" dt="2021-11-18T16:55:16.812" v="29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Wang Sining" userId="704a977d29132bd8" providerId="LiveId" clId="{BFDF612B-4862-F045-B7F3-CE932A867501}" dt="2021-11-18T17:00:49.026" v="323" actId="20577"/>
        <pc:sldMkLst>
          <pc:docMk/>
          <pc:sldMk cId="0" sldId="258"/>
        </pc:sldMkLst>
        <pc:spChg chg="mod">
          <ac:chgData name="Wang Sining" userId="704a977d29132bd8" providerId="LiveId" clId="{BFDF612B-4862-F045-B7F3-CE932A867501}" dt="2021-11-18T17:00:49.026" v="323" actId="20577"/>
          <ac:spMkLst>
            <pc:docMk/>
            <pc:sldMk cId="0" sldId="258"/>
            <ac:spMk id="5" creationId="{00000000-0000-0000-0000-000000000000}"/>
          </ac:spMkLst>
        </pc:spChg>
      </pc:sldChg>
      <pc:sldChg chg="ord">
        <pc:chgData name="Wang Sining" userId="704a977d29132bd8" providerId="LiveId" clId="{BFDF612B-4862-F045-B7F3-CE932A867501}" dt="2021-11-18T18:01:35.740" v="374" actId="20578"/>
        <pc:sldMkLst>
          <pc:docMk/>
          <pc:sldMk cId="0" sldId="260"/>
        </pc:sldMkLst>
      </pc:sldChg>
      <pc:sldChg chg="modSp mod">
        <pc:chgData name="Wang Sining" userId="704a977d29132bd8" providerId="LiveId" clId="{BFDF612B-4862-F045-B7F3-CE932A867501}" dt="2021-11-18T18:06:01.688" v="377" actId="6549"/>
        <pc:sldMkLst>
          <pc:docMk/>
          <pc:sldMk cId="0" sldId="261"/>
        </pc:sldMkLst>
        <pc:graphicFrameChg chg="modGraphic">
          <ac:chgData name="Wang Sining" userId="704a977d29132bd8" providerId="LiveId" clId="{BFDF612B-4862-F045-B7F3-CE932A867501}" dt="2021-11-18T18:06:01.688" v="377" actId="6549"/>
          <ac:graphicFrameMkLst>
            <pc:docMk/>
            <pc:sldMk cId="0" sldId="261"/>
            <ac:graphicFrameMk id="2" creationId="{00000000-0000-0000-0000-000000000000}"/>
          </ac:graphicFrameMkLst>
        </pc:graphicFrameChg>
      </pc:sldChg>
      <pc:sldChg chg="delSp modSp mod">
        <pc:chgData name="Wang Sining" userId="704a977d29132bd8" providerId="LiveId" clId="{BFDF612B-4862-F045-B7F3-CE932A867501}" dt="2021-11-18T18:09:28.353" v="423" actId="478"/>
        <pc:sldMkLst>
          <pc:docMk/>
          <pc:sldMk cId="0" sldId="263"/>
        </pc:sldMkLst>
        <pc:spChg chg="del">
          <ac:chgData name="Wang Sining" userId="704a977d29132bd8" providerId="LiveId" clId="{BFDF612B-4862-F045-B7F3-CE932A867501}" dt="2021-11-18T18:09:22.932" v="418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27.318" v="422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20.902" v="416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21.898" v="417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Wang Sining" userId="704a977d29132bd8" providerId="LiveId" clId="{BFDF612B-4862-F045-B7F3-CE932A867501}" dt="2021-11-18T18:09:26.314" v="421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28.353" v="423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23.981" v="419" actId="478"/>
          <ac:spMkLst>
            <pc:docMk/>
            <pc:sldMk cId="0" sldId="263"/>
            <ac:spMk id="10" creationId="{00000000-0000-0000-0000-000000000000}"/>
          </ac:spMkLst>
        </pc:spChg>
      </pc:sldChg>
      <pc:sldChg chg="modSp mod ord">
        <pc:chgData name="Wang Sining" userId="704a977d29132bd8" providerId="LiveId" clId="{BFDF612B-4862-F045-B7F3-CE932A867501}" dt="2021-11-18T18:11:26.129" v="484" actId="20577"/>
        <pc:sldMkLst>
          <pc:docMk/>
          <pc:sldMk cId="0" sldId="264"/>
        </pc:sldMkLst>
        <pc:spChg chg="mod">
          <ac:chgData name="Wang Sining" userId="704a977d29132bd8" providerId="LiveId" clId="{BFDF612B-4862-F045-B7F3-CE932A867501}" dt="2021-11-18T18:11:26.129" v="484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Wang Sining" userId="704a977d29132bd8" providerId="LiveId" clId="{BFDF612B-4862-F045-B7F3-CE932A867501}" dt="2021-11-18T18:08:01.759" v="412" actId="14100"/>
        <pc:sldMkLst>
          <pc:docMk/>
          <pc:sldMk cId="0" sldId="265"/>
        </pc:sldMkLst>
        <pc:spChg chg="mod">
          <ac:chgData name="Wang Sining" userId="704a977d29132bd8" providerId="LiveId" clId="{BFDF612B-4862-F045-B7F3-CE932A867501}" dt="2021-11-18T16:43:49.931" v="38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ng Sining" userId="704a977d29132bd8" providerId="LiveId" clId="{BFDF612B-4862-F045-B7F3-CE932A867501}" dt="2021-11-18T18:08:01.759" v="412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del mod">
        <pc:chgData name="Wang Sining" userId="704a977d29132bd8" providerId="LiveId" clId="{BFDF612B-4862-F045-B7F3-CE932A867501}" dt="2021-11-18T18:09:13.710" v="413" actId="2696"/>
        <pc:sldMkLst>
          <pc:docMk/>
          <pc:sldMk cId="0" sldId="266"/>
        </pc:sldMkLst>
        <pc:spChg chg="mod">
          <ac:chgData name="Wang Sining" userId="704a977d29132bd8" providerId="LiveId" clId="{BFDF612B-4862-F045-B7F3-CE932A867501}" dt="2021-11-18T16:43:15.146" v="25" actId="1076"/>
          <ac:spMkLst>
            <pc:docMk/>
            <pc:sldMk cId="0" sldId="266"/>
            <ac:spMk id="6" creationId="{00000000-0000-0000-0000-000000000000}"/>
          </ac:spMkLst>
        </pc:spChg>
      </pc:sldChg>
      <pc:sldChg chg="addSp delSp modSp mod">
        <pc:chgData name="Wang Sining" userId="704a977d29132bd8" providerId="LiveId" clId="{BFDF612B-4862-F045-B7F3-CE932A867501}" dt="2021-11-30T20:27:08.320" v="814" actId="478"/>
        <pc:sldMkLst>
          <pc:docMk/>
          <pc:sldMk cId="0" sldId="275"/>
        </pc:sldMkLst>
        <pc:spChg chg="add del mod">
          <ac:chgData name="Wang Sining" userId="704a977d29132bd8" providerId="LiveId" clId="{BFDF612B-4862-F045-B7F3-CE932A867501}" dt="2021-11-30T20:27:08.320" v="814" actId="478"/>
          <ac:spMkLst>
            <pc:docMk/>
            <pc:sldMk cId="0" sldId="275"/>
            <ac:spMk id="15" creationId="{1396F147-5309-5B4D-861C-FE24D95BC35F}"/>
          </ac:spMkLst>
        </pc:spChg>
      </pc:sldChg>
      <pc:sldChg chg="delSp new del mod">
        <pc:chgData name="Wang Sining" userId="704a977d29132bd8" providerId="LiveId" clId="{BFDF612B-4862-F045-B7F3-CE932A867501}" dt="2021-11-18T16:44:39.487" v="42" actId="2696"/>
        <pc:sldMkLst>
          <pc:docMk/>
          <pc:sldMk cId="199311775" sldId="307"/>
        </pc:sldMkLst>
        <pc:spChg chg="del">
          <ac:chgData name="Wang Sining" userId="704a977d29132bd8" providerId="LiveId" clId="{BFDF612B-4862-F045-B7F3-CE932A867501}" dt="2021-11-18T16:44:37.560" v="41" actId="478"/>
          <ac:spMkLst>
            <pc:docMk/>
            <pc:sldMk cId="199311775" sldId="307"/>
            <ac:spMk id="2" creationId="{3703170B-2D78-3540-9D76-2BF59420E7CF}"/>
          </ac:spMkLst>
        </pc:spChg>
        <pc:spChg chg="del">
          <ac:chgData name="Wang Sining" userId="704a977d29132bd8" providerId="LiveId" clId="{BFDF612B-4862-F045-B7F3-CE932A867501}" dt="2021-11-18T16:44:35.342" v="40" actId="478"/>
          <ac:spMkLst>
            <pc:docMk/>
            <pc:sldMk cId="199311775" sldId="307"/>
            <ac:spMk id="3" creationId="{E2A88DA5-5E99-C347-8778-EE715E75E6E5}"/>
          </ac:spMkLst>
        </pc:spChg>
      </pc:sldChg>
      <pc:sldChg chg="addSp delSp modSp add del mod">
        <pc:chgData name="Wang Sining" userId="704a977d29132bd8" providerId="LiveId" clId="{BFDF612B-4862-F045-B7F3-CE932A867501}" dt="2021-12-02T15:44:23.081" v="819" actId="2696"/>
        <pc:sldMkLst>
          <pc:docMk/>
          <pc:sldMk cId="236745826" sldId="307"/>
        </pc:sldMkLst>
        <pc:spChg chg="del">
          <ac:chgData name="Wang Sining" userId="704a977d29132bd8" providerId="LiveId" clId="{BFDF612B-4862-F045-B7F3-CE932A867501}" dt="2021-11-18T16:44:58.118" v="69" actId="478"/>
          <ac:spMkLst>
            <pc:docMk/>
            <pc:sldMk cId="236745826" sldId="307"/>
            <ac:spMk id="2" creationId="{00000000-0000-0000-0000-000000000000}"/>
          </ac:spMkLst>
        </pc:spChg>
        <pc:spChg chg="mod">
          <ac:chgData name="Wang Sining" userId="704a977d29132bd8" providerId="LiveId" clId="{BFDF612B-4862-F045-B7F3-CE932A867501}" dt="2021-11-18T16:53:27.690" v="267" actId="1076"/>
          <ac:spMkLst>
            <pc:docMk/>
            <pc:sldMk cId="236745826" sldId="307"/>
            <ac:spMk id="3" creationId="{00000000-0000-0000-0000-000000000000}"/>
          </ac:spMkLst>
        </pc:spChg>
        <pc:spChg chg="add mod">
          <ac:chgData name="Wang Sining" userId="704a977d29132bd8" providerId="LiveId" clId="{BFDF612B-4862-F045-B7F3-CE932A867501}" dt="2021-11-18T16:53:52.948" v="275" actId="20577"/>
          <ac:spMkLst>
            <pc:docMk/>
            <pc:sldMk cId="236745826" sldId="307"/>
            <ac:spMk id="5" creationId="{4919EFFE-EC08-814B-845E-CE6BF1B91DD9}"/>
          </ac:spMkLst>
        </pc:spChg>
      </pc:sldChg>
      <pc:sldChg chg="addSp modSp add mod ord modNotes">
        <pc:chgData name="Wang Sining" userId="704a977d29132bd8" providerId="LiveId" clId="{BFDF612B-4862-F045-B7F3-CE932A867501}" dt="2021-11-18T17:54:59.063" v="340" actId="20578"/>
        <pc:sldMkLst>
          <pc:docMk/>
          <pc:sldMk cId="3777703742" sldId="308"/>
        </pc:sldMkLst>
        <pc:picChg chg="add mod">
          <ac:chgData name="Wang Sining" userId="704a977d29132bd8" providerId="LiveId" clId="{BFDF612B-4862-F045-B7F3-CE932A867501}" dt="2021-11-18T17:54:53.813" v="337"/>
          <ac:picMkLst>
            <pc:docMk/>
            <pc:sldMk cId="3777703742" sldId="308"/>
            <ac:picMk id="5" creationId="{E4119EA1-D35B-E04E-97A0-7E528480CB3B}"/>
          </ac:picMkLst>
        </pc:picChg>
      </pc:sldChg>
      <pc:sldChg chg="addSp modSp add mod ord modNotes">
        <pc:chgData name="Wang Sining" userId="704a977d29132bd8" providerId="LiveId" clId="{BFDF612B-4862-F045-B7F3-CE932A867501}" dt="2021-11-18T17:58:26.885" v="373"/>
        <pc:sldMkLst>
          <pc:docMk/>
          <pc:sldMk cId="1102995351" sldId="309"/>
        </pc:sldMkLst>
        <pc:picChg chg="add mod">
          <ac:chgData name="Wang Sining" userId="704a977d29132bd8" providerId="LiveId" clId="{BFDF612B-4862-F045-B7F3-CE932A867501}" dt="2021-11-18T17:58:26.830" v="371"/>
          <ac:picMkLst>
            <pc:docMk/>
            <pc:sldMk cId="1102995351" sldId="309"/>
            <ac:picMk id="5" creationId="{6EA32DC2-0362-7C46-820B-DCCD57DB98BC}"/>
          </ac:picMkLst>
        </pc:picChg>
      </pc:sldChg>
      <pc:sldChg chg="addSp modSp add del mod ord modNotes">
        <pc:chgData name="Wang Sining" userId="704a977d29132bd8" providerId="LiveId" clId="{BFDF612B-4862-F045-B7F3-CE932A867501}" dt="2021-11-18T17:58:08.499" v="357" actId="2696"/>
        <pc:sldMkLst>
          <pc:docMk/>
          <pc:sldMk cId="2061086083" sldId="309"/>
        </pc:sldMkLst>
        <pc:picChg chg="add mod">
          <ac:chgData name="Wang Sining" userId="704a977d29132bd8" providerId="LiveId" clId="{BFDF612B-4862-F045-B7F3-CE932A867501}" dt="2021-11-18T17:58:01.748" v="354"/>
          <ac:picMkLst>
            <pc:docMk/>
            <pc:sldMk cId="2061086083" sldId="309"/>
            <ac:picMk id="5" creationId="{122ECB5C-2D7E-EE4F-9394-F8FFD607D20E}"/>
          </ac:picMkLst>
        </pc:picChg>
      </pc:sldChg>
      <pc:sldChg chg="modSp add mod">
        <pc:chgData name="Wang Sining" userId="704a977d29132bd8" providerId="LiveId" clId="{BFDF612B-4862-F045-B7F3-CE932A867501}" dt="2021-11-18T18:16:13.795" v="495" actId="20577"/>
        <pc:sldMkLst>
          <pc:docMk/>
          <pc:sldMk cId="4152742893" sldId="310"/>
        </pc:sldMkLst>
        <pc:graphicFrameChg chg="modGraphic">
          <ac:chgData name="Wang Sining" userId="704a977d29132bd8" providerId="LiveId" clId="{BFDF612B-4862-F045-B7F3-CE932A867501}" dt="2021-11-18T18:16:13.795" v="495" actId="20577"/>
          <ac:graphicFrameMkLst>
            <pc:docMk/>
            <pc:sldMk cId="4152742893" sldId="310"/>
            <ac:graphicFrameMk id="2" creationId="{00000000-0000-0000-0000-000000000000}"/>
          </ac:graphicFrameMkLst>
        </pc:graphicFrameChg>
      </pc:sldChg>
      <pc:sldChg chg="delSp add mod">
        <pc:chgData name="Wang Sining" userId="704a977d29132bd8" providerId="LiveId" clId="{BFDF612B-4862-F045-B7F3-CE932A867501}" dt="2021-11-18T18:09:37.655" v="427" actId="478"/>
        <pc:sldMkLst>
          <pc:docMk/>
          <pc:sldMk cId="397372940" sldId="311"/>
        </pc:sldMkLst>
        <pc:spChg chg="del">
          <ac:chgData name="Wang Sining" userId="704a977d29132bd8" providerId="LiveId" clId="{BFDF612B-4862-F045-B7F3-CE932A867501}" dt="2021-11-18T18:09:32.814" v="425" actId="478"/>
          <ac:spMkLst>
            <pc:docMk/>
            <pc:sldMk cId="397372940" sldId="311"/>
            <ac:spMk id="4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33.707" v="426" actId="478"/>
          <ac:spMkLst>
            <pc:docMk/>
            <pc:sldMk cId="397372940" sldId="311"/>
            <ac:spMk id="8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31.536" v="424" actId="478"/>
          <ac:spMkLst>
            <pc:docMk/>
            <pc:sldMk cId="397372940" sldId="311"/>
            <ac:spMk id="9" creationId="{00000000-0000-0000-0000-000000000000}"/>
          </ac:spMkLst>
        </pc:spChg>
        <pc:spChg chg="del">
          <ac:chgData name="Wang Sining" userId="704a977d29132bd8" providerId="LiveId" clId="{BFDF612B-4862-F045-B7F3-CE932A867501}" dt="2021-11-18T18:09:37.655" v="427" actId="478"/>
          <ac:spMkLst>
            <pc:docMk/>
            <pc:sldMk cId="397372940" sldId="311"/>
            <ac:spMk id="10" creationId="{00000000-0000-0000-0000-000000000000}"/>
          </ac:spMkLst>
        </pc:spChg>
      </pc:sldChg>
      <pc:sldChg chg="add">
        <pc:chgData name="Wang Sining" userId="704a977d29132bd8" providerId="LiveId" clId="{BFDF612B-4862-F045-B7F3-CE932A867501}" dt="2021-11-18T18:09:17.844" v="415"/>
        <pc:sldMkLst>
          <pc:docMk/>
          <pc:sldMk cId="151075940" sldId="312"/>
        </pc:sldMkLst>
      </pc:sldChg>
      <pc:sldChg chg="modSp add mod">
        <pc:chgData name="Wang Sining" userId="704a977d29132bd8" providerId="LiveId" clId="{BFDF612B-4862-F045-B7F3-CE932A867501}" dt="2021-11-23T17:26:56.267" v="809" actId="207"/>
        <pc:sldMkLst>
          <pc:docMk/>
          <pc:sldMk cId="2631718499" sldId="313"/>
        </pc:sldMkLst>
        <pc:spChg chg="mod">
          <ac:chgData name="Wang Sining" userId="704a977d29132bd8" providerId="LiveId" clId="{BFDF612B-4862-F045-B7F3-CE932A867501}" dt="2021-11-23T17:26:56.267" v="809" actId="207"/>
          <ac:spMkLst>
            <pc:docMk/>
            <pc:sldMk cId="2631718499" sldId="313"/>
            <ac:spMk id="2" creationId="{00000000-0000-0000-0000-000000000000}"/>
          </ac:spMkLst>
        </pc:spChg>
        <pc:spChg chg="mod">
          <ac:chgData name="Wang Sining" userId="704a977d29132bd8" providerId="LiveId" clId="{BFDF612B-4862-F045-B7F3-CE932A867501}" dt="2021-11-23T17:15:12.098" v="509" actId="20577"/>
          <ac:spMkLst>
            <pc:docMk/>
            <pc:sldMk cId="2631718499" sldId="313"/>
            <ac:spMk id="3" creationId="{00000000-0000-0000-0000-000000000000}"/>
          </ac:spMkLst>
        </pc:spChg>
      </pc:sldChg>
      <pc:sldChg chg="addSp modSp new del">
        <pc:chgData name="Wang Sining" userId="704a977d29132bd8" providerId="LiveId" clId="{BFDF612B-4862-F045-B7F3-CE932A867501}" dt="2021-11-23T17:15:04.732" v="498" actId="2696"/>
        <pc:sldMkLst>
          <pc:docMk/>
          <pc:sldMk cId="3312938368" sldId="313"/>
        </pc:sldMkLst>
        <pc:spChg chg="add mod">
          <ac:chgData name="Wang Sining" userId="704a977d29132bd8" providerId="LiveId" clId="{BFDF612B-4862-F045-B7F3-CE932A867501}" dt="2021-11-23T17:15:02.652" v="497" actId="767"/>
          <ac:spMkLst>
            <pc:docMk/>
            <pc:sldMk cId="3312938368" sldId="313"/>
            <ac:spMk id="4" creationId="{633EFEE7-4150-7344-B2D7-CD88534E3EF7}"/>
          </ac:spMkLst>
        </pc:spChg>
      </pc:sldChg>
      <pc:sldChg chg="add del">
        <pc:chgData name="Wang Sining" userId="704a977d29132bd8" providerId="LiveId" clId="{BFDF612B-4862-F045-B7F3-CE932A867501}" dt="2021-11-23T17:27:12.307" v="811" actId="2696"/>
        <pc:sldMkLst>
          <pc:docMk/>
          <pc:sldMk cId="250638957" sldId="314"/>
        </pc:sldMkLst>
      </pc:sldChg>
      <pc:sldChg chg="add del">
        <pc:chgData name="Wang Sining" userId="704a977d29132bd8" providerId="LiveId" clId="{BFDF612B-4862-F045-B7F3-CE932A867501}" dt="2021-11-23T17:15:15.618" v="511"/>
        <pc:sldMkLst>
          <pc:docMk/>
          <pc:sldMk cId="937032684" sldId="314"/>
        </pc:sldMkLst>
      </pc:sldChg>
      <pc:sldChg chg="addSp delSp modSp add mod">
        <pc:chgData name="Wang Sining" userId="704a977d29132bd8" providerId="LiveId" clId="{BFDF612B-4862-F045-B7F3-CE932A867501}" dt="2021-12-02T16:13:26.559" v="1704" actId="255"/>
        <pc:sldMkLst>
          <pc:docMk/>
          <pc:sldMk cId="2399301393" sldId="314"/>
        </pc:sldMkLst>
        <pc:spChg chg="del mod">
          <ac:chgData name="Wang Sining" userId="704a977d29132bd8" providerId="LiveId" clId="{BFDF612B-4862-F045-B7F3-CE932A867501}" dt="2021-12-02T15:53:23.639" v="896"/>
          <ac:spMkLst>
            <pc:docMk/>
            <pc:sldMk cId="2399301393" sldId="314"/>
            <ac:spMk id="2" creationId="{00000000-0000-0000-0000-000000000000}"/>
          </ac:spMkLst>
        </pc:spChg>
        <pc:spChg chg="mod">
          <ac:chgData name="Wang Sining" userId="704a977d29132bd8" providerId="LiveId" clId="{BFDF612B-4862-F045-B7F3-CE932A867501}" dt="2021-12-02T15:44:36.816" v="831" actId="20577"/>
          <ac:spMkLst>
            <pc:docMk/>
            <pc:sldMk cId="2399301393" sldId="314"/>
            <ac:spMk id="3" creationId="{00000000-0000-0000-0000-000000000000}"/>
          </ac:spMkLst>
        </pc:spChg>
        <pc:spChg chg="add del mod">
          <ac:chgData name="Wang Sining" userId="704a977d29132bd8" providerId="LiveId" clId="{BFDF612B-4862-F045-B7F3-CE932A867501}" dt="2021-12-02T15:53:23.640" v="898"/>
          <ac:spMkLst>
            <pc:docMk/>
            <pc:sldMk cId="2399301393" sldId="314"/>
            <ac:spMk id="6" creationId="{40F45C6F-A42E-A641-A92D-F654BBE50E6A}"/>
          </ac:spMkLst>
        </pc:spChg>
        <pc:spChg chg="add mod">
          <ac:chgData name="Wang Sining" userId="704a977d29132bd8" providerId="LiveId" clId="{BFDF612B-4862-F045-B7F3-CE932A867501}" dt="2021-12-02T16:13:26.559" v="1704" actId="255"/>
          <ac:spMkLst>
            <pc:docMk/>
            <pc:sldMk cId="2399301393" sldId="314"/>
            <ac:spMk id="7" creationId="{5539FAF5-783F-794E-8909-EA4AD0B0376D}"/>
          </ac:spMkLst>
        </pc:spChg>
        <pc:graphicFrameChg chg="add del mod modGraphic">
          <ac:chgData name="Wang Sining" userId="704a977d29132bd8" providerId="LiveId" clId="{BFDF612B-4862-F045-B7F3-CE932A867501}" dt="2021-12-02T16:08:41.818" v="1361" actId="478"/>
          <ac:graphicFrameMkLst>
            <pc:docMk/>
            <pc:sldMk cId="2399301393" sldId="314"/>
            <ac:graphicFrameMk id="5" creationId="{77EA2A56-A566-594B-990A-651E8764F3C7}"/>
          </ac:graphicFrameMkLst>
        </pc:graphicFrameChg>
      </pc:sldChg>
      <pc:sldChg chg="new del">
        <pc:chgData name="Wang Sining" userId="704a977d29132bd8" providerId="LiveId" clId="{BFDF612B-4862-F045-B7F3-CE932A867501}" dt="2021-12-02T15:44:18.322" v="817" actId="680"/>
        <pc:sldMkLst>
          <pc:docMk/>
          <pc:sldMk cId="3730735933" sldId="314"/>
        </pc:sldMkLst>
      </pc:sldChg>
      <pc:sldChg chg="modSp add mod">
        <pc:chgData name="Wang Sining" userId="704a977d29132bd8" providerId="LiveId" clId="{BFDF612B-4862-F045-B7F3-CE932A867501}" dt="2021-12-02T16:15:15.632" v="1838" actId="20577"/>
        <pc:sldMkLst>
          <pc:docMk/>
          <pc:sldMk cId="522804324" sldId="315"/>
        </pc:sldMkLst>
        <pc:spChg chg="mod">
          <ac:chgData name="Wang Sining" userId="704a977d29132bd8" providerId="LiveId" clId="{BFDF612B-4862-F045-B7F3-CE932A867501}" dt="2021-12-02T16:15:15.632" v="1838" actId="20577"/>
          <ac:spMkLst>
            <pc:docMk/>
            <pc:sldMk cId="522804324" sldId="315"/>
            <ac:spMk id="7" creationId="{5539FAF5-783F-794E-8909-EA4AD0B0376D}"/>
          </ac:spMkLst>
        </pc:spChg>
      </pc:sldChg>
      <pc:sldChg chg="modSp add mod">
        <pc:chgData name="Wang Sining" userId="704a977d29132bd8" providerId="LiveId" clId="{BFDF612B-4862-F045-B7F3-CE932A867501}" dt="2021-12-02T16:19:49.961" v="2008" actId="12"/>
        <pc:sldMkLst>
          <pc:docMk/>
          <pc:sldMk cId="3727730300" sldId="316"/>
        </pc:sldMkLst>
        <pc:spChg chg="mod">
          <ac:chgData name="Wang Sining" userId="704a977d29132bd8" providerId="LiveId" clId="{BFDF612B-4862-F045-B7F3-CE932A867501}" dt="2021-12-02T16:19:49.961" v="2008" actId="12"/>
          <ac:spMkLst>
            <pc:docMk/>
            <pc:sldMk cId="3727730300" sldId="316"/>
            <ac:spMk id="7" creationId="{5539FAF5-783F-794E-8909-EA4AD0B0376D}"/>
          </ac:spMkLst>
        </pc:spChg>
      </pc:sldChg>
      <pc:sldChg chg="new del">
        <pc:chgData name="Wang Sining" userId="704a977d29132bd8" providerId="LiveId" clId="{BFDF612B-4862-F045-B7F3-CE932A867501}" dt="2021-12-02T16:20:06.434" v="2010" actId="680"/>
        <pc:sldMkLst>
          <pc:docMk/>
          <pc:sldMk cId="2082819709" sldId="317"/>
        </pc:sldMkLst>
      </pc:sldChg>
      <pc:sldChg chg="modSp add mod">
        <pc:chgData name="Wang Sining" userId="704a977d29132bd8" providerId="LiveId" clId="{BFDF612B-4862-F045-B7F3-CE932A867501}" dt="2021-12-02T16:38:04.882" v="2990" actId="20577"/>
        <pc:sldMkLst>
          <pc:docMk/>
          <pc:sldMk cId="2370385598" sldId="317"/>
        </pc:sldMkLst>
        <pc:spChg chg="mod">
          <ac:chgData name="Wang Sining" userId="704a977d29132bd8" providerId="LiveId" clId="{BFDF612B-4862-F045-B7F3-CE932A867501}" dt="2021-12-02T16:20:40.659" v="2086" actId="14100"/>
          <ac:spMkLst>
            <pc:docMk/>
            <pc:sldMk cId="2370385598" sldId="317"/>
            <ac:spMk id="3" creationId="{00000000-0000-0000-0000-000000000000}"/>
          </ac:spMkLst>
        </pc:spChg>
        <pc:spChg chg="mod">
          <ac:chgData name="Wang Sining" userId="704a977d29132bd8" providerId="LiveId" clId="{BFDF612B-4862-F045-B7F3-CE932A867501}" dt="2021-12-02T16:38:04.882" v="2990" actId="20577"/>
          <ac:spMkLst>
            <pc:docMk/>
            <pc:sldMk cId="2370385598" sldId="317"/>
            <ac:spMk id="7" creationId="{5539FAF5-783F-794E-8909-EA4AD0B0376D}"/>
          </ac:spMkLst>
        </pc:spChg>
      </pc:sldChg>
      <pc:sldChg chg="modSp add mod">
        <pc:chgData name="Wang Sining" userId="704a977d29132bd8" providerId="LiveId" clId="{BFDF612B-4862-F045-B7F3-CE932A867501}" dt="2021-12-02T16:36:27.973" v="2930" actId="20577"/>
        <pc:sldMkLst>
          <pc:docMk/>
          <pc:sldMk cId="2785319408" sldId="318"/>
        </pc:sldMkLst>
        <pc:spChg chg="mod">
          <ac:chgData name="Wang Sining" userId="704a977d29132bd8" providerId="LiveId" clId="{BFDF612B-4862-F045-B7F3-CE932A867501}" dt="2021-12-02T16:36:27.973" v="2930" actId="20577"/>
          <ac:spMkLst>
            <pc:docMk/>
            <pc:sldMk cId="2785319408" sldId="318"/>
            <ac:spMk id="7" creationId="{5539FAF5-783F-794E-8909-EA4AD0B0376D}"/>
          </ac:spMkLst>
        </pc:spChg>
      </pc:sldChg>
      <pc:sldChg chg="addSp modSp add mod ord modNotes">
        <pc:chgData name="Wang Sining" userId="704a977d29132bd8" providerId="LiveId" clId="{BFDF612B-4862-F045-B7F3-CE932A867501}" dt="2021-12-02T16:40:50.095" v="3006"/>
        <pc:sldMkLst>
          <pc:docMk/>
          <pc:sldMk cId="1800909569" sldId="319"/>
        </pc:sldMkLst>
        <pc:picChg chg="add mod">
          <ac:chgData name="Wang Sining" userId="704a977d29132bd8" providerId="LiveId" clId="{BFDF612B-4862-F045-B7F3-CE932A867501}" dt="2021-12-02T16:40:50.032" v="3004"/>
          <ac:picMkLst>
            <pc:docMk/>
            <pc:sldMk cId="1800909569" sldId="319"/>
            <ac:picMk id="5" creationId="{0F0ED186-FCE7-9B4C-8636-39F7DB1CE9B1}"/>
          </ac:picMkLst>
        </pc:picChg>
      </pc:sldChg>
      <pc:sldChg chg="addSp modSp add mod ord modNotes">
        <pc:chgData name="Wang Sining" userId="704a977d29132bd8" providerId="LiveId" clId="{BFDF612B-4862-F045-B7F3-CE932A867501}" dt="2021-12-02T17:24:54.915" v="3040"/>
        <pc:sldMkLst>
          <pc:docMk/>
          <pc:sldMk cId="2182882694" sldId="320"/>
        </pc:sldMkLst>
        <pc:picChg chg="add mod">
          <ac:chgData name="Wang Sining" userId="704a977d29132bd8" providerId="LiveId" clId="{BFDF612B-4862-F045-B7F3-CE932A867501}" dt="2021-12-02T17:24:54.828" v="3038"/>
          <ac:picMkLst>
            <pc:docMk/>
            <pc:sldMk cId="2182882694" sldId="320"/>
            <ac:picMk id="5" creationId="{F905AF8D-7C91-E54E-BB3E-FD407AD81C37}"/>
          </ac:picMkLst>
        </pc:picChg>
      </pc:sldChg>
      <pc:sldChg chg="addSp delSp modSp add del mod ord modNotes">
        <pc:chgData name="Wang Sining" userId="704a977d29132bd8" providerId="LiveId" clId="{BFDF612B-4862-F045-B7F3-CE932A867501}" dt="2021-12-02T17:24:09.365" v="3024" actId="2696"/>
        <pc:sldMkLst>
          <pc:docMk/>
          <pc:sldMk cId="3754809795" sldId="320"/>
        </pc:sldMkLst>
        <pc:picChg chg="add del mod">
          <ac:chgData name="Wang Sining" userId="704a977d29132bd8" providerId="LiveId" clId="{BFDF612B-4862-F045-B7F3-CE932A867501}" dt="2021-12-02T17:24:05.006" v="3023" actId="478"/>
          <ac:picMkLst>
            <pc:docMk/>
            <pc:sldMk cId="3754809795" sldId="320"/>
            <ac:picMk id="5" creationId="{95146129-2786-B344-9682-3BF1EE953FF3}"/>
          </ac:picMkLst>
        </pc:picChg>
      </pc:sldChg>
      <pc:sldMasterChg chg="addSp delSp modSp mod">
        <pc:chgData name="Wang Sining" userId="704a977d29132bd8" providerId="LiveId" clId="{BFDF612B-4862-F045-B7F3-CE932A867501}" dt="2021-11-18T16:42:44.579" v="21"/>
        <pc:sldMasterMkLst>
          <pc:docMk/>
          <pc:sldMasterMk cId="0" sldId="2147483648"/>
        </pc:sldMasterMkLst>
        <pc:spChg chg="add del mod">
          <ac:chgData name="Wang Sining" userId="704a977d29132bd8" providerId="LiveId" clId="{BFDF612B-4862-F045-B7F3-CE932A867501}" dt="2021-11-18T16:42:44.579" v="21"/>
          <ac:spMkLst>
            <pc:docMk/>
            <pc:sldMasterMk cId="0" sldId="2147483648"/>
            <ac:spMk id="7" creationId="{7942FEDB-4A55-3648-842E-1B485B37CDBB}"/>
          </ac:spMkLst>
        </pc:spChg>
        <pc:spChg chg="del mod">
          <ac:chgData name="Wang Sining" userId="704a977d29132bd8" providerId="LiveId" clId="{BFDF612B-4862-F045-B7F3-CE932A867501}" dt="2021-11-18T16:42:39.978" v="18" actId="478"/>
          <ac:spMkLst>
            <pc:docMk/>
            <pc:sldMasterMk cId="0" sldId="2147483648"/>
            <ac:spMk id="17" creationId="{00000000-0000-0000-0000-000000000000}"/>
          </ac:spMkLst>
        </pc:spChg>
        <pc:picChg chg="mod">
          <ac:chgData name="Wang Sining" userId="704a977d29132bd8" providerId="LiveId" clId="{BFDF612B-4862-F045-B7F3-CE932A867501}" dt="2021-11-18T16:42:43.731" v="19" actId="1076"/>
          <ac:picMkLst>
            <pc:docMk/>
            <pc:sldMasterMk cId="0" sldId="2147483648"/>
            <ac:picMk id="16" creationId="{00000000-0000-0000-0000-000000000000}"/>
          </ac:picMkLst>
        </pc:pic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02:16:4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4544 24575,'70'-32'0,"-1"-1"0,0 0 0,0 1 0,-21 6 0,0-1 0,20-8 0,16-6 0,-3-2 0,-24 7 0,-16-12 0,-5-5 0,-1-7 0,1-6 0,4-7 0,-1-6 0,0-6 0,0-6 0,-20 43 0,-1-1 0,0-1 0,0 0 0,-1-1 0,-1 0 0,0-2 0,0-1 0,0-2 0,-1-1 0,-1-2 0,0-1 0,-1-2 0,-3 0 0,-1-2 0,-2-1 0,-3-1 0,0 0 0,-1-1 0,0 0 0,1 1 0,2 0 0,3-9 0,1 5 0,3-18 0,-2 18 0,1-1 0,-5 17 0,0-1 0,0-16 0,1-3 0,-2-7 0,0 0 0,-4 7 0,-1 1 0,-1-1 0,-1 2 0,0 4 0,0 3 0,-1 7 0,1 2 0,0-37 0,1 14 0,1 9 0,0 7 0,0 4 0,0 2 0,0 6 0,-1 6 0,0 6 0,-1 1 0,-2-1 0,0 2 0,0 3 0,0 6 0,1 5 0,1 5 0,0 7 0,0 3 0,0 1 0,0-3 0,-1-4 0,0-3 0,-3-4 0,-1-2 0,-1-2 0,-2-1 0,0 0 0,0 3 0,2 6 0,3 7 0,1 4 0,0 0 0,1 3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02:16:4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24575,'0'6'0,"-2"1"0,-1 3 0,-2 3 0,-4 3 0,-3 6 0,-3 9 0,-2 7 0,-1 1 0,2-4 0,6-10 0,4-7 0,1-3 0,1 1 0,1-1 0,-1-1 0,0-1 0,1 0 0,0 2 0,-2 7 0,-2 6 0,1-4 0,0 4 0,3-18 0,1 2 0,-1-3 0,0-1 0,0 1 0,1-5 0,2-4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02:16:5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24575,'11'13'0,"1"0"0,2 2 0,2 2 0,1 2 0,-1 2 0,-2-2 0,-1-1 0,-2-5 0,-2-3 0,-3-1 0,-1-2 0,-1 0 0,1 0 0,0 1 0,0-1 0,0 1 0,0 1 0,1 0 0,1 2 0,-1 0 0,2 4 0,-3-3 0,-1-1 0,0-3 0,-3-4 0,1 0 0,-1 0 0,-1-3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85B1-46A5-714C-AC18-F0D841F8F6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D4A0D-03F3-0D40-ADFF-2251832F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6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9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Explain: Education – income; minimum wage – unemployment; certain policy – inflation</a:t>
            </a:r>
          </a:p>
          <a:p>
            <a:r>
              <a:rPr lang="en-US" dirty="0"/>
              <a:t>Predict: predict education, predict unemployment, predict inflation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0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example:</a:t>
            </a:r>
          </a:p>
          <a:p>
            <a:r>
              <a:rPr lang="en-US" dirty="0"/>
              <a:t>If good-looking explain wage gap, r^2=0.3</a:t>
            </a:r>
          </a:p>
          <a:p>
            <a:r>
              <a:rPr lang="en-US" dirty="0"/>
              <a:t>If religious belief explain health condition R^2 = 0.05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40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  <a:p>
            <a:r>
              <a:rPr lang="en-US" dirty="0"/>
              <a:t>If age of a house have any impact on house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90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9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Explain: Start from literature review</a:t>
            </a:r>
          </a:p>
          <a:p>
            <a:r>
              <a:rPr lang="en-US" dirty="0"/>
              <a:t>e.g. mincers earning function: </a:t>
            </a:r>
            <a:r>
              <a:rPr lang="en-US" dirty="0" err="1"/>
              <a:t>lnw</a:t>
            </a:r>
            <a:r>
              <a:rPr lang="en-US" dirty="0"/>
              <a:t> =  f(s, x) = lnw0 + b1s + b2x + b3x^2 + e</a:t>
            </a:r>
          </a:p>
          <a:p>
            <a:endParaRPr lang="en-US" dirty="0"/>
          </a:p>
          <a:p>
            <a:r>
              <a:rPr lang="en-US" dirty="0"/>
              <a:t>Predict:</a:t>
            </a:r>
          </a:p>
          <a:p>
            <a:r>
              <a:rPr lang="en-US" dirty="0"/>
              <a:t>No need for theory. However, domain knowledge can make predictive modeling more effective in that you know what variables are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6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</a:t>
            </a:r>
          </a:p>
          <a:p>
            <a:r>
              <a:rPr lang="en-US" dirty="0"/>
              <a:t>Explain causation based on what have happened</a:t>
            </a:r>
          </a:p>
          <a:p>
            <a:endParaRPr lang="en-US" dirty="0"/>
          </a:p>
          <a:p>
            <a:r>
              <a:rPr lang="en-US" dirty="0"/>
              <a:t>Predict:</a:t>
            </a:r>
          </a:p>
          <a:p>
            <a:r>
              <a:rPr lang="en-US" dirty="0"/>
              <a:t>Predict the yet-happened.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64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Two kinds of bias</a:t>
            </a:r>
          </a:p>
          <a:p>
            <a:r>
              <a:rPr lang="en-US" dirty="0"/>
              <a:t>Explanatory model: </a:t>
            </a:r>
            <a:r>
              <a:rPr lang="en-US" dirty="0" err="1"/>
              <a:t>bhat</a:t>
            </a:r>
            <a:r>
              <a:rPr lang="en-US" dirty="0"/>
              <a:t> </a:t>
            </a:r>
          </a:p>
          <a:p>
            <a:r>
              <a:rPr lang="en-US" dirty="0"/>
              <a:t>Predictive model: </a:t>
            </a:r>
            <a:r>
              <a:rPr lang="en-US" dirty="0" err="1"/>
              <a:t>yhat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tradeoff between low bias and low variance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7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Two kinds of bias</a:t>
            </a:r>
          </a:p>
          <a:p>
            <a:r>
              <a:rPr lang="en-US" dirty="0"/>
              <a:t>Explanatory model: </a:t>
            </a:r>
            <a:r>
              <a:rPr lang="en-US" dirty="0" err="1"/>
              <a:t>bhat</a:t>
            </a:r>
            <a:endParaRPr lang="en-US" dirty="0"/>
          </a:p>
          <a:p>
            <a:r>
              <a:rPr lang="en-US" dirty="0"/>
              <a:t>Predictive model: </a:t>
            </a:r>
            <a:r>
              <a:rPr lang="en-US" dirty="0" err="1"/>
              <a:t>yhat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tradeoff between low bias and low variance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7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  <a:p>
            <a:endParaRPr lang="en-US" dirty="0"/>
          </a:p>
          <a:p>
            <a:r>
              <a:rPr lang="en-US" dirty="0"/>
              <a:t>Online auction research</a:t>
            </a:r>
          </a:p>
          <a:p>
            <a:r>
              <a:rPr lang="en-US" dirty="0"/>
              <a:t> explanatory: explain what factors determine final price</a:t>
            </a:r>
          </a:p>
          <a:p>
            <a:endParaRPr lang="en-US" dirty="0"/>
          </a:p>
          <a:p>
            <a:r>
              <a:rPr lang="en-US" dirty="0"/>
              <a:t> predictive: use model to predict the final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12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Sample scheme: more groups is better </a:t>
            </a:r>
            <a:r>
              <a:rPr lang="en-US" sz="1200" dirty="0" err="1"/>
              <a:t>v.s</a:t>
            </a:r>
            <a:r>
              <a:rPr lang="en-US" sz="1200" dirty="0"/>
              <a:t>. larger group size is preferred.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10 different types of good on 3 different platforms. Total variable: 20, sample size = 200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One particular good on a specific platforms. Total variable: 6, sample size = 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r>
              <a:rPr lang="en-US" dirty="0"/>
              <a:t>Sample collection: </a:t>
            </a:r>
            <a:r>
              <a:rPr lang="en-US" sz="1200" dirty="0"/>
              <a:t>(internal validity) </a:t>
            </a:r>
            <a:r>
              <a:rPr lang="en-US" sz="1200" dirty="0" err="1"/>
              <a:t>v.s</a:t>
            </a:r>
            <a:r>
              <a:rPr lang="en-US" sz="1200" dirty="0"/>
              <a:t>. external validity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7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different use of PCA</a:t>
            </a:r>
          </a:p>
          <a:p>
            <a:r>
              <a:rPr lang="en-US" dirty="0"/>
              <a:t>Explanatory: better understand the instrument, and make the </a:t>
            </a:r>
            <a:r>
              <a:rPr lang="en-US" dirty="0" err="1"/>
              <a:t>fatcors</a:t>
            </a:r>
            <a:r>
              <a:rPr lang="en-US" dirty="0"/>
              <a:t> ore interpretable</a:t>
            </a:r>
          </a:p>
          <a:p>
            <a:r>
              <a:rPr lang="en-US" dirty="0"/>
              <a:t>e.g., good rating, bad rating-</a:t>
            </a:r>
            <a:r>
              <a:rPr lang="en-US" dirty="0">
                <a:sym typeface="Wingdings" panose="05000000000000000000" pitchFamily="2" charset="2"/>
              </a:rPr>
              <a:t> reputation matters</a:t>
            </a:r>
            <a:endParaRPr lang="en-US" dirty="0"/>
          </a:p>
          <a:p>
            <a:endParaRPr lang="en-US" dirty="0"/>
          </a:p>
          <a:p>
            <a:r>
              <a:rPr lang="en-US" dirty="0"/>
              <a:t>SVD (singular value decomposition)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3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Imputation algorithms: </a:t>
            </a:r>
            <a:r>
              <a:rPr lang="en-US" sz="1200" dirty="0"/>
              <a:t>mean, conditional mean, regressions, dummy variables</a:t>
            </a:r>
          </a:p>
          <a:p>
            <a:endParaRPr lang="en-US" sz="1200" dirty="0"/>
          </a:p>
          <a:p>
            <a:r>
              <a:rPr lang="en-US" sz="1200" dirty="0"/>
              <a:t>Missing value as blessing: product detailed description is missing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34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particular variable:</a:t>
            </a:r>
          </a:p>
          <a:p>
            <a:endParaRPr lang="en-US" dirty="0"/>
          </a:p>
          <a:p>
            <a:r>
              <a:rPr lang="en-US" dirty="0"/>
              <a:t>Total numbers of bid</a:t>
            </a:r>
          </a:p>
          <a:p>
            <a:r>
              <a:rPr lang="en-US" dirty="0"/>
              <a:t> being excluded from the explanatory model because of endogeneity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19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Regression (good interpretability)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if it capture the causality, statistical significance for the parameter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compare linear and algorithmic type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Algorithmic (good prediction)</a:t>
            </a:r>
          </a:p>
          <a:p>
            <a:r>
              <a:rPr lang="en-US" dirty="0"/>
              <a:t>  validate by generalizability, overfitting. Explain overfitting</a:t>
            </a:r>
          </a:p>
          <a:p>
            <a:r>
              <a:rPr lang="en-US" dirty="0"/>
              <a:t>  bias-variance trade-off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46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result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77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 17. Machine learning: Prepare the Data</a:t>
            </a:r>
          </a:p>
          <a:p>
            <a:pPr marL="228600" indent="-228600">
              <a:buAutoNum type="arabicPeriod"/>
            </a:pPr>
            <a:r>
              <a:rPr lang="en-US" dirty="0"/>
              <a:t>Data Partitioning</a:t>
            </a:r>
          </a:p>
          <a:p>
            <a:pPr marL="228600" indent="-228600">
              <a:buAutoNum type="arabicPeriod"/>
            </a:pPr>
            <a:r>
              <a:rPr lang="en-US" dirty="0"/>
              <a:t>Handling missing values (imputation)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19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43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57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74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82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77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09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0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69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832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03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71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</a:t>
            </a:r>
            <a:r>
              <a:rPr lang="en-US" dirty="0" err="1"/>
              <a:t>GarageYearBuilt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161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dummy for course satisfaction level (not happy, don’t care, not having this class)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981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dummy for course satisfaction level (not happy, don’t care, not having this class)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28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Example, dummy for course satisfaction level (not happy, don’t care, not having this class)</a:t>
            </a:r>
          </a:p>
          <a:p>
            <a:endParaRPr lang="en-US" dirty="0"/>
          </a:p>
          <a:p>
            <a:r>
              <a:rPr lang="en-US" dirty="0"/>
              <a:t>For predictive model: alternatives</a:t>
            </a:r>
          </a:p>
          <a:p>
            <a:r>
              <a:rPr lang="en-US" dirty="0"/>
              <a:t>For explanatory model: biased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61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82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440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Categorical Variables with Ordinal Relationship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These are variables where the categories have a meaningful order or ranking. However, the intervals between the categories are not necessarily equal or measurable.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Education level</a:t>
            </a:r>
            <a:r>
              <a:rPr lang="en-US" dirty="0"/>
              <a:t>: High School &lt; Bachelor’s &lt; Master’s &lt; Ph.D.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Customer satisfaction</a:t>
            </a:r>
            <a:r>
              <a:rPr lang="en-US" dirty="0"/>
              <a:t>: Very Dissatisfied &lt; Dissatisfied &lt; Neutral &lt; Satisfied &lt; Very Satisfied.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Characteristics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There is a clear progression or hierarchy between categories.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difference between levels is not quantitatively precise (e.g., the jump from "Neutral" to "Satisfied" isn’t necessarily the same as from "Satisfied" to "Very Satisfied").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to Interpret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 on the ranking or order when analyzing, such as identifying trends or shifts in higher or lower categories.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appropriate statistical methods, such as ordinal regression or non-parametric tests like Spearman’s rank correlation, for analysis.</a:t>
            </a:r>
          </a:p>
          <a:p>
            <a:r>
              <a:rPr lang="en-US" b="1" dirty="0"/>
              <a:t>Categorical Variables Without Ordinal Relationship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These are variables where the categories do not have any inherent order or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Colors of a product</a:t>
            </a:r>
            <a:r>
              <a:rPr lang="en-US" dirty="0"/>
              <a:t>: Red, Blue, Green.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Types of animals</a:t>
            </a:r>
            <a:r>
              <a:rPr lang="en-US" dirty="0"/>
              <a:t>: Dog, Cat, Bird.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Countries</a:t>
            </a:r>
            <a:r>
              <a:rPr lang="en-US" dirty="0"/>
              <a:t>: USA, Canada, Mexico.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Characteristics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Categories are purely labels and are independent of each other.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mathematical or logical progression exists between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to Interpret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Emphasize group membership rather than order.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using frequency counts, proportions, or Chi-square tests to determine relationships or associations between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681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1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9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96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01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679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113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211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817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126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365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6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249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165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570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97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00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807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52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number of leaves: the more, the easier to get overfitting result. In this example, we use 4. In practice, it is common to select a much larger number such as 8 or even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63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796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just try different alpha on the test set (repeat) and select the best?</a:t>
            </a:r>
          </a:p>
          <a:p>
            <a:r>
              <a:rPr lang="en-US" dirty="0"/>
              <a:t>You can, but not recommended. Information leak! </a:t>
            </a:r>
          </a:p>
          <a:p>
            <a:r>
              <a:rPr lang="en-US" dirty="0"/>
              <a:t>You don’t want to give the model a chance to “see” the test set, otherwise the model will be biased toward that particular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805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 end,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block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lang="en-US" sz="12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used</a:t>
            </a:r>
            <a:r>
              <a:rPr lang="en-US" sz="1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 validation, so the result is not biased toward any particular validation set.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This is a good way to evaluate your model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31F20"/>
                </a:solidFill>
                <a:latin typeface="Arial"/>
                <a:cs typeface="Arial"/>
              </a:rPr>
              <a:t>This method is known as k-fold cross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336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082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40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112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849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5113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D4A0D-03F3-0D40-ADFF-2251832F2025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5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2819" y="933624"/>
            <a:ext cx="71983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465" y="2798782"/>
            <a:ext cx="6769069" cy="574039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F08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545079"/>
            <a:ext cx="8083550" cy="3074670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465" y="2798782"/>
            <a:ext cx="6769069" cy="574039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F08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465" y="2798782"/>
            <a:ext cx="6769069" cy="574039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F08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58F2-E2F2-1843-8095-4B37B8091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7C019-701C-A941-B56C-5A16B385F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DE104-E7E0-9147-8D06-B8356482B9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A8FD6-C939-EC45-BB2C-F31037F21F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ABDBF-F10F-AD42-AA6C-C717AC74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510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25902" cy="1587499"/>
          </a:xfrm>
          <a:prstGeom prst="rect">
            <a:avLst/>
          </a:prstGeom>
        </p:spPr>
      </p:pic>
      <p:sp>
        <p:nvSpPr>
          <p:cNvPr id="18" name="bg object 18"/>
          <p:cNvSpPr/>
          <p:nvPr userDrawn="1"/>
        </p:nvSpPr>
        <p:spPr>
          <a:xfrm>
            <a:off x="960119" y="1611312"/>
            <a:ext cx="8183880" cy="0"/>
          </a:xfrm>
          <a:custGeom>
            <a:avLst/>
            <a:gdLst/>
            <a:ahLst/>
            <a:cxnLst/>
            <a:rect l="l" t="t" r="r" b="b"/>
            <a:pathLst>
              <a:path w="8183880">
                <a:moveTo>
                  <a:pt x="0" y="0"/>
                </a:moveTo>
                <a:lnTo>
                  <a:pt x="8183880" y="0"/>
                </a:lnTo>
              </a:path>
            </a:pathLst>
          </a:custGeom>
          <a:ln w="50800">
            <a:solidFill>
              <a:srgbClr val="F08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465" y="2798782"/>
            <a:ext cx="676906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08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545079"/>
            <a:ext cx="8083550" cy="307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51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1.png"/><Relationship Id="rId4" Type="http://schemas.openxmlformats.org/officeDocument/2006/relationships/image" Target="../media/image1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customXml" Target="../ink/ink2.xml"/><Relationship Id="rId4" Type="http://schemas.openxmlformats.org/officeDocument/2006/relationships/image" Target="../media/image350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3">
            <a:extLst>
              <a:ext uri="{FF2B5EF4-FFF2-40B4-BE49-F238E27FC236}">
                <a16:creationId xmlns:a16="http://schemas.microsoft.com/office/drawing/2014/main" id="{2FAD5BCE-435C-D842-A5AC-C8880B2878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2636" y="-40639"/>
            <a:ext cx="9149675" cy="3349624"/>
          </a:xfrm>
          <a:prstGeom prst="rect">
            <a:avLst/>
          </a:prstGeom>
          <a:noFill/>
        </p:spPr>
      </p:pic>
      <p:sp>
        <p:nvSpPr>
          <p:cNvPr id="16" name="object 4">
            <a:extLst>
              <a:ext uri="{FF2B5EF4-FFF2-40B4-BE49-F238E27FC236}">
                <a16:creationId xmlns:a16="http://schemas.microsoft.com/office/drawing/2014/main" id="{4EDA96A8-7B47-7D42-B8DC-A3D2233D85A9}"/>
              </a:ext>
            </a:extLst>
          </p:cNvPr>
          <p:cNvSpPr/>
          <p:nvPr/>
        </p:nvSpPr>
        <p:spPr>
          <a:xfrm>
            <a:off x="0" y="3343275"/>
            <a:ext cx="9149676" cy="12700"/>
          </a:xfrm>
          <a:custGeom>
            <a:avLst/>
            <a:gdLst/>
            <a:ahLst/>
            <a:cxnLst/>
            <a:rect l="l" t="t" r="r" b="b"/>
            <a:pathLst>
              <a:path w="9137650" h="12700">
                <a:moveTo>
                  <a:pt x="0" y="12700"/>
                </a:moveTo>
                <a:lnTo>
                  <a:pt x="9137650" y="12700"/>
                </a:lnTo>
                <a:lnTo>
                  <a:pt x="91376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7DD7D4F4-7E4B-5647-9F34-3DA850EDDF37}"/>
              </a:ext>
            </a:extLst>
          </p:cNvPr>
          <p:cNvSpPr/>
          <p:nvPr/>
        </p:nvSpPr>
        <p:spPr>
          <a:xfrm>
            <a:off x="0" y="3193143"/>
            <a:ext cx="3128312" cy="0"/>
          </a:xfrm>
          <a:custGeom>
            <a:avLst/>
            <a:gdLst/>
            <a:ahLst/>
            <a:cxnLst/>
            <a:rect l="l" t="t" r="r" b="b"/>
            <a:pathLst>
              <a:path w="3124200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12700">
            <a:solidFill>
              <a:srgbClr val="3369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01230" y="2600325"/>
            <a:ext cx="56299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solidFill>
                  <a:srgbClr val="3369E8"/>
                </a:solidFill>
                <a:latin typeface="Arial"/>
                <a:cs typeface="Arial"/>
              </a:rPr>
              <a:t>Computational</a:t>
            </a:r>
            <a:r>
              <a:rPr sz="3800" spc="-9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3800" dirty="0">
                <a:solidFill>
                  <a:srgbClr val="3369E8"/>
                </a:solidFill>
                <a:latin typeface="Arial"/>
                <a:cs typeface="Arial"/>
              </a:rPr>
              <a:t>Economics</a:t>
            </a:r>
            <a:endParaRPr sz="3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78150" y="2571750"/>
            <a:ext cx="152400" cy="628650"/>
            <a:chOff x="2978150" y="2571750"/>
            <a:chExt cx="152400" cy="628650"/>
          </a:xfrm>
        </p:grpSpPr>
        <p:sp>
          <p:nvSpPr>
            <p:cNvPr id="9" name="object 9"/>
            <p:cNvSpPr/>
            <p:nvPr/>
          </p:nvSpPr>
          <p:spPr>
            <a:xfrm>
              <a:off x="3105150" y="2571750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50800">
              <a:solidFill>
                <a:srgbClr val="EDB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90850" y="271145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0"/>
                  </a:moveTo>
                  <a:lnTo>
                    <a:pt x="0" y="488950"/>
                  </a:lnTo>
                </a:path>
              </a:pathLst>
            </a:custGeom>
            <a:ln w="254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15720" y="4314832"/>
            <a:ext cx="6189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>
                <a:solidFill>
                  <a:srgbClr val="231F20"/>
                </a:solidFill>
                <a:latin typeface="Arial"/>
                <a:cs typeface="Arial"/>
              </a:rPr>
              <a:t>Module</a:t>
            </a:r>
            <a:r>
              <a:rPr sz="24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1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lang="en-US" sz="2400" spc="1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2400" spc="1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Introduction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Machine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1699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>
                <a:solidFill>
                  <a:srgbClr val="3369E8"/>
                </a:solidFill>
              </a:rPr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35710" y="1908228"/>
            <a:ext cx="6673215" cy="4060086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69900">
              <a:spcBef>
                <a:spcPts val="2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Introduction to machine learning</a:t>
            </a:r>
          </a:p>
          <a:p>
            <a:pPr marL="610235" indent="-140970">
              <a:lnSpc>
                <a:spcPct val="100000"/>
              </a:lnSpc>
              <a:spcBef>
                <a:spcPts val="720"/>
              </a:spcBef>
              <a:buClr>
                <a:srgbClr val="D77E47"/>
              </a:buClr>
              <a:buSzPct val="83333"/>
              <a:buChar char="•"/>
              <a:tabLst>
                <a:tab pos="610870" algn="l"/>
              </a:tabLst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The scope of m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achine</a:t>
            </a:r>
            <a:r>
              <a:rPr sz="2400" spc="-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earnin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2400" dirty="0">
              <a:latin typeface="Arial"/>
              <a:cs typeface="Arial"/>
            </a:endParaRPr>
          </a:p>
          <a:p>
            <a:pPr marL="629285" indent="-160020">
              <a:lnSpc>
                <a:spcPct val="100000"/>
              </a:lnSpc>
              <a:spcBef>
                <a:spcPts val="720"/>
              </a:spcBef>
              <a:buClr>
                <a:srgbClr val="D77E47"/>
              </a:buClr>
              <a:buSzPct val="83333"/>
              <a:buChar char="•"/>
              <a:tabLst>
                <a:tab pos="629920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 To explain or to predict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Arial"/>
              <a:cs typeface="Arial"/>
            </a:endParaRPr>
          </a:p>
          <a:p>
            <a:pPr marL="469900">
              <a:spcBef>
                <a:spcPts val="2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Hands-on, project-based learning</a:t>
            </a:r>
          </a:p>
          <a:p>
            <a:pPr marL="812800" indent="-342900">
              <a:lnSpc>
                <a:spcPct val="100000"/>
              </a:lnSpc>
              <a:spcBef>
                <a:spcPts val="200"/>
              </a:spcBef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Supervised learning</a:t>
            </a:r>
          </a:p>
          <a:p>
            <a:pPr marL="1270000" lvl="1" indent="-342900">
              <a:spcBef>
                <a:spcPts val="200"/>
              </a:spcBef>
              <a:buClr>
                <a:srgbClr val="4F81BD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classification</a:t>
            </a:r>
          </a:p>
          <a:p>
            <a:pPr marL="1270000" lvl="1" indent="-342900">
              <a:spcBef>
                <a:spcPts val="200"/>
              </a:spcBef>
              <a:buClr>
                <a:srgbClr val="4F81BD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regression</a:t>
            </a:r>
          </a:p>
          <a:p>
            <a:pPr marL="812800" indent="-342900">
              <a:lnSpc>
                <a:spcPct val="100000"/>
              </a:lnSpc>
              <a:spcBef>
                <a:spcPts val="200"/>
              </a:spcBef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Unsupervised learning</a:t>
            </a:r>
          </a:p>
          <a:p>
            <a:pPr marL="1270000" lvl="1" indent="-342900">
              <a:spcBef>
                <a:spcPts val="200"/>
              </a:spcBef>
              <a:buClr>
                <a:srgbClr val="4F81BD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cluster analysis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1435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>
                <a:solidFill>
                  <a:srgbClr val="3369E8"/>
                </a:solidFill>
              </a:rPr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06700" y="2616740"/>
            <a:ext cx="3031490" cy="10293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ARTIFICIAL</a:t>
            </a:r>
            <a:r>
              <a:rPr sz="1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INTELLIGENCE</a:t>
            </a:r>
            <a:endParaRPr sz="1800" dirty="0">
              <a:latin typeface="Arial"/>
              <a:cs typeface="Arial"/>
            </a:endParaRPr>
          </a:p>
          <a:p>
            <a:pPr marL="674370" marR="247650" indent="-339090">
              <a:lnSpc>
                <a:spcPct val="100000"/>
              </a:lnSpc>
              <a:spcBef>
                <a:spcPts val="894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Programs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ability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600" spc="-4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reason</a:t>
            </a:r>
            <a:r>
              <a:rPr sz="1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humans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</a:t>
            </a:fld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0B3B06-EE01-A123-E155-B9CC8DFE6682}"/>
              </a:ext>
            </a:extLst>
          </p:cNvPr>
          <p:cNvGrpSpPr/>
          <p:nvPr/>
        </p:nvGrpSpPr>
        <p:grpSpPr>
          <a:xfrm>
            <a:off x="1632981" y="1846943"/>
            <a:ext cx="5279922" cy="4793226"/>
            <a:chOff x="2079523" y="1592826"/>
            <a:chExt cx="5279922" cy="479322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17EBD1D-61B3-E10A-2C63-987230DB5746}"/>
                </a:ext>
              </a:extLst>
            </p:cNvPr>
            <p:cNvSpPr/>
            <p:nvPr/>
          </p:nvSpPr>
          <p:spPr>
            <a:xfrm>
              <a:off x="2079523" y="1592826"/>
              <a:ext cx="5279922" cy="4793226"/>
            </a:xfrm>
            <a:prstGeom prst="roundRect">
              <a:avLst>
                <a:gd name="adj" fmla="val 3744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DDE8729-2848-77A1-65EB-F1C64DC90F41}"/>
                </a:ext>
              </a:extLst>
            </p:cNvPr>
            <p:cNvSpPr/>
            <p:nvPr/>
          </p:nvSpPr>
          <p:spPr>
            <a:xfrm>
              <a:off x="3023419" y="2566218"/>
              <a:ext cx="4336026" cy="3819833"/>
            </a:xfrm>
            <a:prstGeom prst="roundRect">
              <a:avLst>
                <a:gd name="adj" fmla="val 3744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E8B096F-D8C7-72E4-CD25-A31766FD0390}"/>
                </a:ext>
              </a:extLst>
            </p:cNvPr>
            <p:cNvSpPr/>
            <p:nvPr/>
          </p:nvSpPr>
          <p:spPr>
            <a:xfrm>
              <a:off x="3701845" y="4013083"/>
              <a:ext cx="3657600" cy="2372968"/>
            </a:xfrm>
            <a:prstGeom prst="roundRect">
              <a:avLst>
                <a:gd name="adj" fmla="val 3744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23150B5-2D68-C513-A7EB-5D67FAEB8D39}"/>
                </a:ext>
              </a:extLst>
            </p:cNvPr>
            <p:cNvSpPr/>
            <p:nvPr/>
          </p:nvSpPr>
          <p:spPr>
            <a:xfrm>
              <a:off x="4513005" y="5397910"/>
              <a:ext cx="2846439" cy="988139"/>
            </a:xfrm>
            <a:prstGeom prst="roundRect">
              <a:avLst>
                <a:gd name="adj" fmla="val 24024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/>
                </a:gs>
                <a:gs pos="100000">
                  <a:schemeClr val="accent1"/>
                </a:gs>
                <a:gs pos="94000">
                  <a:schemeClr val="accent1"/>
                </a:gs>
              </a:gsLst>
              <a:lin ang="108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3071"/>
                  </a:solidFill>
                </a:rPr>
                <a:t>Generative AI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0BEDA1-CE79-7435-CBE0-CC9248F79702}"/>
                </a:ext>
              </a:extLst>
            </p:cNvPr>
            <p:cNvSpPr txBox="1"/>
            <p:nvPr/>
          </p:nvSpPr>
          <p:spPr>
            <a:xfrm>
              <a:off x="3218420" y="2702351"/>
              <a:ext cx="2246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3071"/>
                  </a:solidFill>
                </a:rPr>
                <a:t>Machine Learning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86B63B-68B5-E05C-F5E3-588C5BCA826A}"/>
                </a:ext>
              </a:extLst>
            </p:cNvPr>
            <p:cNvSpPr txBox="1"/>
            <p:nvPr/>
          </p:nvSpPr>
          <p:spPr>
            <a:xfrm>
              <a:off x="3844695" y="3683090"/>
              <a:ext cx="1848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3071"/>
                  </a:solidFill>
                </a:rPr>
                <a:t>Deep Learning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6F346B-6D61-3123-CF1F-9391953786C6}"/>
                </a:ext>
              </a:extLst>
            </p:cNvPr>
            <p:cNvSpPr txBox="1"/>
            <p:nvPr/>
          </p:nvSpPr>
          <p:spPr>
            <a:xfrm>
              <a:off x="2262636" y="1744679"/>
              <a:ext cx="2589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3071"/>
                  </a:solidFill>
                </a:rPr>
                <a:t>Artificial Intelligence</a:t>
              </a: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805916" y="2966068"/>
            <a:ext cx="2031364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Algorithms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ability </a:t>
            </a:r>
            <a:r>
              <a:rPr sz="1400" spc="-3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 </a:t>
            </a:r>
            <a:r>
              <a:rPr sz="1400" spc="-5" dirty="0">
                <a:latin typeface="Arial"/>
                <a:cs typeface="Arial"/>
              </a:rPr>
              <a:t>learn</a:t>
            </a:r>
            <a:r>
              <a:rPr lang="en-US" sz="1400" spc="-5" dirty="0">
                <a:latin typeface="Arial"/>
                <a:cs typeface="Arial"/>
              </a:rPr>
              <a:t> (from data)</a:t>
            </a:r>
            <a:r>
              <a:rPr sz="1400" spc="-5" dirty="0">
                <a:latin typeface="Arial"/>
                <a:cs typeface="Arial"/>
              </a:rPr>
              <a:t> without being explicitly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programmed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960" y="1729727"/>
            <a:ext cx="6793864" cy="48293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590193"/>
            <a:ext cx="605663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0" dirty="0">
                <a:solidFill>
                  <a:srgbClr val="3369E8"/>
                </a:solidFill>
              </a:rPr>
              <a:t>Different</a:t>
            </a:r>
            <a:r>
              <a:rPr sz="3200" spc="35" dirty="0">
                <a:solidFill>
                  <a:srgbClr val="3369E8"/>
                </a:solidFill>
              </a:rPr>
              <a:t> </a:t>
            </a:r>
            <a:r>
              <a:rPr sz="3200" spc="-40" dirty="0">
                <a:solidFill>
                  <a:srgbClr val="3369E8"/>
                </a:solidFill>
              </a:rPr>
              <a:t>Types</a:t>
            </a:r>
            <a:r>
              <a:rPr sz="3200" spc="40" dirty="0">
                <a:solidFill>
                  <a:srgbClr val="3369E8"/>
                </a:solidFill>
              </a:rPr>
              <a:t> </a:t>
            </a:r>
            <a:r>
              <a:rPr sz="3200" spc="30" dirty="0">
                <a:solidFill>
                  <a:srgbClr val="3369E8"/>
                </a:solidFill>
              </a:rPr>
              <a:t>of</a:t>
            </a:r>
            <a:endParaRPr sz="3200"/>
          </a:p>
          <a:p>
            <a:pPr marL="12700">
              <a:lnSpc>
                <a:spcPct val="100000"/>
              </a:lnSpc>
            </a:pPr>
            <a:r>
              <a:rPr sz="3200" spc="25" dirty="0">
                <a:solidFill>
                  <a:srgbClr val="3369E8"/>
                </a:solidFill>
              </a:rPr>
              <a:t>Machine Learning </a:t>
            </a:r>
            <a:r>
              <a:rPr sz="3200" spc="30" dirty="0">
                <a:solidFill>
                  <a:srgbClr val="3369E8"/>
                </a:solidFill>
              </a:rPr>
              <a:t>Algorithms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8042"/>
              </p:ext>
            </p:extLst>
          </p:nvPr>
        </p:nvGraphicFramePr>
        <p:xfrm>
          <a:off x="1325880" y="2452023"/>
          <a:ext cx="6141720" cy="3011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0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1504">
                  <a:extLst>
                    <a:ext uri="{9D8B030D-6E8A-4147-A177-3AD203B41FA5}">
                      <a16:colId xmlns:a16="http://schemas.microsoft.com/office/drawing/2014/main" val="3964570587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Econometrics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200" b="1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endParaRPr sz="22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Data/Observations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2200" dirty="0">
                        <a:solidFill>
                          <a:schemeClr val="accent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2200" spc="-7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ariable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2200" dirty="0">
                        <a:solidFill>
                          <a:schemeClr val="accent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2200" spc="-7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ariable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2200" dirty="0">
                        <a:solidFill>
                          <a:schemeClr val="accent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stimation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2200" dirty="0">
                        <a:solidFill>
                          <a:schemeClr val="accent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Least squares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2200" dirty="0">
                        <a:solidFill>
                          <a:schemeClr val="accent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98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624137"/>
            <a:ext cx="7035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5" dirty="0">
                <a:solidFill>
                  <a:srgbClr val="3369E8"/>
                </a:solidFill>
              </a:rPr>
              <a:t>The</a:t>
            </a:r>
            <a:r>
              <a:rPr sz="3000" spc="30" dirty="0">
                <a:solidFill>
                  <a:srgbClr val="3369E8"/>
                </a:solidFill>
              </a:rPr>
              <a:t> </a:t>
            </a:r>
            <a:r>
              <a:rPr sz="3000" spc="25" dirty="0">
                <a:solidFill>
                  <a:srgbClr val="3369E8"/>
                </a:solidFill>
              </a:rPr>
              <a:t>Language</a:t>
            </a:r>
            <a:r>
              <a:rPr sz="3000" spc="30" dirty="0">
                <a:solidFill>
                  <a:srgbClr val="3369E8"/>
                </a:solidFill>
              </a:rPr>
              <a:t> of</a:t>
            </a:r>
            <a:endParaRPr sz="3000" dirty="0"/>
          </a:p>
          <a:p>
            <a:pPr marL="12700">
              <a:lnSpc>
                <a:spcPct val="100000"/>
              </a:lnSpc>
            </a:pPr>
            <a:r>
              <a:rPr sz="3000" spc="25" dirty="0">
                <a:solidFill>
                  <a:srgbClr val="3369E8"/>
                </a:solidFill>
              </a:rPr>
              <a:t>Econometrics</a:t>
            </a:r>
            <a:r>
              <a:rPr lang="en-US" sz="3000" spc="25" dirty="0">
                <a:solidFill>
                  <a:srgbClr val="3369E8"/>
                </a:solidFill>
              </a:rPr>
              <a:t> and Machine Learning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251642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44148"/>
              </p:ext>
            </p:extLst>
          </p:nvPr>
        </p:nvGraphicFramePr>
        <p:xfrm>
          <a:off x="1325880" y="2452023"/>
          <a:ext cx="6141720" cy="3011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0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1504">
                  <a:extLst>
                    <a:ext uri="{9D8B030D-6E8A-4147-A177-3AD203B41FA5}">
                      <a16:colId xmlns:a16="http://schemas.microsoft.com/office/drawing/2014/main" val="3964570587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Econometrics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200" b="1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endParaRPr sz="22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Data/Observations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Data/Observation</a:t>
                      </a: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2200" spc="-7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ariable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2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Label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2200" spc="-7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2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ariable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stimation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200" spc="-8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Least squares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Loss function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98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624137"/>
            <a:ext cx="7035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5" dirty="0">
                <a:solidFill>
                  <a:srgbClr val="3369E8"/>
                </a:solidFill>
              </a:rPr>
              <a:t>The</a:t>
            </a:r>
            <a:r>
              <a:rPr sz="3000" spc="30" dirty="0">
                <a:solidFill>
                  <a:srgbClr val="3369E8"/>
                </a:solidFill>
              </a:rPr>
              <a:t> </a:t>
            </a:r>
            <a:r>
              <a:rPr sz="3000" spc="25" dirty="0">
                <a:solidFill>
                  <a:srgbClr val="3369E8"/>
                </a:solidFill>
              </a:rPr>
              <a:t>Language</a:t>
            </a:r>
            <a:r>
              <a:rPr sz="3000" spc="30" dirty="0">
                <a:solidFill>
                  <a:srgbClr val="3369E8"/>
                </a:solidFill>
              </a:rPr>
              <a:t> of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25" dirty="0">
                <a:solidFill>
                  <a:srgbClr val="3369E8"/>
                </a:solidFill>
              </a:rPr>
              <a:t>Machine</a:t>
            </a:r>
            <a:r>
              <a:rPr sz="3000" spc="30" dirty="0">
                <a:solidFill>
                  <a:srgbClr val="3369E8"/>
                </a:solidFill>
              </a:rPr>
              <a:t> </a:t>
            </a:r>
            <a:r>
              <a:rPr sz="3000" spc="25" dirty="0">
                <a:solidFill>
                  <a:srgbClr val="3369E8"/>
                </a:solidFill>
              </a:rPr>
              <a:t>Learning</a:t>
            </a:r>
            <a:r>
              <a:rPr sz="3000" spc="35" dirty="0">
                <a:solidFill>
                  <a:srgbClr val="3369E8"/>
                </a:solidFill>
              </a:rPr>
              <a:t> </a:t>
            </a:r>
            <a:r>
              <a:rPr sz="3000" spc="20" dirty="0">
                <a:solidFill>
                  <a:srgbClr val="3369E8"/>
                </a:solidFill>
              </a:rPr>
              <a:t>and</a:t>
            </a:r>
            <a:r>
              <a:rPr sz="3000" spc="30" dirty="0">
                <a:solidFill>
                  <a:srgbClr val="3369E8"/>
                </a:solidFill>
              </a:rPr>
              <a:t> </a:t>
            </a:r>
            <a:r>
              <a:rPr sz="3000" spc="25" dirty="0">
                <a:solidFill>
                  <a:srgbClr val="3369E8"/>
                </a:solidFill>
              </a:rPr>
              <a:t>Econometrics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469766"/>
              </p:ext>
            </p:extLst>
          </p:nvPr>
        </p:nvGraphicFramePr>
        <p:xfrm>
          <a:off x="2697480" y="2452023"/>
          <a:ext cx="6141720" cy="255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0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1504">
                  <a:extLst>
                    <a:ext uri="{9D8B030D-6E8A-4147-A177-3AD203B41FA5}">
                      <a16:colId xmlns:a16="http://schemas.microsoft.com/office/drawing/2014/main" val="3964570587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Econometrics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200" b="1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endParaRPr sz="22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Causality Inference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Association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Theory driven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Data driven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Retrospective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Prospective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bias minimization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good prediction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035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The Major Differences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FAF17-A707-49C7-9FBB-4A917C7D8D96}"/>
              </a:ext>
            </a:extLst>
          </p:cNvPr>
          <p:cNvSpPr txBox="1"/>
          <p:nvPr/>
        </p:nvSpPr>
        <p:spPr>
          <a:xfrm>
            <a:off x="134302" y="3130427"/>
            <a:ext cx="25266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Research question</a:t>
            </a:r>
            <a:endParaRPr lang="en-US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E9FA6-F2C8-1D41-DAC8-772DA89E0F4D}"/>
              </a:ext>
            </a:extLst>
          </p:cNvPr>
          <p:cNvSpPr txBox="1"/>
          <p:nvPr/>
        </p:nvSpPr>
        <p:spPr>
          <a:xfrm>
            <a:off x="451167" y="3596300"/>
            <a:ext cx="2209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Framework</a:t>
            </a:r>
            <a:endParaRPr lang="en-US" sz="2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1407F-BBC7-238B-031B-2C12CA48CFB2}"/>
              </a:ext>
            </a:extLst>
          </p:cNvPr>
          <p:cNvSpPr txBox="1"/>
          <p:nvPr/>
        </p:nvSpPr>
        <p:spPr>
          <a:xfrm>
            <a:off x="451167" y="4086213"/>
            <a:ext cx="2209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Direction</a:t>
            </a:r>
            <a:endParaRPr lang="en-US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1D001-1DDB-6AA8-67F9-9223BECA1055}"/>
              </a:ext>
            </a:extLst>
          </p:cNvPr>
          <p:cNvSpPr txBox="1"/>
          <p:nvPr/>
        </p:nvSpPr>
        <p:spPr>
          <a:xfrm>
            <a:off x="451167" y="4541537"/>
            <a:ext cx="2209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Priority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067386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D77B29-C768-7EC5-5869-52093A33A3A1}"/>
              </a:ext>
            </a:extLst>
          </p:cNvPr>
          <p:cNvSpPr txBox="1"/>
          <p:nvPr/>
        </p:nvSpPr>
        <p:spPr>
          <a:xfrm>
            <a:off x="1143000" y="2286000"/>
            <a:ext cx="6858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4F81BD"/>
                </a:solidFill>
                <a:latin typeface="Arial"/>
                <a:cs typeface="Arial"/>
              </a:rPr>
              <a:t>To explain or to predict,</a:t>
            </a:r>
          </a:p>
          <a:p>
            <a:pPr algn="ctr"/>
            <a:endParaRPr lang="en-US" sz="4400" dirty="0">
              <a:solidFill>
                <a:srgbClr val="4F81BD"/>
              </a:solidFill>
              <a:latin typeface="Arial"/>
              <a:cs typeface="Arial"/>
            </a:endParaRPr>
          </a:p>
          <a:p>
            <a:pPr algn="ctr"/>
            <a:r>
              <a:rPr lang="en-US" sz="4400" dirty="0">
                <a:solidFill>
                  <a:srgbClr val="4F81BD"/>
                </a:solidFill>
                <a:latin typeface="Arial"/>
                <a:cs typeface="Arial"/>
              </a:rPr>
              <a:t>that is the question</a:t>
            </a:r>
            <a:endParaRPr lang="en-US" sz="4400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6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3423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3A1E9-EC8C-EB12-9C1D-DE077C339AB0}"/>
              </a:ext>
            </a:extLst>
          </p:cNvPr>
          <p:cNvSpPr txBox="1"/>
          <p:nvPr/>
        </p:nvSpPr>
        <p:spPr>
          <a:xfrm>
            <a:off x="972818" y="2192292"/>
            <a:ext cx="7620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one or distinct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A071E-BF4B-4608-044E-6BF793F81F34}"/>
              </a:ext>
            </a:extLst>
          </p:cNvPr>
          <p:cNvSpPr txBox="1"/>
          <p:nvPr/>
        </p:nvSpPr>
        <p:spPr>
          <a:xfrm>
            <a:off x="1295400" y="3207303"/>
            <a:ext cx="5648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aim at knowing and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12A0E-46E4-5715-E939-C1BC90CE4951}"/>
              </a:ext>
            </a:extLst>
          </p:cNvPr>
          <p:cNvSpPr txBox="1"/>
          <p:nvPr/>
        </p:nvSpPr>
        <p:spPr>
          <a:xfrm>
            <a:off x="1287780" y="4559255"/>
            <a:ext cx="7620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aim at inferring unknown values from known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BC7D5-D5F9-8656-547E-2B5706E5E340}"/>
              </a:ext>
            </a:extLst>
          </p:cNvPr>
          <p:cNvSpPr txBox="1"/>
          <p:nvPr/>
        </p:nvSpPr>
        <p:spPr>
          <a:xfrm>
            <a:off x="1686561" y="3683224"/>
            <a:ext cx="5648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Source of uncertainty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D490F-C234-BC94-433B-E0B18D155B2A}"/>
              </a:ext>
            </a:extLst>
          </p:cNvPr>
          <p:cNvSpPr txBox="1"/>
          <p:nvPr/>
        </p:nvSpPr>
        <p:spPr>
          <a:xfrm>
            <a:off x="1686560" y="5035176"/>
            <a:ext cx="5648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Source of uncertainty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“yet happened”</a:t>
            </a:r>
          </a:p>
        </p:txBody>
      </p:sp>
    </p:spTree>
    <p:extLst>
      <p:ext uri="{BB962C8B-B14F-4D97-AF65-F5344CB8AC3E}">
        <p14:creationId xmlns:p14="http://schemas.microsoft.com/office/powerpoint/2010/main" val="29978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189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5F7C1C9-A748-DEE7-02DE-9B682DDD1F3A}"/>
              </a:ext>
            </a:extLst>
          </p:cNvPr>
          <p:cNvSpPr txBox="1"/>
          <p:nvPr/>
        </p:nvSpPr>
        <p:spPr>
          <a:xfrm>
            <a:off x="980438" y="2057400"/>
            <a:ext cx="3670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Some extreme views: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15C6F59-7806-FE0B-D03D-061D4283801B}"/>
              </a:ext>
            </a:extLst>
          </p:cNvPr>
          <p:cNvSpPr txBox="1"/>
          <p:nvPr/>
        </p:nvSpPr>
        <p:spPr>
          <a:xfrm>
            <a:off x="999488" y="2805432"/>
            <a:ext cx="7611112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4F81BD"/>
                </a:solidFill>
                <a:latin typeface="Arial"/>
                <a:cs typeface="Arial"/>
              </a:rPr>
              <a:t>“predictive modeling is often valued for its applied utility yet is discarded for scientific purposes such as theory building or testing.”</a:t>
            </a: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solidFill>
                <a:srgbClr val="4F81BD"/>
              </a:solidFill>
              <a:latin typeface="Arial"/>
              <a:cs typeface="Arial"/>
            </a:endParaRP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4F81BD"/>
                </a:solidFill>
                <a:latin typeface="Arial"/>
                <a:cs typeface="Arial"/>
              </a:rPr>
              <a:t>“In the social sciences, one either did causal modeling econometric style or largely gave up quantitative work”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1C1BAFF-9952-983C-9449-AF89272821ED}"/>
              </a:ext>
            </a:extLst>
          </p:cNvPr>
          <p:cNvSpPr txBox="1"/>
          <p:nvPr/>
        </p:nvSpPr>
        <p:spPr>
          <a:xfrm>
            <a:off x="1010918" y="4779143"/>
            <a:ext cx="7611112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“A low R-squared value is an indicator of low-quality research”</a:t>
            </a: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“Models cannot be used for prediction is not worth interpreting”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23D212B-A6FD-7956-09C5-4B970D32C4AD}"/>
              </a:ext>
            </a:extLst>
          </p:cNvPr>
          <p:cNvGrpSpPr/>
          <p:nvPr/>
        </p:nvGrpSpPr>
        <p:grpSpPr>
          <a:xfrm>
            <a:off x="4867912" y="3429000"/>
            <a:ext cx="3276600" cy="1219200"/>
            <a:chOff x="4834784" y="2005276"/>
            <a:chExt cx="3276600" cy="12192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4F3661A-3FDC-0956-D40B-702D59699FF4}"/>
                </a:ext>
              </a:extLst>
            </p:cNvPr>
            <p:cNvSpPr/>
            <p:nvPr/>
          </p:nvSpPr>
          <p:spPr>
            <a:xfrm rot="19551688">
              <a:off x="4834784" y="2005276"/>
              <a:ext cx="3276600" cy="1219200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63A114-2AE0-5793-217A-9D807CF2A664}"/>
                </a:ext>
              </a:extLst>
            </p:cNvPr>
            <p:cNvSpPr txBox="1"/>
            <p:nvPr/>
          </p:nvSpPr>
          <p:spPr>
            <a:xfrm rot="19622546">
              <a:off x="4869961" y="2187108"/>
              <a:ext cx="31335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rgbClr val="FF0000"/>
                  </a:solidFill>
                </a:rPr>
                <a:t>NOT TRUE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54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3423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3A1E9-EC8C-EB12-9C1D-DE077C339AB0}"/>
              </a:ext>
            </a:extLst>
          </p:cNvPr>
          <p:cNvSpPr txBox="1"/>
          <p:nvPr/>
        </p:nvSpPr>
        <p:spPr>
          <a:xfrm>
            <a:off x="972819" y="2257722"/>
            <a:ext cx="7620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a theory postulating that </a:t>
            </a:r>
            <a:r>
              <a:rPr lang="en-US" sz="2000" b="1" dirty="0">
                <a:solidFill>
                  <a:srgbClr val="0070C0"/>
                </a:solidFill>
                <a:latin typeface="Lucida Handwriting" panose="03010101010101010101" pitchFamily="66" charset="0"/>
              </a:rPr>
              <a:t>X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cause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Lucida Handwriting" panose="03010101010101010101" pitchFamily="66" charset="0"/>
              </a:rPr>
              <a:t>Y</a:t>
            </a:r>
            <a:r>
              <a:rPr lang="en-US" sz="2000" dirty="0">
                <a:latin typeface="Modern No. 20" panose="02070704070505020303" pitchFamily="18" charset="0"/>
              </a:rPr>
              <a:t> ,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via the function </a:t>
            </a:r>
            <a:r>
              <a:rPr lang="en-US" sz="2000" b="1" dirty="0">
                <a:solidFill>
                  <a:srgbClr val="00B050"/>
                </a:solidFill>
                <a:latin typeface="Lucida Handwriting" panose="03010101010101010101" pitchFamily="66" charset="0"/>
              </a:rPr>
              <a:t>F,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such that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9F2B3-8707-2226-6E05-98362ADB3C4F}"/>
              </a:ext>
            </a:extLst>
          </p:cNvPr>
          <p:cNvSpPr txBox="1"/>
          <p:nvPr/>
        </p:nvSpPr>
        <p:spPr>
          <a:xfrm>
            <a:off x="3033393" y="3038493"/>
            <a:ext cx="2300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Lucida Handwriting" panose="03010101010101010101" pitchFamily="66" charset="0"/>
              </a:rPr>
              <a:t>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800" b="1" dirty="0">
                <a:latin typeface="Lucida Handwriting" panose="03010101010101010101" pitchFamily="66" charset="0"/>
              </a:rPr>
              <a:t> F (X)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F94F6D-A515-641D-58EC-B9EC56D5314B}"/>
                  </a:ext>
                </a:extLst>
              </p:cNvPr>
              <p:cNvSpPr txBox="1"/>
              <p:nvPr/>
            </p:nvSpPr>
            <p:spPr>
              <a:xfrm>
                <a:off x="980439" y="3793688"/>
                <a:ext cx="7620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Practically, </a:t>
                </a:r>
                <a:r>
                  <a:rPr lang="en-US" sz="1800" b="1" dirty="0">
                    <a:solidFill>
                      <a:srgbClr val="0070C0"/>
                    </a:solidFill>
                    <a:latin typeface="Lucida Handwriting" panose="03010101010101010101" pitchFamily="66" charset="0"/>
                  </a:rPr>
                  <a:t>X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sz="1800" b="1" dirty="0">
                    <a:solidFill>
                      <a:schemeClr val="accent6">
                        <a:lumMod val="75000"/>
                      </a:schemeClr>
                    </a:solidFill>
                    <a:latin typeface="Lucida Handwriting" panose="03010101010101010101" pitchFamily="66" charset="0"/>
                  </a:rPr>
                  <a:t>Y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are often being operationalized by measurable variables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F94F6D-A515-641D-58EC-B9EC56D53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39" y="3793688"/>
                <a:ext cx="7620000" cy="646331"/>
              </a:xfrm>
              <a:prstGeom prst="rect">
                <a:avLst/>
              </a:prstGeom>
              <a:blipFill>
                <a:blip r:embed="rId3"/>
                <a:stretch>
                  <a:fillRect l="-720" t="-66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6EF208-71B7-A45B-97A2-52A33F2E8B10}"/>
                  </a:ext>
                </a:extLst>
              </p:cNvPr>
              <p:cNvSpPr txBox="1"/>
              <p:nvPr/>
            </p:nvSpPr>
            <p:spPr>
              <a:xfrm>
                <a:off x="991868" y="4619327"/>
                <a:ext cx="70853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dirty="0">
                    <a:solidFill>
                      <a:srgbClr val="00B050"/>
                    </a:solidFill>
                    <a:latin typeface="Lucida Handwriting" panose="03010101010101010101" pitchFamily="66" charset="0"/>
                    <a:cs typeface="Arial" panose="020B0604020202020204" pitchFamily="34" charset="0"/>
                  </a:rPr>
                  <a:t>F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o being operationalized by a statistical model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such that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6EF208-71B7-A45B-97A2-52A33F2E8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868" y="4619327"/>
                <a:ext cx="7085331" cy="369332"/>
              </a:xfrm>
              <a:prstGeom prst="rect">
                <a:avLst/>
              </a:prstGeom>
              <a:blipFill>
                <a:blip r:embed="rId4"/>
                <a:stretch>
                  <a:fillRect l="-775" t="-1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4448D7-B61D-8A5A-EB3B-B3549EB82002}"/>
                  </a:ext>
                </a:extLst>
              </p:cNvPr>
              <p:cNvSpPr txBox="1"/>
              <p:nvPr/>
            </p:nvSpPr>
            <p:spPr>
              <a:xfrm>
                <a:off x="2667635" y="5662766"/>
                <a:ext cx="26663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𝑬</m:t>
                      </m:r>
                      <m:d>
                        <m:d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𝒀</m:t>
                          </m:r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𝑿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4448D7-B61D-8A5A-EB3B-B3549EB82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635" y="5662766"/>
                <a:ext cx="266636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29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095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0EE2B2EA-4582-9E05-F0DF-6E56E77F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97257"/>
              </p:ext>
            </p:extLst>
          </p:nvPr>
        </p:nvGraphicFramePr>
        <p:xfrm>
          <a:off x="685800" y="2453640"/>
          <a:ext cx="78342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251128388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2367200673"/>
                    </a:ext>
                  </a:extLst>
                </a:gridCol>
              </a:tblGrid>
              <a:tr h="33238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Explain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Predict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0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106792"/>
                  </p:ext>
                </p:extLst>
              </p:nvPr>
            </p:nvGraphicFramePr>
            <p:xfrm>
              <a:off x="685800" y="3581400"/>
              <a:ext cx="7834286" cy="11582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Causation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Association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sz="2000" dirty="0"/>
                            <a:t> represents an </a:t>
                          </a: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underlying causal function</a:t>
                          </a:r>
                          <a:r>
                            <a:rPr lang="en-US" sz="20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 sz="2000" dirty="0"/>
                            <a:t> is assumed to 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𝒀</m:t>
                              </m:r>
                            </m:oMath>
                          </a14:m>
                          <a:r>
                            <a:rPr lang="en-US" sz="2000" dirty="0"/>
                            <a:t>.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:r>
                            <a:rPr lang="en-US" sz="2000" dirty="0"/>
                            <a:t>capture the </a:t>
                          </a:r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association</a:t>
                          </a:r>
                          <a:r>
                            <a:rPr lang="en-US" sz="2000" dirty="0"/>
                            <a:t> between </a:t>
                          </a:r>
                          <a:r>
                            <a:rPr lang="en-US" sz="2000" b="1" dirty="0">
                              <a:latin typeface="Lucida Handwriting" panose="03010101010101010101" pitchFamily="66" charset="0"/>
                            </a:rPr>
                            <a:t>X</a:t>
                          </a:r>
                          <a:r>
                            <a:rPr lang="en-US" sz="2000" dirty="0"/>
                            <a:t> and </a:t>
                          </a:r>
                          <a:r>
                            <a:rPr lang="en-US" sz="2000" b="1" dirty="0">
                              <a:latin typeface="Lucida Handwriting" panose="03010101010101010101" pitchFamily="66" charset="0"/>
                            </a:rPr>
                            <a:t>Y</a:t>
                          </a:r>
                          <a:endParaRPr lang="en-US" sz="2000" dirty="0"/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106792"/>
                  </p:ext>
                </p:extLst>
              </p:nvPr>
            </p:nvGraphicFramePr>
            <p:xfrm>
              <a:off x="685800" y="3581400"/>
              <a:ext cx="7834286" cy="11582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Causation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Association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70690" r="-100311" b="-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0690" r="-311" b="-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533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095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13</a:t>
            </a:fld>
            <a:endParaRPr dirty="0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0EE2B2EA-4582-9E05-F0DF-6E56E77FD60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453640"/>
          <a:ext cx="78342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251128388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2367200673"/>
                    </a:ext>
                  </a:extLst>
                </a:gridCol>
              </a:tblGrid>
              <a:tr h="33238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Explain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Predict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0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5546302"/>
                  </p:ext>
                </p:extLst>
              </p:nvPr>
            </p:nvGraphicFramePr>
            <p:xfrm>
              <a:off x="685800" y="3581400"/>
              <a:ext cx="7834286" cy="20726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sz="2000" dirty="0"/>
                            <a:t> is carefully constructed based on </a:t>
                          </a:r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latin typeface="Lucida Handwriting" panose="03010101010101010101" pitchFamily="66" charset="0"/>
                            </a:rPr>
                            <a:t>F</a:t>
                          </a:r>
                          <a:r>
                            <a:rPr lang="en-US" sz="2000" dirty="0"/>
                            <a:t> in a fashion that supports interpreting the estimated relationship 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 sz="2000" dirty="0"/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𝒀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and</m:t>
                              </m:r>
                            </m:oMath>
                          </a14:m>
                          <a:r>
                            <a:rPr lang="en-US" sz="2000" dirty="0"/>
                            <a:t> testing causal hypotheses.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sz="2000" dirty="0"/>
                            <a:t> is often constructed from the data. Direct interpretability in terms of the relationship 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 sz="2000" dirty="0"/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𝒀</m:t>
                              </m:r>
                            </m:oMath>
                          </a14:m>
                          <a:r>
                            <a:rPr lang="en-US" sz="2000" dirty="0"/>
                            <a:t> is not required.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5546302"/>
                  </p:ext>
                </p:extLst>
              </p:nvPr>
            </p:nvGraphicFramePr>
            <p:xfrm>
              <a:off x="685800" y="3581400"/>
              <a:ext cx="7834286" cy="20726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0827" r="-100311" b="-6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827" r="-311" b="-6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7535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095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14</a:t>
            </a:fld>
            <a:endParaRPr dirty="0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0EE2B2EA-4582-9E05-F0DF-6E56E77FD60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453640"/>
          <a:ext cx="78342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251128388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2367200673"/>
                    </a:ext>
                  </a:extLst>
                </a:gridCol>
              </a:tblGrid>
              <a:tr h="33238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Explain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Predict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0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3058497"/>
                  </p:ext>
                </p:extLst>
              </p:nvPr>
            </p:nvGraphicFramePr>
            <p:xfrm>
              <a:off x="685800" y="3581400"/>
              <a:ext cx="7834286" cy="14630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Retrospective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Prospective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/>
                            <a:t>is used to test an already existing set of hypotheses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Forward-looking, in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sz="2000" dirty="0"/>
                            <a:t> is constructed for predicting new observations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3F5CC5C-9732-C05D-99D6-6104DDAEB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3058497"/>
                  </p:ext>
                </p:extLst>
              </p:nvPr>
            </p:nvGraphicFramePr>
            <p:xfrm>
              <a:off x="685800" y="3581400"/>
              <a:ext cx="7834286" cy="146304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3917143">
                      <a:extLst>
                        <a:ext uri="{9D8B030D-6E8A-4147-A177-3AD203B41FA5}">
                          <a16:colId xmlns:a16="http://schemas.microsoft.com/office/drawing/2014/main" val="3968868499"/>
                        </a:ext>
                      </a:extLst>
                    </a:gridCol>
                    <a:gridCol w="3917143">
                      <a:extLst>
                        <a:ext uri="{9D8B030D-6E8A-4147-A177-3AD203B41FA5}">
                          <a16:colId xmlns:a16="http://schemas.microsoft.com/office/drawing/2014/main" val="1203963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Retrospective</a:t>
                          </a:r>
                        </a:p>
                      </a:txBody>
                      <a:tcPr>
                        <a:solidFill>
                          <a:srgbClr val="4F81BD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Prospective</a:t>
                          </a:r>
                        </a:p>
                      </a:txBody>
                      <a:tcPr>
                        <a:solidFill>
                          <a:srgbClr val="F79646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090887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49398" r="-100311" b="-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9398" r="-311" b="-10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64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6185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095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0EE2B2EA-4582-9E05-F0DF-6E56E77FD60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453640"/>
          <a:ext cx="78342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251128388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2367200673"/>
                    </a:ext>
                  </a:extLst>
                </a:gridCol>
              </a:tblGrid>
              <a:tr h="33238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Explain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Predict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04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53F5CC5C-9732-C05D-99D6-6104DDAEB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87669"/>
              </p:ext>
            </p:extLst>
          </p:nvPr>
        </p:nvGraphicFramePr>
        <p:xfrm>
          <a:off x="685800" y="3581400"/>
          <a:ext cx="7834286" cy="26822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968868499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120396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Bias minimization</a:t>
                      </a:r>
                    </a:p>
                  </a:txBody>
                  <a:tcPr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Good prediction</a:t>
                      </a:r>
                    </a:p>
                  </a:txBody>
                  <a:tcPr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9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Focus on minimizing bias to </a:t>
                      </a:r>
                      <a:r>
                        <a:rPr lang="en-US" sz="2000" u="sng" dirty="0"/>
                        <a:t>obtain the most accurate representation of the underlying theory</a:t>
                      </a:r>
                      <a:r>
                        <a:rPr lang="en-US" sz="2000" dirty="0"/>
                        <a:t>.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i.e., having an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unbiased estimator </a:t>
                      </a:r>
                      <a:r>
                        <a:rPr lang="en-US" sz="2000" dirty="0"/>
                        <a:t>is important.</a:t>
                      </a:r>
                    </a:p>
                  </a:txBody>
                  <a:tcPr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minimize the combination of bias and estimation variance to </a:t>
                      </a:r>
                      <a:r>
                        <a:rPr lang="en-US" sz="2000" u="sng" dirty="0"/>
                        <a:t>obtain the most accurate prediction</a:t>
                      </a:r>
                      <a:r>
                        <a:rPr lang="en-US" sz="2000" dirty="0"/>
                        <a:t>.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i.e., it even sacrifice theoretical accuracy for </a:t>
                      </a:r>
                      <a:r>
                        <a:rPr lang="en-US" sz="2000" b="1" dirty="0">
                          <a:solidFill>
                            <a:srgbClr val="4F81BD"/>
                          </a:solidFill>
                        </a:rPr>
                        <a:t>improved empirical precision</a:t>
                      </a:r>
                      <a:r>
                        <a:rPr lang="en-US" sz="2000" dirty="0"/>
                        <a:t>.</a:t>
                      </a:r>
                    </a:p>
                  </a:txBody>
                  <a:tcPr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09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095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To explain or to predict</a:t>
            </a:r>
            <a:endParaRPr spc="30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0EE2B2EA-4582-9E05-F0DF-6E56E77FD60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453640"/>
          <a:ext cx="78342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251128388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2367200673"/>
                    </a:ext>
                  </a:extLst>
                </a:gridCol>
              </a:tblGrid>
              <a:tr h="33238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Explain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Predict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04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53F5CC5C-9732-C05D-99D6-6104DDAEB03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3581400"/>
          <a:ext cx="7834286" cy="26822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917143">
                  <a:extLst>
                    <a:ext uri="{9D8B030D-6E8A-4147-A177-3AD203B41FA5}">
                      <a16:colId xmlns:a16="http://schemas.microsoft.com/office/drawing/2014/main" val="3968868499"/>
                    </a:ext>
                  </a:extLst>
                </a:gridCol>
                <a:gridCol w="3917143">
                  <a:extLst>
                    <a:ext uri="{9D8B030D-6E8A-4147-A177-3AD203B41FA5}">
                      <a16:colId xmlns:a16="http://schemas.microsoft.com/office/drawing/2014/main" val="120396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Bias minimization</a:t>
                      </a:r>
                    </a:p>
                  </a:txBody>
                  <a:tcPr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Good prediction</a:t>
                      </a:r>
                    </a:p>
                  </a:txBody>
                  <a:tcPr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9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Focus on minimizing bias to </a:t>
                      </a:r>
                      <a:r>
                        <a:rPr lang="en-US" sz="2000" u="sng" dirty="0"/>
                        <a:t>obtain the most accurate representation of the underlying theory</a:t>
                      </a:r>
                      <a:r>
                        <a:rPr lang="en-US" sz="2000" dirty="0"/>
                        <a:t>.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i.e., having an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unbiased estimator </a:t>
                      </a:r>
                      <a:r>
                        <a:rPr lang="en-US" sz="2000" dirty="0"/>
                        <a:t>is important.</a:t>
                      </a:r>
                    </a:p>
                  </a:txBody>
                  <a:tcPr>
                    <a:solidFill>
                      <a:srgbClr val="4F81BD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minimize the combination of bias and estimation variance to </a:t>
                      </a:r>
                      <a:r>
                        <a:rPr lang="en-US" sz="2000" u="sng" dirty="0"/>
                        <a:t>obtain the most accurate prediction</a:t>
                      </a:r>
                      <a:r>
                        <a:rPr lang="en-US" sz="2000" dirty="0"/>
                        <a:t>.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i.e., it even sacrifice theoretical accuracy for </a:t>
                      </a:r>
                      <a:r>
                        <a:rPr lang="en-US" sz="2000" b="1" dirty="0">
                          <a:solidFill>
                            <a:srgbClr val="4F81BD"/>
                          </a:solidFill>
                        </a:rPr>
                        <a:t>improved empirical precision</a:t>
                      </a:r>
                      <a:r>
                        <a:rPr lang="en-US" sz="2000" dirty="0"/>
                        <a:t>.</a:t>
                      </a:r>
                    </a:p>
                  </a:txBody>
                  <a:tcPr>
                    <a:solidFill>
                      <a:srgbClr val="F7964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553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6A002-4828-B9E8-48B6-60C3E91E515B}"/>
              </a:ext>
            </a:extLst>
          </p:cNvPr>
          <p:cNvSpPr txBox="1"/>
          <p:nvPr/>
        </p:nvSpPr>
        <p:spPr>
          <a:xfrm>
            <a:off x="2781300" y="3001494"/>
            <a:ext cx="358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TWO MODELING PATHS</a:t>
            </a:r>
          </a:p>
        </p:txBody>
      </p:sp>
    </p:spTree>
    <p:extLst>
      <p:ext uri="{BB962C8B-B14F-4D97-AF65-F5344CB8AC3E}">
        <p14:creationId xmlns:p14="http://schemas.microsoft.com/office/powerpoint/2010/main" val="426517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34740" y="3188970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46070" y="318897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F23C7-0155-E5DC-30D4-8104C4591939}"/>
              </a:ext>
            </a:extLst>
          </p:cNvPr>
          <p:cNvSpPr txBox="1"/>
          <p:nvPr/>
        </p:nvSpPr>
        <p:spPr>
          <a:xfrm>
            <a:off x="838199" y="609600"/>
            <a:ext cx="792479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Identify and Explain </a:t>
            </a:r>
            <a:r>
              <a:rPr lang="en-US" sz="2000" b="1" dirty="0"/>
              <a:t>causation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51BCC-5496-3EB2-3BE1-75AAF0FCCEAD}"/>
              </a:ext>
            </a:extLst>
          </p:cNvPr>
          <p:cNvSpPr txBox="1"/>
          <p:nvPr/>
        </p:nvSpPr>
        <p:spPr>
          <a:xfrm>
            <a:off x="833958" y="4385414"/>
            <a:ext cx="792904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Make good </a:t>
            </a:r>
            <a:r>
              <a:rPr lang="en-US" sz="2000" b="1" dirty="0"/>
              <a:t>prediction</a:t>
            </a:r>
            <a:r>
              <a:rPr lang="en-US" sz="2000" dirty="0"/>
              <a:t> for unknown data</a:t>
            </a:r>
          </a:p>
        </p:txBody>
      </p:sp>
    </p:spTree>
    <p:extLst>
      <p:ext uri="{BB962C8B-B14F-4D97-AF65-F5344CB8AC3E}">
        <p14:creationId xmlns:p14="http://schemas.microsoft.com/office/powerpoint/2010/main" val="2916215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18706" y="3196590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24720" y="319659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9F6-6605-38B2-3CB4-BDB36537B134}"/>
              </a:ext>
            </a:extLst>
          </p:cNvPr>
          <p:cNvSpPr txBox="1"/>
          <p:nvPr/>
        </p:nvSpPr>
        <p:spPr>
          <a:xfrm>
            <a:off x="838199" y="609600"/>
            <a:ext cx="792479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/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size</a:t>
            </a:r>
            <a:r>
              <a:rPr lang="en-US" sz="2000" dirty="0"/>
              <a:t>: depends on necessary statistical power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scheme</a:t>
            </a:r>
            <a:r>
              <a:rPr lang="en-US" sz="2000" dirty="0"/>
              <a:t>: diversified sample is preferred 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collection: </a:t>
            </a:r>
            <a:r>
              <a:rPr lang="en-US" sz="2000" dirty="0"/>
              <a:t>experimental data are greatly preferred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quality</a:t>
            </a:r>
            <a:r>
              <a:rPr lang="en-US" sz="2000" dirty="0"/>
              <a:t>: reliable and valid variables are important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833958" y="4385414"/>
            <a:ext cx="792904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size</a:t>
            </a:r>
            <a:r>
              <a:rPr lang="en-US" sz="2000" dirty="0"/>
              <a:t>: larger sample is always preferred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scheme</a:t>
            </a:r>
            <a:r>
              <a:rPr lang="en-US" sz="2000" dirty="0"/>
              <a:t>: more observations in each group is preferred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collection</a:t>
            </a:r>
            <a:r>
              <a:rPr lang="en-US" sz="2000" dirty="0"/>
              <a:t>: data better represent the reality are preferred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Sample quality</a:t>
            </a:r>
            <a:r>
              <a:rPr lang="en-US" sz="2000" dirty="0"/>
              <a:t>: measurement quality is more important</a:t>
            </a:r>
          </a:p>
        </p:txBody>
      </p:sp>
    </p:spTree>
    <p:extLst>
      <p:ext uri="{BB962C8B-B14F-4D97-AF65-F5344CB8AC3E}">
        <p14:creationId xmlns:p14="http://schemas.microsoft.com/office/powerpoint/2010/main" val="2039942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22517" y="3191918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58770" y="3199362"/>
            <a:ext cx="788670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9F6-6605-38B2-3CB4-BDB36537B134}"/>
              </a:ext>
            </a:extLst>
          </p:cNvPr>
          <p:cNvSpPr txBox="1"/>
          <p:nvPr/>
        </p:nvSpPr>
        <p:spPr>
          <a:xfrm>
            <a:off x="838199" y="609600"/>
            <a:ext cx="792479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/>
          </a:p>
          <a:p>
            <a:r>
              <a:rPr lang="en-US" sz="2000" b="1" dirty="0"/>
              <a:t>EDA often channeled toward theoretical causal relationship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Explore possible causations 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Focus on theoretical relationships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Dimension reduction is used to validate the survey instrument, make the factors more interpretable.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833958" y="4385414"/>
            <a:ext cx="79290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r>
              <a:rPr lang="en-US" sz="2000" b="1" dirty="0"/>
              <a:t>Exploratory Data Analysis is conducted in a more free-form fashion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Explore a wide and sometimes unknown terrain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No theoretical guide for numerical summary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Dimension reduction is used as a tool to reduce sampling variance, use compressed (yet less interpretable) variables as predictor.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5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10452" y="3188970"/>
            <a:ext cx="1099185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34640" y="319659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9F6-6605-38B2-3CB4-BDB36537B134}"/>
              </a:ext>
            </a:extLst>
          </p:cNvPr>
          <p:cNvSpPr txBox="1"/>
          <p:nvPr/>
        </p:nvSpPr>
        <p:spPr>
          <a:xfrm>
            <a:off x="749618" y="354658"/>
            <a:ext cx="792479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/>
          </a:p>
          <a:p>
            <a:r>
              <a:rPr lang="en-US" sz="2000" b="1" dirty="0"/>
              <a:t>Data partitioning: 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Very rare. All-data-together is the most common practice</a:t>
            </a:r>
          </a:p>
          <a:p>
            <a:r>
              <a:rPr lang="en-US" sz="2000" b="1" dirty="0"/>
              <a:t>Handling missing values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Drop observations with missing values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Drop columns with missing values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Imputation</a:t>
            </a:r>
          </a:p>
          <a:p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749618" y="4215199"/>
            <a:ext cx="79290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sz="2000" dirty="0"/>
          </a:p>
          <a:p>
            <a:r>
              <a:rPr lang="en-US" sz="2000" b="1" dirty="0"/>
              <a:t>Data partitioning</a:t>
            </a:r>
            <a:r>
              <a:rPr lang="en-US" sz="2000" dirty="0"/>
              <a:t>: a key step in predictive modeling</a:t>
            </a:r>
          </a:p>
          <a:p>
            <a:pPr marL="342900" indent="-34290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train-test; train-test-valid; cross-validation</a:t>
            </a:r>
          </a:p>
          <a:p>
            <a:r>
              <a:rPr lang="en-US" sz="2000" b="1" dirty="0"/>
              <a:t>Handling missing values</a:t>
            </a:r>
          </a:p>
          <a:p>
            <a:pPr marL="285750" indent="-28575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solution strongly depends on the context</a:t>
            </a:r>
          </a:p>
          <a:p>
            <a:pPr marL="285750" indent="-28575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Missingness can be a blessing in certain context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2218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19233" y="3188969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52202" y="318897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Select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9F6-6605-38B2-3CB4-BDB36537B134}"/>
              </a:ext>
            </a:extLst>
          </p:cNvPr>
          <p:cNvSpPr txBox="1"/>
          <p:nvPr/>
        </p:nvSpPr>
        <p:spPr>
          <a:xfrm>
            <a:off x="838199" y="609600"/>
            <a:ext cx="792479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/>
          </a:p>
          <a:p>
            <a:r>
              <a:rPr lang="en-US" sz="2000" b="1" dirty="0"/>
              <a:t>Select variables based on the role in the causal structure</a:t>
            </a:r>
            <a:r>
              <a:rPr lang="en-US" sz="2000" dirty="0"/>
              <a:t>: 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moderator, mediator, treatment, etc.</a:t>
            </a:r>
            <a:br>
              <a:rPr lang="en-US" sz="2000" dirty="0"/>
            </a:br>
            <a:r>
              <a:rPr lang="en-US" sz="2000" dirty="0"/>
              <a:t>use variables (or even create variables) to overcome endogeneity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check for multicollinearity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833958" y="4385414"/>
            <a:ext cx="79290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r>
              <a:rPr lang="en-US" sz="2000" b="1" dirty="0"/>
              <a:t>Select variables based on the data itself</a:t>
            </a:r>
            <a:r>
              <a:rPr lang="en-US" sz="2000" dirty="0"/>
              <a:t>: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quality of the association between the predictors and the response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data quality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availability of the predictor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0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1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10294" y="3196307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46447" y="318897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7589F6-6605-38B2-3CB4-BDB36537B134}"/>
                  </a:ext>
                </a:extLst>
              </p:cNvPr>
              <p:cNvSpPr txBox="1"/>
              <p:nvPr/>
            </p:nvSpPr>
            <p:spPr>
              <a:xfrm>
                <a:off x="838199" y="609600"/>
                <a:ext cx="792479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4F81BD"/>
                    </a:solidFill>
                  </a:rPr>
                  <a:t>Explanatory modeling:</a:t>
                </a:r>
              </a:p>
              <a:p>
                <a:endParaRPr lang="en-US" dirty="0"/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Regression-type models</a:t>
                </a:r>
                <a:r>
                  <a:rPr lang="en-US" sz="2000" dirty="0"/>
                  <a:t>, such as linear models, are popular </a:t>
                </a:r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Validate the model by examining 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</m:t>
                    </m:r>
                  </m:oMath>
                </a14:m>
                <a:r>
                  <a:rPr lang="en-US" sz="2000" dirty="0"/>
                  <a:t> is a good representation of </a:t>
                </a:r>
                <a:r>
                  <a:rPr lang="en-US" sz="2000" b="1" dirty="0"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F</a:t>
                </a:r>
                <a:endParaRPr lang="en-US" sz="2000" dirty="0"/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Evaluate the model by explanatory power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7589F6-6605-38B2-3CB4-BDB36537B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609600"/>
                <a:ext cx="7924799" cy="1661993"/>
              </a:xfrm>
              <a:prstGeom prst="rect">
                <a:avLst/>
              </a:prstGeom>
              <a:blipFill>
                <a:blip r:embed="rId3"/>
                <a:stretch>
                  <a:fillRect l="-1154" t="-2930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833958" y="4385414"/>
            <a:ext cx="792904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pPr marL="285750" indent="-28575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Algorithmic-type models</a:t>
            </a:r>
            <a:r>
              <a:rPr lang="en-US" sz="2000" dirty="0"/>
              <a:t>, such as tree-based models, are popular</a:t>
            </a:r>
          </a:p>
          <a:p>
            <a:pPr marL="285750" indent="-28575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Validate the model by examining its generalizability </a:t>
            </a:r>
          </a:p>
          <a:p>
            <a:pPr marL="285750" indent="-285750">
              <a:buClr>
                <a:srgbClr val="F79646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Evaluate the model by predictive power: </a:t>
            </a:r>
          </a:p>
          <a:p>
            <a:r>
              <a:rPr lang="en-US" sz="2000" dirty="0"/>
              <a:t>	e.g., accuracy, precision, recall, R</a:t>
            </a:r>
            <a:r>
              <a:rPr lang="en-US" sz="2000" baseline="30000" dirty="0"/>
              <a:t>2 </a:t>
            </a:r>
            <a:r>
              <a:rPr lang="en-US" sz="2000" dirty="0"/>
              <a:t>,etc.</a:t>
            </a:r>
          </a:p>
        </p:txBody>
      </p:sp>
    </p:spTree>
    <p:extLst>
      <p:ext uri="{BB962C8B-B14F-4D97-AF65-F5344CB8AC3E}">
        <p14:creationId xmlns:p14="http://schemas.microsoft.com/office/powerpoint/2010/main" val="1766819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CD6D44-F72E-974A-6487-5954FE76E367}"/>
              </a:ext>
            </a:extLst>
          </p:cNvPr>
          <p:cNvGrpSpPr/>
          <p:nvPr/>
        </p:nvGrpSpPr>
        <p:grpSpPr>
          <a:xfrm>
            <a:off x="0" y="0"/>
            <a:ext cx="9144000" cy="6839604"/>
            <a:chOff x="0" y="1"/>
            <a:chExt cx="9144000" cy="6839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0FA47E-34CC-E906-FC64-348F88032F62}"/>
                </a:ext>
              </a:extLst>
            </p:cNvPr>
            <p:cNvSpPr/>
            <p:nvPr/>
          </p:nvSpPr>
          <p:spPr>
            <a:xfrm>
              <a:off x="0" y="1"/>
              <a:ext cx="9144000" cy="3822069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41735"/>
                <a:gd name="connsiteX1" fmla="*/ 9144000 w 9144000"/>
                <a:gd name="connsiteY1" fmla="*/ 0 h 4041735"/>
                <a:gd name="connsiteX2" fmla="*/ 9122979 w 9144000"/>
                <a:gd name="connsiteY2" fmla="*/ 3605081 h 4041735"/>
                <a:gd name="connsiteX3" fmla="*/ 10510 w 9144000"/>
                <a:gd name="connsiteY3" fmla="*/ 3718034 h 4041735"/>
                <a:gd name="connsiteX4" fmla="*/ 0 w 9144000"/>
                <a:gd name="connsiteY4" fmla="*/ 0 h 4041735"/>
                <a:gd name="connsiteX0" fmla="*/ 0 w 9144000"/>
                <a:gd name="connsiteY0" fmla="*/ 0 h 4151893"/>
                <a:gd name="connsiteX1" fmla="*/ 9144000 w 9144000"/>
                <a:gd name="connsiteY1" fmla="*/ 0 h 4151893"/>
                <a:gd name="connsiteX2" fmla="*/ 9122979 w 9144000"/>
                <a:gd name="connsiteY2" fmla="*/ 3605081 h 4151893"/>
                <a:gd name="connsiteX3" fmla="*/ 10510 w 9144000"/>
                <a:gd name="connsiteY3" fmla="*/ 4151893 h 4151893"/>
                <a:gd name="connsiteX4" fmla="*/ 0 w 9144000"/>
                <a:gd name="connsiteY4" fmla="*/ 0 h 415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151893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26482" y="2267640"/>
                    <a:pt x="9122979" y="3605081"/>
                  </a:cubicBezTo>
                  <a:cubicBezTo>
                    <a:pt x="5885793" y="5066019"/>
                    <a:pt x="3268717" y="2704093"/>
                    <a:pt x="10510" y="4151893"/>
                  </a:cubicBezTo>
                  <a:cubicBezTo>
                    <a:pt x="7007" y="2912548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33C7A54-FE32-20A4-6FA4-E1A4E6944A29}"/>
                </a:ext>
              </a:extLst>
            </p:cNvPr>
            <p:cNvSpPr/>
            <p:nvPr/>
          </p:nvSpPr>
          <p:spPr>
            <a:xfrm flipH="1" flipV="1">
              <a:off x="0" y="3281185"/>
              <a:ext cx="9144000" cy="3558420"/>
            </a:xfrm>
            <a:custGeom>
              <a:avLst/>
              <a:gdLst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3581400"/>
                <a:gd name="connsiteX1" fmla="*/ 9144000 w 9144000"/>
                <a:gd name="connsiteY1" fmla="*/ 0 h 3581400"/>
                <a:gd name="connsiteX2" fmla="*/ 9144000 w 9144000"/>
                <a:gd name="connsiteY2" fmla="*/ 3581400 h 3581400"/>
                <a:gd name="connsiteX3" fmla="*/ 0 w 9144000"/>
                <a:gd name="connsiteY3" fmla="*/ 3581400 h 3581400"/>
                <a:gd name="connsiteX4" fmla="*/ 0 w 9144000"/>
                <a:gd name="connsiteY4" fmla="*/ 0 h 3581400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0 w 9144000"/>
                <a:gd name="connsiteY3" fmla="*/ 3581400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21020 w 9144000"/>
                <a:gd name="connsiteY3" fmla="*/ 3413234 h 4012324"/>
                <a:gd name="connsiteX4" fmla="*/ 0 w 9144000"/>
                <a:gd name="connsiteY4" fmla="*/ 0 h 4012324"/>
                <a:gd name="connsiteX0" fmla="*/ 0 w 9144000"/>
                <a:gd name="connsiteY0" fmla="*/ 0 h 4012324"/>
                <a:gd name="connsiteX1" fmla="*/ 9144000 w 9144000"/>
                <a:gd name="connsiteY1" fmla="*/ 0 h 4012324"/>
                <a:gd name="connsiteX2" fmla="*/ 9133490 w 9144000"/>
                <a:gd name="connsiteY2" fmla="*/ 4012324 h 4012324"/>
                <a:gd name="connsiteX3" fmla="*/ 10510 w 9144000"/>
                <a:gd name="connsiteY3" fmla="*/ 3718034 h 4012324"/>
                <a:gd name="connsiteX4" fmla="*/ 0 w 9144000"/>
                <a:gd name="connsiteY4" fmla="*/ 0 h 401232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8912772 w 9144000"/>
                <a:gd name="connsiteY2" fmla="*/ 3478924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3718034"/>
                <a:gd name="connsiteX1" fmla="*/ 9144000 w 9144000"/>
                <a:gd name="connsiteY1" fmla="*/ 0 h 3718034"/>
                <a:gd name="connsiteX2" fmla="*/ 9112469 w 9144000"/>
                <a:gd name="connsiteY2" fmla="*/ 3594538 h 3718034"/>
                <a:gd name="connsiteX3" fmla="*/ 10510 w 9144000"/>
                <a:gd name="connsiteY3" fmla="*/ 3718034 h 3718034"/>
                <a:gd name="connsiteX4" fmla="*/ 0 w 9144000"/>
                <a:gd name="connsiteY4" fmla="*/ 0 h 3718034"/>
                <a:gd name="connsiteX0" fmla="*/ 0 w 9144000"/>
                <a:gd name="connsiteY0" fmla="*/ 0 h 4098918"/>
                <a:gd name="connsiteX1" fmla="*/ 9144000 w 9144000"/>
                <a:gd name="connsiteY1" fmla="*/ 0 h 4098918"/>
                <a:gd name="connsiteX2" fmla="*/ 9112469 w 9144000"/>
                <a:gd name="connsiteY2" fmla="*/ 3594538 h 4098918"/>
                <a:gd name="connsiteX3" fmla="*/ 10510 w 9144000"/>
                <a:gd name="connsiteY3" fmla="*/ 3718034 h 4098918"/>
                <a:gd name="connsiteX4" fmla="*/ 0 w 9144000"/>
                <a:gd name="connsiteY4" fmla="*/ 0 h 4098918"/>
                <a:gd name="connsiteX0" fmla="*/ 0 w 9144000"/>
                <a:gd name="connsiteY0" fmla="*/ 0 h 4032501"/>
                <a:gd name="connsiteX1" fmla="*/ 9144000 w 9144000"/>
                <a:gd name="connsiteY1" fmla="*/ 0 h 4032501"/>
                <a:gd name="connsiteX2" fmla="*/ 9112469 w 9144000"/>
                <a:gd name="connsiteY2" fmla="*/ 3594538 h 4032501"/>
                <a:gd name="connsiteX3" fmla="*/ 10510 w 9144000"/>
                <a:gd name="connsiteY3" fmla="*/ 3718034 h 4032501"/>
                <a:gd name="connsiteX4" fmla="*/ 0 w 9144000"/>
                <a:gd name="connsiteY4" fmla="*/ 0 h 4032501"/>
                <a:gd name="connsiteX0" fmla="*/ 0 w 9144000"/>
                <a:gd name="connsiteY0" fmla="*/ 0 h 4053350"/>
                <a:gd name="connsiteX1" fmla="*/ 9144000 w 9144000"/>
                <a:gd name="connsiteY1" fmla="*/ 0 h 4053350"/>
                <a:gd name="connsiteX2" fmla="*/ 9122980 w 9144000"/>
                <a:gd name="connsiteY2" fmla="*/ 3618329 h 4053350"/>
                <a:gd name="connsiteX3" fmla="*/ 10510 w 9144000"/>
                <a:gd name="connsiteY3" fmla="*/ 3718034 h 4053350"/>
                <a:gd name="connsiteX4" fmla="*/ 0 w 9144000"/>
                <a:gd name="connsiteY4" fmla="*/ 0 h 4053350"/>
                <a:gd name="connsiteX0" fmla="*/ 0 w 9144000"/>
                <a:gd name="connsiteY0" fmla="*/ 0 h 4081439"/>
                <a:gd name="connsiteX1" fmla="*/ 9144000 w 9144000"/>
                <a:gd name="connsiteY1" fmla="*/ 0 h 4081439"/>
                <a:gd name="connsiteX2" fmla="*/ 9122980 w 9144000"/>
                <a:gd name="connsiteY2" fmla="*/ 3618329 h 4081439"/>
                <a:gd name="connsiteX3" fmla="*/ 31531 w 9144000"/>
                <a:gd name="connsiteY3" fmla="*/ 3932149 h 4081439"/>
                <a:gd name="connsiteX4" fmla="*/ 0 w 9144000"/>
                <a:gd name="connsiteY4" fmla="*/ 0 h 4081439"/>
                <a:gd name="connsiteX0" fmla="*/ 0 w 9144000"/>
                <a:gd name="connsiteY0" fmla="*/ 0 h 4095205"/>
                <a:gd name="connsiteX1" fmla="*/ 9144000 w 9144000"/>
                <a:gd name="connsiteY1" fmla="*/ 0 h 4095205"/>
                <a:gd name="connsiteX2" fmla="*/ 9122980 w 9144000"/>
                <a:gd name="connsiteY2" fmla="*/ 3618329 h 4095205"/>
                <a:gd name="connsiteX3" fmla="*/ 31531 w 9144000"/>
                <a:gd name="connsiteY3" fmla="*/ 4027311 h 4095205"/>
                <a:gd name="connsiteX4" fmla="*/ 0 w 9144000"/>
                <a:gd name="connsiteY4" fmla="*/ 0 h 4095205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12469 w 9144000"/>
                <a:gd name="connsiteY2" fmla="*/ 3439899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22979 w 9144000"/>
                <a:gd name="connsiteY2" fmla="*/ 3428004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  <a:gd name="connsiteX0" fmla="*/ 0 w 9144000"/>
                <a:gd name="connsiteY0" fmla="*/ 0 h 4027311"/>
                <a:gd name="connsiteX1" fmla="*/ 9144000 w 9144000"/>
                <a:gd name="connsiteY1" fmla="*/ 0 h 4027311"/>
                <a:gd name="connsiteX2" fmla="*/ 9133489 w 9144000"/>
                <a:gd name="connsiteY2" fmla="*/ 3463690 h 4027311"/>
                <a:gd name="connsiteX3" fmla="*/ 31531 w 9144000"/>
                <a:gd name="connsiteY3" fmla="*/ 4027311 h 4027311"/>
                <a:gd name="connsiteX4" fmla="*/ 0 w 9144000"/>
                <a:gd name="connsiteY4" fmla="*/ 0 h 402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4027311">
                  <a:moveTo>
                    <a:pt x="0" y="0"/>
                  </a:moveTo>
                  <a:lnTo>
                    <a:pt x="9144000" y="0"/>
                  </a:lnTo>
                  <a:cubicBezTo>
                    <a:pt x="9140497" y="1337441"/>
                    <a:pt x="9136992" y="2126249"/>
                    <a:pt x="9133489" y="3463690"/>
                  </a:cubicBezTo>
                  <a:cubicBezTo>
                    <a:pt x="5896303" y="4924628"/>
                    <a:pt x="3289738" y="2579511"/>
                    <a:pt x="31531" y="4027311"/>
                  </a:cubicBezTo>
                  <a:cubicBezTo>
                    <a:pt x="28028" y="2787966"/>
                    <a:pt x="3503" y="123934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19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E58771B-802B-9F10-52F2-B41EC67B3528}"/>
              </a:ext>
            </a:extLst>
          </p:cNvPr>
          <p:cNvSpPr/>
          <p:nvPr/>
        </p:nvSpPr>
        <p:spPr>
          <a:xfrm>
            <a:off x="648553" y="3188970"/>
            <a:ext cx="99060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Define Goal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3030A17-2495-D5E5-E7F5-2207AFD7DE9E}"/>
              </a:ext>
            </a:extLst>
          </p:cNvPr>
          <p:cNvSpPr/>
          <p:nvPr/>
        </p:nvSpPr>
        <p:spPr>
          <a:xfrm>
            <a:off x="1670685" y="3188970"/>
            <a:ext cx="11753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Data Collection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521007-33DB-47BD-7902-3DA3981E85A4}"/>
              </a:ext>
            </a:extLst>
          </p:cNvPr>
          <p:cNvSpPr/>
          <p:nvPr/>
        </p:nvSpPr>
        <p:spPr>
          <a:xfrm>
            <a:off x="3628390" y="3187145"/>
            <a:ext cx="1099185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Prepare Data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A708CC6-2C10-346E-1912-C8E6156E35EF}"/>
              </a:ext>
            </a:extLst>
          </p:cNvPr>
          <p:cNvSpPr/>
          <p:nvPr/>
        </p:nvSpPr>
        <p:spPr>
          <a:xfrm>
            <a:off x="2846070" y="3188970"/>
            <a:ext cx="78867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EDA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FEAFA72-B614-4D14-ABEE-53BACA41B041}"/>
              </a:ext>
            </a:extLst>
          </p:cNvPr>
          <p:cNvSpPr/>
          <p:nvPr/>
        </p:nvSpPr>
        <p:spPr>
          <a:xfrm>
            <a:off x="4696779" y="319659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Select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Variables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9ED5AD-5153-AA6E-CCCD-406798606477}"/>
              </a:ext>
            </a:extLst>
          </p:cNvPr>
          <p:cNvSpPr/>
          <p:nvPr/>
        </p:nvSpPr>
        <p:spPr>
          <a:xfrm>
            <a:off x="5973129" y="3188970"/>
            <a:ext cx="1276350" cy="762000"/>
          </a:xfrm>
          <a:prstGeom prst="chevron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Modeling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27928F-EB34-DD1F-3113-1EAC0CE87D45}"/>
              </a:ext>
            </a:extLst>
          </p:cNvPr>
          <p:cNvSpPr/>
          <p:nvPr/>
        </p:nvSpPr>
        <p:spPr>
          <a:xfrm>
            <a:off x="7249479" y="3188970"/>
            <a:ext cx="970593" cy="762000"/>
          </a:xfrm>
          <a:prstGeom prst="chevron">
            <a:avLst>
              <a:gd name="adj" fmla="val 12500"/>
            </a:avLst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9F6-6605-38B2-3CB4-BDB36537B134}"/>
              </a:ext>
            </a:extLst>
          </p:cNvPr>
          <p:cNvSpPr txBox="1"/>
          <p:nvPr/>
        </p:nvSpPr>
        <p:spPr>
          <a:xfrm>
            <a:off x="838199" y="609600"/>
            <a:ext cx="830580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</a:rPr>
              <a:t>Explanatory modeling:</a:t>
            </a:r>
          </a:p>
          <a:p>
            <a:endParaRPr lang="en-US" dirty="0"/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Make scientific conclusions </a:t>
            </a:r>
            <a:r>
              <a:rPr lang="en-US" sz="2000" dirty="0"/>
              <a:t>regarding </a:t>
            </a:r>
            <a:r>
              <a:rPr lang="en-US" sz="2000" b="1" dirty="0">
                <a:solidFill>
                  <a:srgbClr val="00B050"/>
                </a:solidFill>
                <a:latin typeface="Lucida Handwriting" panose="03010101010101010101" pitchFamily="66" charset="0"/>
              </a:rPr>
              <a:t>F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70C0"/>
                </a:solidFill>
                <a:latin typeface="Lucida Handwriting" panose="03010101010101010101" pitchFamily="66" charset="0"/>
              </a:rPr>
              <a:t>X</a:t>
            </a:r>
            <a:r>
              <a:rPr lang="en-US" sz="2000" dirty="0"/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Lucida Handwriting" panose="03010101010101010101" pitchFamily="66" charset="0"/>
              </a:rPr>
              <a:t>Y</a:t>
            </a:r>
            <a:r>
              <a:rPr lang="en-US" sz="2000" dirty="0"/>
              <a:t> and the causal hypotheses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Mostly statistical inference + theoretical explanation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Results from several models are often presented side-by-side to compare their explanatory power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B53AC-B8F1-FC8D-C53A-830949BCFB43}"/>
              </a:ext>
            </a:extLst>
          </p:cNvPr>
          <p:cNvSpPr txBox="1"/>
          <p:nvPr/>
        </p:nvSpPr>
        <p:spPr>
          <a:xfrm>
            <a:off x="833958" y="4385414"/>
            <a:ext cx="79290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Predictive modeling:</a:t>
            </a:r>
          </a:p>
          <a:p>
            <a:endParaRPr lang="en-US" dirty="0"/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Make predictions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Predictive power and its comparison across models being the core</a:t>
            </a:r>
          </a:p>
        </p:txBody>
      </p:sp>
    </p:spTree>
    <p:extLst>
      <p:ext uri="{BB962C8B-B14F-4D97-AF65-F5344CB8AC3E}">
        <p14:creationId xmlns:p14="http://schemas.microsoft.com/office/powerpoint/2010/main" val="1331402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35" dirty="0">
                <a:solidFill>
                  <a:srgbClr val="3369E8"/>
                </a:solidFill>
              </a:rPr>
              <a:t>Hands-on learning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72819" y="2209800"/>
            <a:ext cx="6418581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this project, we will use a real estate dataset to build machine learning models step-by-step.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Please see our canvas page for more detail.</a:t>
            </a:r>
          </a:p>
        </p:txBody>
      </p:sp>
    </p:spTree>
    <p:extLst>
      <p:ext uri="{BB962C8B-B14F-4D97-AF65-F5344CB8AC3E}">
        <p14:creationId xmlns:p14="http://schemas.microsoft.com/office/powerpoint/2010/main" val="314679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2590800" y="2895600"/>
            <a:ext cx="396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Partitioning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19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1137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Split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the</a:t>
            </a:r>
            <a:r>
              <a:rPr spc="45" dirty="0">
                <a:solidFill>
                  <a:srgbClr val="3369E8"/>
                </a:solidFill>
              </a:rPr>
              <a:t> </a:t>
            </a:r>
            <a:r>
              <a:rPr spc="30" dirty="0">
                <a:solidFill>
                  <a:srgbClr val="3369E8"/>
                </a:solidFill>
              </a:rPr>
              <a:t>Dataset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35" dirty="0">
                <a:solidFill>
                  <a:srgbClr val="3369E8"/>
                </a:solidFill>
              </a:rPr>
              <a:t>(</a:t>
            </a:r>
            <a:r>
              <a:rPr lang="en-US" spc="35" dirty="0">
                <a:solidFill>
                  <a:srgbClr val="3369E8"/>
                </a:solidFill>
              </a:rPr>
              <a:t>train</a:t>
            </a:r>
            <a:r>
              <a:rPr spc="35" dirty="0">
                <a:solidFill>
                  <a:srgbClr val="3369E8"/>
                </a:solidFill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6469" y="2200910"/>
            <a:ext cx="7567930" cy="576440"/>
          </a:xfrm>
          <a:prstGeom prst="rect">
            <a:avLst/>
          </a:prstGeom>
          <a:solidFill>
            <a:srgbClr val="00A0F0"/>
          </a:solidFill>
          <a:ln w="12700">
            <a:solidFill>
              <a:srgbClr val="231F20"/>
            </a:solidFill>
          </a:ln>
        </p:spPr>
        <p:txBody>
          <a:bodyPr vert="horz" wrap="square" lIns="0" tIns="205105" rIns="0" bIns="0" rtlCol="0">
            <a:spAutoFit/>
          </a:bodyPr>
          <a:lstStyle/>
          <a:p>
            <a:pPr marL="798830">
              <a:lnSpc>
                <a:spcPct val="100000"/>
              </a:lnSpc>
              <a:spcBef>
                <a:spcPts val="161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(train)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808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Split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the</a:t>
            </a:r>
            <a:r>
              <a:rPr spc="45" dirty="0">
                <a:solidFill>
                  <a:srgbClr val="3369E8"/>
                </a:solidFill>
              </a:rPr>
              <a:t> </a:t>
            </a:r>
            <a:r>
              <a:rPr spc="30" dirty="0">
                <a:solidFill>
                  <a:srgbClr val="3369E8"/>
                </a:solidFill>
              </a:rPr>
              <a:t>Dataset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35" dirty="0">
                <a:solidFill>
                  <a:srgbClr val="3369E8"/>
                </a:solidFill>
              </a:rPr>
              <a:t>(</a:t>
            </a:r>
            <a:r>
              <a:rPr lang="en-US" spc="35" dirty="0">
                <a:solidFill>
                  <a:srgbClr val="3369E8"/>
                </a:solidFill>
              </a:rPr>
              <a:t>train</a:t>
            </a:r>
            <a:r>
              <a:rPr spc="35" dirty="0">
                <a:solidFill>
                  <a:srgbClr val="3369E8"/>
                </a:solidFill>
              </a:rPr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991869" y="3298190"/>
            <a:ext cx="7542530" cy="855980"/>
          </a:xfrm>
          <a:custGeom>
            <a:avLst/>
            <a:gdLst/>
            <a:ahLst/>
            <a:cxnLst/>
            <a:rect l="l" t="t" r="r" b="b"/>
            <a:pathLst>
              <a:path w="7542530" h="855979">
                <a:moveTo>
                  <a:pt x="0" y="855980"/>
                </a:moveTo>
                <a:lnTo>
                  <a:pt x="5455920" y="855980"/>
                </a:lnTo>
                <a:lnTo>
                  <a:pt x="5455920" y="0"/>
                </a:lnTo>
                <a:lnTo>
                  <a:pt x="0" y="0"/>
                </a:lnTo>
                <a:lnTo>
                  <a:pt x="0" y="855980"/>
                </a:lnTo>
                <a:close/>
              </a:path>
              <a:path w="7542530" h="855979">
                <a:moveTo>
                  <a:pt x="5506720" y="855980"/>
                </a:moveTo>
                <a:lnTo>
                  <a:pt x="7542530" y="855980"/>
                </a:lnTo>
                <a:lnTo>
                  <a:pt x="7542530" y="0"/>
                </a:lnTo>
                <a:lnTo>
                  <a:pt x="5506720" y="0"/>
                </a:lnTo>
                <a:lnTo>
                  <a:pt x="5506720" y="855980"/>
                </a:lnTo>
                <a:close/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6469" y="2200910"/>
            <a:ext cx="7567930" cy="576440"/>
          </a:xfrm>
          <a:prstGeom prst="rect">
            <a:avLst/>
          </a:prstGeom>
          <a:solidFill>
            <a:srgbClr val="00A0F0"/>
          </a:solidFill>
          <a:ln w="12700">
            <a:solidFill>
              <a:srgbClr val="231F20"/>
            </a:solidFill>
          </a:ln>
        </p:spPr>
        <p:txBody>
          <a:bodyPr vert="horz" wrap="square" lIns="0" tIns="205105" rIns="0" bIns="0" rtlCol="0">
            <a:spAutoFit/>
          </a:bodyPr>
          <a:lstStyle/>
          <a:p>
            <a:pPr marL="798830">
              <a:lnSpc>
                <a:spcPct val="100000"/>
              </a:lnSpc>
              <a:spcBef>
                <a:spcPts val="161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(train)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98219" y="3304540"/>
            <a:ext cx="5468620" cy="843280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7670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9540" y="3304540"/>
            <a:ext cx="2048510" cy="843280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372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189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Split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the</a:t>
            </a:r>
            <a:r>
              <a:rPr spc="45" dirty="0">
                <a:solidFill>
                  <a:srgbClr val="3369E8"/>
                </a:solidFill>
              </a:rPr>
              <a:t> </a:t>
            </a:r>
            <a:r>
              <a:rPr spc="30" dirty="0">
                <a:solidFill>
                  <a:srgbClr val="3369E8"/>
                </a:solidFill>
              </a:rPr>
              <a:t>Dataset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35" dirty="0">
                <a:solidFill>
                  <a:srgbClr val="3369E8"/>
                </a:solidFill>
              </a:rPr>
              <a:t>(</a:t>
            </a:r>
            <a:r>
              <a:rPr lang="en-US" spc="35" dirty="0">
                <a:solidFill>
                  <a:srgbClr val="3369E8"/>
                </a:solidFill>
              </a:rPr>
              <a:t>train</a:t>
            </a:r>
            <a:r>
              <a:rPr spc="35" dirty="0">
                <a:solidFill>
                  <a:srgbClr val="3369E8"/>
                </a:solidFill>
              </a:rPr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991869" y="3298190"/>
            <a:ext cx="7542530" cy="855980"/>
          </a:xfrm>
          <a:custGeom>
            <a:avLst/>
            <a:gdLst/>
            <a:ahLst/>
            <a:cxnLst/>
            <a:rect l="l" t="t" r="r" b="b"/>
            <a:pathLst>
              <a:path w="7542530" h="855979">
                <a:moveTo>
                  <a:pt x="0" y="855980"/>
                </a:moveTo>
                <a:lnTo>
                  <a:pt x="5455920" y="855980"/>
                </a:lnTo>
                <a:lnTo>
                  <a:pt x="5455920" y="0"/>
                </a:lnTo>
                <a:lnTo>
                  <a:pt x="0" y="0"/>
                </a:lnTo>
                <a:lnTo>
                  <a:pt x="0" y="855980"/>
                </a:lnTo>
                <a:close/>
              </a:path>
              <a:path w="7542530" h="855979">
                <a:moveTo>
                  <a:pt x="5506720" y="855980"/>
                </a:moveTo>
                <a:lnTo>
                  <a:pt x="7542530" y="855980"/>
                </a:lnTo>
                <a:lnTo>
                  <a:pt x="7542530" y="0"/>
                </a:lnTo>
                <a:lnTo>
                  <a:pt x="5506720" y="0"/>
                </a:lnTo>
                <a:lnTo>
                  <a:pt x="5506720" y="855980"/>
                </a:lnTo>
                <a:close/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9007" y="4395470"/>
            <a:ext cx="3561079" cy="855980"/>
          </a:xfrm>
          <a:custGeom>
            <a:avLst/>
            <a:gdLst/>
            <a:ahLst/>
            <a:cxnLst/>
            <a:rect l="l" t="t" r="r" b="b"/>
            <a:pathLst>
              <a:path w="3561079" h="855979">
                <a:moveTo>
                  <a:pt x="0" y="855979"/>
                </a:moveTo>
                <a:lnTo>
                  <a:pt x="1480820" y="855979"/>
                </a:lnTo>
                <a:lnTo>
                  <a:pt x="1480820" y="0"/>
                </a:lnTo>
                <a:lnTo>
                  <a:pt x="0" y="0"/>
                </a:lnTo>
                <a:lnTo>
                  <a:pt x="0" y="855979"/>
                </a:lnTo>
                <a:close/>
              </a:path>
              <a:path w="3561079" h="855979">
                <a:moveTo>
                  <a:pt x="1531619" y="855979"/>
                </a:moveTo>
                <a:lnTo>
                  <a:pt x="3561079" y="855979"/>
                </a:lnTo>
                <a:lnTo>
                  <a:pt x="3561079" y="0"/>
                </a:lnTo>
                <a:lnTo>
                  <a:pt x="1531619" y="0"/>
                </a:lnTo>
                <a:lnTo>
                  <a:pt x="1531619" y="855979"/>
                </a:lnTo>
                <a:close/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6469" y="2200910"/>
            <a:ext cx="7567930" cy="576440"/>
          </a:xfrm>
          <a:prstGeom prst="rect">
            <a:avLst/>
          </a:prstGeom>
          <a:solidFill>
            <a:srgbClr val="00A0F0"/>
          </a:solidFill>
          <a:ln w="12700">
            <a:solidFill>
              <a:srgbClr val="231F20"/>
            </a:solidFill>
          </a:ln>
        </p:spPr>
        <p:txBody>
          <a:bodyPr vert="horz" wrap="square" lIns="0" tIns="205105" rIns="0" bIns="0" rtlCol="0">
            <a:spAutoFit/>
          </a:bodyPr>
          <a:lstStyle/>
          <a:p>
            <a:pPr marL="798830">
              <a:lnSpc>
                <a:spcPct val="100000"/>
              </a:lnSpc>
              <a:spcBef>
                <a:spcPts val="161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(train)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98219" y="3304540"/>
            <a:ext cx="5468620" cy="843280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7670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9540" y="3304540"/>
            <a:ext cx="2048510" cy="843280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9540" y="4401820"/>
            <a:ext cx="2042160" cy="843280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1869" y="4395470"/>
            <a:ext cx="3919854" cy="855980"/>
          </a:xfrm>
          <a:prstGeom prst="rect">
            <a:avLst/>
          </a:prstGeom>
          <a:solidFill>
            <a:srgbClr val="00A0F0"/>
          </a:solidFill>
          <a:ln w="12700">
            <a:solidFill>
              <a:srgbClr val="231F2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Times New Roman"/>
              <a:cs typeface="Times New Roman"/>
            </a:endParaRPr>
          </a:p>
          <a:p>
            <a:pPr marL="81851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2378" y="4401820"/>
            <a:ext cx="1469878" cy="834844"/>
          </a:xfrm>
          <a:prstGeom prst="rect">
            <a:avLst/>
          </a:prstGeom>
          <a:solidFill>
            <a:srgbClr val="EDB111"/>
          </a:solidFill>
        </p:spPr>
        <p:txBody>
          <a:bodyPr vert="horz" wrap="square" lIns="0" tIns="3810" rIns="0" bIns="0" rtlCol="0" anchor="ctr">
            <a:spAutoFit/>
          </a:bodyPr>
          <a:lstStyle/>
          <a:p>
            <a:pPr marL="168275">
              <a:lnSpc>
                <a:spcPct val="100000"/>
              </a:lnSpc>
            </a:pPr>
            <a:endParaRPr lang="en-US" spc="-2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Validation</a:t>
            </a:r>
            <a:r>
              <a:rPr lang="en-US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</a:p>
          <a:p>
            <a:pPr marL="168275">
              <a:lnSpc>
                <a:spcPct val="100000"/>
              </a:lnSpc>
            </a:pPr>
            <a:endParaRPr lang="en-US" spc="-2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75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876300" y="2895600"/>
            <a:ext cx="7848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 Missing Data: imputation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E1237-8437-605C-C3AB-672590E046CF}"/>
              </a:ext>
            </a:extLst>
          </p:cNvPr>
          <p:cNvSpPr txBox="1"/>
          <p:nvPr/>
        </p:nvSpPr>
        <p:spPr>
          <a:xfrm>
            <a:off x="876300" y="4114800"/>
            <a:ext cx="76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Replacing missing data with substituted values</a:t>
            </a:r>
          </a:p>
        </p:txBody>
      </p:sp>
    </p:spTree>
    <p:extLst>
      <p:ext uri="{BB962C8B-B14F-4D97-AF65-F5344CB8AC3E}">
        <p14:creationId xmlns:p14="http://schemas.microsoft.com/office/powerpoint/2010/main" val="144717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86" y="2057400"/>
            <a:ext cx="7480300" cy="3441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B050"/>
                </a:solidFill>
                <a:latin typeface="Arial"/>
                <a:cs typeface="Arial"/>
              </a:rPr>
              <a:t>Benefits (if used properly)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</a:p>
          <a:p>
            <a:pPr marL="469900" marR="7620" lvl="1"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Reduce estimation bias </a:t>
            </a:r>
          </a:p>
          <a:p>
            <a:pPr marL="469900" marR="7620" lvl="1"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Improve model’s predictive accuracy</a:t>
            </a:r>
          </a:p>
          <a:p>
            <a:pPr marL="469900" marR="7620" lvl="1"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Reduce variance</a:t>
            </a:r>
          </a:p>
          <a:p>
            <a:pPr marL="469900" marR="7620" lvl="1">
              <a:spcBef>
                <a:spcPts val="100"/>
              </a:spcBef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chemeClr val="accent6"/>
                </a:solidFill>
                <a:latin typeface="Arial"/>
                <a:cs typeface="Arial"/>
              </a:rPr>
              <a:t>Risk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</a:p>
          <a:p>
            <a:pPr marL="469900" marR="7620" lvl="1"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Introduce new bias 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yikes~!)</a:t>
            </a: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		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2500" dirty="0">
                <a:solidFill>
                  <a:srgbClr val="FF0000"/>
                </a:solidFill>
                <a:latin typeface="Arial"/>
                <a:cs typeface="Arial"/>
              </a:rPr>
              <a:t>Caveat: To impute or not impute, that is the question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47421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pic>
        <p:nvPicPr>
          <p:cNvPr id="8" name="Graphic 7" descr="Surprised face outline with solid fill">
            <a:extLst>
              <a:ext uri="{FF2B5EF4-FFF2-40B4-BE49-F238E27FC236}">
                <a16:creationId xmlns:a16="http://schemas.microsoft.com/office/drawing/2014/main" id="{35AEFD84-DB4F-B324-691A-C7BC4A31C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199" y="4267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18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46985" y="2209800"/>
            <a:ext cx="72500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Types of missing data (by assumptions)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Replacing missing values with variable statistics, such as mean, median, mode, max, min, etc.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K-Nearest Neighbors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Dummy variable adjustment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493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AFAB3-0A4F-1850-E419-5835CF1A5729}"/>
              </a:ext>
            </a:extLst>
          </p:cNvPr>
          <p:cNvSpPr txBox="1"/>
          <p:nvPr/>
        </p:nvSpPr>
        <p:spPr>
          <a:xfrm>
            <a:off x="902625" y="2102569"/>
            <a:ext cx="824137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Types of missing data (by assumptions)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Completely At Random (MCAR):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Missing due to bad luck, record errors, no specific patterns.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At Random (MAR)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here might be systematic differences between the missing and observed values, but these can be explained by other observed variables.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Not At Random (MNAR)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robability of being missing varies for reasons that are unknown to us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30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75641" y="2514600"/>
            <a:ext cx="725002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1: Replacing missing values with variable statistics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such as mean, median, mode, max, min, etc.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Mean or median replacement are the easiest way to handle missing data.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These methods often work well for MCAR.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120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75641" y="2514600"/>
            <a:ext cx="725002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2: K-nearest neighbor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Impute the missing value based on similar observations.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assumes that the missingness could be explained by other observed variables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method is ideal for MAR</a:t>
            </a:r>
          </a:p>
        </p:txBody>
      </p:sp>
    </p:spTree>
    <p:extLst>
      <p:ext uri="{BB962C8B-B14F-4D97-AF65-F5344CB8AC3E}">
        <p14:creationId xmlns:p14="http://schemas.microsoft.com/office/powerpoint/2010/main" val="2027026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36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14600"/>
          <a:ext cx="763778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1653014">
                  <a:extLst>
                    <a:ext uri="{9D8B030D-6E8A-4147-A177-3AD203B41FA5}">
                      <a16:colId xmlns:a16="http://schemas.microsoft.com/office/drawing/2014/main" val="2505039633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GarageYrBlt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</p:spTree>
    <p:extLst>
      <p:ext uri="{BB962C8B-B14F-4D97-AF65-F5344CB8AC3E}">
        <p14:creationId xmlns:p14="http://schemas.microsoft.com/office/powerpoint/2010/main" val="3080318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37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14600"/>
          <a:ext cx="763778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1653014">
                  <a:extLst>
                    <a:ext uri="{9D8B030D-6E8A-4147-A177-3AD203B41FA5}">
                      <a16:colId xmlns:a16="http://schemas.microsoft.com/office/drawing/2014/main" val="2505039633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GarageYrBlt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4200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2800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1989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1990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1809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029E-4327-4C82-D686-CB3448A71AB1}"/>
              </a:ext>
            </a:extLst>
          </p:cNvPr>
          <p:cNvSpPr txBox="1"/>
          <p:nvPr/>
        </p:nvSpPr>
        <p:spPr>
          <a:xfrm>
            <a:off x="609600" y="5257800"/>
            <a:ext cx="7015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identify the case with missing value you want to fill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8299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38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14600"/>
          <a:ext cx="59847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4200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2800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1989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1809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029E-4327-4C82-D686-CB3448A71AB1}"/>
              </a:ext>
            </a:extLst>
          </p:cNvPr>
          <p:cNvSpPr txBox="1"/>
          <p:nvPr/>
        </p:nvSpPr>
        <p:spPr>
          <a:xfrm>
            <a:off x="609600" y="5278045"/>
            <a:ext cx="701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use available information to calculate the “similarity” between this case and other cases. 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6DDA03-54E8-53EA-C899-A24DF45AA4AE}"/>
              </a:ext>
            </a:extLst>
          </p:cNvPr>
          <p:cNvGrpSpPr/>
          <p:nvPr/>
        </p:nvGrpSpPr>
        <p:grpSpPr>
          <a:xfrm>
            <a:off x="6594367" y="3255173"/>
            <a:ext cx="492233" cy="506565"/>
            <a:chOff x="6695688" y="3180759"/>
            <a:chExt cx="492233" cy="57286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A3E792-3A4F-9268-8DA3-C29FE58974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508" y="3208922"/>
              <a:ext cx="490413" cy="39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3157A9-3FE8-3A72-A68A-48DD3278524A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H="1">
              <a:off x="6695688" y="3180759"/>
              <a:ext cx="492233" cy="57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23684F-FA81-5340-C0CA-AF3CE008216F}"/>
              </a:ext>
            </a:extLst>
          </p:cNvPr>
          <p:cNvGrpSpPr/>
          <p:nvPr/>
        </p:nvGrpSpPr>
        <p:grpSpPr>
          <a:xfrm>
            <a:off x="6594366" y="3660169"/>
            <a:ext cx="1595612" cy="454632"/>
            <a:chOff x="6594367" y="3078083"/>
            <a:chExt cx="331599" cy="68365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0C29D56-D8AA-D592-7A4D-4C2F2AD197C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6594367" y="3078086"/>
              <a:ext cx="331598" cy="198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412536-CAC4-D48C-D0BA-F46674C09476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6594367" y="3078083"/>
              <a:ext cx="331599" cy="6836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66E80C-A362-2A06-5470-177479581EC8}"/>
              </a:ext>
            </a:extLst>
          </p:cNvPr>
          <p:cNvGrpSpPr/>
          <p:nvPr/>
        </p:nvGrpSpPr>
        <p:grpSpPr>
          <a:xfrm>
            <a:off x="6568967" y="3770419"/>
            <a:ext cx="746233" cy="735099"/>
            <a:chOff x="6594367" y="3276600"/>
            <a:chExt cx="339833" cy="4851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33E9155-B4F9-41C6-0BA3-AF29AF1B7238}"/>
                </a:ext>
              </a:extLst>
            </p:cNvPr>
            <p:cNvCxnSpPr/>
            <p:nvPr/>
          </p:nvCxnSpPr>
          <p:spPr>
            <a:xfrm>
              <a:off x="6594367" y="3276600"/>
              <a:ext cx="339833" cy="228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B98981-F456-54ED-63FD-4E1885F85FF5}"/>
                </a:ext>
              </a:extLst>
            </p:cNvPr>
            <p:cNvCxnSpPr/>
            <p:nvPr/>
          </p:nvCxnSpPr>
          <p:spPr>
            <a:xfrm flipH="1">
              <a:off x="6594367" y="3505200"/>
              <a:ext cx="339833" cy="25654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DBEF2D-0ACF-DBB4-A857-CA3B71896151}"/>
              </a:ext>
            </a:extLst>
          </p:cNvPr>
          <p:cNvGrpSpPr/>
          <p:nvPr/>
        </p:nvGrpSpPr>
        <p:grpSpPr>
          <a:xfrm>
            <a:off x="6581674" y="3800263"/>
            <a:ext cx="836667" cy="1158092"/>
            <a:chOff x="6594367" y="3276600"/>
            <a:chExt cx="387613" cy="48514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0BB8CC8-5B9C-67AA-8AAE-3A1BE8AC4FE3}"/>
                </a:ext>
              </a:extLst>
            </p:cNvPr>
            <p:cNvCxnSpPr>
              <a:cxnSpLocks/>
            </p:cNvCxnSpPr>
            <p:nvPr/>
          </p:nvCxnSpPr>
          <p:spPr>
            <a:xfrm>
              <a:off x="6594367" y="3276600"/>
              <a:ext cx="381729" cy="44838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40C5514-9CFA-9A7E-8560-B66E9ABB8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4367" y="3731107"/>
              <a:ext cx="387613" cy="30633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974002B-E173-BDAB-74AF-FBCF4D8CDB0C}"/>
              </a:ext>
            </a:extLst>
          </p:cNvPr>
          <p:cNvSpPr txBox="1"/>
          <p:nvPr/>
        </p:nvSpPr>
        <p:spPr>
          <a:xfrm>
            <a:off x="6961141" y="3053575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=3  </a:t>
            </a:r>
            <a:endParaRPr lang="en-US" b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F6C78D-A082-49A6-07CC-90BADA33CADB}"/>
              </a:ext>
            </a:extLst>
          </p:cNvPr>
          <p:cNvSpPr txBox="1"/>
          <p:nvPr/>
        </p:nvSpPr>
        <p:spPr>
          <a:xfrm>
            <a:off x="7221483" y="3969104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=1  </a:t>
            </a:r>
            <a:endParaRPr lang="en-US" b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06F847-EA95-1D4C-1468-35C0DD532778}"/>
              </a:ext>
            </a:extLst>
          </p:cNvPr>
          <p:cNvSpPr txBox="1"/>
          <p:nvPr/>
        </p:nvSpPr>
        <p:spPr>
          <a:xfrm>
            <a:off x="8189974" y="3475503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=4  </a:t>
            </a:r>
            <a:endParaRPr lang="en-US" b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F4489-6ABB-9A24-BD39-0A3BA6841074}"/>
              </a:ext>
            </a:extLst>
          </p:cNvPr>
          <p:cNvSpPr txBox="1"/>
          <p:nvPr/>
        </p:nvSpPr>
        <p:spPr>
          <a:xfrm>
            <a:off x="7418341" y="4737126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=8 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3048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39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11420" y="2523279"/>
          <a:ext cx="59847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4200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2800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1989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1809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029E-4327-4C82-D686-CB3448A71AB1}"/>
              </a:ext>
            </a:extLst>
          </p:cNvPr>
          <p:cNvSpPr txBox="1"/>
          <p:nvPr/>
        </p:nvSpPr>
        <p:spPr>
          <a:xfrm>
            <a:off x="609600" y="5278045"/>
            <a:ext cx="701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Determine how many neighbors you want to use, and select the nearest neighbors. For example, n=2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6DDA03-54E8-53EA-C899-A24DF45AA4AE}"/>
              </a:ext>
            </a:extLst>
          </p:cNvPr>
          <p:cNvGrpSpPr/>
          <p:nvPr/>
        </p:nvGrpSpPr>
        <p:grpSpPr>
          <a:xfrm>
            <a:off x="6596187" y="3263852"/>
            <a:ext cx="492233" cy="506565"/>
            <a:chOff x="6697508" y="3190574"/>
            <a:chExt cx="492233" cy="57286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A3E792-3A4F-9268-8DA3-C29FE58974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508" y="3208922"/>
              <a:ext cx="490413" cy="39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3157A9-3FE8-3A72-A68A-48DD3278524A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H="1">
              <a:off x="6697508" y="3190574"/>
              <a:ext cx="492233" cy="57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23684F-FA81-5340-C0CA-AF3CE008216F}"/>
              </a:ext>
            </a:extLst>
          </p:cNvPr>
          <p:cNvGrpSpPr/>
          <p:nvPr/>
        </p:nvGrpSpPr>
        <p:grpSpPr>
          <a:xfrm>
            <a:off x="6598005" y="3677527"/>
            <a:ext cx="1595612" cy="454632"/>
            <a:chOff x="6594745" y="3091134"/>
            <a:chExt cx="331599" cy="68365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0C29D56-D8AA-D592-7A4D-4C2F2AD197C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6594745" y="3091137"/>
              <a:ext cx="331598" cy="198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412536-CAC4-D48C-D0BA-F46674C09476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6594745" y="3091134"/>
              <a:ext cx="331599" cy="6836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66E80C-A362-2A06-5470-177479581EC8}"/>
              </a:ext>
            </a:extLst>
          </p:cNvPr>
          <p:cNvGrpSpPr/>
          <p:nvPr/>
        </p:nvGrpSpPr>
        <p:grpSpPr>
          <a:xfrm>
            <a:off x="6568967" y="3770419"/>
            <a:ext cx="746233" cy="735099"/>
            <a:chOff x="6594367" y="3276600"/>
            <a:chExt cx="339833" cy="4851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33E9155-B4F9-41C6-0BA3-AF29AF1B7238}"/>
                </a:ext>
              </a:extLst>
            </p:cNvPr>
            <p:cNvCxnSpPr/>
            <p:nvPr/>
          </p:nvCxnSpPr>
          <p:spPr>
            <a:xfrm>
              <a:off x="6594367" y="3276600"/>
              <a:ext cx="339833" cy="228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B98981-F456-54ED-63FD-4E1885F85FF5}"/>
                </a:ext>
              </a:extLst>
            </p:cNvPr>
            <p:cNvCxnSpPr/>
            <p:nvPr/>
          </p:nvCxnSpPr>
          <p:spPr>
            <a:xfrm flipH="1">
              <a:off x="6594367" y="3505200"/>
              <a:ext cx="339833" cy="25654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DBEF2D-0ACF-DBB4-A857-CA3B71896151}"/>
              </a:ext>
            </a:extLst>
          </p:cNvPr>
          <p:cNvGrpSpPr/>
          <p:nvPr/>
        </p:nvGrpSpPr>
        <p:grpSpPr>
          <a:xfrm>
            <a:off x="6581674" y="3800263"/>
            <a:ext cx="836667" cy="1158092"/>
            <a:chOff x="6594367" y="3276600"/>
            <a:chExt cx="387613" cy="48514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0BB8CC8-5B9C-67AA-8AAE-3A1BE8AC4FE3}"/>
                </a:ext>
              </a:extLst>
            </p:cNvPr>
            <p:cNvCxnSpPr>
              <a:cxnSpLocks/>
            </p:cNvCxnSpPr>
            <p:nvPr/>
          </p:nvCxnSpPr>
          <p:spPr>
            <a:xfrm>
              <a:off x="6594367" y="3276600"/>
              <a:ext cx="381729" cy="44838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40C5514-9CFA-9A7E-8560-B66E9ABB8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4367" y="3731107"/>
              <a:ext cx="387613" cy="30633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974002B-E173-BDAB-74AF-FBCF4D8CDB0C}"/>
              </a:ext>
            </a:extLst>
          </p:cNvPr>
          <p:cNvSpPr txBox="1"/>
          <p:nvPr/>
        </p:nvSpPr>
        <p:spPr>
          <a:xfrm>
            <a:off x="6961141" y="3053575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=3  </a:t>
            </a:r>
            <a:endParaRPr lang="en-US" b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F6C78D-A082-49A6-07CC-90BADA33CADB}"/>
              </a:ext>
            </a:extLst>
          </p:cNvPr>
          <p:cNvSpPr txBox="1"/>
          <p:nvPr/>
        </p:nvSpPr>
        <p:spPr>
          <a:xfrm>
            <a:off x="7221483" y="3969104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=1  </a:t>
            </a:r>
            <a:endParaRPr lang="en-US" b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06F847-EA95-1D4C-1468-35C0DD532778}"/>
              </a:ext>
            </a:extLst>
          </p:cNvPr>
          <p:cNvSpPr txBox="1"/>
          <p:nvPr/>
        </p:nvSpPr>
        <p:spPr>
          <a:xfrm>
            <a:off x="8191794" y="3484182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=4  </a:t>
            </a:r>
            <a:endParaRPr lang="en-US" b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F4489-6ABB-9A24-BD39-0A3BA6841074}"/>
              </a:ext>
            </a:extLst>
          </p:cNvPr>
          <p:cNvSpPr txBox="1"/>
          <p:nvPr/>
        </p:nvSpPr>
        <p:spPr>
          <a:xfrm>
            <a:off x="7418341" y="4737126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=8 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821293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40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14600"/>
          <a:ext cx="59847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2800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1989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1809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029E-4327-4C82-D686-CB3448A71AB1}"/>
              </a:ext>
            </a:extLst>
          </p:cNvPr>
          <p:cNvSpPr txBox="1"/>
          <p:nvPr/>
        </p:nvSpPr>
        <p:spPr>
          <a:xfrm>
            <a:off x="609600" y="5278045"/>
            <a:ext cx="701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Determine how many neighbors you want to use, and select the nearest neighbors. For example, n=2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6DDA03-54E8-53EA-C899-A24DF45AA4AE}"/>
              </a:ext>
            </a:extLst>
          </p:cNvPr>
          <p:cNvGrpSpPr/>
          <p:nvPr/>
        </p:nvGrpSpPr>
        <p:grpSpPr>
          <a:xfrm>
            <a:off x="6594367" y="3255171"/>
            <a:ext cx="492233" cy="506569"/>
            <a:chOff x="6695688" y="3180759"/>
            <a:chExt cx="492233" cy="57287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A3E792-3A4F-9268-8DA3-C29FE58974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508" y="3208922"/>
              <a:ext cx="490413" cy="39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3157A9-3FE8-3A72-A68A-48DD3278524A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H="1">
              <a:off x="6695688" y="3180759"/>
              <a:ext cx="492233" cy="5728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66E80C-A362-2A06-5470-177479581EC8}"/>
              </a:ext>
            </a:extLst>
          </p:cNvPr>
          <p:cNvGrpSpPr/>
          <p:nvPr/>
        </p:nvGrpSpPr>
        <p:grpSpPr>
          <a:xfrm>
            <a:off x="6568967" y="3770419"/>
            <a:ext cx="746233" cy="735099"/>
            <a:chOff x="6594367" y="3276600"/>
            <a:chExt cx="339833" cy="4851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33E9155-B4F9-41C6-0BA3-AF29AF1B7238}"/>
                </a:ext>
              </a:extLst>
            </p:cNvPr>
            <p:cNvCxnSpPr/>
            <p:nvPr/>
          </p:nvCxnSpPr>
          <p:spPr>
            <a:xfrm>
              <a:off x="6594367" y="3276600"/>
              <a:ext cx="339833" cy="228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B98981-F456-54ED-63FD-4E1885F85FF5}"/>
                </a:ext>
              </a:extLst>
            </p:cNvPr>
            <p:cNvCxnSpPr/>
            <p:nvPr/>
          </p:nvCxnSpPr>
          <p:spPr>
            <a:xfrm flipH="1">
              <a:off x="6594367" y="3505200"/>
              <a:ext cx="339833" cy="25654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974002B-E173-BDAB-74AF-FBCF4D8CDB0C}"/>
              </a:ext>
            </a:extLst>
          </p:cNvPr>
          <p:cNvSpPr txBox="1"/>
          <p:nvPr/>
        </p:nvSpPr>
        <p:spPr>
          <a:xfrm>
            <a:off x="6961141" y="3053575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=3  </a:t>
            </a:r>
            <a:endParaRPr lang="en-US" b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F6C78D-A082-49A6-07CC-90BADA33CADB}"/>
              </a:ext>
            </a:extLst>
          </p:cNvPr>
          <p:cNvSpPr txBox="1"/>
          <p:nvPr/>
        </p:nvSpPr>
        <p:spPr>
          <a:xfrm>
            <a:off x="7221483" y="3969104"/>
            <a:ext cx="792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dist</a:t>
            </a:r>
            <a:r>
              <a:rPr lang="en-US" dirty="0"/>
              <a:t>=1 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66280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41</a:t>
            </a:fld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93D977-5838-E8DE-AFA2-6A0C4422E3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14600"/>
          <a:ext cx="763778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2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97600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5473420"/>
                    </a:ext>
                  </a:extLst>
                </a:gridCol>
                <a:gridCol w="1653014">
                  <a:extLst>
                    <a:ext uri="{9D8B030D-6E8A-4147-A177-3AD203B41FA5}">
                      <a16:colId xmlns:a16="http://schemas.microsoft.com/office/drawing/2014/main" val="2505039633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999922148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GarageCars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GarageYrBlt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BedroomAbvGr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2009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(2011+ 2009)/2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2700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2008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2800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1989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1990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1809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22FE98-E285-106D-8F0E-5ED92FE1E596}"/>
              </a:ext>
            </a:extLst>
          </p:cNvPr>
          <p:cNvSpPr txBox="1"/>
          <p:nvPr/>
        </p:nvSpPr>
        <p:spPr>
          <a:xfrm>
            <a:off x="972819" y="1905000"/>
            <a:ext cx="458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029E-4327-4C82-D686-CB3448A71AB1}"/>
              </a:ext>
            </a:extLst>
          </p:cNvPr>
          <p:cNvSpPr txBox="1"/>
          <p:nvPr/>
        </p:nvSpPr>
        <p:spPr>
          <a:xfrm>
            <a:off x="609600" y="5257800"/>
            <a:ext cx="791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fill the missing value with the mean of the selected neighbors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00099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46985" y="2209800"/>
            <a:ext cx="725002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3: Dummy variable adjustment</a:t>
            </a:r>
          </a:p>
          <a:p>
            <a:pPr marL="457200" indent="-457200"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 a dummy indicator to separate missing value and non-missing value.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assumes that the data are missing due to varied, unknown reasons.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method is suit for MNAR.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128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46985" y="1944479"/>
            <a:ext cx="725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3: Dummy variable adjustment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306551-FEAC-D75F-EF65-0DDD562AE41F}"/>
              </a:ext>
            </a:extLst>
          </p:cNvPr>
          <p:cNvGraphicFramePr>
            <a:graphicFrameLocks noGrp="1"/>
          </p:cNvGraphicFramePr>
          <p:nvPr/>
        </p:nvGraphicFramePr>
        <p:xfrm>
          <a:off x="972819" y="2514600"/>
          <a:ext cx="463266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1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5039633"/>
                    </a:ext>
                  </a:extLst>
                </a:gridCol>
                <a:gridCol w="1109680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GPA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Econ 380 Course evaluation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Economic major (z)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E0D79-A5C1-2262-78A1-EC1E8B73ABF8}"/>
                  </a:ext>
                </a:extLst>
              </p:cNvPr>
              <p:cNvSpPr txBox="1"/>
              <p:nvPr/>
            </p:nvSpPr>
            <p:spPr>
              <a:xfrm>
                <a:off x="972819" y="5334000"/>
                <a:ext cx="23717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E0D79-A5C1-2262-78A1-EC1E8B73A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19" y="5334000"/>
                <a:ext cx="2371740" cy="276999"/>
              </a:xfrm>
              <a:prstGeom prst="rect">
                <a:avLst/>
              </a:prstGeom>
              <a:blipFill>
                <a:blip r:embed="rId3"/>
                <a:stretch>
                  <a:fillRect l="-3599" t="-2222" r="-154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B7605D2-2977-1EF5-D202-73EF9400DFA6}"/>
              </a:ext>
            </a:extLst>
          </p:cNvPr>
          <p:cNvSpPr txBox="1"/>
          <p:nvPr/>
        </p:nvSpPr>
        <p:spPr>
          <a:xfrm>
            <a:off x="934284" y="5751453"/>
            <a:ext cx="6685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Next, let’s create a dummy indicator, and then fill the missing value with the mean of 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724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210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Imputation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0F83-8124-FBF4-064E-C7D862177A17}"/>
              </a:ext>
            </a:extLst>
          </p:cNvPr>
          <p:cNvSpPr txBox="1"/>
          <p:nvPr/>
        </p:nvSpPr>
        <p:spPr>
          <a:xfrm>
            <a:off x="946985" y="1944479"/>
            <a:ext cx="725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3: Dummy variable adjustment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306551-FEAC-D75F-EF65-0DDD562AE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52511"/>
              </p:ext>
            </p:extLst>
          </p:nvPr>
        </p:nvGraphicFramePr>
        <p:xfrm>
          <a:off x="972819" y="2514600"/>
          <a:ext cx="463266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1">
                  <a:extLst>
                    <a:ext uri="{9D8B030D-6E8A-4147-A177-3AD203B41FA5}">
                      <a16:colId xmlns:a16="http://schemas.microsoft.com/office/drawing/2014/main" val="1019119759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390155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5039633"/>
                    </a:ext>
                  </a:extLst>
                </a:gridCol>
                <a:gridCol w="1109681">
                  <a:extLst>
                    <a:ext uri="{9D8B030D-6E8A-4147-A177-3AD203B41FA5}">
                      <a16:colId xmlns:a16="http://schemas.microsoft.com/office/drawing/2014/main" val="98174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GPA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Econ 380 Course evaluation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Economic major (z)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8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4.85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37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47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7254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E0D79-A5C1-2262-78A1-EC1E8B73ABF8}"/>
                  </a:ext>
                </a:extLst>
              </p:cNvPr>
              <p:cNvSpPr txBox="1"/>
              <p:nvPr/>
            </p:nvSpPr>
            <p:spPr>
              <a:xfrm>
                <a:off x="972819" y="5334000"/>
                <a:ext cx="23717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E0D79-A5C1-2262-78A1-EC1E8B73A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19" y="5334000"/>
                <a:ext cx="2371740" cy="276999"/>
              </a:xfrm>
              <a:prstGeom prst="rect">
                <a:avLst/>
              </a:prstGeom>
              <a:blipFill>
                <a:blip r:embed="rId3"/>
                <a:stretch>
                  <a:fillRect l="-3599" t="-2222" r="-154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CD6735-B4AE-C6AF-18F3-78EFB3FDF3BE}"/>
              </a:ext>
            </a:extLst>
          </p:cNvPr>
          <p:cNvGraphicFramePr>
            <a:graphicFrameLocks noGrp="1"/>
          </p:cNvGraphicFramePr>
          <p:nvPr/>
        </p:nvGraphicFramePr>
        <p:xfrm>
          <a:off x="5630882" y="2514600"/>
          <a:ext cx="110968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81">
                  <a:extLst>
                    <a:ext uri="{9D8B030D-6E8A-4147-A177-3AD203B41FA5}">
                      <a16:colId xmlns:a16="http://schemas.microsoft.com/office/drawing/2014/main" val="1426254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If missing x (D)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6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70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758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7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989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827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C703FD-178E-3F40-2002-392530DB3EB4}"/>
                  </a:ext>
                </a:extLst>
              </p:cNvPr>
              <p:cNvSpPr txBox="1"/>
              <p:nvPr/>
            </p:nvSpPr>
            <p:spPr>
              <a:xfrm>
                <a:off x="972819" y="5785876"/>
                <a:ext cx="32004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C703FD-178E-3F40-2002-392530DB3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19" y="5785876"/>
                <a:ext cx="3200492" cy="276999"/>
              </a:xfrm>
              <a:prstGeom prst="rect">
                <a:avLst/>
              </a:prstGeom>
              <a:blipFill>
                <a:blip r:embed="rId4"/>
                <a:stretch>
                  <a:fillRect l="-1333" t="-2174" r="-57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6BF05E-5F94-9881-D27F-4415160914A6}"/>
                  </a:ext>
                </a:extLst>
              </p:cNvPr>
              <p:cNvSpPr txBox="1"/>
              <p:nvPr/>
            </p:nvSpPr>
            <p:spPr>
              <a:xfrm>
                <a:off x="4589479" y="5324211"/>
                <a:ext cx="392268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muc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 the missing data is different from the observed-average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6BF05E-5F94-9881-D27F-441516091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479" y="5324211"/>
                <a:ext cx="3922687" cy="923330"/>
              </a:xfrm>
              <a:prstGeom prst="rect">
                <a:avLst/>
              </a:prstGeom>
              <a:blipFill>
                <a:blip r:embed="rId5"/>
                <a:stretch>
                  <a:fillRect l="-1400" t="-3289" r="-1711" b="-8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387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1524000" y="259080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Selection (Feature Engineering)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292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4178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Outline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F9143-0D30-DBFE-C37D-71F6E7F26E4A}"/>
              </a:ext>
            </a:extLst>
          </p:cNvPr>
          <p:cNvSpPr txBox="1"/>
          <p:nvPr/>
        </p:nvSpPr>
        <p:spPr>
          <a:xfrm>
            <a:off x="1219200" y="2488610"/>
            <a:ext cx="7010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31F20"/>
                </a:solidFill>
                <a:latin typeface="Arial"/>
                <a:cs typeface="Arial"/>
              </a:rPr>
              <a:t>The role of domain knowledge</a:t>
            </a:r>
          </a:p>
          <a:p>
            <a:pPr marL="298450" marR="5080" indent="-285750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31F20"/>
                </a:solidFill>
                <a:latin typeface="Arial"/>
                <a:cs typeface="Arial"/>
              </a:rPr>
              <a:t>Skewed data: detection and fix</a:t>
            </a:r>
          </a:p>
          <a:p>
            <a:pPr marL="298450" marR="5080" indent="-285750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31F20"/>
                </a:solidFill>
                <a:latin typeface="Arial"/>
                <a:cs typeface="Arial"/>
              </a:rPr>
              <a:t>Convert categorical variables to numerical variable</a:t>
            </a:r>
          </a:p>
        </p:txBody>
      </p:sp>
    </p:spTree>
    <p:extLst>
      <p:ext uri="{BB962C8B-B14F-4D97-AF65-F5344CB8AC3E}">
        <p14:creationId xmlns:p14="http://schemas.microsoft.com/office/powerpoint/2010/main" val="33975537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5472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The role of domain knowledge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F9143-0D30-DBFE-C37D-71F6E7F26E4A}"/>
              </a:ext>
            </a:extLst>
          </p:cNvPr>
          <p:cNvSpPr txBox="1"/>
          <p:nvPr/>
        </p:nvSpPr>
        <p:spPr>
          <a:xfrm>
            <a:off x="1241252" y="2070335"/>
            <a:ext cx="7010400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lang="en-US" sz="2400" b="0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Domain knowledge can help us understand how our data are collected and hence, the appropriate methods for preprocessing. </a:t>
            </a:r>
          </a:p>
          <a:p>
            <a:pPr marL="12700" marR="5080">
              <a:lnSpc>
                <a:spcPct val="150000"/>
              </a:lnSpc>
            </a:pPr>
            <a:endParaRPr lang="en-US" sz="2400" dirty="0">
              <a:solidFill>
                <a:srgbClr val="2D2D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50000"/>
              </a:lnSpc>
            </a:pPr>
            <a:r>
              <a:rPr lang="en-US" sz="2400" b="0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domain knowledge, we will also have guidance on what features might be helpful to our model. </a:t>
            </a:r>
          </a:p>
        </p:txBody>
      </p:sp>
    </p:spTree>
    <p:extLst>
      <p:ext uri="{BB962C8B-B14F-4D97-AF65-F5344CB8AC3E}">
        <p14:creationId xmlns:p14="http://schemas.microsoft.com/office/powerpoint/2010/main" val="1133494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5472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Skewed data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F9143-0D30-DBFE-C37D-71F6E7F26E4A}"/>
              </a:ext>
            </a:extLst>
          </p:cNvPr>
          <p:cNvSpPr txBox="1"/>
          <p:nvPr/>
        </p:nvSpPr>
        <p:spPr>
          <a:xfrm>
            <a:off x="972818" y="1897595"/>
            <a:ext cx="78663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2800" dirty="0">
                <a:solidFill>
                  <a:srgbClr val="231F20"/>
                </a:solidFill>
                <a:latin typeface="Arial"/>
                <a:cs typeface="Arial"/>
              </a:rPr>
              <a:t>Why is it a concern?</a:t>
            </a:r>
          </a:p>
          <a:p>
            <a:pPr marL="12700" marR="5080">
              <a:lnSpc>
                <a:spcPct val="100000"/>
              </a:lnSpc>
            </a:pPr>
            <a:endParaRPr lang="en-US" sz="2800" b="0" i="0" dirty="0">
              <a:solidFill>
                <a:srgbClr val="231F20"/>
              </a:solidFill>
              <a:effectLst/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31F20"/>
                </a:solidFill>
                <a:effectLst/>
                <a:latin typeface="Arial"/>
                <a:cs typeface="Arial"/>
              </a:rPr>
              <a:t>Violate assumptions of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some statistical models.</a:t>
            </a: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31F20"/>
              </a:solidFill>
              <a:effectLst/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Put too much weight on the tail…</a:t>
            </a: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F81BD"/>
                </a:solidFill>
                <a:latin typeface="Arial"/>
                <a:cs typeface="Arial"/>
              </a:rPr>
              <a:t>Explanatory model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: may generate misleading results</a:t>
            </a: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Predictive model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: low predictive power</a:t>
            </a:r>
          </a:p>
          <a:p>
            <a:pPr marL="12700" marR="5080">
              <a:lnSpc>
                <a:spcPct val="100000"/>
              </a:lnSpc>
            </a:pPr>
            <a:endParaRPr lang="en-US" sz="2800" b="0" i="0" dirty="0">
              <a:solidFill>
                <a:srgbClr val="231F20"/>
              </a:solidFill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28128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5472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Skewed data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49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F9143-0D30-DBFE-C37D-71F6E7F26E4A}"/>
                  </a:ext>
                </a:extLst>
              </p:cNvPr>
              <p:cNvSpPr txBox="1"/>
              <p:nvPr/>
            </p:nvSpPr>
            <p:spPr>
              <a:xfrm>
                <a:off x="972819" y="1897595"/>
                <a:ext cx="6875781" cy="4827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 marR="5080">
                  <a:lnSpc>
                    <a:spcPct val="100000"/>
                  </a:lnSpc>
                </a:pPr>
                <a:r>
                  <a:rPr lang="en-US" sz="2800" dirty="0">
                    <a:solidFill>
                      <a:srgbClr val="231F20"/>
                    </a:solidFill>
                    <a:latin typeface="Arial"/>
                    <a:cs typeface="Arial"/>
                  </a:rPr>
                  <a:t>How to detect data skewness?</a:t>
                </a:r>
              </a:p>
              <a:p>
                <a:pPr marL="12700" marR="5080">
                  <a:lnSpc>
                    <a:spcPct val="100000"/>
                  </a:lnSpc>
                </a:pPr>
                <a:endParaRPr lang="en-US" sz="28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12700" marR="5080" algn="ctr">
                  <a:lnSpc>
                    <a:spcPct val="100000"/>
                  </a:lnSpc>
                </a:pPr>
                <a:r>
                  <a:rPr lang="en-US" sz="2400" i="1" dirty="0">
                    <a:solidFill>
                      <a:srgbClr val="231F20"/>
                    </a:solidFill>
                    <a:latin typeface="Arial"/>
                    <a:cs typeface="Arial"/>
                  </a:rPr>
                  <a:t>Skewness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 −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8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8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)</m:t>
                                </m:r>
                              </m:e>
                            </m:nary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3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  <m:r>
                              <a:rPr lang="en-US" sz="28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−1</m:t>
                            </m:r>
                          </m:e>
                        </m:d>
                        <m:acc>
                          <m:accPr>
                            <m:chr m:val="̅"/>
                            <m:ctrlPr>
                              <a:rPr lang="en-US" sz="2800" i="1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  <m:sSup>
                          <m:sSupPr>
                            <m:ctrlPr>
                              <a:rPr lang="en-US" sz="2800" i="1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δ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12700" marR="5080">
                  <a:lnSpc>
                    <a:spcPct val="100000"/>
                  </a:lnSpc>
                </a:pPr>
                <a:endParaRPr lang="en-US" sz="20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12700" marR="5080">
                  <a:lnSpc>
                    <a:spcPct val="200000"/>
                  </a:lnSpc>
                </a:pPr>
                <a:r>
                  <a:rPr lang="en-US" sz="2400" dirty="0">
                    <a:solidFill>
                      <a:srgbClr val="231F20"/>
                    </a:solidFill>
                    <a:latin typeface="Arial"/>
                    <a:cs typeface="Arial"/>
                  </a:rPr>
                  <a:t>A rule of thumb:</a:t>
                </a: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231F20"/>
                    </a:solidFill>
                    <a:latin typeface="Arial"/>
                    <a:cs typeface="Arial"/>
                  </a:rPr>
                  <a:t>When the absolute value of skewness is greater than 1: highly skewed</a:t>
                </a: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231F20"/>
                    </a:solidFill>
                    <a:latin typeface="Arial"/>
                    <a:cs typeface="Arial"/>
                  </a:rPr>
                  <a:t>When the absolute value of skewness is between 0.5 and 1: moderately skewed</a:t>
                </a: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231F20"/>
                    </a:solidFill>
                    <a:latin typeface="Arial"/>
                    <a:cs typeface="Arial"/>
                  </a:rPr>
                  <a:t>When the absolute value of skewness is smaller than 0.5, fairly symmetric.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F9143-0D30-DBFE-C37D-71F6E7F2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19" y="1897595"/>
                <a:ext cx="6875781" cy="4827604"/>
              </a:xfrm>
              <a:prstGeom prst="rect">
                <a:avLst/>
              </a:prstGeom>
              <a:blipFill>
                <a:blip r:embed="rId2"/>
                <a:stretch>
                  <a:fillRect l="-1684" t="-1263" b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4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5472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Skewed data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F9143-0D30-DBFE-C37D-71F6E7F26E4A}"/>
              </a:ext>
            </a:extLst>
          </p:cNvPr>
          <p:cNvSpPr txBox="1"/>
          <p:nvPr/>
        </p:nvSpPr>
        <p:spPr>
          <a:xfrm>
            <a:off x="972819" y="1897595"/>
            <a:ext cx="701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28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“fix”</a:t>
            </a:r>
            <a:r>
              <a:rPr lang="en-US" sz="2800" dirty="0">
                <a:solidFill>
                  <a:srgbClr val="2D2D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skewed data</a:t>
            </a:r>
            <a:endParaRPr lang="en-US" sz="28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D9966-1E38-BCC8-CE91-E5D954B104E5}"/>
                  </a:ext>
                </a:extLst>
              </p:cNvPr>
              <p:cNvSpPr txBox="1"/>
              <p:nvPr/>
            </p:nvSpPr>
            <p:spPr>
              <a:xfrm>
                <a:off x="1066800" y="2601548"/>
                <a:ext cx="6096000" cy="1863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b="0" i="0" dirty="0">
                    <a:solidFill>
                      <a:srgbClr val="231F20"/>
                    </a:solidFill>
                    <a:effectLst/>
                    <a:latin typeface="Arial"/>
                    <a:cs typeface="Arial"/>
                  </a:rPr>
                  <a:t>Log transformation: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endParaRPr lang="en-US" sz="2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/>
                    <a:cs typeface="Arial"/>
                  </a:rPr>
                  <a:t>Square Root Transform: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cs typeface="Arial"/>
                      </a:rPr>
                      <m:t>y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cs typeface="Arial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</m:rad>
                  </m:oMath>
                </a14:m>
                <a:endParaRPr lang="en-US" sz="2200" dirty="0">
                  <a:latin typeface="Arial"/>
                  <a:cs typeface="Arial"/>
                </a:endParaRP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endParaRPr lang="en-US" sz="2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  <a:p>
                <a:pPr marL="355600" marR="5080" indent="-342900">
                  <a:lnSpc>
                    <a:spcPct val="10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/>
                    <a:cs typeface="Arial"/>
                  </a:rPr>
                  <a:t>Box-Cox Transform: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D9966-1E38-BCC8-CE91-E5D954B10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601548"/>
                <a:ext cx="6096000" cy="1863523"/>
              </a:xfrm>
              <a:prstGeom prst="rect">
                <a:avLst/>
              </a:prstGeom>
              <a:blipFill>
                <a:blip r:embed="rId3"/>
                <a:stretch>
                  <a:fillRect l="-900" t="-656" b="-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9E052F-1727-1D6C-506A-79AACDBF1591}"/>
                  </a:ext>
                </a:extLst>
              </p:cNvPr>
              <p:cNvSpPr txBox="1"/>
              <p:nvPr/>
            </p:nvSpPr>
            <p:spPr>
              <a:xfrm>
                <a:off x="1961444" y="4572000"/>
                <a:ext cx="2895600" cy="1025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l-GR" b="0" i="1" smtClean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9E052F-1727-1D6C-506A-79AACDBF1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444" y="4572000"/>
                <a:ext cx="2895600" cy="1025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81A9E8-A863-86EA-8D28-EC0DCADC0FB1}"/>
                  </a:ext>
                </a:extLst>
              </p:cNvPr>
              <p:cNvSpPr txBox="1"/>
              <p:nvPr/>
            </p:nvSpPr>
            <p:spPr>
              <a:xfrm>
                <a:off x="1927052" y="5739710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−5&lt; 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81A9E8-A863-86EA-8D28-EC0DCADC0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052" y="5739710"/>
                <a:ext cx="28194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4971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0766" y="609600"/>
            <a:ext cx="7547267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25" dirty="0">
                <a:solidFill>
                  <a:srgbClr val="3369E8"/>
                </a:solidFill>
              </a:rPr>
              <a:t>Convert categorical variable to numerical variables</a:t>
            </a:r>
            <a:endParaRPr sz="3200"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F9143-0D30-DBFE-C37D-71F6E7F26E4A}"/>
              </a:ext>
            </a:extLst>
          </p:cNvPr>
          <p:cNvSpPr txBox="1"/>
          <p:nvPr/>
        </p:nvSpPr>
        <p:spPr>
          <a:xfrm>
            <a:off x="1219199" y="2743200"/>
            <a:ext cx="7010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31F20"/>
                </a:solidFill>
                <a:effectLst/>
                <a:latin typeface="Arial"/>
                <a:cs typeface="Arial"/>
              </a:rPr>
              <a:t>Categorical variables with ordinal relationship</a:t>
            </a: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31F20"/>
              </a:solidFill>
              <a:effectLst/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31F20"/>
                </a:solidFill>
                <a:effectLst/>
                <a:latin typeface="Arial"/>
                <a:cs typeface="Arial"/>
              </a:rPr>
              <a:t>Categorical variables without ordinal relationship</a:t>
            </a:r>
            <a:endParaRPr lang="en-US" sz="2400" b="0" i="0" dirty="0">
              <a:solidFill>
                <a:srgbClr val="2D2D2D"/>
              </a:solidFill>
              <a:effectLst/>
              <a:latin typeface="Lato" panose="020F0502020204030203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63186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1524000" y="22368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06BF7-BFF1-3D80-571E-C6EE0EACD396}"/>
              </a:ext>
            </a:extLst>
          </p:cNvPr>
          <p:cNvSpPr txBox="1"/>
          <p:nvPr/>
        </p:nvSpPr>
        <p:spPr>
          <a:xfrm>
            <a:off x="914400" y="3913258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1. Linear model with regularization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38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5211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Linear</a:t>
            </a:r>
            <a:r>
              <a:rPr spc="15" dirty="0">
                <a:solidFill>
                  <a:srgbClr val="3369E8"/>
                </a:solidFill>
              </a:rPr>
              <a:t> </a:t>
            </a:r>
            <a:r>
              <a:rPr spc="25" dirty="0">
                <a:solidFill>
                  <a:srgbClr val="3369E8"/>
                </a:solidFill>
              </a:rPr>
              <a:t>Regression</a:t>
            </a:r>
            <a:r>
              <a:rPr lang="en-US" spc="25" dirty="0">
                <a:solidFill>
                  <a:srgbClr val="3369E8"/>
                </a:solidFill>
              </a:rPr>
              <a:t> (LS)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53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EC53FD-D4F2-3124-DFAA-6A16C7EDC0A8}"/>
                  </a:ext>
                </a:extLst>
              </p:cNvPr>
              <p:cNvSpPr txBox="1"/>
              <p:nvPr/>
            </p:nvSpPr>
            <p:spPr>
              <a:xfrm>
                <a:off x="1219200" y="2514600"/>
                <a:ext cx="7175939" cy="454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EC53FD-D4F2-3124-DFAA-6A16C7EDC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514600"/>
                <a:ext cx="7175939" cy="4548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BBC34C-0BBB-C4DB-55AF-865222F23F2C}"/>
                  </a:ext>
                </a:extLst>
              </p:cNvPr>
              <p:cNvSpPr txBox="1"/>
              <p:nvPr/>
            </p:nvSpPr>
            <p:spPr>
              <a:xfrm>
                <a:off x="1905000" y="3581400"/>
                <a:ext cx="4588932" cy="1172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BBC34C-0BBB-C4DB-55AF-865222F23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581400"/>
                <a:ext cx="4588932" cy="1172629"/>
              </a:xfrm>
              <a:prstGeom prst="rect">
                <a:avLst/>
              </a:prstGeom>
              <a:blipFill>
                <a:blip r:embed="rId3"/>
                <a:stretch>
                  <a:fillRect r="-18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519" y="457200"/>
            <a:ext cx="779018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Linear</a:t>
            </a:r>
            <a:r>
              <a:rPr spc="15" dirty="0">
                <a:solidFill>
                  <a:srgbClr val="3369E8"/>
                </a:solidFill>
              </a:rPr>
              <a:t> </a:t>
            </a:r>
            <a:r>
              <a:rPr spc="25" dirty="0">
                <a:solidFill>
                  <a:srgbClr val="3369E8"/>
                </a:solidFill>
              </a:rPr>
              <a:t>Regression</a:t>
            </a:r>
            <a:r>
              <a:rPr lang="en-US" spc="25" dirty="0">
                <a:solidFill>
                  <a:srgbClr val="3369E8"/>
                </a:solidFill>
              </a:rPr>
              <a:t> with Regularization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ECEDE-0420-3273-BEC5-FE6C67029098}"/>
              </a:ext>
            </a:extLst>
          </p:cNvPr>
          <p:cNvSpPr txBox="1"/>
          <p:nvPr/>
        </p:nvSpPr>
        <p:spPr>
          <a:xfrm>
            <a:off x="1066800" y="2178051"/>
            <a:ext cx="6481233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Regularization 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refers to techniques that are used to calibrate machine learning models in order to minimize the adjusted loss function and prevent overfitting or underfitting.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907CC-8307-846C-8BA7-CA1637E2DD60}"/>
              </a:ext>
            </a:extLst>
          </p:cNvPr>
          <p:cNvSpPr txBox="1"/>
          <p:nvPr/>
        </p:nvSpPr>
        <p:spPr>
          <a:xfrm>
            <a:off x="1008096" y="4415066"/>
            <a:ext cx="6840503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Commonly use techniques</a:t>
            </a:r>
          </a:p>
          <a:p>
            <a:pPr marL="285750" indent="-28575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Lasso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(our focus)</a:t>
            </a:r>
          </a:p>
          <a:p>
            <a:pPr marL="285750" indent="-28575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Ridge </a:t>
            </a:r>
          </a:p>
          <a:p>
            <a:pPr marL="285750" indent="-28575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Elastic Net</a:t>
            </a:r>
            <a:endParaRPr lang="en-US" sz="2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7756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229" y="990600"/>
            <a:ext cx="77901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LASSO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ECEDE-0420-3273-BEC5-FE6C67029098}"/>
              </a:ext>
            </a:extLst>
          </p:cNvPr>
          <p:cNvSpPr txBox="1"/>
          <p:nvPr/>
        </p:nvSpPr>
        <p:spPr>
          <a:xfrm>
            <a:off x="1066800" y="2178051"/>
            <a:ext cx="6481233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LASSO</a:t>
            </a:r>
            <a:r>
              <a:rPr lang="en-US" sz="20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refers to </a:t>
            </a:r>
          </a:p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east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bsolute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hrinkage and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election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perator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FFAA44-33F0-A402-D089-573C76EB9A42}"/>
                  </a:ext>
                </a:extLst>
              </p:cNvPr>
              <p:cNvSpPr txBox="1"/>
              <p:nvPr/>
            </p:nvSpPr>
            <p:spPr>
              <a:xfrm>
                <a:off x="457200" y="3581400"/>
                <a:ext cx="8534400" cy="124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𝑙𝑎𝑠𝑠𝑜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FFAA44-33F0-A402-D089-573C76EB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1400"/>
                <a:ext cx="8534400" cy="1249188"/>
              </a:xfrm>
              <a:prstGeom prst="rect">
                <a:avLst/>
              </a:prstGeom>
              <a:blipFill>
                <a:blip r:embed="rId3"/>
                <a:stretch>
                  <a:fillRect t="-73737" b="-125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8ADC5A3-7B9D-D738-5CA7-3E3DF91934D0}"/>
              </a:ext>
            </a:extLst>
          </p:cNvPr>
          <p:cNvSpPr txBox="1"/>
          <p:nvPr/>
        </p:nvSpPr>
        <p:spPr>
          <a:xfrm>
            <a:off x="991162" y="5833533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Intuitively, use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penalty term 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control model complexity.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00F59E-6C4A-5F0B-9210-DE592C81AA65}"/>
              </a:ext>
            </a:extLst>
          </p:cNvPr>
          <p:cNvSpPr/>
          <p:nvPr/>
        </p:nvSpPr>
        <p:spPr>
          <a:xfrm>
            <a:off x="7300274" y="3581400"/>
            <a:ext cx="1067362" cy="1354345"/>
          </a:xfrm>
          <a:prstGeom prst="rect">
            <a:avLst/>
          </a:prstGeom>
          <a:solidFill>
            <a:srgbClr val="FF0000">
              <a:alpha val="2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FBF86-58A6-6348-1BE7-698E308A34EE}"/>
              </a:ext>
            </a:extLst>
          </p:cNvPr>
          <p:cNvCxnSpPr/>
          <p:nvPr/>
        </p:nvCxnSpPr>
        <p:spPr>
          <a:xfrm flipV="1">
            <a:off x="3810000" y="4935745"/>
            <a:ext cx="3505200" cy="89778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1480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229" y="990600"/>
            <a:ext cx="77901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LASSO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ECEDE-0420-3273-BEC5-FE6C67029098}"/>
              </a:ext>
            </a:extLst>
          </p:cNvPr>
          <p:cNvSpPr txBox="1"/>
          <p:nvPr/>
        </p:nvSpPr>
        <p:spPr>
          <a:xfrm>
            <a:off x="1066800" y="2178051"/>
            <a:ext cx="6481233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LASSO</a:t>
            </a:r>
            <a:r>
              <a:rPr lang="en-US" sz="20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refers to </a:t>
            </a:r>
          </a:p>
          <a:p>
            <a:pPr>
              <a:lnSpc>
                <a:spcPct val="150000"/>
              </a:lnSpc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east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bsolute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hrinkage and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election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b="0" i="0" dirty="0">
                <a:solidFill>
                  <a:srgbClr val="51565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perator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D4E975-ADD9-992C-83BB-12A4D9513D93}"/>
                  </a:ext>
                </a:extLst>
              </p:cNvPr>
              <p:cNvSpPr txBox="1"/>
              <p:nvPr/>
            </p:nvSpPr>
            <p:spPr>
              <a:xfrm>
                <a:off x="1066799" y="3256673"/>
                <a:ext cx="4953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3200" dirty="0"/>
                  <a:t>: </a:t>
                </a:r>
                <a:r>
                  <a:rPr lang="en-US" sz="3200" i="1" dirty="0"/>
                  <a:t>Penalty factor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D4E975-ADD9-992C-83BB-12A4D9513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9" y="3256673"/>
                <a:ext cx="4953000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DFF5D-2A0A-D479-2396-CDCBA9399FF4}"/>
                  </a:ext>
                </a:extLst>
              </p:cNvPr>
              <p:cNvSpPr txBox="1"/>
              <p:nvPr/>
            </p:nvSpPr>
            <p:spPr>
              <a:xfrm>
                <a:off x="1066800" y="4065229"/>
                <a:ext cx="6481233" cy="48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𝑊h𝑒𝑛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𝑜𝑙𝑠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DFF5D-2A0A-D479-2396-CDCBA9399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065229"/>
                <a:ext cx="6481233" cy="481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4CD79E-1720-27E7-41A0-50EE21D9E6E8}"/>
                  </a:ext>
                </a:extLst>
              </p:cNvPr>
              <p:cNvSpPr txBox="1"/>
              <p:nvPr/>
            </p:nvSpPr>
            <p:spPr>
              <a:xfrm>
                <a:off x="1066799" y="4666861"/>
                <a:ext cx="6481233" cy="481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𝑊h𝑒𝑛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→∞: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4CD79E-1720-27E7-41A0-50EE21D9E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9" y="4666861"/>
                <a:ext cx="6481233" cy="4814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59A45D8-3F8F-D9AB-F5AC-63A95F07062B}"/>
              </a:ext>
            </a:extLst>
          </p:cNvPr>
          <p:cNvSpPr txBox="1"/>
          <p:nvPr/>
        </p:nvSpPr>
        <p:spPr>
          <a:xfrm>
            <a:off x="974228" y="5543925"/>
            <a:ext cx="786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LASSO 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Shrink those not-that-important parameters to 0, and therefore, could be used for variable selection (</a:t>
            </a:r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with caution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431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229" y="990600"/>
            <a:ext cx="77901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LASSO and Explanatory Model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57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D85AA-5017-66AB-05EC-AB44D4A82138}"/>
                  </a:ext>
                </a:extLst>
              </p:cNvPr>
              <p:cNvSpPr txBox="1"/>
              <p:nvPr/>
            </p:nvSpPr>
            <p:spPr>
              <a:xfrm>
                <a:off x="974229" y="2057400"/>
                <a:ext cx="8017371" cy="4184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plan to apply </a:t>
                </a:r>
                <a:r>
                  <a:rPr lang="en-US" sz="24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LASSO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select variables for your explanatory model, use </a:t>
                </a:r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extra cautions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It perform </a:t>
                </a:r>
                <a:r>
                  <a:rPr lang="en-US" sz="22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automatic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variable selection;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process is automatic, purely </a:t>
                </a:r>
                <a:r>
                  <a:rPr lang="en-US" sz="22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 driven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variable selection is </a:t>
                </a:r>
                <a:r>
                  <a:rPr lang="en-US" sz="22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highly sensitive to the choice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generated model can </a:t>
                </a:r>
                <a:r>
                  <a:rPr lang="en-US" sz="22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hard to interpret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It </a:t>
                </a:r>
                <a:r>
                  <a:rPr lang="en-US" sz="2200" dirty="0">
                    <a:solidFill>
                      <a:srgbClr val="4F81B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drop variables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as long as LASSO determines that the variables are not important.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D85AA-5017-66AB-05EC-AB44D4A8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29" y="2057400"/>
                <a:ext cx="8017371" cy="4184543"/>
              </a:xfrm>
              <a:prstGeom prst="rect">
                <a:avLst/>
              </a:prstGeom>
              <a:blipFill>
                <a:blip r:embed="rId3"/>
                <a:stretch>
                  <a:fillRect l="-1108" t="-1515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2921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533400"/>
            <a:ext cx="779018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Other linear model with regularization</a:t>
            </a:r>
            <a:endParaRPr spc="2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D85AA-5017-66AB-05EC-AB44D4A82138}"/>
              </a:ext>
            </a:extLst>
          </p:cNvPr>
          <p:cNvSpPr txBox="1"/>
          <p:nvPr/>
        </p:nvSpPr>
        <p:spPr>
          <a:xfrm>
            <a:off x="810054" y="2197332"/>
            <a:ext cx="80173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5F020D-F068-96A8-ED45-6AEA879E4EDC}"/>
                  </a:ext>
                </a:extLst>
              </p:cNvPr>
              <p:cNvSpPr txBox="1"/>
              <p:nvPr/>
            </p:nvSpPr>
            <p:spPr>
              <a:xfrm>
                <a:off x="542290" y="2431919"/>
                <a:ext cx="8534400" cy="124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𝑟𝑖𝑑𝑔𝑒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5F020D-F068-96A8-ED45-6AEA879E4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0" y="2431919"/>
                <a:ext cx="8534400" cy="1249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ABFB479-F96C-04F8-A05D-0461D6D20BE7}"/>
              </a:ext>
            </a:extLst>
          </p:cNvPr>
          <p:cNvSpPr txBox="1"/>
          <p:nvPr/>
        </p:nvSpPr>
        <p:spPr>
          <a:xfrm>
            <a:off x="913614" y="4274140"/>
            <a:ext cx="45861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D5EB0-4A0A-3ED2-268C-CBB4E91DE009}"/>
                  </a:ext>
                </a:extLst>
              </p:cNvPr>
              <p:cNvSpPr txBox="1"/>
              <p:nvPr/>
            </p:nvSpPr>
            <p:spPr>
              <a:xfrm>
                <a:off x="-304800" y="4778687"/>
                <a:ext cx="9838690" cy="1038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𝑟𝑖𝑑𝑔𝑒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D5EB0-4A0A-3ED2-268C-CBB4E91D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4778687"/>
                <a:ext cx="9838690" cy="10387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2956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1676400" y="19812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06BF7-BFF1-3D80-571E-C6EE0EACD396}"/>
              </a:ext>
            </a:extLst>
          </p:cNvPr>
          <p:cNvSpPr txBox="1"/>
          <p:nvPr/>
        </p:nvSpPr>
        <p:spPr>
          <a:xfrm>
            <a:off x="1295400" y="3545111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2. Tree-based  regression models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667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3423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3369E8"/>
                </a:solidFill>
              </a:rPr>
              <a:t>Tree</a:t>
            </a:r>
            <a:r>
              <a:rPr lang="en-US" spc="-55" dirty="0">
                <a:solidFill>
                  <a:srgbClr val="3369E8"/>
                </a:solidFill>
              </a:rPr>
              <a:t>-based models</a:t>
            </a:r>
            <a:endParaRPr spc="-55" dirty="0">
              <a:solidFill>
                <a:srgbClr val="3369E8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1C91E-F937-10EF-1F7C-CC7A6476611E}"/>
              </a:ext>
            </a:extLst>
          </p:cNvPr>
          <p:cNvSpPr txBox="1"/>
          <p:nvPr/>
        </p:nvSpPr>
        <p:spPr>
          <a:xfrm>
            <a:off x="987744" y="2057400"/>
            <a:ext cx="7293768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0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Tree-based models </a:t>
            </a: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a series of </a:t>
            </a:r>
            <a:r>
              <a:rPr lang="en-US" sz="2200" b="0" i="0" dirty="0">
                <a:solidFill>
                  <a:srgbClr val="F7964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if-then</a:t>
            </a: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rules to generate predictions from one or more decision trees. </a:t>
            </a:r>
          </a:p>
          <a:p>
            <a:pPr>
              <a:lnSpc>
                <a:spcPct val="150000"/>
              </a:lnSpc>
            </a:pP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tree-based models can be used for either regression or classification.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70953-18F1-B85B-F5CC-D54EFBC2A5DD}"/>
              </a:ext>
            </a:extLst>
          </p:cNvPr>
          <p:cNvSpPr txBox="1"/>
          <p:nvPr/>
        </p:nvSpPr>
        <p:spPr>
          <a:xfrm>
            <a:off x="972818" y="4063310"/>
            <a:ext cx="5946456" cy="2576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spc="-55" dirty="0">
                <a:latin typeface="Arial" panose="020B0604020202020204" pitchFamily="34" charset="0"/>
                <a:cs typeface="Arial" panose="020B0604020202020204" pitchFamily="34" charset="0"/>
              </a:rPr>
              <a:t>In this module, we will introduce three types of tree-based models:</a:t>
            </a:r>
          </a:p>
          <a:p>
            <a:endParaRPr lang="en-US" sz="2200" spc="-5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spc="-55" dirty="0">
                <a:latin typeface="Arial" panose="020B0604020202020204" pitchFamily="34" charset="0"/>
                <a:cs typeface="Arial" panose="020B0604020202020204" pitchFamily="34" charset="0"/>
              </a:rPr>
              <a:t>Regression Tree</a:t>
            </a:r>
          </a:p>
          <a:p>
            <a:pPr marL="800100" lvl="1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spc="-55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marL="800100" lvl="1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spc="-55" dirty="0">
                <a:latin typeface="Arial" panose="020B0604020202020204" pitchFamily="34" charset="0"/>
                <a:cs typeface="Arial" panose="020B0604020202020204" pitchFamily="34" charset="0"/>
              </a:rPr>
              <a:t>Gradient Boost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493517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73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Decision</a:t>
            </a:r>
            <a:r>
              <a:rPr spc="10" dirty="0">
                <a:solidFill>
                  <a:srgbClr val="3369E8"/>
                </a:solidFill>
              </a:rPr>
              <a:t> </a:t>
            </a:r>
            <a:r>
              <a:rPr spc="-55" dirty="0">
                <a:solidFill>
                  <a:srgbClr val="3369E8"/>
                </a:solidFill>
              </a:rPr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1C91E-F937-10EF-1F7C-CC7A6476611E}"/>
              </a:ext>
            </a:extLst>
          </p:cNvPr>
          <p:cNvSpPr txBox="1"/>
          <p:nvPr/>
        </p:nvSpPr>
        <p:spPr>
          <a:xfrm>
            <a:off x="1153716" y="1981200"/>
            <a:ext cx="74568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decision tree is a type supervised machine learning algorithm that makes predictions based on how a previous set of questions were answered.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 node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The base of the decision tree.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Splitting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process of dividing a node into multiple sub-nodes.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 node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a sub-node </a:t>
            </a: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is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further split into additional sub-nodes.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Leaf node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sub-node does not split further, represents possible outcomes.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The process of removing sub-nodes of a decision tree.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subsection of the decision tree consisting of multiple nodes.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Source Sans Pro" panose="020B0503030403020204" pitchFamily="34" charset="0"/>
              </a:rPr>
              <a:t>determining which features to split on and then deciding when to stop splitting.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00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73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Decision</a:t>
            </a:r>
            <a:r>
              <a:rPr spc="10" dirty="0">
                <a:solidFill>
                  <a:srgbClr val="3369E8"/>
                </a:solidFill>
              </a:rPr>
              <a:t> </a:t>
            </a:r>
            <a:r>
              <a:rPr spc="-55" dirty="0">
                <a:solidFill>
                  <a:srgbClr val="3369E8"/>
                </a:solidFill>
              </a:rPr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62</a:t>
            </a:fld>
            <a:endParaRPr dirty="0"/>
          </a:p>
        </p:txBody>
      </p:sp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45E2D502-9AC2-EE00-C1A3-F3F4CB7FE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38300"/>
            <a:ext cx="69596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762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3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F1323E2D-1C1B-B76E-E851-1234FCE47A79}"/>
              </a:ext>
            </a:extLst>
          </p:cNvPr>
          <p:cNvSpPr/>
          <p:nvPr/>
        </p:nvSpPr>
        <p:spPr>
          <a:xfrm>
            <a:off x="3072498" y="682159"/>
            <a:ext cx="862989" cy="292893"/>
          </a:xfrm>
          <a:custGeom>
            <a:avLst/>
            <a:gdLst/>
            <a:ahLst/>
            <a:cxnLst/>
            <a:rect l="l" t="t" r="r" b="b"/>
            <a:pathLst>
              <a:path w="1257300" h="426719">
                <a:moveTo>
                  <a:pt x="1257300" y="0"/>
                </a:moveTo>
                <a:lnTo>
                  <a:pt x="0" y="42672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73FD695F-A83B-5076-356A-A35167542FE7}"/>
              </a:ext>
            </a:extLst>
          </p:cNvPr>
          <p:cNvSpPr/>
          <p:nvPr/>
        </p:nvSpPr>
        <p:spPr>
          <a:xfrm>
            <a:off x="3936887" y="682159"/>
            <a:ext cx="809379" cy="297252"/>
          </a:xfrm>
          <a:custGeom>
            <a:avLst/>
            <a:gdLst/>
            <a:ahLst/>
            <a:cxnLst/>
            <a:rect l="l" t="t" r="r" b="b"/>
            <a:pathLst>
              <a:path w="1179195" h="433069">
                <a:moveTo>
                  <a:pt x="0" y="0"/>
                </a:moveTo>
                <a:lnTo>
                  <a:pt x="1179055" y="432727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B9CC8D0-06F8-3501-0007-174C6D3660F4}"/>
              </a:ext>
            </a:extLst>
          </p:cNvPr>
          <p:cNvSpPr/>
          <p:nvPr/>
        </p:nvSpPr>
        <p:spPr>
          <a:xfrm>
            <a:off x="3797674" y="5436874"/>
            <a:ext cx="1496336" cy="811526"/>
          </a:xfrm>
          <a:custGeom>
            <a:avLst/>
            <a:gdLst/>
            <a:ahLst/>
            <a:cxnLst/>
            <a:rect l="l" t="t" r="r" b="b"/>
            <a:pathLst>
              <a:path w="779780" h="716279">
                <a:moveTo>
                  <a:pt x="779780" y="0"/>
                </a:moveTo>
                <a:lnTo>
                  <a:pt x="0" y="0"/>
                </a:lnTo>
                <a:lnTo>
                  <a:pt x="0" y="716064"/>
                </a:lnTo>
                <a:lnTo>
                  <a:pt x="779780" y="716064"/>
                </a:lnTo>
                <a:lnTo>
                  <a:pt x="779780" y="0"/>
                </a:lnTo>
                <a:close/>
              </a:path>
            </a:pathLst>
          </a:custGeom>
          <a:solidFill>
            <a:srgbClr val="40AD49">
              <a:alpha val="19999"/>
            </a:srgbClr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72F0AB8A-D2F6-E350-6556-B9674EEAD538}"/>
              </a:ext>
            </a:extLst>
          </p:cNvPr>
          <p:cNvSpPr/>
          <p:nvPr/>
        </p:nvSpPr>
        <p:spPr>
          <a:xfrm>
            <a:off x="4501530" y="5970274"/>
            <a:ext cx="792480" cy="0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46772-D336-5A90-9172-8CA0B17760B4}"/>
              </a:ext>
            </a:extLst>
          </p:cNvPr>
          <p:cNvSpPr txBox="1"/>
          <p:nvPr/>
        </p:nvSpPr>
        <p:spPr>
          <a:xfrm>
            <a:off x="3797674" y="5512541"/>
            <a:ext cx="12057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= $87,250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1075D840-FCF9-C48D-AEF5-E9DDC466EF3A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78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8" grpId="0" animBg="1"/>
      <p:bldP spid="29" grpId="0" animBg="1"/>
      <p:bldP spid="24" grpId="0"/>
      <p:bldP spid="41" grpId="0"/>
      <p:bldP spid="2" grpId="0" animBg="1"/>
      <p:bldP spid="4" grpId="0" animBg="1"/>
      <p:bldP spid="6" grpId="0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EF3C57D1-09A1-B67D-BC21-E5A371E5495A}"/>
              </a:ext>
            </a:extLst>
          </p:cNvPr>
          <p:cNvGrpSpPr/>
          <p:nvPr/>
        </p:nvGrpSpPr>
        <p:grpSpPr>
          <a:xfrm>
            <a:off x="3068139" y="677800"/>
            <a:ext cx="1682393" cy="305969"/>
            <a:chOff x="2660650" y="2218692"/>
            <a:chExt cx="2451100" cy="4457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F1323E2D-1C1B-B76E-E851-1234FCE47A79}"/>
                </a:ext>
              </a:extLst>
            </p:cNvPr>
            <p:cNvSpPr/>
            <p:nvPr/>
          </p:nvSpPr>
          <p:spPr>
            <a:xfrm>
              <a:off x="2667000" y="2225042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73FD695F-A83B-5076-356A-A35167542FE7}"/>
                </a:ext>
              </a:extLst>
            </p:cNvPr>
            <p:cNvSpPr/>
            <p:nvPr/>
          </p:nvSpPr>
          <p:spPr>
            <a:xfrm>
              <a:off x="3926340" y="2225042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033B3B-B2DB-33E8-CDD6-0FCEEEE4972C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1898ACC8-A7A1-7BD7-4211-C00522988534}"/>
              </a:ext>
            </a:extLst>
          </p:cNvPr>
          <p:cNvSpPr txBox="1"/>
          <p:nvPr/>
        </p:nvSpPr>
        <p:spPr>
          <a:xfrm>
            <a:off x="3622525" y="1604246"/>
            <a:ext cx="148287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7BE1705-2EA6-FC52-F105-5588A7C9AA23}"/>
              </a:ext>
            </a:extLst>
          </p:cNvPr>
          <p:cNvSpPr/>
          <p:nvPr/>
        </p:nvSpPr>
        <p:spPr>
          <a:xfrm>
            <a:off x="2455091" y="1289254"/>
            <a:ext cx="745309" cy="301174"/>
          </a:xfrm>
          <a:custGeom>
            <a:avLst/>
            <a:gdLst/>
            <a:ahLst/>
            <a:cxnLst/>
            <a:rect l="l" t="t" r="r" b="b"/>
            <a:pathLst>
              <a:path w="1085850" h="438785">
                <a:moveTo>
                  <a:pt x="0" y="438696"/>
                </a:moveTo>
                <a:lnTo>
                  <a:pt x="1085850" y="0"/>
                </a:lnTo>
              </a:path>
            </a:pathLst>
          </a:custGeom>
          <a:ln w="1269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0C14BDD-CC28-445E-2FF2-BF114DDDDCC6}"/>
              </a:ext>
            </a:extLst>
          </p:cNvPr>
          <p:cNvSpPr txBox="1"/>
          <p:nvPr/>
        </p:nvSpPr>
        <p:spPr>
          <a:xfrm>
            <a:off x="1474140" y="1561878"/>
            <a:ext cx="1624698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E7E02FB9-3585-D0F2-E3B5-B886DA3FA055}"/>
              </a:ext>
            </a:extLst>
          </p:cNvPr>
          <p:cNvSpPr/>
          <p:nvPr/>
        </p:nvSpPr>
        <p:spPr>
          <a:xfrm>
            <a:off x="3177285" y="1285113"/>
            <a:ext cx="879988" cy="309456"/>
          </a:xfrm>
          <a:custGeom>
            <a:avLst/>
            <a:gdLst/>
            <a:ahLst/>
            <a:cxnLst/>
            <a:rect l="l" t="t" r="r" b="b"/>
            <a:pathLst>
              <a:path w="1282064" h="450850">
                <a:moveTo>
                  <a:pt x="0" y="0"/>
                </a:moveTo>
                <a:lnTo>
                  <a:pt x="1281595" y="45046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FE692599-5F7E-F806-C768-90235701355A}"/>
              </a:ext>
            </a:extLst>
          </p:cNvPr>
          <p:cNvSpPr txBox="1"/>
          <p:nvPr/>
        </p:nvSpPr>
        <p:spPr>
          <a:xfrm>
            <a:off x="3676930" y="1306576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60048-0CD0-7D43-2B8F-EDC724A8C468}"/>
              </a:ext>
            </a:extLst>
          </p:cNvPr>
          <p:cNvSpPr txBox="1"/>
          <p:nvPr/>
        </p:nvSpPr>
        <p:spPr>
          <a:xfrm>
            <a:off x="2406495" y="1240826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50" name="object 5">
            <a:extLst>
              <a:ext uri="{FF2B5EF4-FFF2-40B4-BE49-F238E27FC236}">
                <a16:creationId xmlns:a16="http://schemas.microsoft.com/office/drawing/2014/main" id="{F8955110-3EC3-DA03-A379-2B645943DFB4}"/>
              </a:ext>
            </a:extLst>
          </p:cNvPr>
          <p:cNvSpPr/>
          <p:nvPr/>
        </p:nvSpPr>
        <p:spPr>
          <a:xfrm>
            <a:off x="7971991" y="2286000"/>
            <a:ext cx="1066800" cy="2667000"/>
          </a:xfrm>
          <a:custGeom>
            <a:avLst/>
            <a:gdLst/>
            <a:ahLst/>
            <a:cxnLst/>
            <a:rect l="l" t="t" r="r" b="b"/>
            <a:pathLst>
              <a:path w="779780" h="716279">
                <a:moveTo>
                  <a:pt x="779780" y="0"/>
                </a:moveTo>
                <a:lnTo>
                  <a:pt x="0" y="0"/>
                </a:lnTo>
                <a:lnTo>
                  <a:pt x="0" y="716064"/>
                </a:lnTo>
                <a:lnTo>
                  <a:pt x="779780" y="716064"/>
                </a:lnTo>
                <a:lnTo>
                  <a:pt x="779780" y="0"/>
                </a:lnTo>
                <a:close/>
              </a:path>
            </a:pathLst>
          </a:custGeom>
          <a:solidFill>
            <a:srgbClr val="40AD49">
              <a:alpha val="19999"/>
            </a:srgbClr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7">
            <a:extLst>
              <a:ext uri="{FF2B5EF4-FFF2-40B4-BE49-F238E27FC236}">
                <a16:creationId xmlns:a16="http://schemas.microsoft.com/office/drawing/2014/main" id="{7DCC07DE-2341-27CA-2852-BA9071F0484C}"/>
              </a:ext>
            </a:extLst>
          </p:cNvPr>
          <p:cNvSpPr/>
          <p:nvPr/>
        </p:nvSpPr>
        <p:spPr>
          <a:xfrm>
            <a:off x="8048191" y="3724686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3E3699-E2E8-7B5F-F17E-E7F6ACB76C99}"/>
              </a:ext>
            </a:extLst>
          </p:cNvPr>
          <p:cNvSpPr txBox="1"/>
          <p:nvPr/>
        </p:nvSpPr>
        <p:spPr>
          <a:xfrm>
            <a:off x="6785075" y="3625618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= $424,523</a:t>
            </a:r>
          </a:p>
        </p:txBody>
      </p:sp>
    </p:spTree>
    <p:extLst>
      <p:ext uri="{BB962C8B-B14F-4D97-AF65-F5344CB8AC3E}">
        <p14:creationId xmlns:p14="http://schemas.microsoft.com/office/powerpoint/2010/main" val="267859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42" grpId="0"/>
      <p:bldP spid="46" grpId="0"/>
      <p:bldP spid="50" grpId="0" animBg="1"/>
      <p:bldP spid="51" grpId="0" animBg="1"/>
      <p:bldP spid="5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EF3C57D1-09A1-B67D-BC21-E5A371E5495A}"/>
              </a:ext>
            </a:extLst>
          </p:cNvPr>
          <p:cNvGrpSpPr/>
          <p:nvPr/>
        </p:nvGrpSpPr>
        <p:grpSpPr>
          <a:xfrm>
            <a:off x="3068139" y="677800"/>
            <a:ext cx="1682393" cy="305969"/>
            <a:chOff x="2660650" y="2218692"/>
            <a:chExt cx="2451100" cy="4457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F1323E2D-1C1B-B76E-E851-1234FCE47A79}"/>
                </a:ext>
              </a:extLst>
            </p:cNvPr>
            <p:cNvSpPr/>
            <p:nvPr/>
          </p:nvSpPr>
          <p:spPr>
            <a:xfrm>
              <a:off x="2667000" y="2225042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73FD695F-A83B-5076-356A-A35167542FE7}"/>
                </a:ext>
              </a:extLst>
            </p:cNvPr>
            <p:cNvSpPr/>
            <p:nvPr/>
          </p:nvSpPr>
          <p:spPr>
            <a:xfrm>
              <a:off x="3926340" y="2225042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033B3B-B2DB-33E8-CDD6-0FCEEEE4972C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1898ACC8-A7A1-7BD7-4211-C00522988534}"/>
              </a:ext>
            </a:extLst>
          </p:cNvPr>
          <p:cNvSpPr txBox="1"/>
          <p:nvPr/>
        </p:nvSpPr>
        <p:spPr>
          <a:xfrm>
            <a:off x="3622525" y="1604246"/>
            <a:ext cx="148287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7BE1705-2EA6-FC52-F105-5588A7C9AA23}"/>
              </a:ext>
            </a:extLst>
          </p:cNvPr>
          <p:cNvSpPr/>
          <p:nvPr/>
        </p:nvSpPr>
        <p:spPr>
          <a:xfrm>
            <a:off x="2455091" y="1289254"/>
            <a:ext cx="745309" cy="301174"/>
          </a:xfrm>
          <a:custGeom>
            <a:avLst/>
            <a:gdLst/>
            <a:ahLst/>
            <a:cxnLst/>
            <a:rect l="l" t="t" r="r" b="b"/>
            <a:pathLst>
              <a:path w="1085850" h="438785">
                <a:moveTo>
                  <a:pt x="0" y="438696"/>
                </a:moveTo>
                <a:lnTo>
                  <a:pt x="1085850" y="0"/>
                </a:lnTo>
              </a:path>
            </a:pathLst>
          </a:custGeom>
          <a:ln w="1269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0C14BDD-CC28-445E-2FF2-BF114DDDDCC6}"/>
              </a:ext>
            </a:extLst>
          </p:cNvPr>
          <p:cNvSpPr txBox="1"/>
          <p:nvPr/>
        </p:nvSpPr>
        <p:spPr>
          <a:xfrm>
            <a:off x="1474140" y="1561878"/>
            <a:ext cx="1624698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E7E02FB9-3585-D0F2-E3B5-B886DA3FA055}"/>
              </a:ext>
            </a:extLst>
          </p:cNvPr>
          <p:cNvSpPr/>
          <p:nvPr/>
        </p:nvSpPr>
        <p:spPr>
          <a:xfrm>
            <a:off x="3177285" y="1285113"/>
            <a:ext cx="879988" cy="309456"/>
          </a:xfrm>
          <a:custGeom>
            <a:avLst/>
            <a:gdLst/>
            <a:ahLst/>
            <a:cxnLst/>
            <a:rect l="l" t="t" r="r" b="b"/>
            <a:pathLst>
              <a:path w="1282064" h="450850">
                <a:moveTo>
                  <a:pt x="0" y="0"/>
                </a:moveTo>
                <a:lnTo>
                  <a:pt x="1281595" y="45046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0C090373-0E03-2243-047A-D5D6024F2BA0}"/>
              </a:ext>
            </a:extLst>
          </p:cNvPr>
          <p:cNvSpPr txBox="1"/>
          <p:nvPr/>
        </p:nvSpPr>
        <p:spPr>
          <a:xfrm>
            <a:off x="1852860" y="2276339"/>
            <a:ext cx="132442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255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73BDF9F-2C3C-CD72-793B-18E0D10FD378}"/>
              </a:ext>
            </a:extLst>
          </p:cNvPr>
          <p:cNvSpPr/>
          <p:nvPr/>
        </p:nvSpPr>
        <p:spPr>
          <a:xfrm>
            <a:off x="990600" y="1900730"/>
            <a:ext cx="1337812" cy="566486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2588365F-E2A8-FE4C-5203-7ED07B158249}"/>
              </a:ext>
            </a:extLst>
          </p:cNvPr>
          <p:cNvSpPr txBox="1"/>
          <p:nvPr/>
        </p:nvSpPr>
        <p:spPr>
          <a:xfrm>
            <a:off x="164470" y="2471330"/>
            <a:ext cx="1532611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dirty="0">
              <a:latin typeface="Arial"/>
              <a:cs typeface="Arial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60784518-A15F-A116-AA78-3A32BC4CD588}"/>
              </a:ext>
            </a:extLst>
          </p:cNvPr>
          <p:cNvSpPr/>
          <p:nvPr/>
        </p:nvSpPr>
        <p:spPr>
          <a:xfrm>
            <a:off x="2360073" y="1908147"/>
            <a:ext cx="383127" cy="368192"/>
          </a:xfrm>
          <a:custGeom>
            <a:avLst/>
            <a:gdLst/>
            <a:ahLst/>
            <a:cxnLst/>
            <a:rect l="l" t="t" r="r" b="b"/>
            <a:pathLst>
              <a:path w="915034" h="432435">
                <a:moveTo>
                  <a:pt x="0" y="0"/>
                </a:moveTo>
                <a:lnTo>
                  <a:pt x="914704" y="43221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FE692599-5F7E-F806-C768-90235701355A}"/>
              </a:ext>
            </a:extLst>
          </p:cNvPr>
          <p:cNvSpPr txBox="1"/>
          <p:nvPr/>
        </p:nvSpPr>
        <p:spPr>
          <a:xfrm>
            <a:off x="3676930" y="1306576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3" name="object 24">
            <a:extLst>
              <a:ext uri="{FF2B5EF4-FFF2-40B4-BE49-F238E27FC236}">
                <a16:creationId xmlns:a16="http://schemas.microsoft.com/office/drawing/2014/main" id="{61881236-64E6-79B1-389F-BE3FA5475050}"/>
              </a:ext>
            </a:extLst>
          </p:cNvPr>
          <p:cNvSpPr txBox="1"/>
          <p:nvPr/>
        </p:nvSpPr>
        <p:spPr>
          <a:xfrm>
            <a:off x="2515072" y="1946029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60048-0CD0-7D43-2B8F-EDC724A8C468}"/>
              </a:ext>
            </a:extLst>
          </p:cNvPr>
          <p:cNvSpPr txBox="1"/>
          <p:nvPr/>
        </p:nvSpPr>
        <p:spPr>
          <a:xfrm>
            <a:off x="2406495" y="1240826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5571D-0856-78B1-A817-DACA553E07A6}"/>
              </a:ext>
            </a:extLst>
          </p:cNvPr>
          <p:cNvSpPr txBox="1"/>
          <p:nvPr/>
        </p:nvSpPr>
        <p:spPr>
          <a:xfrm>
            <a:off x="1198729" y="1985050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E66B630D-6040-9551-2054-DD2229860EAF}"/>
              </a:ext>
            </a:extLst>
          </p:cNvPr>
          <p:cNvSpPr/>
          <p:nvPr/>
        </p:nvSpPr>
        <p:spPr>
          <a:xfrm>
            <a:off x="6891895" y="4092082"/>
            <a:ext cx="1066800" cy="1546718"/>
          </a:xfrm>
          <a:custGeom>
            <a:avLst/>
            <a:gdLst/>
            <a:ahLst/>
            <a:cxnLst/>
            <a:rect l="l" t="t" r="r" b="b"/>
            <a:pathLst>
              <a:path w="779780" h="716279">
                <a:moveTo>
                  <a:pt x="779780" y="0"/>
                </a:moveTo>
                <a:lnTo>
                  <a:pt x="0" y="0"/>
                </a:lnTo>
                <a:lnTo>
                  <a:pt x="0" y="716064"/>
                </a:lnTo>
                <a:lnTo>
                  <a:pt x="779780" y="716064"/>
                </a:lnTo>
                <a:lnTo>
                  <a:pt x="779780" y="0"/>
                </a:lnTo>
                <a:close/>
              </a:path>
            </a:pathLst>
          </a:custGeom>
          <a:solidFill>
            <a:srgbClr val="40AD49">
              <a:alpha val="19999"/>
            </a:srgbClr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15B83CC-6905-D0E6-0462-432A31627C78}"/>
              </a:ext>
            </a:extLst>
          </p:cNvPr>
          <p:cNvSpPr/>
          <p:nvPr/>
        </p:nvSpPr>
        <p:spPr>
          <a:xfrm>
            <a:off x="6997363" y="4899954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DF308-3C07-3CCE-0BFA-7BB666EDAC08}"/>
              </a:ext>
            </a:extLst>
          </p:cNvPr>
          <p:cNvSpPr txBox="1"/>
          <p:nvPr/>
        </p:nvSpPr>
        <p:spPr>
          <a:xfrm>
            <a:off x="5696743" y="4655826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= $255,176</a:t>
            </a:r>
          </a:p>
        </p:txBody>
      </p:sp>
    </p:spTree>
    <p:extLst>
      <p:ext uri="{BB962C8B-B14F-4D97-AF65-F5344CB8AC3E}">
        <p14:creationId xmlns:p14="http://schemas.microsoft.com/office/powerpoint/2010/main" val="268590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43" grpId="0"/>
      <p:bldP spid="47" grpId="0"/>
      <p:bldP spid="2" grpId="0" animBg="1"/>
      <p:bldP spid="4" grpId="0" animBg="1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EF3C57D1-09A1-B67D-BC21-E5A371E5495A}"/>
              </a:ext>
            </a:extLst>
          </p:cNvPr>
          <p:cNvGrpSpPr/>
          <p:nvPr/>
        </p:nvGrpSpPr>
        <p:grpSpPr>
          <a:xfrm>
            <a:off x="3068139" y="677800"/>
            <a:ext cx="1682393" cy="305969"/>
            <a:chOff x="2660650" y="2218692"/>
            <a:chExt cx="2451100" cy="4457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F1323E2D-1C1B-B76E-E851-1234FCE47A79}"/>
                </a:ext>
              </a:extLst>
            </p:cNvPr>
            <p:cNvSpPr/>
            <p:nvPr/>
          </p:nvSpPr>
          <p:spPr>
            <a:xfrm>
              <a:off x="2667000" y="2225042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73FD695F-A83B-5076-356A-A35167542FE7}"/>
                </a:ext>
              </a:extLst>
            </p:cNvPr>
            <p:cNvSpPr/>
            <p:nvPr/>
          </p:nvSpPr>
          <p:spPr>
            <a:xfrm>
              <a:off x="3926340" y="2225042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033B3B-B2DB-33E8-CDD6-0FCEEEE4972C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1898ACC8-A7A1-7BD7-4211-C00522988534}"/>
              </a:ext>
            </a:extLst>
          </p:cNvPr>
          <p:cNvSpPr txBox="1"/>
          <p:nvPr/>
        </p:nvSpPr>
        <p:spPr>
          <a:xfrm>
            <a:off x="3622525" y="1604246"/>
            <a:ext cx="148287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7BE1705-2EA6-FC52-F105-5588A7C9AA23}"/>
              </a:ext>
            </a:extLst>
          </p:cNvPr>
          <p:cNvSpPr/>
          <p:nvPr/>
        </p:nvSpPr>
        <p:spPr>
          <a:xfrm>
            <a:off x="2455091" y="1289254"/>
            <a:ext cx="745309" cy="301174"/>
          </a:xfrm>
          <a:custGeom>
            <a:avLst/>
            <a:gdLst/>
            <a:ahLst/>
            <a:cxnLst/>
            <a:rect l="l" t="t" r="r" b="b"/>
            <a:pathLst>
              <a:path w="1085850" h="438785">
                <a:moveTo>
                  <a:pt x="0" y="438696"/>
                </a:moveTo>
                <a:lnTo>
                  <a:pt x="1085850" y="0"/>
                </a:lnTo>
              </a:path>
            </a:pathLst>
          </a:custGeom>
          <a:ln w="1269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0C14BDD-CC28-445E-2FF2-BF114DDDDCC6}"/>
              </a:ext>
            </a:extLst>
          </p:cNvPr>
          <p:cNvSpPr txBox="1"/>
          <p:nvPr/>
        </p:nvSpPr>
        <p:spPr>
          <a:xfrm>
            <a:off x="1474140" y="1561878"/>
            <a:ext cx="1624698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E7E02FB9-3585-D0F2-E3B5-B886DA3FA055}"/>
              </a:ext>
            </a:extLst>
          </p:cNvPr>
          <p:cNvSpPr/>
          <p:nvPr/>
        </p:nvSpPr>
        <p:spPr>
          <a:xfrm>
            <a:off x="3177285" y="1285113"/>
            <a:ext cx="879988" cy="309456"/>
          </a:xfrm>
          <a:custGeom>
            <a:avLst/>
            <a:gdLst/>
            <a:ahLst/>
            <a:cxnLst/>
            <a:rect l="l" t="t" r="r" b="b"/>
            <a:pathLst>
              <a:path w="1282064" h="450850">
                <a:moveTo>
                  <a:pt x="0" y="0"/>
                </a:moveTo>
                <a:lnTo>
                  <a:pt x="1281595" y="45046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0C090373-0E03-2243-047A-D5D6024F2BA0}"/>
              </a:ext>
            </a:extLst>
          </p:cNvPr>
          <p:cNvSpPr txBox="1"/>
          <p:nvPr/>
        </p:nvSpPr>
        <p:spPr>
          <a:xfrm>
            <a:off x="1852860" y="2276339"/>
            <a:ext cx="132442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255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73BDF9F-2C3C-CD72-793B-18E0D10FD378}"/>
              </a:ext>
            </a:extLst>
          </p:cNvPr>
          <p:cNvSpPr/>
          <p:nvPr/>
        </p:nvSpPr>
        <p:spPr>
          <a:xfrm>
            <a:off x="990600" y="1900730"/>
            <a:ext cx="1337812" cy="566486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2588365F-E2A8-FE4C-5203-7ED07B158249}"/>
              </a:ext>
            </a:extLst>
          </p:cNvPr>
          <p:cNvSpPr txBox="1"/>
          <p:nvPr/>
        </p:nvSpPr>
        <p:spPr>
          <a:xfrm>
            <a:off x="164470" y="2471330"/>
            <a:ext cx="1532611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dirty="0">
              <a:latin typeface="Arial"/>
              <a:cs typeface="Arial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60784518-A15F-A116-AA78-3A32BC4CD588}"/>
              </a:ext>
            </a:extLst>
          </p:cNvPr>
          <p:cNvSpPr/>
          <p:nvPr/>
        </p:nvSpPr>
        <p:spPr>
          <a:xfrm>
            <a:off x="2360073" y="1908147"/>
            <a:ext cx="383127" cy="368192"/>
          </a:xfrm>
          <a:custGeom>
            <a:avLst/>
            <a:gdLst/>
            <a:ahLst/>
            <a:cxnLst/>
            <a:rect l="l" t="t" r="r" b="b"/>
            <a:pathLst>
              <a:path w="915034" h="432435">
                <a:moveTo>
                  <a:pt x="0" y="0"/>
                </a:moveTo>
                <a:lnTo>
                  <a:pt x="914704" y="43221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FDC07E06-CE4A-8DB1-7952-C51D946F8EE0}"/>
              </a:ext>
            </a:extLst>
          </p:cNvPr>
          <p:cNvSpPr txBox="1"/>
          <p:nvPr/>
        </p:nvSpPr>
        <p:spPr>
          <a:xfrm>
            <a:off x="1581617" y="3130939"/>
            <a:ext cx="1337812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3F7F0873-2870-DEAB-0225-828659979863}"/>
              </a:ext>
            </a:extLst>
          </p:cNvPr>
          <p:cNvSpPr/>
          <p:nvPr/>
        </p:nvSpPr>
        <p:spPr>
          <a:xfrm>
            <a:off x="329485" y="2839204"/>
            <a:ext cx="638090" cy="513595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8EB758CD-D554-4FA0-3797-2AE3663EC8C3}"/>
              </a:ext>
            </a:extLst>
          </p:cNvPr>
          <p:cNvSpPr/>
          <p:nvPr/>
        </p:nvSpPr>
        <p:spPr>
          <a:xfrm>
            <a:off x="972983" y="2830924"/>
            <a:ext cx="1251218" cy="300015"/>
          </a:xfrm>
          <a:custGeom>
            <a:avLst/>
            <a:gdLst/>
            <a:ahLst/>
            <a:cxnLst/>
            <a:rect l="l" t="t" r="r" b="b"/>
            <a:pathLst>
              <a:path w="929640" h="392429">
                <a:moveTo>
                  <a:pt x="0" y="0"/>
                </a:moveTo>
                <a:lnTo>
                  <a:pt x="929640" y="392061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F3711DD-BE18-DEE5-79C0-2190C7859FB3}"/>
              </a:ext>
            </a:extLst>
          </p:cNvPr>
          <p:cNvSpPr txBox="1"/>
          <p:nvPr/>
        </p:nvSpPr>
        <p:spPr>
          <a:xfrm>
            <a:off x="51589" y="3352799"/>
            <a:ext cx="1272615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= 4</a:t>
            </a:r>
            <a:endParaRPr dirty="0">
              <a:latin typeface="Arial"/>
              <a:cs typeface="Arial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FE692599-5F7E-F806-C768-90235701355A}"/>
              </a:ext>
            </a:extLst>
          </p:cNvPr>
          <p:cNvSpPr txBox="1"/>
          <p:nvPr/>
        </p:nvSpPr>
        <p:spPr>
          <a:xfrm>
            <a:off x="3676930" y="1306576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3" name="object 24">
            <a:extLst>
              <a:ext uri="{FF2B5EF4-FFF2-40B4-BE49-F238E27FC236}">
                <a16:creationId xmlns:a16="http://schemas.microsoft.com/office/drawing/2014/main" id="{61881236-64E6-79B1-389F-BE3FA5475050}"/>
              </a:ext>
            </a:extLst>
          </p:cNvPr>
          <p:cNvSpPr txBox="1"/>
          <p:nvPr/>
        </p:nvSpPr>
        <p:spPr>
          <a:xfrm>
            <a:off x="2515072" y="1946029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1EAF0CC3-5DB7-544D-ED30-2221FE0CBA3D}"/>
              </a:ext>
            </a:extLst>
          </p:cNvPr>
          <p:cNvSpPr txBox="1"/>
          <p:nvPr/>
        </p:nvSpPr>
        <p:spPr>
          <a:xfrm>
            <a:off x="1645986" y="2775704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60048-0CD0-7D43-2B8F-EDC724A8C468}"/>
              </a:ext>
            </a:extLst>
          </p:cNvPr>
          <p:cNvSpPr txBox="1"/>
          <p:nvPr/>
        </p:nvSpPr>
        <p:spPr>
          <a:xfrm>
            <a:off x="2406495" y="1240826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5571D-0856-78B1-A817-DACA553E07A6}"/>
              </a:ext>
            </a:extLst>
          </p:cNvPr>
          <p:cNvSpPr txBox="1"/>
          <p:nvPr/>
        </p:nvSpPr>
        <p:spPr>
          <a:xfrm>
            <a:off x="1198729" y="1985050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DB3F51-B2B6-3929-CF84-B8D72C68F272}"/>
              </a:ext>
            </a:extLst>
          </p:cNvPr>
          <p:cNvSpPr txBox="1"/>
          <p:nvPr/>
        </p:nvSpPr>
        <p:spPr>
          <a:xfrm>
            <a:off x="204679" y="2872537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9026011-E2B6-E7E1-4D93-C3A06D9D9DBD}"/>
              </a:ext>
            </a:extLst>
          </p:cNvPr>
          <p:cNvSpPr/>
          <p:nvPr/>
        </p:nvSpPr>
        <p:spPr>
          <a:xfrm>
            <a:off x="5674747" y="4781019"/>
            <a:ext cx="1066800" cy="1328092"/>
          </a:xfrm>
          <a:custGeom>
            <a:avLst/>
            <a:gdLst/>
            <a:ahLst/>
            <a:cxnLst/>
            <a:rect l="l" t="t" r="r" b="b"/>
            <a:pathLst>
              <a:path w="779780" h="716279">
                <a:moveTo>
                  <a:pt x="779780" y="0"/>
                </a:moveTo>
                <a:lnTo>
                  <a:pt x="0" y="0"/>
                </a:lnTo>
                <a:lnTo>
                  <a:pt x="0" y="716064"/>
                </a:lnTo>
                <a:lnTo>
                  <a:pt x="779780" y="716064"/>
                </a:lnTo>
                <a:lnTo>
                  <a:pt x="779780" y="0"/>
                </a:lnTo>
                <a:close/>
              </a:path>
            </a:pathLst>
          </a:custGeom>
          <a:solidFill>
            <a:srgbClr val="40AD49">
              <a:alpha val="19999"/>
            </a:srgbClr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DA29683D-C2C1-29FB-00F4-CC746AE580CE}"/>
              </a:ext>
            </a:extLst>
          </p:cNvPr>
          <p:cNvSpPr/>
          <p:nvPr/>
        </p:nvSpPr>
        <p:spPr>
          <a:xfrm>
            <a:off x="5742676" y="5676347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5DBBF-FD66-87C1-0E71-ED353506F67A}"/>
              </a:ext>
            </a:extLst>
          </p:cNvPr>
          <p:cNvSpPr txBox="1"/>
          <p:nvPr/>
        </p:nvSpPr>
        <p:spPr>
          <a:xfrm>
            <a:off x="6657076" y="5568401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= $141,902</a:t>
            </a:r>
          </a:p>
        </p:txBody>
      </p:sp>
    </p:spTree>
    <p:extLst>
      <p:ext uri="{BB962C8B-B14F-4D97-AF65-F5344CB8AC3E}">
        <p14:creationId xmlns:p14="http://schemas.microsoft.com/office/powerpoint/2010/main" val="301414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5" grpId="0" animBg="1"/>
      <p:bldP spid="44" grpId="0"/>
      <p:bldP spid="48" grpId="0"/>
      <p:bldP spid="2" grpId="0" animBg="1"/>
      <p:bldP spid="4" grpId="0" animBg="1"/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EF3C57D1-09A1-B67D-BC21-E5A371E5495A}"/>
              </a:ext>
            </a:extLst>
          </p:cNvPr>
          <p:cNvGrpSpPr/>
          <p:nvPr/>
        </p:nvGrpSpPr>
        <p:grpSpPr>
          <a:xfrm>
            <a:off x="3068139" y="677800"/>
            <a:ext cx="1682393" cy="305969"/>
            <a:chOff x="2660650" y="2218692"/>
            <a:chExt cx="2451100" cy="4457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F1323E2D-1C1B-B76E-E851-1234FCE47A79}"/>
                </a:ext>
              </a:extLst>
            </p:cNvPr>
            <p:cNvSpPr/>
            <p:nvPr/>
          </p:nvSpPr>
          <p:spPr>
            <a:xfrm>
              <a:off x="2667000" y="2225042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73FD695F-A83B-5076-356A-A35167542FE7}"/>
                </a:ext>
              </a:extLst>
            </p:cNvPr>
            <p:cNvSpPr/>
            <p:nvPr/>
          </p:nvSpPr>
          <p:spPr>
            <a:xfrm>
              <a:off x="3926340" y="2225042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033B3B-B2DB-33E8-CDD6-0FCEEEE4972C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1898ACC8-A7A1-7BD7-4211-C00522988534}"/>
              </a:ext>
            </a:extLst>
          </p:cNvPr>
          <p:cNvSpPr txBox="1"/>
          <p:nvPr/>
        </p:nvSpPr>
        <p:spPr>
          <a:xfrm>
            <a:off x="3622525" y="1604246"/>
            <a:ext cx="148287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7BE1705-2EA6-FC52-F105-5588A7C9AA23}"/>
              </a:ext>
            </a:extLst>
          </p:cNvPr>
          <p:cNvSpPr/>
          <p:nvPr/>
        </p:nvSpPr>
        <p:spPr>
          <a:xfrm>
            <a:off x="2455091" y="1289254"/>
            <a:ext cx="745309" cy="301174"/>
          </a:xfrm>
          <a:custGeom>
            <a:avLst/>
            <a:gdLst/>
            <a:ahLst/>
            <a:cxnLst/>
            <a:rect l="l" t="t" r="r" b="b"/>
            <a:pathLst>
              <a:path w="1085850" h="438785">
                <a:moveTo>
                  <a:pt x="0" y="438696"/>
                </a:moveTo>
                <a:lnTo>
                  <a:pt x="1085850" y="0"/>
                </a:lnTo>
              </a:path>
            </a:pathLst>
          </a:custGeom>
          <a:ln w="1269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0C14BDD-CC28-445E-2FF2-BF114DDDDCC6}"/>
              </a:ext>
            </a:extLst>
          </p:cNvPr>
          <p:cNvSpPr txBox="1"/>
          <p:nvPr/>
        </p:nvSpPr>
        <p:spPr>
          <a:xfrm>
            <a:off x="1474140" y="1561878"/>
            <a:ext cx="1624698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E7E02FB9-3585-D0F2-E3B5-B886DA3FA055}"/>
              </a:ext>
            </a:extLst>
          </p:cNvPr>
          <p:cNvSpPr/>
          <p:nvPr/>
        </p:nvSpPr>
        <p:spPr>
          <a:xfrm>
            <a:off x="3177285" y="1285113"/>
            <a:ext cx="879988" cy="309456"/>
          </a:xfrm>
          <a:custGeom>
            <a:avLst/>
            <a:gdLst/>
            <a:ahLst/>
            <a:cxnLst/>
            <a:rect l="l" t="t" r="r" b="b"/>
            <a:pathLst>
              <a:path w="1282064" h="450850">
                <a:moveTo>
                  <a:pt x="0" y="0"/>
                </a:moveTo>
                <a:lnTo>
                  <a:pt x="1281595" y="45046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0C090373-0E03-2243-047A-D5D6024F2BA0}"/>
              </a:ext>
            </a:extLst>
          </p:cNvPr>
          <p:cNvSpPr txBox="1"/>
          <p:nvPr/>
        </p:nvSpPr>
        <p:spPr>
          <a:xfrm>
            <a:off x="1852860" y="2276339"/>
            <a:ext cx="132442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255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73BDF9F-2C3C-CD72-793B-18E0D10FD378}"/>
              </a:ext>
            </a:extLst>
          </p:cNvPr>
          <p:cNvSpPr/>
          <p:nvPr/>
        </p:nvSpPr>
        <p:spPr>
          <a:xfrm>
            <a:off x="990600" y="1900730"/>
            <a:ext cx="1337812" cy="566486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2588365F-E2A8-FE4C-5203-7ED07B158249}"/>
              </a:ext>
            </a:extLst>
          </p:cNvPr>
          <p:cNvSpPr txBox="1"/>
          <p:nvPr/>
        </p:nvSpPr>
        <p:spPr>
          <a:xfrm>
            <a:off x="164470" y="2471330"/>
            <a:ext cx="1532611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dirty="0">
              <a:latin typeface="Arial"/>
              <a:cs typeface="Arial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60784518-A15F-A116-AA78-3A32BC4CD588}"/>
              </a:ext>
            </a:extLst>
          </p:cNvPr>
          <p:cNvSpPr/>
          <p:nvPr/>
        </p:nvSpPr>
        <p:spPr>
          <a:xfrm>
            <a:off x="2360073" y="1908147"/>
            <a:ext cx="383127" cy="368192"/>
          </a:xfrm>
          <a:custGeom>
            <a:avLst/>
            <a:gdLst/>
            <a:ahLst/>
            <a:cxnLst/>
            <a:rect l="l" t="t" r="r" b="b"/>
            <a:pathLst>
              <a:path w="915034" h="432435">
                <a:moveTo>
                  <a:pt x="0" y="0"/>
                </a:moveTo>
                <a:lnTo>
                  <a:pt x="914704" y="43221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FDC07E06-CE4A-8DB1-7952-C51D946F8EE0}"/>
              </a:ext>
            </a:extLst>
          </p:cNvPr>
          <p:cNvSpPr txBox="1"/>
          <p:nvPr/>
        </p:nvSpPr>
        <p:spPr>
          <a:xfrm>
            <a:off x="1581617" y="3130939"/>
            <a:ext cx="1337812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3F7F0873-2870-DEAB-0225-828659979863}"/>
              </a:ext>
            </a:extLst>
          </p:cNvPr>
          <p:cNvSpPr/>
          <p:nvPr/>
        </p:nvSpPr>
        <p:spPr>
          <a:xfrm>
            <a:off x="329485" y="2839204"/>
            <a:ext cx="638090" cy="513595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8EB758CD-D554-4FA0-3797-2AE3663EC8C3}"/>
              </a:ext>
            </a:extLst>
          </p:cNvPr>
          <p:cNvSpPr/>
          <p:nvPr/>
        </p:nvSpPr>
        <p:spPr>
          <a:xfrm>
            <a:off x="972983" y="2830924"/>
            <a:ext cx="1251218" cy="300015"/>
          </a:xfrm>
          <a:custGeom>
            <a:avLst/>
            <a:gdLst/>
            <a:ahLst/>
            <a:cxnLst/>
            <a:rect l="l" t="t" r="r" b="b"/>
            <a:pathLst>
              <a:path w="929640" h="392429">
                <a:moveTo>
                  <a:pt x="0" y="0"/>
                </a:moveTo>
                <a:lnTo>
                  <a:pt x="929640" y="392061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F3711DD-BE18-DEE5-79C0-2190C7859FB3}"/>
              </a:ext>
            </a:extLst>
          </p:cNvPr>
          <p:cNvSpPr txBox="1"/>
          <p:nvPr/>
        </p:nvSpPr>
        <p:spPr>
          <a:xfrm>
            <a:off x="51589" y="3352799"/>
            <a:ext cx="1272615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= 4</a:t>
            </a:r>
            <a:endParaRPr dirty="0">
              <a:latin typeface="Arial"/>
              <a:cs typeface="Arial"/>
            </a:endParaRPr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C139C79E-50FB-BCDE-9001-B6C21403FA34}"/>
              </a:ext>
            </a:extLst>
          </p:cNvPr>
          <p:cNvSpPr txBox="1"/>
          <p:nvPr/>
        </p:nvSpPr>
        <p:spPr>
          <a:xfrm>
            <a:off x="15967" y="4092082"/>
            <a:ext cx="1336230" cy="328936"/>
          </a:xfrm>
          <a:prstGeom prst="rect">
            <a:avLst/>
          </a:prstGeom>
          <a:solidFill>
            <a:srgbClr val="40AD49"/>
          </a:solidFill>
          <a:ln>
            <a:noFill/>
          </a:ln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97EFF9-0686-9CB2-460F-15916CF451FA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84082" y="3681735"/>
            <a:ext cx="3815" cy="410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FE692599-5F7E-F806-C768-90235701355A}"/>
              </a:ext>
            </a:extLst>
          </p:cNvPr>
          <p:cNvSpPr txBox="1"/>
          <p:nvPr/>
        </p:nvSpPr>
        <p:spPr>
          <a:xfrm>
            <a:off x="3676930" y="1306576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3" name="object 24">
            <a:extLst>
              <a:ext uri="{FF2B5EF4-FFF2-40B4-BE49-F238E27FC236}">
                <a16:creationId xmlns:a16="http://schemas.microsoft.com/office/drawing/2014/main" id="{61881236-64E6-79B1-389F-BE3FA5475050}"/>
              </a:ext>
            </a:extLst>
          </p:cNvPr>
          <p:cNvSpPr txBox="1"/>
          <p:nvPr/>
        </p:nvSpPr>
        <p:spPr>
          <a:xfrm>
            <a:off x="2515072" y="1946029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1EAF0CC3-5DB7-544D-ED30-2221FE0CBA3D}"/>
              </a:ext>
            </a:extLst>
          </p:cNvPr>
          <p:cNvSpPr txBox="1"/>
          <p:nvPr/>
        </p:nvSpPr>
        <p:spPr>
          <a:xfrm>
            <a:off x="1645986" y="2775704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509829BF-6501-9BEF-B809-5E11A6FBA8D8}"/>
              </a:ext>
            </a:extLst>
          </p:cNvPr>
          <p:cNvSpPr txBox="1"/>
          <p:nvPr/>
        </p:nvSpPr>
        <p:spPr>
          <a:xfrm>
            <a:off x="758014" y="3736927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60048-0CD0-7D43-2B8F-EDC724A8C468}"/>
              </a:ext>
            </a:extLst>
          </p:cNvPr>
          <p:cNvSpPr txBox="1"/>
          <p:nvPr/>
        </p:nvSpPr>
        <p:spPr>
          <a:xfrm>
            <a:off x="2406495" y="1240826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5571D-0856-78B1-A817-DACA553E07A6}"/>
              </a:ext>
            </a:extLst>
          </p:cNvPr>
          <p:cNvSpPr txBox="1"/>
          <p:nvPr/>
        </p:nvSpPr>
        <p:spPr>
          <a:xfrm>
            <a:off x="1198729" y="1985050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DB3F51-B2B6-3929-CF84-B8D72C68F272}"/>
              </a:ext>
            </a:extLst>
          </p:cNvPr>
          <p:cNvSpPr txBox="1"/>
          <p:nvPr/>
        </p:nvSpPr>
        <p:spPr>
          <a:xfrm>
            <a:off x="204679" y="2872537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B3BBF34-9756-DFAB-A400-C98CA3449209}"/>
              </a:ext>
            </a:extLst>
          </p:cNvPr>
          <p:cNvSpPr/>
          <p:nvPr/>
        </p:nvSpPr>
        <p:spPr>
          <a:xfrm>
            <a:off x="5294010" y="5486400"/>
            <a:ext cx="380737" cy="635702"/>
          </a:xfrm>
          <a:custGeom>
            <a:avLst/>
            <a:gdLst/>
            <a:ahLst/>
            <a:cxnLst/>
            <a:rect l="l" t="t" r="r" b="b"/>
            <a:pathLst>
              <a:path w="779780" h="716279">
                <a:moveTo>
                  <a:pt x="779780" y="0"/>
                </a:moveTo>
                <a:lnTo>
                  <a:pt x="0" y="0"/>
                </a:lnTo>
                <a:lnTo>
                  <a:pt x="0" y="716064"/>
                </a:lnTo>
                <a:lnTo>
                  <a:pt x="779780" y="716064"/>
                </a:lnTo>
                <a:lnTo>
                  <a:pt x="779780" y="0"/>
                </a:lnTo>
                <a:close/>
              </a:path>
            </a:pathLst>
          </a:custGeom>
          <a:solidFill>
            <a:srgbClr val="40AD49">
              <a:alpha val="19999"/>
            </a:srgbClr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FDF75C83-7EAE-72C0-7DD7-68F037DA0612}"/>
              </a:ext>
            </a:extLst>
          </p:cNvPr>
          <p:cNvSpPr/>
          <p:nvPr/>
        </p:nvSpPr>
        <p:spPr>
          <a:xfrm>
            <a:off x="5266760" y="5793270"/>
            <a:ext cx="533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01966-641F-F051-67B4-CFC0ADAF891F}"/>
              </a:ext>
            </a:extLst>
          </p:cNvPr>
          <p:cNvSpPr txBox="1"/>
          <p:nvPr/>
        </p:nvSpPr>
        <p:spPr>
          <a:xfrm>
            <a:off x="4031192" y="5607059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= $110, 470</a:t>
            </a:r>
          </a:p>
        </p:txBody>
      </p:sp>
    </p:spTree>
    <p:extLst>
      <p:ext uri="{BB962C8B-B14F-4D97-AF65-F5344CB8AC3E}">
        <p14:creationId xmlns:p14="http://schemas.microsoft.com/office/powerpoint/2010/main" val="236843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5" grpId="0"/>
      <p:bldP spid="2" grpId="0" animBg="1"/>
      <p:bldP spid="4" grpId="0" animBg="1"/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rt, scatter chart&#10;&#10;Description automatically generated">
            <a:extLst>
              <a:ext uri="{FF2B5EF4-FFF2-40B4-BE49-F238E27FC236}">
                <a16:creationId xmlns:a16="http://schemas.microsoft.com/office/drawing/2014/main" id="{A5C8FB6F-E0A3-5A7F-6C16-46E3A3CA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07" y="2159829"/>
            <a:ext cx="6199585" cy="464968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C76224-857C-299D-0A90-D996F483F032}"/>
              </a:ext>
            </a:extLst>
          </p:cNvPr>
          <p:cNvSpPr txBox="1"/>
          <p:nvPr/>
        </p:nvSpPr>
        <p:spPr>
          <a:xfrm>
            <a:off x="3200400" y="375641"/>
            <a:ext cx="1755133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 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D1BCBB-1021-4C3F-A745-AA18BAB17995}"/>
              </a:ext>
            </a:extLst>
          </p:cNvPr>
          <p:cNvSpPr txBox="1"/>
          <p:nvPr/>
        </p:nvSpPr>
        <p:spPr>
          <a:xfrm>
            <a:off x="4097654" y="990977"/>
            <a:ext cx="1297223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87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EF3C57D1-09A1-B67D-BC21-E5A371E5495A}"/>
              </a:ext>
            </a:extLst>
          </p:cNvPr>
          <p:cNvGrpSpPr/>
          <p:nvPr/>
        </p:nvGrpSpPr>
        <p:grpSpPr>
          <a:xfrm>
            <a:off x="3068139" y="677800"/>
            <a:ext cx="1682393" cy="305969"/>
            <a:chOff x="2660650" y="2218692"/>
            <a:chExt cx="2451100" cy="4457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F1323E2D-1C1B-B76E-E851-1234FCE47A79}"/>
                </a:ext>
              </a:extLst>
            </p:cNvPr>
            <p:cNvSpPr/>
            <p:nvPr/>
          </p:nvSpPr>
          <p:spPr>
            <a:xfrm>
              <a:off x="2667000" y="2225042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73FD695F-A83B-5076-356A-A35167542FE7}"/>
                </a:ext>
              </a:extLst>
            </p:cNvPr>
            <p:cNvSpPr/>
            <p:nvPr/>
          </p:nvSpPr>
          <p:spPr>
            <a:xfrm>
              <a:off x="3926340" y="2225042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033B3B-B2DB-33E8-CDD6-0FCEEEE4972C}"/>
              </a:ext>
            </a:extLst>
          </p:cNvPr>
          <p:cNvSpPr txBox="1"/>
          <p:nvPr/>
        </p:nvSpPr>
        <p:spPr>
          <a:xfrm>
            <a:off x="2391855" y="963926"/>
            <a:ext cx="1458137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1898ACC8-A7A1-7BD7-4211-C00522988534}"/>
              </a:ext>
            </a:extLst>
          </p:cNvPr>
          <p:cNvSpPr txBox="1"/>
          <p:nvPr/>
        </p:nvSpPr>
        <p:spPr>
          <a:xfrm>
            <a:off x="3622525" y="1604246"/>
            <a:ext cx="148287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7BE1705-2EA6-FC52-F105-5588A7C9AA23}"/>
              </a:ext>
            </a:extLst>
          </p:cNvPr>
          <p:cNvSpPr/>
          <p:nvPr/>
        </p:nvSpPr>
        <p:spPr>
          <a:xfrm>
            <a:off x="2455091" y="1289254"/>
            <a:ext cx="745309" cy="301174"/>
          </a:xfrm>
          <a:custGeom>
            <a:avLst/>
            <a:gdLst/>
            <a:ahLst/>
            <a:cxnLst/>
            <a:rect l="l" t="t" r="r" b="b"/>
            <a:pathLst>
              <a:path w="1085850" h="438785">
                <a:moveTo>
                  <a:pt x="0" y="438696"/>
                </a:moveTo>
                <a:lnTo>
                  <a:pt x="1085850" y="0"/>
                </a:lnTo>
              </a:path>
            </a:pathLst>
          </a:custGeom>
          <a:ln w="1269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0C14BDD-CC28-445E-2FF2-BF114DDDDCC6}"/>
              </a:ext>
            </a:extLst>
          </p:cNvPr>
          <p:cNvSpPr txBox="1"/>
          <p:nvPr/>
        </p:nvSpPr>
        <p:spPr>
          <a:xfrm>
            <a:off x="1474140" y="1561878"/>
            <a:ext cx="1624698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E7E02FB9-3585-D0F2-E3B5-B886DA3FA055}"/>
              </a:ext>
            </a:extLst>
          </p:cNvPr>
          <p:cNvSpPr/>
          <p:nvPr/>
        </p:nvSpPr>
        <p:spPr>
          <a:xfrm>
            <a:off x="3177285" y="1285113"/>
            <a:ext cx="879988" cy="309456"/>
          </a:xfrm>
          <a:custGeom>
            <a:avLst/>
            <a:gdLst/>
            <a:ahLst/>
            <a:cxnLst/>
            <a:rect l="l" t="t" r="r" b="b"/>
            <a:pathLst>
              <a:path w="1282064" h="450850">
                <a:moveTo>
                  <a:pt x="0" y="0"/>
                </a:moveTo>
                <a:lnTo>
                  <a:pt x="1281595" y="45046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0C090373-0E03-2243-047A-D5D6024F2BA0}"/>
              </a:ext>
            </a:extLst>
          </p:cNvPr>
          <p:cNvSpPr txBox="1"/>
          <p:nvPr/>
        </p:nvSpPr>
        <p:spPr>
          <a:xfrm>
            <a:off x="1852860" y="2276339"/>
            <a:ext cx="1324425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255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73BDF9F-2C3C-CD72-793B-18E0D10FD378}"/>
              </a:ext>
            </a:extLst>
          </p:cNvPr>
          <p:cNvSpPr/>
          <p:nvPr/>
        </p:nvSpPr>
        <p:spPr>
          <a:xfrm>
            <a:off x="990600" y="1900730"/>
            <a:ext cx="1337812" cy="566486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2588365F-E2A8-FE4C-5203-7ED07B158249}"/>
              </a:ext>
            </a:extLst>
          </p:cNvPr>
          <p:cNvSpPr txBox="1"/>
          <p:nvPr/>
        </p:nvSpPr>
        <p:spPr>
          <a:xfrm>
            <a:off x="164470" y="2471330"/>
            <a:ext cx="1532611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&gt;=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dirty="0">
              <a:latin typeface="Arial"/>
              <a:cs typeface="Arial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60784518-A15F-A116-AA78-3A32BC4CD588}"/>
              </a:ext>
            </a:extLst>
          </p:cNvPr>
          <p:cNvSpPr/>
          <p:nvPr/>
        </p:nvSpPr>
        <p:spPr>
          <a:xfrm>
            <a:off x="2360073" y="1908147"/>
            <a:ext cx="383127" cy="368192"/>
          </a:xfrm>
          <a:custGeom>
            <a:avLst/>
            <a:gdLst/>
            <a:ahLst/>
            <a:cxnLst/>
            <a:rect l="l" t="t" r="r" b="b"/>
            <a:pathLst>
              <a:path w="915034" h="432435">
                <a:moveTo>
                  <a:pt x="0" y="0"/>
                </a:moveTo>
                <a:lnTo>
                  <a:pt x="914704" y="43221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FDC07E06-CE4A-8DB1-7952-C51D946F8EE0}"/>
              </a:ext>
            </a:extLst>
          </p:cNvPr>
          <p:cNvSpPr txBox="1"/>
          <p:nvPr/>
        </p:nvSpPr>
        <p:spPr>
          <a:xfrm>
            <a:off x="1581617" y="3130939"/>
            <a:ext cx="1337812" cy="328936"/>
          </a:xfrm>
          <a:prstGeom prst="rect">
            <a:avLst/>
          </a:prstGeom>
          <a:solidFill>
            <a:srgbClr val="40AD49"/>
          </a:solidFill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3F7F0873-2870-DEAB-0225-828659979863}"/>
              </a:ext>
            </a:extLst>
          </p:cNvPr>
          <p:cNvSpPr/>
          <p:nvPr/>
        </p:nvSpPr>
        <p:spPr>
          <a:xfrm>
            <a:off x="329485" y="2839204"/>
            <a:ext cx="638090" cy="513595"/>
          </a:xfrm>
          <a:custGeom>
            <a:avLst/>
            <a:gdLst/>
            <a:ahLst/>
            <a:cxnLst/>
            <a:rect l="l" t="t" r="r" b="b"/>
            <a:pathLst>
              <a:path w="1244600" h="380364">
                <a:moveTo>
                  <a:pt x="0" y="379907"/>
                </a:moveTo>
                <a:lnTo>
                  <a:pt x="1244168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8EB758CD-D554-4FA0-3797-2AE3663EC8C3}"/>
              </a:ext>
            </a:extLst>
          </p:cNvPr>
          <p:cNvSpPr/>
          <p:nvPr/>
        </p:nvSpPr>
        <p:spPr>
          <a:xfrm>
            <a:off x="972983" y="2830924"/>
            <a:ext cx="1251218" cy="300015"/>
          </a:xfrm>
          <a:custGeom>
            <a:avLst/>
            <a:gdLst/>
            <a:ahLst/>
            <a:cxnLst/>
            <a:rect l="l" t="t" r="r" b="b"/>
            <a:pathLst>
              <a:path w="929640" h="392429">
                <a:moveTo>
                  <a:pt x="0" y="0"/>
                </a:moveTo>
                <a:lnTo>
                  <a:pt x="929640" y="392061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74633-B561-7596-2E1A-9A6661EF16FC}"/>
              </a:ext>
            </a:extLst>
          </p:cNvPr>
          <p:cNvSpPr txBox="1"/>
          <p:nvPr/>
        </p:nvSpPr>
        <p:spPr>
          <a:xfrm>
            <a:off x="4585485" y="690181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F3711DD-BE18-DEE5-79C0-2190C7859FB3}"/>
              </a:ext>
            </a:extLst>
          </p:cNvPr>
          <p:cNvSpPr txBox="1"/>
          <p:nvPr/>
        </p:nvSpPr>
        <p:spPr>
          <a:xfrm>
            <a:off x="51589" y="3352799"/>
            <a:ext cx="1272615" cy="328936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= 4</a:t>
            </a:r>
            <a:endParaRPr dirty="0">
              <a:latin typeface="Arial"/>
              <a:cs typeface="Arial"/>
            </a:endParaRPr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C139C79E-50FB-BCDE-9001-B6C21403FA34}"/>
              </a:ext>
            </a:extLst>
          </p:cNvPr>
          <p:cNvSpPr txBox="1"/>
          <p:nvPr/>
        </p:nvSpPr>
        <p:spPr>
          <a:xfrm>
            <a:off x="15967" y="4092082"/>
            <a:ext cx="1336230" cy="328936"/>
          </a:xfrm>
          <a:prstGeom prst="rect">
            <a:avLst/>
          </a:prstGeom>
          <a:solidFill>
            <a:srgbClr val="40AD49"/>
          </a:solidFill>
          <a:ln>
            <a:noFill/>
          </a:ln>
        </p:spPr>
        <p:txBody>
          <a:bodyPr vert="horz" wrap="square" lIns="0" tIns="514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value: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b="1" spc="-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97EFF9-0686-9CB2-460F-15916CF451FA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84082" y="3681735"/>
            <a:ext cx="3815" cy="410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bject 3">
            <a:extLst>
              <a:ext uri="{FF2B5EF4-FFF2-40B4-BE49-F238E27FC236}">
                <a16:creationId xmlns:a16="http://schemas.microsoft.com/office/drawing/2014/main" id="{346D9253-FC9A-1538-9B6B-09F05601F4AE}"/>
              </a:ext>
            </a:extLst>
          </p:cNvPr>
          <p:cNvSpPr txBox="1">
            <a:spLocks/>
          </p:cNvSpPr>
          <p:nvPr/>
        </p:nvSpPr>
        <p:spPr>
          <a:xfrm>
            <a:off x="5674747" y="748889"/>
            <a:ext cx="312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kern="0" spc="20" dirty="0">
                <a:solidFill>
                  <a:srgbClr val="0070C0"/>
                </a:solidFill>
              </a:rPr>
              <a:t>Decision</a:t>
            </a:r>
            <a:r>
              <a:rPr lang="en-US" sz="3600" b="1" kern="0" spc="10" dirty="0">
                <a:solidFill>
                  <a:srgbClr val="0070C0"/>
                </a:solidFill>
              </a:rPr>
              <a:t> </a:t>
            </a:r>
            <a:r>
              <a:rPr lang="en-US" sz="3600" b="1" kern="0" spc="-55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CD9B6-72B7-A355-605C-341850732BF0}"/>
              </a:ext>
            </a:extLst>
          </p:cNvPr>
          <p:cNvSpPr txBox="1"/>
          <p:nvPr/>
        </p:nvSpPr>
        <p:spPr>
          <a:xfrm>
            <a:off x="2799308" y="617012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FE692599-5F7E-F806-C768-90235701355A}"/>
              </a:ext>
            </a:extLst>
          </p:cNvPr>
          <p:cNvSpPr txBox="1"/>
          <p:nvPr/>
        </p:nvSpPr>
        <p:spPr>
          <a:xfrm>
            <a:off x="3676930" y="1306576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3" name="object 24">
            <a:extLst>
              <a:ext uri="{FF2B5EF4-FFF2-40B4-BE49-F238E27FC236}">
                <a16:creationId xmlns:a16="http://schemas.microsoft.com/office/drawing/2014/main" id="{61881236-64E6-79B1-389F-BE3FA5475050}"/>
              </a:ext>
            </a:extLst>
          </p:cNvPr>
          <p:cNvSpPr txBox="1"/>
          <p:nvPr/>
        </p:nvSpPr>
        <p:spPr>
          <a:xfrm>
            <a:off x="2515072" y="1946029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1EAF0CC3-5DB7-544D-ED30-2221FE0CBA3D}"/>
              </a:ext>
            </a:extLst>
          </p:cNvPr>
          <p:cNvSpPr txBox="1"/>
          <p:nvPr/>
        </p:nvSpPr>
        <p:spPr>
          <a:xfrm>
            <a:off x="1645986" y="2775704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509829BF-6501-9BEF-B809-5E11A6FBA8D8}"/>
              </a:ext>
            </a:extLst>
          </p:cNvPr>
          <p:cNvSpPr txBox="1"/>
          <p:nvPr/>
        </p:nvSpPr>
        <p:spPr>
          <a:xfrm>
            <a:off x="758014" y="3736927"/>
            <a:ext cx="70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</a:tabLst>
            </a:pPr>
            <a:r>
              <a:rPr b="1" spc="-114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b="1" dirty="0">
                <a:solidFill>
                  <a:srgbClr val="00B050"/>
                </a:solidFill>
                <a:latin typeface="Arial"/>
                <a:cs typeface="Arial"/>
              </a:rPr>
              <a:t>es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60048-0CD0-7D43-2B8F-EDC724A8C468}"/>
              </a:ext>
            </a:extLst>
          </p:cNvPr>
          <p:cNvSpPr txBox="1"/>
          <p:nvPr/>
        </p:nvSpPr>
        <p:spPr>
          <a:xfrm>
            <a:off x="2406495" y="1240826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5571D-0856-78B1-A817-DACA553E07A6}"/>
              </a:ext>
            </a:extLst>
          </p:cNvPr>
          <p:cNvSpPr txBox="1"/>
          <p:nvPr/>
        </p:nvSpPr>
        <p:spPr>
          <a:xfrm>
            <a:off x="1198729" y="1985050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DB3F51-B2B6-3929-CF84-B8D72C68F272}"/>
              </a:ext>
            </a:extLst>
          </p:cNvPr>
          <p:cNvSpPr txBox="1"/>
          <p:nvPr/>
        </p:nvSpPr>
        <p:spPr>
          <a:xfrm>
            <a:off x="204679" y="2872537"/>
            <a:ext cx="55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5" dirty="0">
                <a:solidFill>
                  <a:srgbClr val="D77E47"/>
                </a:solidFill>
                <a:latin typeface="Arial"/>
                <a:cs typeface="Arial"/>
              </a:rPr>
              <a:t>No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6D1D9-BB89-B902-E58E-B5B6B9DB35FB}"/>
              </a:ext>
            </a:extLst>
          </p:cNvPr>
          <p:cNvSpPr txBox="1"/>
          <p:nvPr/>
        </p:nvSpPr>
        <p:spPr>
          <a:xfrm>
            <a:off x="88712" y="5034512"/>
            <a:ext cx="27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5" dirty="0">
                <a:solidFill>
                  <a:srgbClr val="00B050"/>
                </a:solidFill>
                <a:latin typeface="Bradley Hand" pitchFamily="2" charset="77"/>
                <a:cs typeface="Aharoni" panose="020B0604020202020204" pitchFamily="2" charset="-79"/>
              </a:rPr>
              <a:t>Let’s plant a tree!</a:t>
            </a:r>
            <a:endParaRPr lang="en-US" sz="2800" dirty="0">
              <a:solidFill>
                <a:srgbClr val="00B050"/>
              </a:solidFill>
              <a:latin typeface="Bradley Hand" pitchFamily="2" charset="77"/>
              <a:cs typeface="Aharoni" panose="020B0604020202020204" pitchFamily="2" charset="-79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FDF75C83-7EAE-72C0-7DD7-68F037DA0612}"/>
              </a:ext>
            </a:extLst>
          </p:cNvPr>
          <p:cNvSpPr/>
          <p:nvPr/>
        </p:nvSpPr>
        <p:spPr>
          <a:xfrm>
            <a:off x="5266760" y="5793270"/>
            <a:ext cx="533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AB7BA18-32A2-ADAD-DA40-9A680C7C5150}"/>
              </a:ext>
            </a:extLst>
          </p:cNvPr>
          <p:cNvSpPr/>
          <p:nvPr/>
        </p:nvSpPr>
        <p:spPr>
          <a:xfrm>
            <a:off x="5742676" y="5676347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6C42B4CA-A037-ED42-41FA-B4F7B0578F32}"/>
              </a:ext>
            </a:extLst>
          </p:cNvPr>
          <p:cNvSpPr/>
          <p:nvPr/>
        </p:nvSpPr>
        <p:spPr>
          <a:xfrm>
            <a:off x="6997363" y="4899954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C40069FE-41AE-0F61-B92A-6EEE1BF2B011}"/>
              </a:ext>
            </a:extLst>
          </p:cNvPr>
          <p:cNvSpPr/>
          <p:nvPr/>
        </p:nvSpPr>
        <p:spPr>
          <a:xfrm>
            <a:off x="8048191" y="3724686"/>
            <a:ext cx="914400" cy="45719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E02CEFC8-61E8-1E19-AF15-4B109B538242}"/>
              </a:ext>
            </a:extLst>
          </p:cNvPr>
          <p:cNvSpPr/>
          <p:nvPr/>
        </p:nvSpPr>
        <p:spPr>
          <a:xfrm>
            <a:off x="4501530" y="5970274"/>
            <a:ext cx="792480" cy="0"/>
          </a:xfrm>
          <a:custGeom>
            <a:avLst/>
            <a:gdLst/>
            <a:ahLst/>
            <a:cxnLst/>
            <a:rect l="l" t="t" r="r" b="b"/>
            <a:pathLst>
              <a:path w="792480">
                <a:moveTo>
                  <a:pt x="0" y="0"/>
                </a:moveTo>
                <a:lnTo>
                  <a:pt x="792480" y="0"/>
                </a:lnTo>
              </a:path>
            </a:pathLst>
          </a:custGeom>
          <a:ln w="25400">
            <a:solidFill>
              <a:srgbClr val="D223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0384B2-7212-CADD-E7C5-EBD9BDFCC3B2}"/>
              </a:ext>
            </a:extLst>
          </p:cNvPr>
          <p:cNvCxnSpPr/>
          <p:nvPr/>
        </p:nvCxnSpPr>
        <p:spPr>
          <a:xfrm flipV="1">
            <a:off x="4876800" y="5838989"/>
            <a:ext cx="609600" cy="131285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1692C3-5DFA-51E7-AE17-38015EB089BF}"/>
              </a:ext>
            </a:extLst>
          </p:cNvPr>
          <p:cNvCxnSpPr>
            <a:cxnSpLocks/>
          </p:cNvCxnSpPr>
          <p:nvPr/>
        </p:nvCxnSpPr>
        <p:spPr>
          <a:xfrm flipV="1">
            <a:off x="5495360" y="5692026"/>
            <a:ext cx="829240" cy="101243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85DFE1-DFD7-EEC9-0272-851AAF9ED278}"/>
              </a:ext>
            </a:extLst>
          </p:cNvPr>
          <p:cNvCxnSpPr>
            <a:cxnSpLocks/>
          </p:cNvCxnSpPr>
          <p:nvPr/>
        </p:nvCxnSpPr>
        <p:spPr>
          <a:xfrm flipV="1">
            <a:off x="6324600" y="4899954"/>
            <a:ext cx="1129963" cy="739337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3D7EA0-50C2-5760-9AAD-86EEC8E5EC39}"/>
              </a:ext>
            </a:extLst>
          </p:cNvPr>
          <p:cNvCxnSpPr>
            <a:cxnSpLocks/>
          </p:cNvCxnSpPr>
          <p:nvPr/>
        </p:nvCxnSpPr>
        <p:spPr>
          <a:xfrm flipV="1">
            <a:off x="7454563" y="3747545"/>
            <a:ext cx="1100847" cy="1152409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33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73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0" dirty="0">
                <a:solidFill>
                  <a:srgbClr val="3369E8"/>
                </a:solidFill>
              </a:rPr>
              <a:t>Decision</a:t>
            </a:r>
            <a:r>
              <a:rPr spc="10" dirty="0">
                <a:solidFill>
                  <a:srgbClr val="3369E8"/>
                </a:solidFill>
              </a:rPr>
              <a:t> </a:t>
            </a:r>
            <a:r>
              <a:rPr spc="-55" dirty="0">
                <a:solidFill>
                  <a:srgbClr val="3369E8"/>
                </a:solidFill>
              </a:rPr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1C91E-F937-10EF-1F7C-CC7A6476611E}"/>
              </a:ext>
            </a:extLst>
          </p:cNvPr>
          <p:cNvSpPr txBox="1"/>
          <p:nvPr/>
        </p:nvSpPr>
        <p:spPr>
          <a:xfrm>
            <a:off x="1100124" y="1828800"/>
            <a:ext cx="74568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Two essential things in decision tree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determining which features to split on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deciding when to stop splitting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A865C-A596-CCFB-09B0-4F13737E6F1D}"/>
              </a:ext>
            </a:extLst>
          </p:cNvPr>
          <p:cNvSpPr txBox="1"/>
          <p:nvPr/>
        </p:nvSpPr>
        <p:spPr>
          <a:xfrm>
            <a:off x="1100124" y="3810000"/>
            <a:ext cx="745688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Hyperparameters contain the data that govern the training process itself.</a:t>
            </a: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Hyperparameters in decision tree regressor:</a:t>
            </a:r>
          </a:p>
          <a:p>
            <a:pPr lvl="1">
              <a:buClr>
                <a:srgbClr val="4F81BD"/>
              </a:buClr>
            </a:pP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riterion, splitter, </a:t>
            </a:r>
            <a:r>
              <a:rPr lang="en-US" sz="16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max_depth</a:t>
            </a:r>
            <a:r>
              <a:rPr lang="en-US" sz="16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min_samples_split</a:t>
            </a:r>
            <a:r>
              <a:rPr lang="en-US" sz="16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min_samples_leaf</a:t>
            </a:r>
            <a:r>
              <a:rPr lang="en-US" sz="16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max_features</a:t>
            </a:r>
            <a:r>
              <a:rPr lang="en-US" sz="16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……</a:t>
            </a:r>
          </a:p>
        </p:txBody>
      </p:sp>
    </p:spTree>
    <p:extLst>
      <p:ext uri="{BB962C8B-B14F-4D97-AF65-F5344CB8AC3E}">
        <p14:creationId xmlns:p14="http://schemas.microsoft.com/office/powerpoint/2010/main" val="41403010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6494145" cy="38454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Overfitting</a:t>
            </a:r>
            <a:r>
              <a:rPr sz="2400" dirty="0">
                <a:solidFill>
                  <a:srgbClr val="D77E4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refers to a model that </a:t>
            </a: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fits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 training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well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715" algn="just">
              <a:lnSpc>
                <a:spcPct val="15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Overfitting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happens when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 model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detail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noise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training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extent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negatively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impacts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performance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5" dirty="0">
                <a:latin typeface="Arial"/>
                <a:cs typeface="Arial"/>
              </a:rPr>
              <a:t> on new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data.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512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37452482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7083425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Random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forest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supervised</a:t>
            </a:r>
            <a:r>
              <a:rPr sz="2400" spc="-1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08D00"/>
                </a:solidFill>
                <a:latin typeface="Arial"/>
                <a:cs typeface="Arial"/>
              </a:rPr>
              <a:t>learning</a:t>
            </a:r>
            <a:r>
              <a:rPr sz="2400" spc="-1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algorithm.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635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"forest"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builds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ensembl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2400" spc="-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08D00"/>
                </a:solidFill>
                <a:latin typeface="Arial"/>
                <a:cs typeface="Arial"/>
              </a:rPr>
              <a:t>decisio</a:t>
            </a: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n</a:t>
            </a:r>
            <a:r>
              <a:rPr sz="2400" spc="-15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trees 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trained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with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F08D00"/>
                </a:solidFill>
                <a:latin typeface="Arial"/>
                <a:cs typeface="Arial"/>
              </a:rPr>
              <a:t>bootstrap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”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method.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The intuition behind the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random</a:t>
            </a:r>
            <a:r>
              <a:rPr sz="2400" spc="-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forest</a:t>
            </a:r>
            <a:r>
              <a:rPr sz="2400" spc="-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2400" spc="-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combination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models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increases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overall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result.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447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Create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bootstrapped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dataset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Random</a:t>
            </a:r>
            <a:r>
              <a:rPr sz="3600" spc="-5" dirty="0">
                <a:solidFill>
                  <a:srgbClr val="3369E8"/>
                </a:solidFill>
                <a:latin typeface="Verdana"/>
                <a:cs typeface="Verdana"/>
              </a:rPr>
              <a:t> </a:t>
            </a:r>
            <a:r>
              <a:rPr sz="3600" spc="20" dirty="0">
                <a:solidFill>
                  <a:srgbClr val="3369E8"/>
                </a:solidFill>
                <a:latin typeface="Verdana"/>
                <a:cs typeface="Verdana"/>
              </a:rPr>
              <a:t>Forest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76894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74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C6957-E48A-C3F0-8B8E-207EC0ACB3FA}"/>
              </a:ext>
            </a:extLst>
          </p:cNvPr>
          <p:cNvCxnSpPr/>
          <p:nvPr/>
        </p:nvCxnSpPr>
        <p:spPr>
          <a:xfrm>
            <a:off x="4224019" y="3276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2492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75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C6957-E48A-C3F0-8B8E-207EC0ACB3FA}"/>
              </a:ext>
            </a:extLst>
          </p:cNvPr>
          <p:cNvCxnSpPr/>
          <p:nvPr/>
        </p:nvCxnSpPr>
        <p:spPr>
          <a:xfrm>
            <a:off x="4224019" y="3276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83C215-53BD-6BDF-6846-77BD20952B16}"/>
              </a:ext>
            </a:extLst>
          </p:cNvPr>
          <p:cNvCxnSpPr/>
          <p:nvPr/>
        </p:nvCxnSpPr>
        <p:spPr>
          <a:xfrm flipV="1">
            <a:off x="4224019" y="3810000"/>
            <a:ext cx="68326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5629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76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C6957-E48A-C3F0-8B8E-207EC0ACB3FA}"/>
              </a:ext>
            </a:extLst>
          </p:cNvPr>
          <p:cNvCxnSpPr/>
          <p:nvPr/>
        </p:nvCxnSpPr>
        <p:spPr>
          <a:xfrm>
            <a:off x="4224019" y="3276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83C215-53BD-6BDF-6846-77BD20952B16}"/>
              </a:ext>
            </a:extLst>
          </p:cNvPr>
          <p:cNvCxnSpPr/>
          <p:nvPr/>
        </p:nvCxnSpPr>
        <p:spPr>
          <a:xfrm flipV="1">
            <a:off x="4224019" y="3810000"/>
            <a:ext cx="68326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72AAD3-1067-4C84-7057-07AE51E7C86A}"/>
              </a:ext>
            </a:extLst>
          </p:cNvPr>
          <p:cNvCxnSpPr/>
          <p:nvPr/>
        </p:nvCxnSpPr>
        <p:spPr>
          <a:xfrm>
            <a:off x="4224019" y="3276600"/>
            <a:ext cx="68326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5793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77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C6957-E48A-C3F0-8B8E-207EC0ACB3FA}"/>
              </a:ext>
            </a:extLst>
          </p:cNvPr>
          <p:cNvCxnSpPr/>
          <p:nvPr/>
        </p:nvCxnSpPr>
        <p:spPr>
          <a:xfrm>
            <a:off x="4224019" y="3276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83C215-53BD-6BDF-6846-77BD20952B16}"/>
              </a:ext>
            </a:extLst>
          </p:cNvPr>
          <p:cNvCxnSpPr/>
          <p:nvPr/>
        </p:nvCxnSpPr>
        <p:spPr>
          <a:xfrm flipV="1">
            <a:off x="4224019" y="3810000"/>
            <a:ext cx="68326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72AAD3-1067-4C84-7057-07AE51E7C86A}"/>
              </a:ext>
            </a:extLst>
          </p:cNvPr>
          <p:cNvCxnSpPr/>
          <p:nvPr/>
        </p:nvCxnSpPr>
        <p:spPr>
          <a:xfrm>
            <a:off x="4224019" y="3276600"/>
            <a:ext cx="68326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A08A4F-4633-23B9-7CD8-53D85E69FCCE}"/>
              </a:ext>
            </a:extLst>
          </p:cNvPr>
          <p:cNvCxnSpPr/>
          <p:nvPr/>
        </p:nvCxnSpPr>
        <p:spPr>
          <a:xfrm>
            <a:off x="4224019" y="4800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7341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78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2545079"/>
          <a:ext cx="3690619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House</a:t>
                      </a:r>
                    </a:p>
                    <a:p>
                      <a:pPr marL="50800" marR="2349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  <a:p>
                      <a:pPr marL="50800" marR="120014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lang="en-US" sz="16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>
                          <a:latin typeface="Arial"/>
                          <a:cs typeface="Arial"/>
                        </a:rPr>
                        <a:t>Total</a:t>
                      </a:r>
                    </a:p>
                    <a:p>
                      <a:pPr marL="50800">
                        <a:lnSpc>
                          <a:spcPts val="1885"/>
                        </a:lnSpc>
                      </a:pPr>
                      <a:r>
                        <a:rPr lang="en-US" sz="1600" dirty="0" err="1">
                          <a:latin typeface="Arial"/>
                          <a:cs typeface="Arial"/>
                        </a:rPr>
                        <a:t>sqft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Obs.	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9" y="2545079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5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5060" y="2010232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08D00"/>
                </a:solidFill>
                <a:latin typeface="Arial"/>
                <a:cs typeface="Arial"/>
              </a:rPr>
              <a:t>Original</a:t>
            </a:r>
            <a:r>
              <a:rPr sz="1800" b="1" spc="-8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08D00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420" y="2010232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C6957-E48A-C3F0-8B8E-207EC0ACB3FA}"/>
              </a:ext>
            </a:extLst>
          </p:cNvPr>
          <p:cNvCxnSpPr/>
          <p:nvPr/>
        </p:nvCxnSpPr>
        <p:spPr>
          <a:xfrm>
            <a:off x="4224019" y="3276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83C215-53BD-6BDF-6846-77BD20952B16}"/>
              </a:ext>
            </a:extLst>
          </p:cNvPr>
          <p:cNvCxnSpPr/>
          <p:nvPr/>
        </p:nvCxnSpPr>
        <p:spPr>
          <a:xfrm flipV="1">
            <a:off x="4224019" y="3810000"/>
            <a:ext cx="68326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72AAD3-1067-4C84-7057-07AE51E7C86A}"/>
              </a:ext>
            </a:extLst>
          </p:cNvPr>
          <p:cNvCxnSpPr/>
          <p:nvPr/>
        </p:nvCxnSpPr>
        <p:spPr>
          <a:xfrm>
            <a:off x="4224019" y="3276600"/>
            <a:ext cx="68326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A08A4F-4633-23B9-7CD8-53D85E69FCCE}"/>
              </a:ext>
            </a:extLst>
          </p:cNvPr>
          <p:cNvCxnSpPr/>
          <p:nvPr/>
        </p:nvCxnSpPr>
        <p:spPr>
          <a:xfrm>
            <a:off x="4224019" y="4800600"/>
            <a:ext cx="683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B1B7F2-F87B-DC50-D232-5A9FCF91CEF3}"/>
              </a:ext>
            </a:extLst>
          </p:cNvPr>
          <p:cNvCxnSpPr/>
          <p:nvPr/>
        </p:nvCxnSpPr>
        <p:spPr>
          <a:xfrm>
            <a:off x="4224019" y="4343400"/>
            <a:ext cx="68326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5284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649160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1790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Create</a:t>
            </a:r>
            <a:r>
              <a:rPr sz="2400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bootstrapped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dataset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buAutoNum type="arabicPeriod"/>
              <a:tabLst>
                <a:tab pos="346075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Create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decision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tree</a:t>
            </a:r>
            <a:r>
              <a:rPr sz="24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using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bootstrapped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dataset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us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random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subset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2400" spc="-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variables 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step.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2240" y="1891087"/>
            <a:ext cx="239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Bootstrapped</a:t>
            </a:r>
            <a:r>
              <a:rPr sz="1800" b="1" spc="-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5439" y="2057400"/>
            <a:ext cx="1600200" cy="641842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13335" rIns="0" bIns="0" rtlCol="0">
            <a:spAutoFit/>
          </a:bodyPr>
          <a:lstStyle/>
          <a:p>
            <a:pPr marL="354965" marR="347345">
              <a:lnSpc>
                <a:spcPct val="100000"/>
              </a:lnSpc>
              <a:spcBef>
                <a:spcPts val="105"/>
              </a:spcBef>
            </a:pPr>
            <a:r>
              <a:rPr lang="en-US" sz="2000" b="1" spc="-5" dirty="0">
                <a:solidFill>
                  <a:srgbClr val="FFFFFF"/>
                </a:solidFill>
                <a:latin typeface="Arial"/>
                <a:cs typeface="Arial"/>
              </a:rPr>
              <a:t>Overall</a:t>
            </a:r>
          </a:p>
          <a:p>
            <a:pPr marL="354965" marR="347345">
              <a:lnSpc>
                <a:spcPct val="100000"/>
              </a:lnSpc>
              <a:spcBef>
                <a:spcPts val="105"/>
              </a:spcBef>
            </a:pPr>
            <a:r>
              <a:rPr lang="en-US" sz="2000" b="1" spc="-5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9079" y="2706371"/>
            <a:ext cx="3343910" cy="871855"/>
            <a:chOff x="259079" y="2706371"/>
            <a:chExt cx="3343910" cy="871855"/>
          </a:xfrm>
        </p:grpSpPr>
        <p:sp>
          <p:nvSpPr>
            <p:cNvPr id="7" name="object 7"/>
            <p:cNvSpPr/>
            <p:nvPr/>
          </p:nvSpPr>
          <p:spPr>
            <a:xfrm>
              <a:off x="1158240" y="2712721"/>
              <a:ext cx="1257300" cy="426720"/>
            </a:xfrm>
            <a:custGeom>
              <a:avLst/>
              <a:gdLst/>
              <a:ahLst/>
              <a:cxnLst/>
              <a:rect l="l" t="t" r="r" b="b"/>
              <a:pathLst>
                <a:path w="1257300" h="426719">
                  <a:moveTo>
                    <a:pt x="1257300" y="0"/>
                  </a:moveTo>
                  <a:lnTo>
                    <a:pt x="0" y="42672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17580" y="2712721"/>
              <a:ext cx="1179195" cy="433070"/>
            </a:xfrm>
            <a:custGeom>
              <a:avLst/>
              <a:gdLst/>
              <a:ahLst/>
              <a:cxnLst/>
              <a:rect l="l" t="t" r="r" b="b"/>
              <a:pathLst>
                <a:path w="1179195" h="433069">
                  <a:moveTo>
                    <a:pt x="0" y="0"/>
                  </a:moveTo>
                  <a:lnTo>
                    <a:pt x="1179055" y="432727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079" y="3151416"/>
              <a:ext cx="1463040" cy="426720"/>
            </a:xfrm>
            <a:custGeom>
              <a:avLst/>
              <a:gdLst/>
              <a:ahLst/>
              <a:cxnLst/>
              <a:rect l="l" t="t" r="r" b="b"/>
              <a:pathLst>
                <a:path w="1463039" h="426720">
                  <a:moveTo>
                    <a:pt x="1463039" y="0"/>
                  </a:moveTo>
                  <a:lnTo>
                    <a:pt x="0" y="0"/>
                  </a:lnTo>
                  <a:lnTo>
                    <a:pt x="0" y="426720"/>
                  </a:lnTo>
                  <a:lnTo>
                    <a:pt x="1463039" y="42672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43200" y="3151416"/>
            <a:ext cx="1600200" cy="359714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51435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405"/>
              </a:spcBef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Total </a:t>
            </a:r>
            <a:r>
              <a:rPr lang="en-US" sz="2000" b="1" dirty="0" err="1">
                <a:solidFill>
                  <a:srgbClr val="FFFFFF"/>
                </a:solidFill>
                <a:latin typeface="Arial"/>
                <a:cs typeface="Arial"/>
              </a:rPr>
              <a:t>sqft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44066" y="3565897"/>
            <a:ext cx="2333625" cy="936625"/>
            <a:chOff x="1544066" y="3565897"/>
            <a:chExt cx="2333625" cy="936625"/>
          </a:xfrm>
        </p:grpSpPr>
        <p:sp>
          <p:nvSpPr>
            <p:cNvPr id="12" name="object 12"/>
            <p:cNvSpPr/>
            <p:nvPr/>
          </p:nvSpPr>
          <p:spPr>
            <a:xfrm>
              <a:off x="1544066" y="4016832"/>
              <a:ext cx="1463040" cy="426720"/>
            </a:xfrm>
            <a:custGeom>
              <a:avLst/>
              <a:gdLst/>
              <a:ahLst/>
              <a:cxnLst/>
              <a:rect l="l" t="t" r="r" b="b"/>
              <a:pathLst>
                <a:path w="1463039" h="426720">
                  <a:moveTo>
                    <a:pt x="1463040" y="0"/>
                  </a:moveTo>
                  <a:lnTo>
                    <a:pt x="0" y="0"/>
                  </a:lnTo>
                  <a:lnTo>
                    <a:pt x="0" y="426719"/>
                  </a:lnTo>
                  <a:lnTo>
                    <a:pt x="1463040" y="426719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46960" y="3578130"/>
              <a:ext cx="1085850" cy="438784"/>
            </a:xfrm>
            <a:custGeom>
              <a:avLst/>
              <a:gdLst/>
              <a:ahLst/>
              <a:cxnLst/>
              <a:rect l="l" t="t" r="r" b="b"/>
              <a:pathLst>
                <a:path w="1085850" h="438785">
                  <a:moveTo>
                    <a:pt x="0" y="438696"/>
                  </a:moveTo>
                  <a:lnTo>
                    <a:pt x="1085850" y="0"/>
                  </a:lnTo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43300" y="3572247"/>
              <a:ext cx="327660" cy="923925"/>
            </a:xfrm>
            <a:custGeom>
              <a:avLst/>
              <a:gdLst/>
              <a:ahLst/>
              <a:cxnLst/>
              <a:rect l="l" t="t" r="r" b="b"/>
              <a:pathLst>
                <a:path w="327660" h="923925">
                  <a:moveTo>
                    <a:pt x="0" y="0"/>
                  </a:moveTo>
                  <a:lnTo>
                    <a:pt x="327660" y="923556"/>
                  </a:lnTo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34765" y="4513795"/>
            <a:ext cx="1009015" cy="561340"/>
          </a:xfrm>
          <a:prstGeom prst="rect">
            <a:avLst/>
          </a:prstGeom>
          <a:solidFill>
            <a:srgbClr val="00A0F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ouse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ts val="228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96628" y="5068565"/>
            <a:ext cx="1575435" cy="585470"/>
            <a:chOff x="2996628" y="5068565"/>
            <a:chExt cx="1575435" cy="585470"/>
          </a:xfrm>
        </p:grpSpPr>
        <p:sp>
          <p:nvSpPr>
            <p:cNvPr id="17" name="object 17"/>
            <p:cNvSpPr/>
            <p:nvPr/>
          </p:nvSpPr>
          <p:spPr>
            <a:xfrm>
              <a:off x="2996628" y="5303113"/>
              <a:ext cx="676275" cy="350520"/>
            </a:xfrm>
            <a:custGeom>
              <a:avLst/>
              <a:gdLst/>
              <a:ahLst/>
              <a:cxnLst/>
              <a:rect l="l" t="t" r="r" b="b"/>
              <a:pathLst>
                <a:path w="676275" h="350520">
                  <a:moveTo>
                    <a:pt x="676275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676275" y="35052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8042" y="5074915"/>
              <a:ext cx="471170" cy="228600"/>
            </a:xfrm>
            <a:custGeom>
              <a:avLst/>
              <a:gdLst/>
              <a:ahLst/>
              <a:cxnLst/>
              <a:rect l="l" t="t" r="r" b="b"/>
              <a:pathLst>
                <a:path w="471170" h="228600">
                  <a:moveTo>
                    <a:pt x="471043" y="0"/>
                  </a:moveTo>
                  <a:lnTo>
                    <a:pt x="0" y="2282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95725" y="5303113"/>
              <a:ext cx="676275" cy="350520"/>
            </a:xfrm>
            <a:custGeom>
              <a:avLst/>
              <a:gdLst/>
              <a:ahLst/>
              <a:cxnLst/>
              <a:rect l="l" t="t" r="r" b="b"/>
              <a:pathLst>
                <a:path w="676275" h="350520">
                  <a:moveTo>
                    <a:pt x="676275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676275" y="35052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1854" y="5074915"/>
              <a:ext cx="425450" cy="228600"/>
            </a:xfrm>
            <a:custGeom>
              <a:avLst/>
              <a:gdLst/>
              <a:ahLst/>
              <a:cxnLst/>
              <a:rect l="l" t="t" r="r" b="b"/>
              <a:pathLst>
                <a:path w="425450" h="228600">
                  <a:moveTo>
                    <a:pt x="0" y="0"/>
                  </a:moveTo>
                  <a:lnTo>
                    <a:pt x="425348" y="2282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8869" y="4853361"/>
            <a:ext cx="1931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only use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a random </a:t>
            </a:r>
            <a:r>
              <a:rPr sz="1800" spc="-4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subset</a:t>
            </a:r>
            <a:r>
              <a:rPr sz="18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variables </a:t>
            </a:r>
            <a:r>
              <a:rPr sz="1800" spc="-4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each</a:t>
            </a:r>
            <a:r>
              <a:rPr sz="18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80</a:t>
            </a:fld>
            <a:endParaRPr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D75A77-5996-4A6D-F7B3-045ED7C1919E}"/>
              </a:ext>
            </a:extLst>
          </p:cNvPr>
          <p:cNvGraphicFramePr>
            <a:graphicFrameLocks noGrp="1"/>
          </p:cNvGraphicFramePr>
          <p:nvPr/>
        </p:nvGraphicFramePr>
        <p:xfrm>
          <a:off x="5038391" y="2614986"/>
          <a:ext cx="3690619" cy="308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1485646736"/>
                    </a:ext>
                  </a:extLst>
                </a:gridCol>
                <a:gridCol w="707391">
                  <a:extLst>
                    <a:ext uri="{9D8B030D-6E8A-4147-A177-3AD203B41FA5}">
                      <a16:colId xmlns:a16="http://schemas.microsoft.com/office/drawing/2014/main" val="297956587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24946969"/>
                    </a:ext>
                  </a:extLst>
                </a:gridCol>
                <a:gridCol w="1130298">
                  <a:extLst>
                    <a:ext uri="{9D8B030D-6E8A-4147-A177-3AD203B41FA5}">
                      <a16:colId xmlns:a16="http://schemas.microsoft.com/office/drawing/2014/main" val="2567954219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House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2010"/>
                        </a:lnSpc>
                      </a:pPr>
                      <a:r>
                        <a:rPr lang="en-US" sz="1800" dirty="0" err="1">
                          <a:latin typeface="Times New Roman"/>
                          <a:cs typeface="Times New Roman"/>
                        </a:rPr>
                        <a:t>sqft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17178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1901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57157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40647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  <a:tabLst>
                          <a:tab pos="660400" algn="l"/>
                        </a:tabLst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98436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5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4369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6111240"/>
            <a:ext cx="733193" cy="69595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01040" y="838200"/>
            <a:ext cx="2549525" cy="2209800"/>
            <a:chOff x="701040" y="838200"/>
            <a:chExt cx="2549525" cy="2209800"/>
          </a:xfrm>
        </p:grpSpPr>
        <p:sp>
          <p:nvSpPr>
            <p:cNvPr id="4" name="object 4"/>
            <p:cNvSpPr/>
            <p:nvPr/>
          </p:nvSpPr>
          <p:spPr>
            <a:xfrm>
              <a:off x="1502702" y="838200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3361" y="1243180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80" h="257809">
                  <a:moveTo>
                    <a:pt x="741349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77737" y="1243154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1040" y="1510449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69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69248" y="1510449"/>
              <a:ext cx="946150" cy="262255"/>
            </a:xfrm>
            <a:custGeom>
              <a:avLst/>
              <a:gdLst/>
              <a:ahLst/>
              <a:cxnLst/>
              <a:rect l="l" t="t" r="r" b="b"/>
              <a:pathLst>
                <a:path w="946150" h="262255">
                  <a:moveTo>
                    <a:pt x="945781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945781" y="262204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0512" y="2042223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69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36081" y="1774893"/>
              <a:ext cx="640080" cy="265430"/>
            </a:xfrm>
            <a:custGeom>
              <a:avLst/>
              <a:gdLst/>
              <a:ahLst/>
              <a:cxnLst/>
              <a:rect l="l" t="t" r="r" b="b"/>
              <a:pathLst>
                <a:path w="640080" h="265430">
                  <a:moveTo>
                    <a:pt x="0" y="265074"/>
                  </a:moveTo>
                  <a:lnTo>
                    <a:pt x="6397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44626" y="1769739"/>
              <a:ext cx="189230" cy="566420"/>
            </a:xfrm>
            <a:custGeom>
              <a:avLst/>
              <a:gdLst/>
              <a:ahLst/>
              <a:cxnLst/>
              <a:rect l="l" t="t" r="r" b="b"/>
              <a:pathLst>
                <a:path w="189230" h="566419">
                  <a:moveTo>
                    <a:pt x="0" y="0"/>
                  </a:moveTo>
                  <a:lnTo>
                    <a:pt x="188683" y="56608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8892" y="2347594"/>
              <a:ext cx="596265" cy="344805"/>
            </a:xfrm>
            <a:custGeom>
              <a:avLst/>
              <a:gdLst/>
              <a:ahLst/>
              <a:cxnLst/>
              <a:rect l="l" t="t" r="r" b="b"/>
              <a:pathLst>
                <a:path w="596264" h="344805">
                  <a:moveTo>
                    <a:pt x="596138" y="0"/>
                  </a:moveTo>
                  <a:lnTo>
                    <a:pt x="0" y="0"/>
                  </a:lnTo>
                  <a:lnTo>
                    <a:pt x="0" y="344792"/>
                  </a:lnTo>
                  <a:lnTo>
                    <a:pt x="596138" y="344792"/>
                  </a:lnTo>
                  <a:lnTo>
                    <a:pt x="596138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19032" y="2832607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4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4" h="215900">
                  <a:moveTo>
                    <a:pt x="931100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00" y="215392"/>
                  </a:lnTo>
                  <a:lnTo>
                    <a:pt x="931100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9719" y="2694583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19866" y="2694520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19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649160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1790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Create</a:t>
            </a:r>
            <a:r>
              <a:rPr sz="2400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bootstrapped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dataset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buAutoNum type="arabicPeriod"/>
              <a:tabLst>
                <a:tab pos="346075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Create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decision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tree</a:t>
            </a:r>
            <a:r>
              <a:rPr sz="2400" spc="-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using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bootstrapped </a:t>
            </a:r>
            <a:r>
              <a:rPr sz="2400" spc="-6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dataset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,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bu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y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us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e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random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subset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f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variables 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at</a:t>
            </a:r>
            <a:r>
              <a:rPr sz="24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step.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351155" indent="-339090" algn="just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Repeat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"many"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times.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" y="6350"/>
            <a:ext cx="9125902" cy="1587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6111240"/>
            <a:ext cx="733193" cy="69595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1040" y="838200"/>
            <a:ext cx="2549525" cy="2209800"/>
            <a:chOff x="701040" y="838200"/>
            <a:chExt cx="2549525" cy="2209800"/>
          </a:xfrm>
        </p:grpSpPr>
        <p:sp>
          <p:nvSpPr>
            <p:cNvPr id="7" name="object 7"/>
            <p:cNvSpPr/>
            <p:nvPr/>
          </p:nvSpPr>
          <p:spPr>
            <a:xfrm>
              <a:off x="1502702" y="838200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3361" y="1243180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80" h="257809">
                  <a:moveTo>
                    <a:pt x="741349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77737" y="1243154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040" y="1510449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69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9248" y="1510449"/>
              <a:ext cx="946150" cy="262255"/>
            </a:xfrm>
            <a:custGeom>
              <a:avLst/>
              <a:gdLst/>
              <a:ahLst/>
              <a:cxnLst/>
              <a:rect l="l" t="t" r="r" b="b"/>
              <a:pathLst>
                <a:path w="946150" h="262255">
                  <a:moveTo>
                    <a:pt x="945781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945781" y="262204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60512" y="2042223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69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36081" y="1774893"/>
              <a:ext cx="640080" cy="265430"/>
            </a:xfrm>
            <a:custGeom>
              <a:avLst/>
              <a:gdLst/>
              <a:ahLst/>
              <a:cxnLst/>
              <a:rect l="l" t="t" r="r" b="b"/>
              <a:pathLst>
                <a:path w="640080" h="265430">
                  <a:moveTo>
                    <a:pt x="0" y="265074"/>
                  </a:moveTo>
                  <a:lnTo>
                    <a:pt x="6397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44626" y="1769739"/>
              <a:ext cx="189230" cy="566420"/>
            </a:xfrm>
            <a:custGeom>
              <a:avLst/>
              <a:gdLst/>
              <a:ahLst/>
              <a:cxnLst/>
              <a:rect l="l" t="t" r="r" b="b"/>
              <a:pathLst>
                <a:path w="189230" h="566419">
                  <a:moveTo>
                    <a:pt x="0" y="0"/>
                  </a:moveTo>
                  <a:lnTo>
                    <a:pt x="188683" y="56608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8892" y="2347594"/>
              <a:ext cx="596265" cy="344805"/>
            </a:xfrm>
            <a:custGeom>
              <a:avLst/>
              <a:gdLst/>
              <a:ahLst/>
              <a:cxnLst/>
              <a:rect l="l" t="t" r="r" b="b"/>
              <a:pathLst>
                <a:path w="596264" h="344805">
                  <a:moveTo>
                    <a:pt x="596138" y="0"/>
                  </a:moveTo>
                  <a:lnTo>
                    <a:pt x="0" y="0"/>
                  </a:lnTo>
                  <a:lnTo>
                    <a:pt x="0" y="344792"/>
                  </a:lnTo>
                  <a:lnTo>
                    <a:pt x="596138" y="344792"/>
                  </a:lnTo>
                  <a:lnTo>
                    <a:pt x="596138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19032" y="2832607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4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4" h="215900">
                  <a:moveTo>
                    <a:pt x="931100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00" y="215392"/>
                  </a:lnTo>
                  <a:lnTo>
                    <a:pt x="931100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9719" y="2694583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19866" y="2694520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19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561854" y="887806"/>
            <a:ext cx="2845435" cy="1510030"/>
            <a:chOff x="3561854" y="887806"/>
            <a:chExt cx="2845435" cy="1510030"/>
          </a:xfrm>
        </p:grpSpPr>
        <p:sp>
          <p:nvSpPr>
            <p:cNvPr id="20" name="object 20"/>
            <p:cNvSpPr/>
            <p:nvPr/>
          </p:nvSpPr>
          <p:spPr>
            <a:xfrm>
              <a:off x="4653076" y="887806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3726" y="1292795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09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28115" y="1292771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1414" y="1560067"/>
              <a:ext cx="2414270" cy="262255"/>
            </a:xfrm>
            <a:custGeom>
              <a:avLst/>
              <a:gdLst/>
              <a:ahLst/>
              <a:cxnLst/>
              <a:rect l="l" t="t" r="r" b="b"/>
              <a:pathLst>
                <a:path w="24142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  <a:path w="2414270" h="262255">
                  <a:moveTo>
                    <a:pt x="2413990" y="0"/>
                  </a:moveTo>
                  <a:lnTo>
                    <a:pt x="1468208" y="0"/>
                  </a:lnTo>
                  <a:lnTo>
                    <a:pt x="1468208" y="262204"/>
                  </a:lnTo>
                  <a:lnTo>
                    <a:pt x="2413990" y="262204"/>
                  </a:lnTo>
                  <a:lnTo>
                    <a:pt x="2413990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61854" y="2135009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97838" y="1827533"/>
              <a:ext cx="446405" cy="302260"/>
            </a:xfrm>
            <a:custGeom>
              <a:avLst/>
              <a:gdLst/>
              <a:ahLst/>
              <a:cxnLst/>
              <a:rect l="l" t="t" r="r" b="b"/>
              <a:pathLst>
                <a:path w="446404" h="302260">
                  <a:moveTo>
                    <a:pt x="0" y="302209"/>
                  </a:moveTo>
                  <a:lnTo>
                    <a:pt x="446252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75605" y="1960765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13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13" y="215392"/>
                  </a:lnTo>
                  <a:lnTo>
                    <a:pt x="931113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96287" y="1822747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76434" y="1822686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727266" y="973924"/>
            <a:ext cx="2079625" cy="1008380"/>
            <a:chOff x="6727266" y="973924"/>
            <a:chExt cx="2079625" cy="1008380"/>
          </a:xfrm>
        </p:grpSpPr>
        <p:sp>
          <p:nvSpPr>
            <p:cNvPr id="30" name="object 30"/>
            <p:cNvSpPr/>
            <p:nvPr/>
          </p:nvSpPr>
          <p:spPr>
            <a:xfrm>
              <a:off x="7565034" y="973924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95686" y="1378911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10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27266" y="1642516"/>
              <a:ext cx="2079625" cy="339725"/>
            </a:xfrm>
            <a:custGeom>
              <a:avLst/>
              <a:gdLst/>
              <a:ahLst/>
              <a:cxnLst/>
              <a:rect l="l" t="t" r="r" b="b"/>
              <a:pathLst>
                <a:path w="2079625" h="33972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  <a:path w="2079625" h="339725">
                  <a:moveTo>
                    <a:pt x="2079320" y="56984"/>
                  </a:moveTo>
                  <a:lnTo>
                    <a:pt x="1534934" y="56984"/>
                  </a:lnTo>
                  <a:lnTo>
                    <a:pt x="1534934" y="339280"/>
                  </a:lnTo>
                  <a:lnTo>
                    <a:pt x="2079320" y="339280"/>
                  </a:lnTo>
                  <a:lnTo>
                    <a:pt x="2079320" y="56984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96406" y="1381559"/>
              <a:ext cx="410845" cy="328295"/>
            </a:xfrm>
            <a:custGeom>
              <a:avLst/>
              <a:gdLst/>
              <a:ahLst/>
              <a:cxnLst/>
              <a:rect l="l" t="t" r="r" b="b"/>
              <a:pathLst>
                <a:path w="410845" h="328294">
                  <a:moveTo>
                    <a:pt x="0" y="0"/>
                  </a:moveTo>
                  <a:lnTo>
                    <a:pt x="410438" y="32825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666875" y="3728211"/>
            <a:ext cx="2555240" cy="2193290"/>
            <a:chOff x="1666875" y="3728211"/>
            <a:chExt cx="2555240" cy="2193290"/>
          </a:xfrm>
        </p:grpSpPr>
        <p:sp>
          <p:nvSpPr>
            <p:cNvPr id="35" name="object 35"/>
            <p:cNvSpPr/>
            <p:nvPr/>
          </p:nvSpPr>
          <p:spPr>
            <a:xfrm>
              <a:off x="2846806" y="3728211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77467" y="4133198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10">
                  <a:moveTo>
                    <a:pt x="741349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21842" y="4133174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20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57003" y="4400461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4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58695" y="4395546"/>
              <a:ext cx="946150" cy="262255"/>
            </a:xfrm>
            <a:custGeom>
              <a:avLst/>
              <a:gdLst/>
              <a:ahLst/>
              <a:cxnLst/>
              <a:rect l="l" t="t" r="r" b="b"/>
              <a:pathLst>
                <a:path w="946150" h="262254">
                  <a:moveTo>
                    <a:pt x="945781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945781" y="262204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66875" y="4916385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69" h="262254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73107" y="4661291"/>
              <a:ext cx="640080" cy="265430"/>
            </a:xfrm>
            <a:custGeom>
              <a:avLst/>
              <a:gdLst/>
              <a:ahLst/>
              <a:cxnLst/>
              <a:rect l="l" t="t" r="r" b="b"/>
              <a:pathLst>
                <a:path w="640080" h="265429">
                  <a:moveTo>
                    <a:pt x="0" y="265074"/>
                  </a:moveTo>
                  <a:lnTo>
                    <a:pt x="6397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21291" y="4649191"/>
              <a:ext cx="189230" cy="566420"/>
            </a:xfrm>
            <a:custGeom>
              <a:avLst/>
              <a:gdLst/>
              <a:ahLst/>
              <a:cxnLst/>
              <a:rect l="l" t="t" r="r" b="b"/>
              <a:pathLst>
                <a:path w="189230" h="566420">
                  <a:moveTo>
                    <a:pt x="0" y="0"/>
                  </a:moveTo>
                  <a:lnTo>
                    <a:pt x="188683" y="56608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15272" y="5217299"/>
              <a:ext cx="596265" cy="344805"/>
            </a:xfrm>
            <a:custGeom>
              <a:avLst/>
              <a:gdLst/>
              <a:ahLst/>
              <a:cxnLst/>
              <a:rect l="l" t="t" r="r" b="b"/>
              <a:pathLst>
                <a:path w="596264" h="344804">
                  <a:moveTo>
                    <a:pt x="596138" y="0"/>
                  </a:moveTo>
                  <a:lnTo>
                    <a:pt x="0" y="0"/>
                  </a:lnTo>
                  <a:lnTo>
                    <a:pt x="0" y="344792"/>
                  </a:lnTo>
                  <a:lnTo>
                    <a:pt x="596138" y="344792"/>
                  </a:lnTo>
                  <a:lnTo>
                    <a:pt x="596138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47785" y="5705817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00" y="0"/>
                  </a:moveTo>
                  <a:lnTo>
                    <a:pt x="531393" y="0"/>
                  </a:lnTo>
                  <a:lnTo>
                    <a:pt x="531393" y="215392"/>
                  </a:lnTo>
                  <a:lnTo>
                    <a:pt x="931100" y="215392"/>
                  </a:lnTo>
                  <a:lnTo>
                    <a:pt x="931100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68466" y="5567784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48613" y="5567721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19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4914900" y="3639730"/>
            <a:ext cx="3301365" cy="2198370"/>
            <a:chOff x="4914900" y="3639730"/>
            <a:chExt cx="3301365" cy="2198370"/>
          </a:xfrm>
        </p:grpSpPr>
        <p:sp>
          <p:nvSpPr>
            <p:cNvPr id="48" name="object 48"/>
            <p:cNvSpPr/>
            <p:nvPr/>
          </p:nvSpPr>
          <p:spPr>
            <a:xfrm>
              <a:off x="6094831" y="3639730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25481" y="4044719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10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69870" y="4044695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20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95858" y="4311980"/>
              <a:ext cx="946150" cy="262255"/>
            </a:xfrm>
            <a:custGeom>
              <a:avLst/>
              <a:gdLst/>
              <a:ahLst/>
              <a:cxnLst/>
              <a:rect l="l" t="t" r="r" b="b"/>
              <a:pathLst>
                <a:path w="946150" h="262254">
                  <a:moveTo>
                    <a:pt x="945781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945781" y="262204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04038" y="4832832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4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10275" y="4577736"/>
              <a:ext cx="640080" cy="265430"/>
            </a:xfrm>
            <a:custGeom>
              <a:avLst/>
              <a:gdLst/>
              <a:ahLst/>
              <a:cxnLst/>
              <a:rect l="l" t="t" r="r" b="b"/>
              <a:pathLst>
                <a:path w="640079" h="265429">
                  <a:moveTo>
                    <a:pt x="0" y="265074"/>
                  </a:moveTo>
                  <a:lnTo>
                    <a:pt x="6397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58459" y="4565637"/>
              <a:ext cx="189230" cy="566420"/>
            </a:xfrm>
            <a:custGeom>
              <a:avLst/>
              <a:gdLst/>
              <a:ahLst/>
              <a:cxnLst/>
              <a:rect l="l" t="t" r="r" b="b"/>
              <a:pathLst>
                <a:path w="189229" h="566420">
                  <a:moveTo>
                    <a:pt x="0" y="0"/>
                  </a:moveTo>
                  <a:lnTo>
                    <a:pt x="188683" y="56608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52436" y="5133733"/>
              <a:ext cx="596265" cy="344805"/>
            </a:xfrm>
            <a:custGeom>
              <a:avLst/>
              <a:gdLst/>
              <a:ahLst/>
              <a:cxnLst/>
              <a:rect l="l" t="t" r="r" b="b"/>
              <a:pathLst>
                <a:path w="596265" h="344804">
                  <a:moveTo>
                    <a:pt x="596138" y="0"/>
                  </a:moveTo>
                  <a:lnTo>
                    <a:pt x="0" y="0"/>
                  </a:lnTo>
                  <a:lnTo>
                    <a:pt x="0" y="344792"/>
                  </a:lnTo>
                  <a:lnTo>
                    <a:pt x="596138" y="344792"/>
                  </a:lnTo>
                  <a:lnTo>
                    <a:pt x="596138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84948" y="5622251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13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13" y="215392"/>
                  </a:lnTo>
                  <a:lnTo>
                    <a:pt x="931113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505633" y="5484229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85780" y="5484167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06720" y="4303877"/>
              <a:ext cx="946150" cy="262255"/>
            </a:xfrm>
            <a:custGeom>
              <a:avLst/>
              <a:gdLst/>
              <a:ahLst/>
              <a:cxnLst/>
              <a:rect l="l" t="t" r="r" b="b"/>
              <a:pathLst>
                <a:path w="946150" h="262254">
                  <a:moveTo>
                    <a:pt x="945781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945781" y="262204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914900" y="4824717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4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21133" y="4569619"/>
              <a:ext cx="640080" cy="265430"/>
            </a:xfrm>
            <a:custGeom>
              <a:avLst/>
              <a:gdLst/>
              <a:ahLst/>
              <a:cxnLst/>
              <a:rect l="l" t="t" r="r" b="b"/>
              <a:pathLst>
                <a:path w="640079" h="265429">
                  <a:moveTo>
                    <a:pt x="0" y="265074"/>
                  </a:moveTo>
                  <a:lnTo>
                    <a:pt x="6397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869318" y="4557514"/>
              <a:ext cx="189230" cy="566420"/>
            </a:xfrm>
            <a:custGeom>
              <a:avLst/>
              <a:gdLst/>
              <a:ahLst/>
              <a:cxnLst/>
              <a:rect l="l" t="t" r="r" b="b"/>
              <a:pathLst>
                <a:path w="189229" h="566420">
                  <a:moveTo>
                    <a:pt x="0" y="0"/>
                  </a:moveTo>
                  <a:lnTo>
                    <a:pt x="188683" y="56608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863297" y="5125618"/>
              <a:ext cx="596265" cy="344805"/>
            </a:xfrm>
            <a:custGeom>
              <a:avLst/>
              <a:gdLst/>
              <a:ahLst/>
              <a:cxnLst/>
              <a:rect l="l" t="t" r="r" b="b"/>
              <a:pathLst>
                <a:path w="596264" h="344804">
                  <a:moveTo>
                    <a:pt x="596138" y="0"/>
                  </a:moveTo>
                  <a:lnTo>
                    <a:pt x="0" y="0"/>
                  </a:lnTo>
                  <a:lnTo>
                    <a:pt x="0" y="344792"/>
                  </a:lnTo>
                  <a:lnTo>
                    <a:pt x="596138" y="344792"/>
                  </a:lnTo>
                  <a:lnTo>
                    <a:pt x="596138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695810" y="5614148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00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00" y="215392"/>
                  </a:lnTo>
                  <a:lnTo>
                    <a:pt x="931100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16493" y="5476117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96639" y="5476055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Random</a:t>
            </a:r>
            <a:r>
              <a:rPr spc="-5" dirty="0"/>
              <a:t> </a:t>
            </a:r>
            <a:r>
              <a:rPr spc="20" dirty="0"/>
              <a:t>Forest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83</a:t>
            </a:fld>
            <a:endParaRPr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649478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1790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Create</a:t>
            </a:r>
            <a:r>
              <a:rPr sz="2400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bootstrapped</a:t>
            </a:r>
            <a:r>
              <a:rPr sz="2400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dataset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12700" marR="8255" algn="just">
              <a:lnSpc>
                <a:spcPct val="100000"/>
              </a:lnSpc>
              <a:buAutoNum type="arabicPeriod"/>
              <a:tabLst>
                <a:tab pos="346075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Create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decision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tree</a:t>
            </a:r>
            <a:r>
              <a:rPr sz="2400" spc="-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using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bootstrapped </a:t>
            </a:r>
            <a:r>
              <a:rPr sz="2400" spc="-6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dataset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,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bu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y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us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e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random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subset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f</a:t>
            </a:r>
            <a:r>
              <a:rPr sz="2400" spc="-3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variables 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at</a:t>
            </a:r>
            <a:r>
              <a:rPr sz="24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step.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351155" indent="-339090" algn="just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Repeat</a:t>
            </a:r>
            <a:r>
              <a:rPr sz="2400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step</a:t>
            </a:r>
            <a:r>
              <a:rPr sz="24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1</a:t>
            </a:r>
            <a:r>
              <a:rPr sz="24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39598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step</a:t>
            </a:r>
            <a:r>
              <a:rPr sz="24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2</a:t>
            </a:r>
            <a:r>
              <a:rPr sz="2400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many</a:t>
            </a:r>
            <a:r>
              <a:rPr sz="24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39598"/>
                </a:solidFill>
                <a:latin typeface="Arial"/>
                <a:cs typeface="Arial"/>
              </a:rPr>
              <a:t>times.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5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buAutoNum type="arabicPeriod"/>
              <a:tabLst>
                <a:tab pos="335915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Running</a:t>
            </a:r>
            <a:r>
              <a:rPr sz="2400" spc="-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through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trees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forest,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aggregated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result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decision.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42105" y="2967354"/>
          <a:ext cx="3816985" cy="3573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1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80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Housing</a:t>
                      </a:r>
                      <a:r>
                        <a:rPr sz="1800" spc="-3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Price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800" spc="-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800" spc="-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220K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800" spc="-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235K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800" spc="-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270K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50165"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800" spc="-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210K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71600" y="1636712"/>
            <a:ext cx="3703320" cy="12700"/>
            <a:chOff x="1371600" y="1636712"/>
            <a:chExt cx="3703320" cy="12700"/>
          </a:xfrm>
        </p:grpSpPr>
        <p:sp>
          <p:nvSpPr>
            <p:cNvPr id="5" name="object 5"/>
            <p:cNvSpPr/>
            <p:nvPr/>
          </p:nvSpPr>
          <p:spPr>
            <a:xfrm>
              <a:off x="1371600" y="1643062"/>
              <a:ext cx="868680" cy="0"/>
            </a:xfrm>
            <a:custGeom>
              <a:avLst/>
              <a:gdLst/>
              <a:ahLst/>
              <a:cxnLst/>
              <a:rect l="l" t="t" r="r" b="b"/>
              <a:pathLst>
                <a:path w="868680">
                  <a:moveTo>
                    <a:pt x="0" y="0"/>
                  </a:moveTo>
                  <a:lnTo>
                    <a:pt x="86868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40280" y="1643062"/>
              <a:ext cx="960119" cy="0"/>
            </a:xfrm>
            <a:custGeom>
              <a:avLst/>
              <a:gdLst/>
              <a:ahLst/>
              <a:cxnLst/>
              <a:rect l="l" t="t" r="r" b="b"/>
              <a:pathLst>
                <a:path w="960119">
                  <a:moveTo>
                    <a:pt x="0" y="0"/>
                  </a:moveTo>
                  <a:lnTo>
                    <a:pt x="960119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00400" y="1643062"/>
              <a:ext cx="732155" cy="0"/>
            </a:xfrm>
            <a:custGeom>
              <a:avLst/>
              <a:gdLst/>
              <a:ahLst/>
              <a:cxnLst/>
              <a:rect l="l" t="t" r="r" b="b"/>
              <a:pathLst>
                <a:path w="732154">
                  <a:moveTo>
                    <a:pt x="0" y="0"/>
                  </a:moveTo>
                  <a:lnTo>
                    <a:pt x="732155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2554" y="1643062"/>
              <a:ext cx="1142365" cy="0"/>
            </a:xfrm>
            <a:custGeom>
              <a:avLst/>
              <a:gdLst/>
              <a:ahLst/>
              <a:cxnLst/>
              <a:rect l="l" t="t" r="r" b="b"/>
              <a:pathLst>
                <a:path w="1142364">
                  <a:moveTo>
                    <a:pt x="0" y="0"/>
                  </a:moveTo>
                  <a:lnTo>
                    <a:pt x="1142365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71600" y="1643068"/>
          <a:ext cx="3690619" cy="1076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Total sqrt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lang="en-US"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099433" y="4016922"/>
            <a:ext cx="1634489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D2232A"/>
                </a:solidFill>
                <a:latin typeface="Arial"/>
                <a:cs typeface="Arial"/>
              </a:rPr>
              <a:t>aggregating  information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400" spc="-5" dirty="0">
                <a:solidFill>
                  <a:srgbClr val="D2232A"/>
                </a:solidFill>
                <a:latin typeface="Arial"/>
                <a:cs typeface="Arial"/>
              </a:rPr>
              <a:t>236</a:t>
            </a:r>
            <a:r>
              <a:rPr sz="2400" spc="-50" dirty="0">
                <a:solidFill>
                  <a:srgbClr val="D2232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D2232A"/>
                </a:solidFill>
                <a:latin typeface="Arial"/>
                <a:cs typeface="Arial"/>
              </a:rPr>
              <a:t>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68721" y="3794757"/>
            <a:ext cx="398780" cy="2606040"/>
          </a:xfrm>
          <a:custGeom>
            <a:avLst/>
            <a:gdLst/>
            <a:ahLst/>
            <a:cxnLst/>
            <a:rect l="l" t="t" r="r" b="b"/>
            <a:pathLst>
              <a:path w="398779" h="2606040">
                <a:moveTo>
                  <a:pt x="2438" y="0"/>
                </a:moveTo>
                <a:lnTo>
                  <a:pt x="185318" y="76200"/>
                </a:lnTo>
                <a:lnTo>
                  <a:pt x="185318" y="944880"/>
                </a:lnTo>
                <a:lnTo>
                  <a:pt x="398678" y="1036955"/>
                </a:lnTo>
                <a:lnTo>
                  <a:pt x="198285" y="1145768"/>
                </a:lnTo>
                <a:lnTo>
                  <a:pt x="215798" y="2377440"/>
                </a:lnTo>
                <a:lnTo>
                  <a:pt x="0" y="260604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85</a:t>
            </a:fld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5648960" cy="228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ootstrapping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agg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regate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information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decision</a:t>
            </a:r>
            <a:endParaRPr sz="2400" dirty="0">
              <a:latin typeface="Arial"/>
              <a:cs typeface="Arial"/>
            </a:endParaRPr>
          </a:p>
          <a:p>
            <a:pPr marL="843915" algn="ctr">
              <a:lnSpc>
                <a:spcPct val="100000"/>
              </a:lnSpc>
              <a:spcBef>
                <a:spcPts val="480"/>
              </a:spcBef>
            </a:pPr>
            <a:r>
              <a:rPr sz="4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4800" dirty="0">
              <a:latin typeface="Arial"/>
              <a:cs typeface="Arial"/>
            </a:endParaRPr>
          </a:p>
          <a:p>
            <a:pPr marL="843280" algn="ctr">
              <a:lnSpc>
                <a:spcPct val="100000"/>
              </a:lnSpc>
            </a:pPr>
            <a:r>
              <a:rPr sz="4800" b="1" spc="-5" dirty="0">
                <a:solidFill>
                  <a:srgbClr val="F08D00"/>
                </a:solidFill>
                <a:latin typeface="Arial"/>
                <a:cs typeface="Arial"/>
              </a:rPr>
              <a:t>Bagging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3369E8"/>
                </a:solidFill>
              </a:rPr>
              <a:t>Random</a:t>
            </a:r>
            <a:r>
              <a:rPr spc="-5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01F14-7C17-E129-B5C3-645ABEC83DE6}"/>
              </a:ext>
            </a:extLst>
          </p:cNvPr>
          <p:cNvSpPr txBox="1"/>
          <p:nvPr/>
        </p:nvSpPr>
        <p:spPr>
          <a:xfrm>
            <a:off x="1061466" y="4800600"/>
            <a:ext cx="7385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Intuition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take a small step toward the right direction every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27524-C667-2933-8128-39B1AACFD6E4}"/>
              </a:ext>
            </a:extLst>
          </p:cNvPr>
          <p:cNvSpPr txBox="1"/>
          <p:nvPr/>
        </p:nvSpPr>
        <p:spPr>
          <a:xfrm>
            <a:off x="1087390" y="1941926"/>
            <a:ext cx="68083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boost model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a stage-wise additive model that generates “</a:t>
            </a:r>
            <a:r>
              <a:rPr lang="en-US" b="0" i="0" dirty="0">
                <a:solidFill>
                  <a:srgbClr val="F7964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” during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training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process (i.e., trees are added one at a time, and existing trees in the model are not changed).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contribution of the new learner to the ensemble is based on the gradient descent optimization process. The calculated contribution of each tree is based on minimizing the overall error.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175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4586139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55454075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2309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84358B96-CED1-65A5-E650-25A7F5091268}"/>
              </a:ext>
            </a:extLst>
          </p:cNvPr>
          <p:cNvSpPr/>
          <p:nvPr/>
        </p:nvSpPr>
        <p:spPr>
          <a:xfrm>
            <a:off x="5790099" y="2923400"/>
            <a:ext cx="1229459" cy="43160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FEA88C5C-63C7-93B0-44F3-638B879493E7}"/>
              </a:ext>
            </a:extLst>
          </p:cNvPr>
          <p:cNvSpPr/>
          <p:nvPr/>
        </p:nvSpPr>
        <p:spPr>
          <a:xfrm>
            <a:off x="5494018" y="2199583"/>
            <a:ext cx="379816" cy="47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474C9-2C30-2D50-8CAE-99FFA49800FB}"/>
              </a:ext>
            </a:extLst>
          </p:cNvPr>
          <p:cNvSpPr txBox="1"/>
          <p:nvPr/>
        </p:nvSpPr>
        <p:spPr>
          <a:xfrm>
            <a:off x="819727" y="4443298"/>
            <a:ext cx="4586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1: initial guess: average Sale Price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838E3C-7150-3C97-BFB2-45D19061288E}"/>
              </a:ext>
            </a:extLst>
          </p:cNvPr>
          <p:cNvSpPr txBox="1"/>
          <p:nvPr/>
        </p:nvSpPr>
        <p:spPr>
          <a:xfrm>
            <a:off x="838200" y="5479216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2: calculate Pseudo residual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e.g. 80k – 181k = -101k, 350k-181k = 169k,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76AED1-F6C4-BB9E-7992-847C7C115240}"/>
              </a:ext>
            </a:extLst>
          </p:cNvPr>
          <p:cNvSpPr txBox="1"/>
          <p:nvPr/>
        </p:nvSpPr>
        <p:spPr>
          <a:xfrm>
            <a:off x="5908085" y="3377853"/>
            <a:ext cx="3208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3: use selected features to build a tree to predict the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Pseudo Residual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2A684B-E959-5613-4C28-B784C2D4EF6F}"/>
              </a:ext>
            </a:extLst>
          </p:cNvPr>
          <p:cNvGrpSpPr/>
          <p:nvPr/>
        </p:nvGrpSpPr>
        <p:grpSpPr>
          <a:xfrm>
            <a:off x="5927440" y="1732018"/>
            <a:ext cx="3051499" cy="1545298"/>
            <a:chOff x="6015483" y="2140871"/>
            <a:chExt cx="3051499" cy="1545298"/>
          </a:xfrm>
        </p:grpSpPr>
        <p:sp>
          <p:nvSpPr>
            <p:cNvPr id="2" name="object 24">
              <a:extLst>
                <a:ext uri="{FF2B5EF4-FFF2-40B4-BE49-F238E27FC236}">
                  <a16:creationId xmlns:a16="http://schemas.microsoft.com/office/drawing/2014/main" id="{758F8F18-BD52-9AEC-E45F-18D2B995E22D}"/>
                </a:ext>
              </a:extLst>
            </p:cNvPr>
            <p:cNvSpPr/>
            <p:nvPr/>
          </p:nvSpPr>
          <p:spPr>
            <a:xfrm>
              <a:off x="7063103" y="3421818"/>
              <a:ext cx="72694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259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30D3FBF1-46DA-ED3E-10DB-50C06B356306}"/>
                </a:ext>
              </a:extLst>
            </p:cNvPr>
            <p:cNvSpPr/>
            <p:nvPr/>
          </p:nvSpPr>
          <p:spPr>
            <a:xfrm>
              <a:off x="7240525" y="2140871"/>
              <a:ext cx="1208439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  Quality&lt;8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BC29F3C9-67F0-63C5-B59F-3C3E3D39160B}"/>
                </a:ext>
              </a:extLst>
            </p:cNvPr>
            <p:cNvSpPr/>
            <p:nvPr/>
          </p:nvSpPr>
          <p:spPr>
            <a:xfrm>
              <a:off x="7014130" y="2545860"/>
              <a:ext cx="623405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09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22">
              <a:extLst>
                <a:ext uri="{FF2B5EF4-FFF2-40B4-BE49-F238E27FC236}">
                  <a16:creationId xmlns:a16="http://schemas.microsoft.com/office/drawing/2014/main" id="{1EA85809-9542-D104-682E-0349277B8D59}"/>
                </a:ext>
              </a:extLst>
            </p:cNvPr>
            <p:cNvSpPr/>
            <p:nvPr/>
          </p:nvSpPr>
          <p:spPr>
            <a:xfrm>
              <a:off x="7639811" y="2545836"/>
              <a:ext cx="584442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3">
              <a:extLst>
                <a:ext uri="{FF2B5EF4-FFF2-40B4-BE49-F238E27FC236}">
                  <a16:creationId xmlns:a16="http://schemas.microsoft.com/office/drawing/2014/main" id="{F6A57C9C-80E1-F004-FBCC-3FD269C8284C}"/>
                </a:ext>
              </a:extLst>
            </p:cNvPr>
            <p:cNvSpPr/>
            <p:nvPr/>
          </p:nvSpPr>
          <p:spPr>
            <a:xfrm>
              <a:off x="6566705" y="2813132"/>
              <a:ext cx="2500277" cy="262255"/>
            </a:xfrm>
            <a:custGeom>
              <a:avLst/>
              <a:gdLst/>
              <a:ahLst/>
              <a:cxnLst/>
              <a:rect l="l" t="t" r="r" b="b"/>
              <a:pathLst>
                <a:path w="24142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  <a:path w="2414270" h="262255">
                  <a:moveTo>
                    <a:pt x="2413990" y="0"/>
                  </a:moveTo>
                  <a:lnTo>
                    <a:pt x="1468208" y="0"/>
                  </a:lnTo>
                  <a:lnTo>
                    <a:pt x="1468208" y="262204"/>
                  </a:lnTo>
                  <a:lnTo>
                    <a:pt x="2413990" y="262204"/>
                  </a:lnTo>
                  <a:lnTo>
                    <a:pt x="2413990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</a:rPr>
                <a:t> age &gt; 20                           sqrt&lt;2k</a:t>
              </a:r>
              <a:endParaRPr sz="14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5" name="object 24">
              <a:extLst>
                <a:ext uri="{FF2B5EF4-FFF2-40B4-BE49-F238E27FC236}">
                  <a16:creationId xmlns:a16="http://schemas.microsoft.com/office/drawing/2014/main" id="{FD12F163-58D1-2D52-2A0C-1C9057FA4D0A}"/>
                </a:ext>
              </a:extLst>
            </p:cNvPr>
            <p:cNvSpPr/>
            <p:nvPr/>
          </p:nvSpPr>
          <p:spPr>
            <a:xfrm>
              <a:off x="6015483" y="3421817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-101, -81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6" name="object 25">
              <a:extLst>
                <a:ext uri="{FF2B5EF4-FFF2-40B4-BE49-F238E27FC236}">
                  <a16:creationId xmlns:a16="http://schemas.microsoft.com/office/drawing/2014/main" id="{EB76DC28-C678-11F6-18E0-B825D1F7CC70}"/>
                </a:ext>
              </a:extLst>
            </p:cNvPr>
            <p:cNvSpPr/>
            <p:nvPr/>
          </p:nvSpPr>
          <p:spPr>
            <a:xfrm>
              <a:off x="6521673" y="3080598"/>
              <a:ext cx="375217" cy="302260"/>
            </a:xfrm>
            <a:custGeom>
              <a:avLst/>
              <a:gdLst/>
              <a:ahLst/>
              <a:cxnLst/>
              <a:rect l="l" t="t" r="r" b="b"/>
              <a:pathLst>
                <a:path w="446404" h="302260">
                  <a:moveTo>
                    <a:pt x="0" y="302209"/>
                  </a:moveTo>
                  <a:lnTo>
                    <a:pt x="446252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6">
              <a:extLst>
                <a:ext uri="{FF2B5EF4-FFF2-40B4-BE49-F238E27FC236}">
                  <a16:creationId xmlns:a16="http://schemas.microsoft.com/office/drawing/2014/main" id="{56A77EC0-6CA0-D03F-6960-EC2C7F300387}"/>
                </a:ext>
              </a:extLst>
            </p:cNvPr>
            <p:cNvSpPr/>
            <p:nvPr/>
          </p:nvSpPr>
          <p:spPr>
            <a:xfrm>
              <a:off x="7865667" y="3423914"/>
              <a:ext cx="1201315" cy="262255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13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13" y="215392"/>
                  </a:lnTo>
                  <a:lnTo>
                    <a:pt x="931113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169       339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object 27">
              <a:extLst>
                <a:ext uri="{FF2B5EF4-FFF2-40B4-BE49-F238E27FC236}">
                  <a16:creationId xmlns:a16="http://schemas.microsoft.com/office/drawing/2014/main" id="{445C72FC-AA4A-BC12-6B79-F32282920356}"/>
                </a:ext>
              </a:extLst>
            </p:cNvPr>
            <p:cNvSpPr/>
            <p:nvPr/>
          </p:nvSpPr>
          <p:spPr>
            <a:xfrm>
              <a:off x="8140327" y="3075811"/>
              <a:ext cx="209225" cy="412695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FFDE7196-DC43-9C1C-777C-654A45EAF26E}"/>
                </a:ext>
              </a:extLst>
            </p:cNvPr>
            <p:cNvSpPr/>
            <p:nvPr/>
          </p:nvSpPr>
          <p:spPr>
            <a:xfrm>
              <a:off x="8352850" y="3075751"/>
              <a:ext cx="375217" cy="355358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2AF73E8C-E008-54D0-8EE5-6EFA3C07560C}"/>
                </a:ext>
              </a:extLst>
            </p:cNvPr>
            <p:cNvSpPr/>
            <p:nvPr/>
          </p:nvSpPr>
          <p:spPr>
            <a:xfrm flipH="1">
              <a:off x="6922437" y="3072706"/>
              <a:ext cx="339711" cy="302260"/>
            </a:xfrm>
            <a:custGeom>
              <a:avLst/>
              <a:gdLst/>
              <a:ahLst/>
              <a:cxnLst/>
              <a:rect l="l" t="t" r="r" b="b"/>
              <a:pathLst>
                <a:path w="446404" h="302260">
                  <a:moveTo>
                    <a:pt x="0" y="302209"/>
                  </a:moveTo>
                  <a:lnTo>
                    <a:pt x="446252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24">
            <a:extLst>
              <a:ext uri="{FF2B5EF4-FFF2-40B4-BE49-F238E27FC236}">
                <a16:creationId xmlns:a16="http://schemas.microsoft.com/office/drawing/2014/main" id="{2BD71BE6-63F0-1728-F280-3421A09A4CBD}"/>
              </a:ext>
            </a:extLst>
          </p:cNvPr>
          <p:cNvSpPr/>
          <p:nvPr/>
        </p:nvSpPr>
        <p:spPr>
          <a:xfrm>
            <a:off x="5922021" y="3020856"/>
            <a:ext cx="984380" cy="262255"/>
          </a:xfrm>
          <a:custGeom>
            <a:avLst/>
            <a:gdLst/>
            <a:ahLst/>
            <a:cxnLst/>
            <a:rect l="l" t="t" r="r" b="b"/>
            <a:pathLst>
              <a:path w="864870" h="262255">
                <a:moveTo>
                  <a:pt x="864717" y="0"/>
                </a:moveTo>
                <a:lnTo>
                  <a:pt x="0" y="0"/>
                </a:lnTo>
                <a:lnTo>
                  <a:pt x="0" y="262204"/>
                </a:lnTo>
                <a:lnTo>
                  <a:pt x="864717" y="262204"/>
                </a:lnTo>
                <a:lnTo>
                  <a:pt x="864717" y="0"/>
                </a:lnTo>
                <a:close/>
              </a:path>
            </a:pathLst>
          </a:custGeom>
          <a:solidFill>
            <a:srgbClr val="40AD49"/>
          </a:solidFill>
        </p:spPr>
        <p:txBody>
          <a:bodyPr wrap="square" lIns="0" tIns="0" rIns="0" bIns="0" rtlCol="0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-91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A3FB5E84-F777-B015-D1E1-488D7CE72BFD}"/>
              </a:ext>
            </a:extLst>
          </p:cNvPr>
          <p:cNvGrpSpPr/>
          <p:nvPr/>
        </p:nvGrpSpPr>
        <p:grpSpPr>
          <a:xfrm>
            <a:off x="4724400" y="4253663"/>
            <a:ext cx="524880" cy="1683720"/>
            <a:chOff x="4723049" y="4222164"/>
            <a:chExt cx="524880" cy="16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5BDD62-BCCA-1478-84CB-0FAE9F162B4C}"/>
                    </a:ext>
                  </a:extLst>
                </p14:cNvPr>
                <p14:cNvContentPartPr/>
                <p14:nvPr/>
              </p14:nvContentPartPr>
              <p14:xfrm>
                <a:off x="4723049" y="4269684"/>
                <a:ext cx="478080" cy="163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5BDD62-BCCA-1478-84CB-0FAE9F162B4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14049" y="4261044"/>
                  <a:ext cx="495720" cy="16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0E433B-5C7D-0434-D6CC-DCAC7BA00DAA}"/>
                    </a:ext>
                  </a:extLst>
                </p14:cNvPr>
                <p14:cNvContentPartPr/>
                <p14:nvPr/>
              </p14:nvContentPartPr>
              <p14:xfrm>
                <a:off x="5097809" y="4222164"/>
                <a:ext cx="64800" cy="18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0E433B-5C7D-0434-D6CC-DCAC7BA00D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89169" y="4213524"/>
                  <a:ext cx="82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9841A6-BACC-0DF5-3DE5-29B1617F78E5}"/>
                    </a:ext>
                  </a:extLst>
                </p14:cNvPr>
                <p14:cNvContentPartPr/>
                <p14:nvPr/>
              </p14:nvContentPartPr>
              <p14:xfrm>
                <a:off x="5169449" y="4222524"/>
                <a:ext cx="78480" cy="112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9841A6-BACC-0DF5-3DE5-29B1617F78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60809" y="4213524"/>
                  <a:ext cx="96120" cy="13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673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2" grpId="0" animBg="1"/>
      <p:bldP spid="26" grpId="0"/>
      <p:bldP spid="27" grpId="0"/>
      <p:bldP spid="28" grpId="0"/>
      <p:bldP spid="29" grpId="0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B55210-860B-67EA-6A3C-B1C00C273CF7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solidFill>
                  <a:srgbClr val="231F20"/>
                </a:solidFill>
                <a:latin typeface="Arial"/>
                <a:cs typeface="Arial"/>
              </a:rPr>
              <a:t>+			     =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231F20"/>
                      </a:solidFill>
                      <a:prstDash val="soli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FEA88C5C-63C7-93B0-44F3-638B879493E7}"/>
              </a:ext>
            </a:extLst>
          </p:cNvPr>
          <p:cNvSpPr/>
          <p:nvPr/>
        </p:nvSpPr>
        <p:spPr>
          <a:xfrm>
            <a:off x="5494018" y="2199583"/>
            <a:ext cx="379816" cy="47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76AED1-F6C4-BB9E-7992-847C7C115240}"/>
              </a:ext>
            </a:extLst>
          </p:cNvPr>
          <p:cNvSpPr txBox="1"/>
          <p:nvPr/>
        </p:nvSpPr>
        <p:spPr>
          <a:xfrm>
            <a:off x="5908085" y="3377853"/>
            <a:ext cx="3208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3: use selected features to build a tree to predict the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Pseudo Residual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5922021" y="1732018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3" y="4257459"/>
            <a:ext cx="4585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 combine the initial guess and the tree to make a new prediction</a:t>
            </a:r>
            <a:endParaRPr lang="en-US" sz="1600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6B477B2-7CEF-1848-B02B-78B16C496D9C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389352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9352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+ 169= 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= 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= 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84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57 -0.05394 L -0.50643 0.4567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50" y="2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B55210-860B-67EA-6A3C-B1C00C273CF7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	     =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3" y="4257459"/>
            <a:ext cx="4585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 combine the initial guess and the tree to make a new prediction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6B477B2-7CEF-1848-B02B-78B16C496D9C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441958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1958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+ 169= 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= 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= 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911029D-467E-7626-CF23-ECB457F7F7D6}"/>
              </a:ext>
            </a:extLst>
          </p:cNvPr>
          <p:cNvSpPr txBox="1"/>
          <p:nvPr/>
        </p:nvSpPr>
        <p:spPr>
          <a:xfrm>
            <a:off x="5715000" y="3373795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to overfit!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F5092B-FA5F-0BAB-A9B1-DEACFCC956EC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21ADD36-4D81-96A8-8E39-006DD01B1B69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32" name="object 24">
                <a:extLst>
                  <a:ext uri="{FF2B5EF4-FFF2-40B4-BE49-F238E27FC236}">
                    <a16:creationId xmlns:a16="http://schemas.microsoft.com/office/drawing/2014/main" id="{03B45A73-69F7-3139-886A-9A2484EB2A1C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3" name="object 20">
                <a:extLst>
                  <a:ext uri="{FF2B5EF4-FFF2-40B4-BE49-F238E27FC236}">
                    <a16:creationId xmlns:a16="http://schemas.microsoft.com/office/drawing/2014/main" id="{1563628B-A687-B92D-5EF9-950CA11AF7E9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4" name="object 21">
                <a:extLst>
                  <a:ext uri="{FF2B5EF4-FFF2-40B4-BE49-F238E27FC236}">
                    <a16:creationId xmlns:a16="http://schemas.microsoft.com/office/drawing/2014/main" id="{35E7648B-FE27-7045-1742-5071F0BDC946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2">
                <a:extLst>
                  <a:ext uri="{FF2B5EF4-FFF2-40B4-BE49-F238E27FC236}">
                    <a16:creationId xmlns:a16="http://schemas.microsoft.com/office/drawing/2014/main" id="{3919A7DC-E99E-0A3A-2C0E-3054EAD15EE8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3">
                <a:extLst>
                  <a:ext uri="{FF2B5EF4-FFF2-40B4-BE49-F238E27FC236}">
                    <a16:creationId xmlns:a16="http://schemas.microsoft.com/office/drawing/2014/main" id="{5629C750-73FA-39D4-0080-887AD84BEDF7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266B4F10-3DC5-2E06-8FB0-54A6E54945B1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8" name="object 25">
                <a:extLst>
                  <a:ext uri="{FF2B5EF4-FFF2-40B4-BE49-F238E27FC236}">
                    <a16:creationId xmlns:a16="http://schemas.microsoft.com/office/drawing/2014/main" id="{CA5F8781-6D65-8395-9595-471C56CC049E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6">
                <a:extLst>
                  <a:ext uri="{FF2B5EF4-FFF2-40B4-BE49-F238E27FC236}">
                    <a16:creationId xmlns:a16="http://schemas.microsoft.com/office/drawing/2014/main" id="{CFBF4CB3-6D1E-759B-E2EC-BBAC7CC49740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40" name="object 27">
                <a:extLst>
                  <a:ext uri="{FF2B5EF4-FFF2-40B4-BE49-F238E27FC236}">
                    <a16:creationId xmlns:a16="http://schemas.microsoft.com/office/drawing/2014/main" id="{4176A784-0710-3F8A-A9FE-5620DC39C0EB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8">
                <a:extLst>
                  <a:ext uri="{FF2B5EF4-FFF2-40B4-BE49-F238E27FC236}">
                    <a16:creationId xmlns:a16="http://schemas.microsoft.com/office/drawing/2014/main" id="{6241052A-F4DB-10E4-63AB-C984DF439407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5">
                <a:extLst>
                  <a:ext uri="{FF2B5EF4-FFF2-40B4-BE49-F238E27FC236}">
                    <a16:creationId xmlns:a16="http://schemas.microsoft.com/office/drawing/2014/main" id="{915E2E54-AD54-A32C-B89A-850B199EED3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A7A19FC6-81B8-6427-CB1E-58E42BD89DBF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17743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3" y="4257459"/>
            <a:ext cx="4585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 combine the initial guess and the tree to make a new prediction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1029D-467E-7626-CF23-ECB457F7F7D6}"/>
              </a:ext>
            </a:extLst>
          </p:cNvPr>
          <p:cNvSpPr txBox="1"/>
          <p:nvPr/>
        </p:nvSpPr>
        <p:spPr>
          <a:xfrm>
            <a:off x="5715000" y="3373795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to overfit!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945AA-5E54-3732-D11B-F6D81EEEAB39}"/>
              </a:ext>
            </a:extLst>
          </p:cNvPr>
          <p:cNvSpPr txBox="1"/>
          <p:nvPr/>
        </p:nvSpPr>
        <p:spPr>
          <a:xfrm>
            <a:off x="3749317" y="4858755"/>
            <a:ext cx="1378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DA06A-4032-6BAA-27AC-25E02B794848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x	      =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3F0580-8A49-97D6-BD22-CB7CB7857440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441958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1958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+ 169= 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= 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= 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= 90k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1223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77DA06A-4032-6BAA-27AC-25E02B794848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x	      =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endParaRPr sz="18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3" y="4257459"/>
            <a:ext cx="4585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 combine the initial guess and the tree to make a new prediction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1029D-467E-7626-CF23-ECB457F7F7D6}"/>
              </a:ext>
            </a:extLst>
          </p:cNvPr>
          <p:cNvSpPr txBox="1"/>
          <p:nvPr/>
        </p:nvSpPr>
        <p:spPr>
          <a:xfrm>
            <a:off x="5412147" y="3445273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learn too much from one tree ...</a:t>
            </a:r>
            <a:endParaRPr lang="en-US" sz="2000" dirty="0">
              <a:solidFill>
                <a:srgbClr val="4F81B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945AA-5E54-3732-D11B-F6D81EEEAB39}"/>
              </a:ext>
            </a:extLst>
          </p:cNvPr>
          <p:cNvSpPr txBox="1"/>
          <p:nvPr/>
        </p:nvSpPr>
        <p:spPr>
          <a:xfrm>
            <a:off x="3752340" y="5016202"/>
            <a:ext cx="137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endParaRPr 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3F0580-8A49-97D6-BD22-CB7CB7857440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897704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704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197.9k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206.9k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214.9k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81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172.9k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9810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77DA06A-4032-6BAA-27AC-25E02B794848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x	      =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3" y="4257459"/>
            <a:ext cx="4585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 combine the initial guess and the tree to make a new prediction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945AA-5E54-3732-D11B-F6D81EEEAB39}"/>
              </a:ext>
            </a:extLst>
          </p:cNvPr>
          <p:cNvSpPr txBox="1"/>
          <p:nvPr/>
        </p:nvSpPr>
        <p:spPr>
          <a:xfrm>
            <a:off x="3752340" y="5016202"/>
            <a:ext cx="137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endParaRPr 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3F0580-8A49-97D6-BD22-CB7CB7857440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897704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704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197.9k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206.9k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214.9k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81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172.9k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B06E68-86B0-2950-F6E9-993022E6B4DE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152.1k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233.1k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305.1k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0B69D99-449B-2630-603C-B58503E36AF2}"/>
              </a:ext>
            </a:extLst>
          </p:cNvPr>
          <p:cNvSpPr txBox="1"/>
          <p:nvPr/>
        </p:nvSpPr>
        <p:spPr>
          <a:xfrm>
            <a:off x="6781799" y="2133600"/>
            <a:ext cx="21971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5: use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new prediction to calculate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New Residual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83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77DA06A-4032-6BAA-27AC-25E02B794848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x	      =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7D945AA-5E54-3732-D11B-F6D81EEEAB39}"/>
              </a:ext>
            </a:extLst>
          </p:cNvPr>
          <p:cNvSpPr txBox="1"/>
          <p:nvPr/>
        </p:nvSpPr>
        <p:spPr>
          <a:xfrm>
            <a:off x="3752340" y="5016202"/>
            <a:ext cx="137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endParaRPr 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3F0580-8A49-97D6-BD22-CB7CB7857440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897704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704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197.9k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206.9k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214.9k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81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172.9k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B06E68-86B0-2950-F6E9-993022E6B4DE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152.1k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233.1k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305.1k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1" name="Arrow: Right 21">
            <a:extLst>
              <a:ext uri="{FF2B5EF4-FFF2-40B4-BE49-F238E27FC236}">
                <a16:creationId xmlns:a16="http://schemas.microsoft.com/office/drawing/2014/main" id="{F78A3003-A349-6894-8D58-0785104F394A}"/>
              </a:ext>
            </a:extLst>
          </p:cNvPr>
          <p:cNvSpPr/>
          <p:nvPr/>
        </p:nvSpPr>
        <p:spPr>
          <a:xfrm>
            <a:off x="6610927" y="2520058"/>
            <a:ext cx="361379" cy="281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object 19">
            <a:extLst>
              <a:ext uri="{FF2B5EF4-FFF2-40B4-BE49-F238E27FC236}">
                <a16:creationId xmlns:a16="http://schemas.microsoft.com/office/drawing/2014/main" id="{2F0E9CEE-4D03-5B47-1F40-BEF01A471540}"/>
              </a:ext>
            </a:extLst>
          </p:cNvPr>
          <p:cNvGrpSpPr/>
          <p:nvPr/>
        </p:nvGrpSpPr>
        <p:grpSpPr>
          <a:xfrm>
            <a:off x="7068128" y="1981200"/>
            <a:ext cx="1999672" cy="1288929"/>
            <a:chOff x="3561854" y="887806"/>
            <a:chExt cx="2845435" cy="1510030"/>
          </a:xfrm>
        </p:grpSpPr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85A61A19-750B-F123-C4B6-945B918F00A5}"/>
                </a:ext>
              </a:extLst>
            </p:cNvPr>
            <p:cNvSpPr/>
            <p:nvPr/>
          </p:nvSpPr>
          <p:spPr>
            <a:xfrm>
              <a:off x="4653076" y="887806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28F710CE-7545-73B6-0C18-5D5BDBE137E8}"/>
                </a:ext>
              </a:extLst>
            </p:cNvPr>
            <p:cNvSpPr/>
            <p:nvPr/>
          </p:nvSpPr>
          <p:spPr>
            <a:xfrm>
              <a:off x="4383726" y="1292795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09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5FD5C48B-DC3E-5410-A73D-33B361E92EAA}"/>
                </a:ext>
              </a:extLst>
            </p:cNvPr>
            <p:cNvSpPr/>
            <p:nvPr/>
          </p:nvSpPr>
          <p:spPr>
            <a:xfrm>
              <a:off x="5128115" y="1292771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3">
              <a:extLst>
                <a:ext uri="{FF2B5EF4-FFF2-40B4-BE49-F238E27FC236}">
                  <a16:creationId xmlns:a16="http://schemas.microsoft.com/office/drawing/2014/main" id="{F899348F-29AF-8357-C3AB-AC83587736A3}"/>
                </a:ext>
              </a:extLst>
            </p:cNvPr>
            <p:cNvSpPr/>
            <p:nvPr/>
          </p:nvSpPr>
          <p:spPr>
            <a:xfrm>
              <a:off x="3851414" y="1560067"/>
              <a:ext cx="2414270" cy="262255"/>
            </a:xfrm>
            <a:custGeom>
              <a:avLst/>
              <a:gdLst/>
              <a:ahLst/>
              <a:cxnLst/>
              <a:rect l="l" t="t" r="r" b="b"/>
              <a:pathLst>
                <a:path w="24142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  <a:path w="2414270" h="262255">
                  <a:moveTo>
                    <a:pt x="2413990" y="0"/>
                  </a:moveTo>
                  <a:lnTo>
                    <a:pt x="1468208" y="0"/>
                  </a:lnTo>
                  <a:lnTo>
                    <a:pt x="1468208" y="262204"/>
                  </a:lnTo>
                  <a:lnTo>
                    <a:pt x="2413990" y="262204"/>
                  </a:lnTo>
                  <a:lnTo>
                    <a:pt x="2413990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46EC8DBF-3AB4-C2C5-7104-DC399A993AF4}"/>
                </a:ext>
              </a:extLst>
            </p:cNvPr>
            <p:cNvSpPr/>
            <p:nvPr/>
          </p:nvSpPr>
          <p:spPr>
            <a:xfrm>
              <a:off x="3561854" y="2135009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0AA944A3-E308-1782-ADBD-A1AF119A7F4E}"/>
                </a:ext>
              </a:extLst>
            </p:cNvPr>
            <p:cNvSpPr/>
            <p:nvPr/>
          </p:nvSpPr>
          <p:spPr>
            <a:xfrm>
              <a:off x="3797838" y="1827533"/>
              <a:ext cx="446405" cy="302260"/>
            </a:xfrm>
            <a:custGeom>
              <a:avLst/>
              <a:gdLst/>
              <a:ahLst/>
              <a:cxnLst/>
              <a:rect l="l" t="t" r="r" b="b"/>
              <a:pathLst>
                <a:path w="446404" h="302260">
                  <a:moveTo>
                    <a:pt x="0" y="302209"/>
                  </a:moveTo>
                  <a:lnTo>
                    <a:pt x="446252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6">
              <a:extLst>
                <a:ext uri="{FF2B5EF4-FFF2-40B4-BE49-F238E27FC236}">
                  <a16:creationId xmlns:a16="http://schemas.microsoft.com/office/drawing/2014/main" id="{4FA36B20-6BB0-1822-C7DD-CA748EAB6F28}"/>
                </a:ext>
              </a:extLst>
            </p:cNvPr>
            <p:cNvSpPr/>
            <p:nvPr/>
          </p:nvSpPr>
          <p:spPr>
            <a:xfrm>
              <a:off x="5475605" y="1960765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13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13" y="215392"/>
                  </a:lnTo>
                  <a:lnTo>
                    <a:pt x="931113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892DE2AF-7468-2E14-E9C3-7333BFC871CC}"/>
                </a:ext>
              </a:extLst>
            </p:cNvPr>
            <p:cNvSpPr/>
            <p:nvPr/>
          </p:nvSpPr>
          <p:spPr>
            <a:xfrm>
              <a:off x="5696287" y="1822747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8">
              <a:extLst>
                <a:ext uri="{FF2B5EF4-FFF2-40B4-BE49-F238E27FC236}">
                  <a16:creationId xmlns:a16="http://schemas.microsoft.com/office/drawing/2014/main" id="{1999A81A-8210-5572-B95D-7C47B6418361}"/>
                </a:ext>
              </a:extLst>
            </p:cNvPr>
            <p:cNvSpPr/>
            <p:nvPr/>
          </p:nvSpPr>
          <p:spPr>
            <a:xfrm>
              <a:off x="5976434" y="1822686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33D29DD-A163-88E8-A55D-3C3D52C93FAB}"/>
              </a:ext>
            </a:extLst>
          </p:cNvPr>
          <p:cNvSpPr txBox="1"/>
          <p:nvPr/>
        </p:nvSpPr>
        <p:spPr>
          <a:xfrm>
            <a:off x="6610927" y="3346313"/>
            <a:ext cx="2739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6: use selected features to build a tree to predict the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Residual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3454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3A12B38-9FBF-EDBA-5122-DF8C2993A5F6}"/>
              </a:ext>
            </a:extLst>
          </p:cNvPr>
          <p:cNvSpPr txBox="1"/>
          <p:nvPr/>
        </p:nvSpPr>
        <p:spPr>
          <a:xfrm>
            <a:off x="819727" y="4800759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Avg. Sale Price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(80 + 350 + 440 + …+ 520)/n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181k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DA06A-4032-6BAA-27AC-25E02B794848}"/>
              </a:ext>
            </a:extLst>
          </p:cNvPr>
          <p:cNvSpPr txBox="1"/>
          <p:nvPr/>
        </p:nvSpPr>
        <p:spPr>
          <a:xfrm>
            <a:off x="800832" y="4961898"/>
            <a:ext cx="4623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3915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dirty="0">
                <a:latin typeface="Arial"/>
                <a:cs typeface="Arial"/>
              </a:rPr>
              <a:t>+		x	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C2496D-4DB3-FA23-D1D3-A046E41537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75461"/>
          <a:ext cx="3554608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357">
                  <a:extLst>
                    <a:ext uri="{9D8B030D-6E8A-4147-A177-3AD203B41FA5}">
                      <a16:colId xmlns:a16="http://schemas.microsoft.com/office/drawing/2014/main" val="698704305"/>
                    </a:ext>
                  </a:extLst>
                </a:gridCol>
                <a:gridCol w="804817">
                  <a:extLst>
                    <a:ext uri="{9D8B030D-6E8A-4147-A177-3AD203B41FA5}">
                      <a16:colId xmlns:a16="http://schemas.microsoft.com/office/drawing/2014/main" val="4176490633"/>
                    </a:ext>
                  </a:extLst>
                </a:gridCol>
                <a:gridCol w="1064903">
                  <a:extLst>
                    <a:ext uri="{9D8B030D-6E8A-4147-A177-3AD203B41FA5}">
                      <a16:colId xmlns:a16="http://schemas.microsoft.com/office/drawing/2014/main" val="282965417"/>
                    </a:ext>
                  </a:extLst>
                </a:gridCol>
                <a:gridCol w="1031531">
                  <a:extLst>
                    <a:ext uri="{9D8B030D-6E8A-4147-A177-3AD203B41FA5}">
                      <a16:colId xmlns:a16="http://schemas.microsoft.com/office/drawing/2014/main" val="762161323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ouse</a:t>
                      </a:r>
                    </a:p>
                    <a:p>
                      <a:pPr marL="5080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  <a:p>
                      <a:pPr marL="50800">
                        <a:lnSpc>
                          <a:spcPts val="196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Sqrt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1647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Sale Price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2526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80k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70037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350k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429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lang="en-US" sz="1800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440k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6832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4297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3000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520k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21226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2100</a:t>
                      </a:r>
                      <a:endParaRPr sz="18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100k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5222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8703D-7E06-A0CA-F4BE-BCF734A9FFF1}"/>
              </a:ext>
            </a:extLst>
          </p:cNvPr>
          <p:cNvGrpSpPr/>
          <p:nvPr/>
        </p:nvGrpSpPr>
        <p:grpSpPr>
          <a:xfrm>
            <a:off x="1087045" y="4936085"/>
            <a:ext cx="3056918" cy="1551093"/>
            <a:chOff x="5922021" y="1732018"/>
            <a:chExt cx="3056918" cy="15510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2A684B-E959-5613-4C28-B784C2D4EF6F}"/>
                </a:ext>
              </a:extLst>
            </p:cNvPr>
            <p:cNvGrpSpPr/>
            <p:nvPr/>
          </p:nvGrpSpPr>
          <p:grpSpPr>
            <a:xfrm>
              <a:off x="5927440" y="1732018"/>
              <a:ext cx="3051499" cy="1545298"/>
              <a:chOff x="6015483" y="2140871"/>
              <a:chExt cx="3051499" cy="1545298"/>
            </a:xfrm>
          </p:grpSpPr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758F8F18-BD52-9AEC-E45F-18D2B995E22D}"/>
                  </a:ext>
                </a:extLst>
              </p:cNvPr>
              <p:cNvSpPr/>
              <p:nvPr/>
            </p:nvSpPr>
            <p:spPr>
              <a:xfrm>
                <a:off x="7063103" y="3421818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30D3FBF1-46DA-ED3E-10DB-50C06B356306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BC29F3C9-67F0-63C5-B59F-3C3E3D39160B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1EA85809-9542-D104-682E-0349277B8D59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F6A57C9C-80E1-F004-FBCC-3FD269C8284C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00277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FD12F163-58D1-2D52-2A0C-1C9057FA4D0A}"/>
                  </a:ext>
                </a:extLst>
              </p:cNvPr>
              <p:cNvSpPr/>
              <p:nvPr/>
            </p:nvSpPr>
            <p:spPr>
              <a:xfrm>
                <a:off x="6015483" y="3421817"/>
                <a:ext cx="98438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-101, -81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EB76DC28-C678-11F6-18E0-B825D1F7CC70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56A77EC0-6CA0-D03F-6960-EC2C7F300387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445C72FC-AA4A-BC12-6B79-F32282920356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FFDE7196-DC43-9C1C-777C-654A45EAF26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AF73E8C-E008-54D0-8EE5-6EFA3C07560C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24">
              <a:extLst>
                <a:ext uri="{FF2B5EF4-FFF2-40B4-BE49-F238E27FC236}">
                  <a16:creationId xmlns:a16="http://schemas.microsoft.com/office/drawing/2014/main" id="{2BD71BE6-63F0-1728-F280-3421A09A4CBD}"/>
                </a:ext>
              </a:extLst>
            </p:cNvPr>
            <p:cNvSpPr/>
            <p:nvPr/>
          </p:nvSpPr>
          <p:spPr>
            <a:xfrm>
              <a:off x="5922021" y="3020856"/>
              <a:ext cx="984380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-91</a:t>
              </a:r>
              <a:endParaRPr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C1DA3-0730-DEAC-FA8C-388606AFB111}"/>
              </a:ext>
            </a:extLst>
          </p:cNvPr>
          <p:cNvGraphicFramePr>
            <a:graphicFrameLocks noGrp="1"/>
          </p:cNvGraphicFramePr>
          <p:nvPr/>
        </p:nvGraphicFramePr>
        <p:xfrm>
          <a:off x="439280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Pseudo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-101k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169k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259k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339k</a:t>
                      </a:r>
                      <a:endParaRPr lang="en-US"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  <a:cs typeface="Arial"/>
                        </a:rPr>
                        <a:t>-81k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BE9D57-24B6-384F-6817-6CC87A3E186F}"/>
              </a:ext>
            </a:extLst>
          </p:cNvPr>
          <p:cNvSpPr txBox="1"/>
          <p:nvPr/>
        </p:nvSpPr>
        <p:spPr>
          <a:xfrm>
            <a:off x="838622" y="4257459"/>
            <a:ext cx="6837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7: add the second tree to the existing one, make a new prediction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945AA-5E54-3732-D11B-F6D81EEEAB39}"/>
              </a:ext>
            </a:extLst>
          </p:cNvPr>
          <p:cNvSpPr txBox="1"/>
          <p:nvPr/>
        </p:nvSpPr>
        <p:spPr>
          <a:xfrm>
            <a:off x="3752340" y="5016202"/>
            <a:ext cx="137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endParaRPr 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B06E68-86B0-2950-F6E9-993022E6B4DE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1775461"/>
          <a:ext cx="1031531" cy="238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531">
                  <a:extLst>
                    <a:ext uri="{9D8B030D-6E8A-4147-A177-3AD203B41FA5}">
                      <a16:colId xmlns:a16="http://schemas.microsoft.com/office/drawing/2014/main" val="3131793721"/>
                    </a:ext>
                  </a:extLst>
                </a:gridCol>
              </a:tblGrid>
              <a:tr h="510720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</a:p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30993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58552"/>
                  </a:ext>
                </a:extLst>
              </a:tr>
              <a:tr h="268128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152.1k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3393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233.1k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5002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8894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305.1k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756775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-91.9k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351282"/>
                  </a:ext>
                </a:extLst>
              </a:tr>
            </a:tbl>
          </a:graphicData>
        </a:graphic>
      </p:graphicFrame>
      <p:sp>
        <p:nvSpPr>
          <p:cNvPr id="21" name="Arrow: Right 21">
            <a:extLst>
              <a:ext uri="{FF2B5EF4-FFF2-40B4-BE49-F238E27FC236}">
                <a16:creationId xmlns:a16="http://schemas.microsoft.com/office/drawing/2014/main" id="{F78A3003-A349-6894-8D58-0785104F394A}"/>
              </a:ext>
            </a:extLst>
          </p:cNvPr>
          <p:cNvSpPr/>
          <p:nvPr/>
        </p:nvSpPr>
        <p:spPr>
          <a:xfrm>
            <a:off x="6610927" y="2520058"/>
            <a:ext cx="361379" cy="281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object 19">
            <a:extLst>
              <a:ext uri="{FF2B5EF4-FFF2-40B4-BE49-F238E27FC236}">
                <a16:creationId xmlns:a16="http://schemas.microsoft.com/office/drawing/2014/main" id="{2F0E9CEE-4D03-5B47-1F40-BEF01A471540}"/>
              </a:ext>
            </a:extLst>
          </p:cNvPr>
          <p:cNvGrpSpPr/>
          <p:nvPr/>
        </p:nvGrpSpPr>
        <p:grpSpPr>
          <a:xfrm>
            <a:off x="7068128" y="1981200"/>
            <a:ext cx="1999672" cy="1288929"/>
            <a:chOff x="3561854" y="887806"/>
            <a:chExt cx="2845435" cy="1510030"/>
          </a:xfrm>
        </p:grpSpPr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85A61A19-750B-F123-C4B6-945B918F00A5}"/>
                </a:ext>
              </a:extLst>
            </p:cNvPr>
            <p:cNvSpPr/>
            <p:nvPr/>
          </p:nvSpPr>
          <p:spPr>
            <a:xfrm>
              <a:off x="4653076" y="887806"/>
              <a:ext cx="946150" cy="403225"/>
            </a:xfrm>
            <a:custGeom>
              <a:avLst/>
              <a:gdLst/>
              <a:ahLst/>
              <a:cxnLst/>
              <a:rect l="l" t="t" r="r" b="b"/>
              <a:pathLst>
                <a:path w="946150" h="403225">
                  <a:moveTo>
                    <a:pt x="945781" y="0"/>
                  </a:moveTo>
                  <a:lnTo>
                    <a:pt x="0" y="0"/>
                  </a:lnTo>
                  <a:lnTo>
                    <a:pt x="0" y="402678"/>
                  </a:lnTo>
                  <a:lnTo>
                    <a:pt x="945781" y="402678"/>
                  </a:lnTo>
                  <a:lnTo>
                    <a:pt x="945781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28F710CE-7545-73B6-0C18-5D5BDBE137E8}"/>
                </a:ext>
              </a:extLst>
            </p:cNvPr>
            <p:cNvSpPr/>
            <p:nvPr/>
          </p:nvSpPr>
          <p:spPr>
            <a:xfrm>
              <a:off x="4383726" y="1292795"/>
              <a:ext cx="741680" cy="257810"/>
            </a:xfrm>
            <a:custGeom>
              <a:avLst/>
              <a:gdLst/>
              <a:ahLst/>
              <a:cxnLst/>
              <a:rect l="l" t="t" r="r" b="b"/>
              <a:pathLst>
                <a:path w="741679" h="257809">
                  <a:moveTo>
                    <a:pt x="741362" y="0"/>
                  </a:moveTo>
                  <a:lnTo>
                    <a:pt x="0" y="257606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5FD5C48B-DC3E-5410-A73D-33B361E92EAA}"/>
                </a:ext>
              </a:extLst>
            </p:cNvPr>
            <p:cNvSpPr/>
            <p:nvPr/>
          </p:nvSpPr>
          <p:spPr>
            <a:xfrm>
              <a:off x="5128115" y="1292771"/>
              <a:ext cx="695325" cy="261620"/>
            </a:xfrm>
            <a:custGeom>
              <a:avLst/>
              <a:gdLst/>
              <a:ahLst/>
              <a:cxnLst/>
              <a:rect l="l" t="t" r="r" b="b"/>
              <a:pathLst>
                <a:path w="695325" h="261619">
                  <a:moveTo>
                    <a:pt x="0" y="0"/>
                  </a:moveTo>
                  <a:lnTo>
                    <a:pt x="694982" y="26134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3">
              <a:extLst>
                <a:ext uri="{FF2B5EF4-FFF2-40B4-BE49-F238E27FC236}">
                  <a16:creationId xmlns:a16="http://schemas.microsoft.com/office/drawing/2014/main" id="{F899348F-29AF-8357-C3AB-AC83587736A3}"/>
                </a:ext>
              </a:extLst>
            </p:cNvPr>
            <p:cNvSpPr/>
            <p:nvPr/>
          </p:nvSpPr>
          <p:spPr>
            <a:xfrm>
              <a:off x="3851414" y="1560067"/>
              <a:ext cx="2414270" cy="262255"/>
            </a:xfrm>
            <a:custGeom>
              <a:avLst/>
              <a:gdLst/>
              <a:ahLst/>
              <a:cxnLst/>
              <a:rect l="l" t="t" r="r" b="b"/>
              <a:pathLst>
                <a:path w="24142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  <a:path w="2414270" h="262255">
                  <a:moveTo>
                    <a:pt x="2413990" y="0"/>
                  </a:moveTo>
                  <a:lnTo>
                    <a:pt x="1468208" y="0"/>
                  </a:lnTo>
                  <a:lnTo>
                    <a:pt x="1468208" y="262204"/>
                  </a:lnTo>
                  <a:lnTo>
                    <a:pt x="2413990" y="262204"/>
                  </a:lnTo>
                  <a:lnTo>
                    <a:pt x="2413990" y="0"/>
                  </a:lnTo>
                  <a:close/>
                </a:path>
              </a:pathLst>
            </a:custGeom>
            <a:solidFill>
              <a:srgbClr val="00A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46EC8DBF-3AB4-C2C5-7104-DC399A993AF4}"/>
                </a:ext>
              </a:extLst>
            </p:cNvPr>
            <p:cNvSpPr/>
            <p:nvPr/>
          </p:nvSpPr>
          <p:spPr>
            <a:xfrm>
              <a:off x="3561854" y="2135009"/>
              <a:ext cx="864869" cy="262255"/>
            </a:xfrm>
            <a:custGeom>
              <a:avLst/>
              <a:gdLst/>
              <a:ahLst/>
              <a:cxnLst/>
              <a:rect l="l" t="t" r="r" b="b"/>
              <a:pathLst>
                <a:path w="864870" h="262255">
                  <a:moveTo>
                    <a:pt x="864717" y="0"/>
                  </a:moveTo>
                  <a:lnTo>
                    <a:pt x="0" y="0"/>
                  </a:lnTo>
                  <a:lnTo>
                    <a:pt x="0" y="262204"/>
                  </a:lnTo>
                  <a:lnTo>
                    <a:pt x="864717" y="262204"/>
                  </a:lnTo>
                  <a:lnTo>
                    <a:pt x="864717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0AA944A3-E308-1782-ADBD-A1AF119A7F4E}"/>
                </a:ext>
              </a:extLst>
            </p:cNvPr>
            <p:cNvSpPr/>
            <p:nvPr/>
          </p:nvSpPr>
          <p:spPr>
            <a:xfrm>
              <a:off x="3797838" y="1827533"/>
              <a:ext cx="446405" cy="302260"/>
            </a:xfrm>
            <a:custGeom>
              <a:avLst/>
              <a:gdLst/>
              <a:ahLst/>
              <a:cxnLst/>
              <a:rect l="l" t="t" r="r" b="b"/>
              <a:pathLst>
                <a:path w="446404" h="302260">
                  <a:moveTo>
                    <a:pt x="0" y="302209"/>
                  </a:moveTo>
                  <a:lnTo>
                    <a:pt x="446252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6">
              <a:extLst>
                <a:ext uri="{FF2B5EF4-FFF2-40B4-BE49-F238E27FC236}">
                  <a16:creationId xmlns:a16="http://schemas.microsoft.com/office/drawing/2014/main" id="{4FA36B20-6BB0-1822-C7DD-CA748EAB6F28}"/>
                </a:ext>
              </a:extLst>
            </p:cNvPr>
            <p:cNvSpPr/>
            <p:nvPr/>
          </p:nvSpPr>
          <p:spPr>
            <a:xfrm>
              <a:off x="5475605" y="1960765"/>
              <a:ext cx="931544" cy="215900"/>
            </a:xfrm>
            <a:custGeom>
              <a:avLst/>
              <a:gdLst/>
              <a:ahLst/>
              <a:cxnLst/>
              <a:rect l="l" t="t" r="r" b="b"/>
              <a:pathLst>
                <a:path w="931545" h="215900">
                  <a:moveTo>
                    <a:pt x="399707" y="0"/>
                  </a:moveTo>
                  <a:lnTo>
                    <a:pt x="0" y="0"/>
                  </a:lnTo>
                  <a:lnTo>
                    <a:pt x="0" y="215392"/>
                  </a:lnTo>
                  <a:lnTo>
                    <a:pt x="399707" y="215392"/>
                  </a:lnTo>
                  <a:lnTo>
                    <a:pt x="399707" y="0"/>
                  </a:lnTo>
                  <a:close/>
                </a:path>
                <a:path w="931545" h="215900">
                  <a:moveTo>
                    <a:pt x="931113" y="0"/>
                  </a:moveTo>
                  <a:lnTo>
                    <a:pt x="531406" y="0"/>
                  </a:lnTo>
                  <a:lnTo>
                    <a:pt x="531406" y="215392"/>
                  </a:lnTo>
                  <a:lnTo>
                    <a:pt x="931113" y="215392"/>
                  </a:lnTo>
                  <a:lnTo>
                    <a:pt x="931113" y="0"/>
                  </a:lnTo>
                  <a:close/>
                </a:path>
              </a:pathLst>
            </a:custGeom>
            <a:solidFill>
              <a:srgbClr val="40A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892DE2AF-7468-2E14-E9C3-7333BFC871CC}"/>
                </a:ext>
              </a:extLst>
            </p:cNvPr>
            <p:cNvSpPr/>
            <p:nvPr/>
          </p:nvSpPr>
          <p:spPr>
            <a:xfrm>
              <a:off x="5696287" y="1822747"/>
              <a:ext cx="276225" cy="135890"/>
            </a:xfrm>
            <a:custGeom>
              <a:avLst/>
              <a:gdLst/>
              <a:ahLst/>
              <a:cxnLst/>
              <a:rect l="l" t="t" r="r" b="b"/>
              <a:pathLst>
                <a:path w="276225" h="135889">
                  <a:moveTo>
                    <a:pt x="276072" y="0"/>
                  </a:moveTo>
                  <a:lnTo>
                    <a:pt x="0" y="135839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8">
              <a:extLst>
                <a:ext uri="{FF2B5EF4-FFF2-40B4-BE49-F238E27FC236}">
                  <a16:creationId xmlns:a16="http://schemas.microsoft.com/office/drawing/2014/main" id="{1999A81A-8210-5572-B95D-7C47B6418361}"/>
                </a:ext>
              </a:extLst>
            </p:cNvPr>
            <p:cNvSpPr/>
            <p:nvPr/>
          </p:nvSpPr>
          <p:spPr>
            <a:xfrm>
              <a:off x="5976434" y="1822686"/>
              <a:ext cx="248920" cy="136525"/>
            </a:xfrm>
            <a:custGeom>
              <a:avLst/>
              <a:gdLst/>
              <a:ahLst/>
              <a:cxnLst/>
              <a:rect l="l" t="t" r="r" b="b"/>
              <a:pathLst>
                <a:path w="248920" h="136525">
                  <a:moveTo>
                    <a:pt x="0" y="0"/>
                  </a:moveTo>
                  <a:lnTo>
                    <a:pt x="248856" y="135953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33D29DD-A163-88E8-A55D-3C3D52C93FAB}"/>
              </a:ext>
            </a:extLst>
          </p:cNvPr>
          <p:cNvSpPr txBox="1"/>
          <p:nvPr/>
        </p:nvSpPr>
        <p:spPr>
          <a:xfrm>
            <a:off x="6610927" y="3346313"/>
            <a:ext cx="2739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6: use selected features to build a tree to predict the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Residual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56F26-CE0C-41DB-3A1D-90AD2754BF22}"/>
              </a:ext>
            </a:extLst>
          </p:cNvPr>
          <p:cNvSpPr txBox="1"/>
          <p:nvPr/>
        </p:nvSpPr>
        <p:spPr>
          <a:xfrm>
            <a:off x="5069987" y="4942883"/>
            <a:ext cx="3306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+</a:t>
            </a:r>
            <a:r>
              <a:rPr lang="en-US" altLang="zh-CN" sz="1800" dirty="0">
                <a:latin typeface="Arial"/>
                <a:cs typeface="Arial"/>
              </a:rPr>
              <a:t> 		X </a:t>
            </a:r>
            <a:r>
              <a:rPr lang="en-US" altLang="zh-CN" sz="1800" dirty="0">
                <a:solidFill>
                  <a:srgbClr val="FF0000"/>
                </a:solidFill>
                <a:latin typeface="Arial"/>
                <a:cs typeface="Arial"/>
              </a:rPr>
              <a:t>0.1</a:t>
            </a:r>
            <a:r>
              <a:rPr lang="en-US" altLang="zh-CN" sz="1800" dirty="0">
                <a:latin typeface="Arial"/>
                <a:cs typeface="Arial"/>
              </a:rPr>
              <a:t>	 </a:t>
            </a:r>
            <a:endParaRPr lang="en-US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883E505-6671-DE95-739B-BEA5D5E6636D}"/>
              </a:ext>
            </a:extLst>
          </p:cNvPr>
          <p:cNvGraphicFramePr>
            <a:graphicFrameLocks noGrp="1"/>
          </p:cNvGraphicFramePr>
          <p:nvPr/>
        </p:nvGraphicFramePr>
        <p:xfrm>
          <a:off x="5459248" y="4337942"/>
          <a:ext cx="2897704" cy="232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704">
                  <a:extLst>
                    <a:ext uri="{9D8B030D-6E8A-4147-A177-3AD203B41FA5}">
                      <a16:colId xmlns:a16="http://schemas.microsoft.com/office/drawing/2014/main" val="2705367294"/>
                    </a:ext>
                  </a:extLst>
                </a:gridCol>
              </a:tblGrid>
              <a:tr h="464305">
                <a:tc>
                  <a:txBody>
                    <a:bodyPr/>
                    <a:lstStyle/>
                    <a:p>
                      <a:pPr marL="50800" algn="ctr">
                        <a:lnSpc>
                          <a:spcPts val="1960"/>
                        </a:lnSpc>
                      </a:pP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8872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91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171.9k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20042"/>
                  </a:ext>
                </a:extLst>
              </a:tr>
              <a:tr h="23781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+ 169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197.9k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8843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+ 259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206.9k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871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18991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+ 339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214.9k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83885"/>
                  </a:ext>
                </a:extLst>
              </a:tr>
              <a:tr h="332605">
                <a:tc>
                  <a:txBody>
                    <a:bodyPr/>
                    <a:lstStyle/>
                    <a:p>
                      <a:pPr marL="50800">
                        <a:lnSpc>
                          <a:spcPts val="2070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181 – 81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 0.1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= 172.9k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64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509 L -0.24548 0.428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01" y="2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8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54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Gradient Boost</a:t>
            </a:r>
            <a:endParaRPr spc="20" dirty="0">
              <a:solidFill>
                <a:srgbClr val="3369E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17AC9-06F1-139C-6F5A-F447D58A0EB4}"/>
              </a:ext>
            </a:extLst>
          </p:cNvPr>
          <p:cNvSpPr txBox="1"/>
          <p:nvPr/>
        </p:nvSpPr>
        <p:spPr>
          <a:xfrm>
            <a:off x="989354" y="1810228"/>
            <a:ext cx="769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8: replicate the above until adding more trees won’t reduce the residual significantly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E9FF5C-18FA-B4BF-B225-FD1A75852D78}"/>
              </a:ext>
            </a:extLst>
          </p:cNvPr>
          <p:cNvSpPr txBox="1"/>
          <p:nvPr/>
        </p:nvSpPr>
        <p:spPr>
          <a:xfrm>
            <a:off x="1425976" y="2937017"/>
            <a:ext cx="4586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54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D60777A-002A-9926-091A-85B4B72E99F8}"/>
              </a:ext>
            </a:extLst>
          </p:cNvPr>
          <p:cNvGrpSpPr/>
          <p:nvPr/>
        </p:nvGrpSpPr>
        <p:grpSpPr>
          <a:xfrm>
            <a:off x="614771" y="2597202"/>
            <a:ext cx="7085287" cy="1545298"/>
            <a:chOff x="152400" y="4728315"/>
            <a:chExt cx="7085287" cy="154529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805AAA-3C3D-69BF-5AA0-D2E5D6D5862F}"/>
                </a:ext>
              </a:extLst>
            </p:cNvPr>
            <p:cNvSpPr txBox="1"/>
            <p:nvPr/>
          </p:nvSpPr>
          <p:spPr>
            <a:xfrm>
              <a:off x="152400" y="5230042"/>
              <a:ext cx="10806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0" i="0" dirty="0"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181k</a:t>
              </a:r>
              <a:endParaRPr lang="en-US" sz="28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680CD5-3C75-6BFB-5526-3C1FCC559DA1}"/>
                </a:ext>
              </a:extLst>
            </p:cNvPr>
            <p:cNvSpPr txBox="1"/>
            <p:nvPr/>
          </p:nvSpPr>
          <p:spPr>
            <a:xfrm>
              <a:off x="4256297" y="4879181"/>
              <a:ext cx="298139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5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endParaRPr lang="en-US" sz="2800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DFDF3BB-AB6B-BB52-ABEE-629E81059F6A}"/>
                </a:ext>
              </a:extLst>
            </p:cNvPr>
            <p:cNvGrpSpPr/>
            <p:nvPr/>
          </p:nvGrpSpPr>
          <p:grpSpPr>
            <a:xfrm>
              <a:off x="1143000" y="4728315"/>
              <a:ext cx="3003501" cy="1545298"/>
              <a:chOff x="6131264" y="2140871"/>
              <a:chExt cx="3003501" cy="1545298"/>
            </a:xfrm>
          </p:grpSpPr>
          <p:sp>
            <p:nvSpPr>
              <p:cNvPr id="30" name="object 20">
                <a:extLst>
                  <a:ext uri="{FF2B5EF4-FFF2-40B4-BE49-F238E27FC236}">
                    <a16:creationId xmlns:a16="http://schemas.microsoft.com/office/drawing/2014/main" id="{D8AF4523-EF47-0F83-0898-3CC60F0F92FC}"/>
                  </a:ext>
                </a:extLst>
              </p:cNvPr>
              <p:cNvSpPr/>
              <p:nvPr/>
            </p:nvSpPr>
            <p:spPr>
              <a:xfrm>
                <a:off x="7240525" y="2140871"/>
                <a:ext cx="1208439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  Quality&lt;8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1" name="object 21">
                <a:extLst>
                  <a:ext uri="{FF2B5EF4-FFF2-40B4-BE49-F238E27FC236}">
                    <a16:creationId xmlns:a16="http://schemas.microsoft.com/office/drawing/2014/main" id="{A6A51362-D2D9-6FD2-BFBF-82F138527CE5}"/>
                  </a:ext>
                </a:extLst>
              </p:cNvPr>
              <p:cNvSpPr/>
              <p:nvPr/>
            </p:nvSpPr>
            <p:spPr>
              <a:xfrm>
                <a:off x="7014130" y="2545860"/>
                <a:ext cx="623405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2">
                <a:extLst>
                  <a:ext uri="{FF2B5EF4-FFF2-40B4-BE49-F238E27FC236}">
                    <a16:creationId xmlns:a16="http://schemas.microsoft.com/office/drawing/2014/main" id="{5D03AB6B-2008-193F-5CF5-D74A760BF993}"/>
                  </a:ext>
                </a:extLst>
              </p:cNvPr>
              <p:cNvSpPr/>
              <p:nvPr/>
            </p:nvSpPr>
            <p:spPr>
              <a:xfrm>
                <a:off x="7639811" y="2545836"/>
                <a:ext cx="584442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23">
                <a:extLst>
                  <a:ext uri="{FF2B5EF4-FFF2-40B4-BE49-F238E27FC236}">
                    <a16:creationId xmlns:a16="http://schemas.microsoft.com/office/drawing/2014/main" id="{025AD3D6-EBF9-132C-AB7E-191ED4609A66}"/>
                  </a:ext>
                </a:extLst>
              </p:cNvPr>
              <p:cNvSpPr/>
              <p:nvPr/>
            </p:nvSpPr>
            <p:spPr>
              <a:xfrm>
                <a:off x="6566705" y="2813132"/>
                <a:ext cx="256806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</a:rPr>
                  <a:t> age &gt; 20                           sqrt&lt;2k</a:t>
                </a:r>
                <a:endParaRPr sz="1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D8B584ED-6DC5-E882-5430-D17770AE5EA2}"/>
                  </a:ext>
                </a:extLst>
              </p:cNvPr>
              <p:cNvSpPr/>
              <p:nvPr/>
            </p:nvSpPr>
            <p:spPr>
              <a:xfrm>
                <a:off x="6131264" y="3411624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-191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5" name="object 25">
                <a:extLst>
                  <a:ext uri="{FF2B5EF4-FFF2-40B4-BE49-F238E27FC236}">
                    <a16:creationId xmlns:a16="http://schemas.microsoft.com/office/drawing/2014/main" id="{E7B4D270-2A0E-18AE-E865-142D4DFE3778}"/>
                  </a:ext>
                </a:extLst>
              </p:cNvPr>
              <p:cNvSpPr/>
              <p:nvPr/>
            </p:nvSpPr>
            <p:spPr>
              <a:xfrm>
                <a:off x="6521673" y="3080598"/>
                <a:ext cx="375217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6">
                <a:extLst>
                  <a:ext uri="{FF2B5EF4-FFF2-40B4-BE49-F238E27FC236}">
                    <a16:creationId xmlns:a16="http://schemas.microsoft.com/office/drawing/2014/main" id="{F5CF51FC-A883-57C4-9B27-7CA4B0FEB1D2}"/>
                  </a:ext>
                </a:extLst>
              </p:cNvPr>
              <p:cNvSpPr/>
              <p:nvPr/>
            </p:nvSpPr>
            <p:spPr>
              <a:xfrm>
                <a:off x="7865667" y="3423914"/>
                <a:ext cx="120131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169       339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7" name="object 27">
                <a:extLst>
                  <a:ext uri="{FF2B5EF4-FFF2-40B4-BE49-F238E27FC236}">
                    <a16:creationId xmlns:a16="http://schemas.microsoft.com/office/drawing/2014/main" id="{AC3016C2-BD2A-7E64-CE34-E1C9AF84CAF8}"/>
                  </a:ext>
                </a:extLst>
              </p:cNvPr>
              <p:cNvSpPr/>
              <p:nvPr/>
            </p:nvSpPr>
            <p:spPr>
              <a:xfrm>
                <a:off x="8140327" y="3075811"/>
                <a:ext cx="209225" cy="41269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8">
                <a:extLst>
                  <a:ext uri="{FF2B5EF4-FFF2-40B4-BE49-F238E27FC236}">
                    <a16:creationId xmlns:a16="http://schemas.microsoft.com/office/drawing/2014/main" id="{2E4F4775-2EF3-60B7-4400-9611DA49F08E}"/>
                  </a:ext>
                </a:extLst>
              </p:cNvPr>
              <p:cNvSpPr/>
              <p:nvPr/>
            </p:nvSpPr>
            <p:spPr>
              <a:xfrm>
                <a:off x="8352850" y="3075751"/>
                <a:ext cx="375217" cy="355358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47C2FC8F-09B0-8ADB-56FD-418C80674ED7}"/>
                  </a:ext>
                </a:extLst>
              </p:cNvPr>
              <p:cNvSpPr/>
              <p:nvPr/>
            </p:nvSpPr>
            <p:spPr>
              <a:xfrm>
                <a:off x="6963884" y="3411624"/>
                <a:ext cx="72694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259</a:t>
                </a:r>
                <a:endParaRPr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40" name="object 25">
                <a:extLst>
                  <a:ext uri="{FF2B5EF4-FFF2-40B4-BE49-F238E27FC236}">
                    <a16:creationId xmlns:a16="http://schemas.microsoft.com/office/drawing/2014/main" id="{829CA0F7-6D7B-FF84-0DF2-39AF66174FC3}"/>
                  </a:ext>
                </a:extLst>
              </p:cNvPr>
              <p:cNvSpPr/>
              <p:nvPr/>
            </p:nvSpPr>
            <p:spPr>
              <a:xfrm flipH="1">
                <a:off x="6922437" y="3072706"/>
                <a:ext cx="339711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45B9BB-74C1-832A-ED07-1488472C88B6}"/>
              </a:ext>
            </a:extLst>
          </p:cNvPr>
          <p:cNvGrpSpPr/>
          <p:nvPr/>
        </p:nvGrpSpPr>
        <p:grpSpPr>
          <a:xfrm>
            <a:off x="6081391" y="2768445"/>
            <a:ext cx="3237333" cy="1065923"/>
            <a:chOff x="4878481" y="4843052"/>
            <a:chExt cx="4586140" cy="1510030"/>
          </a:xfrm>
        </p:grpSpPr>
        <p:grpSp>
          <p:nvGrpSpPr>
            <p:cNvPr id="10" name="object 19">
              <a:extLst>
                <a:ext uri="{FF2B5EF4-FFF2-40B4-BE49-F238E27FC236}">
                  <a16:creationId xmlns:a16="http://schemas.microsoft.com/office/drawing/2014/main" id="{0BE0496F-E39C-1EC1-9C06-547CF47D023B}"/>
                </a:ext>
              </a:extLst>
            </p:cNvPr>
            <p:cNvGrpSpPr/>
            <p:nvPr/>
          </p:nvGrpSpPr>
          <p:grpSpPr>
            <a:xfrm>
              <a:off x="5257800" y="4843052"/>
              <a:ext cx="2845435" cy="1510030"/>
              <a:chOff x="3561854" y="887806"/>
              <a:chExt cx="2845435" cy="1510030"/>
            </a:xfrm>
          </p:grpSpPr>
          <p:sp>
            <p:nvSpPr>
              <p:cNvPr id="17" name="object 20">
                <a:extLst>
                  <a:ext uri="{FF2B5EF4-FFF2-40B4-BE49-F238E27FC236}">
                    <a16:creationId xmlns:a16="http://schemas.microsoft.com/office/drawing/2014/main" id="{BC380A8C-31DE-AA2B-8AA9-4544F66E2D81}"/>
                  </a:ext>
                </a:extLst>
              </p:cNvPr>
              <p:cNvSpPr/>
              <p:nvPr/>
            </p:nvSpPr>
            <p:spPr>
              <a:xfrm>
                <a:off x="4653076" y="887806"/>
                <a:ext cx="946150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1">
                <a:extLst>
                  <a:ext uri="{FF2B5EF4-FFF2-40B4-BE49-F238E27FC236}">
                    <a16:creationId xmlns:a16="http://schemas.microsoft.com/office/drawing/2014/main" id="{C4C9AF5A-AD7A-DE5E-EA98-9D2391FD604F}"/>
                  </a:ext>
                </a:extLst>
              </p:cNvPr>
              <p:cNvSpPr/>
              <p:nvPr/>
            </p:nvSpPr>
            <p:spPr>
              <a:xfrm>
                <a:off x="4383726" y="1292795"/>
                <a:ext cx="74168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2">
                <a:extLst>
                  <a:ext uri="{FF2B5EF4-FFF2-40B4-BE49-F238E27FC236}">
                    <a16:creationId xmlns:a16="http://schemas.microsoft.com/office/drawing/2014/main" id="{5B495985-53D3-1A81-2906-752B2F88A5DA}"/>
                  </a:ext>
                </a:extLst>
              </p:cNvPr>
              <p:cNvSpPr/>
              <p:nvPr/>
            </p:nvSpPr>
            <p:spPr>
              <a:xfrm>
                <a:off x="5128115" y="1292771"/>
                <a:ext cx="695325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3">
                <a:extLst>
                  <a:ext uri="{FF2B5EF4-FFF2-40B4-BE49-F238E27FC236}">
                    <a16:creationId xmlns:a16="http://schemas.microsoft.com/office/drawing/2014/main" id="{A352F0E9-5CE1-7A6D-E0D3-8DE74F314215}"/>
                  </a:ext>
                </a:extLst>
              </p:cNvPr>
              <p:cNvSpPr/>
              <p:nvPr/>
            </p:nvSpPr>
            <p:spPr>
              <a:xfrm>
                <a:off x="3851414" y="1560067"/>
                <a:ext cx="241427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A4A04AF0-B15C-9C96-098B-D7948465B3EE}"/>
                  </a:ext>
                </a:extLst>
              </p:cNvPr>
              <p:cNvSpPr/>
              <p:nvPr/>
            </p:nvSpPr>
            <p:spPr>
              <a:xfrm>
                <a:off x="3561854" y="2135009"/>
                <a:ext cx="86486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475ED5BE-3B4C-41A4-7630-7431A1628B15}"/>
                  </a:ext>
                </a:extLst>
              </p:cNvPr>
              <p:cNvSpPr/>
              <p:nvPr/>
            </p:nvSpPr>
            <p:spPr>
              <a:xfrm>
                <a:off x="3797838" y="1827533"/>
                <a:ext cx="44640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CF3608D9-3C35-82B5-4F1E-5845DB0F5741}"/>
                  </a:ext>
                </a:extLst>
              </p:cNvPr>
              <p:cNvSpPr/>
              <p:nvPr/>
            </p:nvSpPr>
            <p:spPr>
              <a:xfrm>
                <a:off x="5475605" y="1960765"/>
                <a:ext cx="931544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7">
                <a:extLst>
                  <a:ext uri="{FF2B5EF4-FFF2-40B4-BE49-F238E27FC236}">
                    <a16:creationId xmlns:a16="http://schemas.microsoft.com/office/drawing/2014/main" id="{CEC5536C-6D95-2055-2BF1-F0A16AE12867}"/>
                  </a:ext>
                </a:extLst>
              </p:cNvPr>
              <p:cNvSpPr/>
              <p:nvPr/>
            </p:nvSpPr>
            <p:spPr>
              <a:xfrm>
                <a:off x="5696287" y="1822747"/>
                <a:ext cx="276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8">
                <a:extLst>
                  <a:ext uri="{FF2B5EF4-FFF2-40B4-BE49-F238E27FC236}">
                    <a16:creationId xmlns:a16="http://schemas.microsoft.com/office/drawing/2014/main" id="{B6B8AFBA-091E-76CB-5AFE-271E31508605}"/>
                  </a:ext>
                </a:extLst>
              </p:cNvPr>
              <p:cNvSpPr/>
              <p:nvPr/>
            </p:nvSpPr>
            <p:spPr>
              <a:xfrm>
                <a:off x="5976434" y="1822686"/>
                <a:ext cx="24892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786EDC0-37F3-E143-3D4C-9EFEC1896169}"/>
                </a:ext>
              </a:extLst>
            </p:cNvPr>
            <p:cNvSpPr txBox="1"/>
            <p:nvPr/>
          </p:nvSpPr>
          <p:spPr>
            <a:xfrm>
              <a:off x="7913894" y="5323570"/>
              <a:ext cx="109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0.1 </a:t>
              </a:r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3A3C3AA-06BB-C8E2-212A-0B20DB2467F3}"/>
                </a:ext>
              </a:extLst>
            </p:cNvPr>
            <p:cNvSpPr txBox="1"/>
            <p:nvPr/>
          </p:nvSpPr>
          <p:spPr>
            <a:xfrm>
              <a:off x="4878481" y="5246277"/>
              <a:ext cx="45861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B22BD15-AB96-E05D-31E6-5232D26C0B37}"/>
              </a:ext>
            </a:extLst>
          </p:cNvPr>
          <p:cNvGrpSpPr/>
          <p:nvPr/>
        </p:nvGrpSpPr>
        <p:grpSpPr>
          <a:xfrm>
            <a:off x="1438784" y="4342106"/>
            <a:ext cx="3237333" cy="1065923"/>
            <a:chOff x="4878481" y="4843052"/>
            <a:chExt cx="4586140" cy="1510030"/>
          </a:xfrm>
        </p:grpSpPr>
        <p:grpSp>
          <p:nvGrpSpPr>
            <p:cNvPr id="62" name="object 19">
              <a:extLst>
                <a:ext uri="{FF2B5EF4-FFF2-40B4-BE49-F238E27FC236}">
                  <a16:creationId xmlns:a16="http://schemas.microsoft.com/office/drawing/2014/main" id="{4FEA7A1A-91B3-FB5D-34AE-71CFBA9400D5}"/>
                </a:ext>
              </a:extLst>
            </p:cNvPr>
            <p:cNvGrpSpPr/>
            <p:nvPr/>
          </p:nvGrpSpPr>
          <p:grpSpPr>
            <a:xfrm>
              <a:off x="5257800" y="4843052"/>
              <a:ext cx="2845435" cy="1510030"/>
              <a:chOff x="3561854" y="887806"/>
              <a:chExt cx="2845435" cy="1510030"/>
            </a:xfrm>
          </p:grpSpPr>
          <p:sp>
            <p:nvSpPr>
              <p:cNvPr id="65" name="object 20">
                <a:extLst>
                  <a:ext uri="{FF2B5EF4-FFF2-40B4-BE49-F238E27FC236}">
                    <a16:creationId xmlns:a16="http://schemas.microsoft.com/office/drawing/2014/main" id="{0BE569ED-F9FD-4DA0-EBFE-62F6140F6E62}"/>
                  </a:ext>
                </a:extLst>
              </p:cNvPr>
              <p:cNvSpPr/>
              <p:nvPr/>
            </p:nvSpPr>
            <p:spPr>
              <a:xfrm>
                <a:off x="4653076" y="887806"/>
                <a:ext cx="946150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21">
                <a:extLst>
                  <a:ext uri="{FF2B5EF4-FFF2-40B4-BE49-F238E27FC236}">
                    <a16:creationId xmlns:a16="http://schemas.microsoft.com/office/drawing/2014/main" id="{2C7F5E90-C1C0-FEE7-E39D-E62C976D31B0}"/>
                  </a:ext>
                </a:extLst>
              </p:cNvPr>
              <p:cNvSpPr/>
              <p:nvPr/>
            </p:nvSpPr>
            <p:spPr>
              <a:xfrm>
                <a:off x="4383726" y="1292795"/>
                <a:ext cx="74168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22">
                <a:extLst>
                  <a:ext uri="{FF2B5EF4-FFF2-40B4-BE49-F238E27FC236}">
                    <a16:creationId xmlns:a16="http://schemas.microsoft.com/office/drawing/2014/main" id="{3E132518-5B68-4FBB-88B1-3506BA4235C3}"/>
                  </a:ext>
                </a:extLst>
              </p:cNvPr>
              <p:cNvSpPr/>
              <p:nvPr/>
            </p:nvSpPr>
            <p:spPr>
              <a:xfrm>
                <a:off x="5128115" y="1292771"/>
                <a:ext cx="695325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23">
                <a:extLst>
                  <a:ext uri="{FF2B5EF4-FFF2-40B4-BE49-F238E27FC236}">
                    <a16:creationId xmlns:a16="http://schemas.microsoft.com/office/drawing/2014/main" id="{9B873304-AFCE-8450-423C-5EAADD909DA7}"/>
                  </a:ext>
                </a:extLst>
              </p:cNvPr>
              <p:cNvSpPr/>
              <p:nvPr/>
            </p:nvSpPr>
            <p:spPr>
              <a:xfrm>
                <a:off x="3851414" y="1560067"/>
                <a:ext cx="241427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24">
                <a:extLst>
                  <a:ext uri="{FF2B5EF4-FFF2-40B4-BE49-F238E27FC236}">
                    <a16:creationId xmlns:a16="http://schemas.microsoft.com/office/drawing/2014/main" id="{80A2550B-72A3-56A4-548B-3452FD259966}"/>
                  </a:ext>
                </a:extLst>
              </p:cNvPr>
              <p:cNvSpPr/>
              <p:nvPr/>
            </p:nvSpPr>
            <p:spPr>
              <a:xfrm>
                <a:off x="3561854" y="2135009"/>
                <a:ext cx="86486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25">
                <a:extLst>
                  <a:ext uri="{FF2B5EF4-FFF2-40B4-BE49-F238E27FC236}">
                    <a16:creationId xmlns:a16="http://schemas.microsoft.com/office/drawing/2014/main" id="{FED993D0-1495-9F9B-84C4-B74B766565C1}"/>
                  </a:ext>
                </a:extLst>
              </p:cNvPr>
              <p:cNvSpPr/>
              <p:nvPr/>
            </p:nvSpPr>
            <p:spPr>
              <a:xfrm>
                <a:off x="3797838" y="1827533"/>
                <a:ext cx="44640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26">
                <a:extLst>
                  <a:ext uri="{FF2B5EF4-FFF2-40B4-BE49-F238E27FC236}">
                    <a16:creationId xmlns:a16="http://schemas.microsoft.com/office/drawing/2014/main" id="{1986F377-9C78-C8BC-7ACF-59557653BB26}"/>
                  </a:ext>
                </a:extLst>
              </p:cNvPr>
              <p:cNvSpPr/>
              <p:nvPr/>
            </p:nvSpPr>
            <p:spPr>
              <a:xfrm>
                <a:off x="5475605" y="1960765"/>
                <a:ext cx="931544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27">
                <a:extLst>
                  <a:ext uri="{FF2B5EF4-FFF2-40B4-BE49-F238E27FC236}">
                    <a16:creationId xmlns:a16="http://schemas.microsoft.com/office/drawing/2014/main" id="{409D3786-357E-8A70-5B25-6521076D6AC5}"/>
                  </a:ext>
                </a:extLst>
              </p:cNvPr>
              <p:cNvSpPr/>
              <p:nvPr/>
            </p:nvSpPr>
            <p:spPr>
              <a:xfrm>
                <a:off x="5696287" y="1822747"/>
                <a:ext cx="276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28">
                <a:extLst>
                  <a:ext uri="{FF2B5EF4-FFF2-40B4-BE49-F238E27FC236}">
                    <a16:creationId xmlns:a16="http://schemas.microsoft.com/office/drawing/2014/main" id="{D2BB627B-C62E-ACDD-D238-E6555CDF1F48}"/>
                  </a:ext>
                </a:extLst>
              </p:cNvPr>
              <p:cNvSpPr/>
              <p:nvPr/>
            </p:nvSpPr>
            <p:spPr>
              <a:xfrm>
                <a:off x="5976434" y="1822686"/>
                <a:ext cx="24892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B4334F9-2DC1-DC05-722D-3396DB85AA86}"/>
                </a:ext>
              </a:extLst>
            </p:cNvPr>
            <p:cNvSpPr txBox="1"/>
            <p:nvPr/>
          </p:nvSpPr>
          <p:spPr>
            <a:xfrm>
              <a:off x="7913894" y="5323570"/>
              <a:ext cx="109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0.1 </a:t>
              </a:r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2BB29F9-8C13-15B1-0311-892C1145E195}"/>
                </a:ext>
              </a:extLst>
            </p:cNvPr>
            <p:cNvSpPr txBox="1"/>
            <p:nvPr/>
          </p:nvSpPr>
          <p:spPr>
            <a:xfrm>
              <a:off x="4878481" y="5246277"/>
              <a:ext cx="45861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DD338D-6418-9EF8-47EF-7158328765C0}"/>
              </a:ext>
            </a:extLst>
          </p:cNvPr>
          <p:cNvGrpSpPr/>
          <p:nvPr/>
        </p:nvGrpSpPr>
        <p:grpSpPr>
          <a:xfrm>
            <a:off x="4646285" y="4289646"/>
            <a:ext cx="3237333" cy="1065923"/>
            <a:chOff x="4878481" y="4843052"/>
            <a:chExt cx="4586140" cy="1510030"/>
          </a:xfrm>
        </p:grpSpPr>
        <p:grpSp>
          <p:nvGrpSpPr>
            <p:cNvPr id="75" name="object 19">
              <a:extLst>
                <a:ext uri="{FF2B5EF4-FFF2-40B4-BE49-F238E27FC236}">
                  <a16:creationId xmlns:a16="http://schemas.microsoft.com/office/drawing/2014/main" id="{141F3739-3AAB-9B58-230F-B9732E0BDFA4}"/>
                </a:ext>
              </a:extLst>
            </p:cNvPr>
            <p:cNvGrpSpPr/>
            <p:nvPr/>
          </p:nvGrpSpPr>
          <p:grpSpPr>
            <a:xfrm>
              <a:off x="5257800" y="4843052"/>
              <a:ext cx="2845435" cy="1510030"/>
              <a:chOff x="3561854" y="887806"/>
              <a:chExt cx="2845435" cy="1510030"/>
            </a:xfrm>
          </p:grpSpPr>
          <p:sp>
            <p:nvSpPr>
              <p:cNvPr id="78" name="object 20">
                <a:extLst>
                  <a:ext uri="{FF2B5EF4-FFF2-40B4-BE49-F238E27FC236}">
                    <a16:creationId xmlns:a16="http://schemas.microsoft.com/office/drawing/2014/main" id="{AFA139B6-A463-410C-B2C5-A2C0E24C1D5E}"/>
                  </a:ext>
                </a:extLst>
              </p:cNvPr>
              <p:cNvSpPr/>
              <p:nvPr/>
            </p:nvSpPr>
            <p:spPr>
              <a:xfrm>
                <a:off x="4653076" y="887806"/>
                <a:ext cx="946150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21">
                <a:extLst>
                  <a:ext uri="{FF2B5EF4-FFF2-40B4-BE49-F238E27FC236}">
                    <a16:creationId xmlns:a16="http://schemas.microsoft.com/office/drawing/2014/main" id="{E1F7A178-CE62-881E-B4EA-819EBD8A14A7}"/>
                  </a:ext>
                </a:extLst>
              </p:cNvPr>
              <p:cNvSpPr/>
              <p:nvPr/>
            </p:nvSpPr>
            <p:spPr>
              <a:xfrm>
                <a:off x="4383726" y="1292795"/>
                <a:ext cx="74168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22">
                <a:extLst>
                  <a:ext uri="{FF2B5EF4-FFF2-40B4-BE49-F238E27FC236}">
                    <a16:creationId xmlns:a16="http://schemas.microsoft.com/office/drawing/2014/main" id="{25620234-CCC6-8EEB-75DA-D428AFAC7D8D}"/>
                  </a:ext>
                </a:extLst>
              </p:cNvPr>
              <p:cNvSpPr/>
              <p:nvPr/>
            </p:nvSpPr>
            <p:spPr>
              <a:xfrm>
                <a:off x="5128115" y="1292771"/>
                <a:ext cx="695325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23">
                <a:extLst>
                  <a:ext uri="{FF2B5EF4-FFF2-40B4-BE49-F238E27FC236}">
                    <a16:creationId xmlns:a16="http://schemas.microsoft.com/office/drawing/2014/main" id="{05E9790C-9442-7521-4152-E009B6BF3C78}"/>
                  </a:ext>
                </a:extLst>
              </p:cNvPr>
              <p:cNvSpPr/>
              <p:nvPr/>
            </p:nvSpPr>
            <p:spPr>
              <a:xfrm>
                <a:off x="3851414" y="1560067"/>
                <a:ext cx="241427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24">
                <a:extLst>
                  <a:ext uri="{FF2B5EF4-FFF2-40B4-BE49-F238E27FC236}">
                    <a16:creationId xmlns:a16="http://schemas.microsoft.com/office/drawing/2014/main" id="{937F4BFB-8EE1-21A8-8519-8837B4F31ACE}"/>
                  </a:ext>
                </a:extLst>
              </p:cNvPr>
              <p:cNvSpPr/>
              <p:nvPr/>
            </p:nvSpPr>
            <p:spPr>
              <a:xfrm>
                <a:off x="3561854" y="2135009"/>
                <a:ext cx="86486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25">
                <a:extLst>
                  <a:ext uri="{FF2B5EF4-FFF2-40B4-BE49-F238E27FC236}">
                    <a16:creationId xmlns:a16="http://schemas.microsoft.com/office/drawing/2014/main" id="{D3A6D39D-7275-99C9-B169-EC2C6DA5AFA0}"/>
                  </a:ext>
                </a:extLst>
              </p:cNvPr>
              <p:cNvSpPr/>
              <p:nvPr/>
            </p:nvSpPr>
            <p:spPr>
              <a:xfrm>
                <a:off x="3797838" y="1827533"/>
                <a:ext cx="44640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26">
                <a:extLst>
                  <a:ext uri="{FF2B5EF4-FFF2-40B4-BE49-F238E27FC236}">
                    <a16:creationId xmlns:a16="http://schemas.microsoft.com/office/drawing/2014/main" id="{EF6D23C9-C0AD-1B87-E6F4-1AFC5A4C50C0}"/>
                  </a:ext>
                </a:extLst>
              </p:cNvPr>
              <p:cNvSpPr/>
              <p:nvPr/>
            </p:nvSpPr>
            <p:spPr>
              <a:xfrm>
                <a:off x="5475605" y="1960765"/>
                <a:ext cx="931544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27">
                <a:extLst>
                  <a:ext uri="{FF2B5EF4-FFF2-40B4-BE49-F238E27FC236}">
                    <a16:creationId xmlns:a16="http://schemas.microsoft.com/office/drawing/2014/main" id="{E269726D-7877-9DA2-456B-778BEB098651}"/>
                  </a:ext>
                </a:extLst>
              </p:cNvPr>
              <p:cNvSpPr/>
              <p:nvPr/>
            </p:nvSpPr>
            <p:spPr>
              <a:xfrm>
                <a:off x="5696287" y="1822747"/>
                <a:ext cx="276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28">
                <a:extLst>
                  <a:ext uri="{FF2B5EF4-FFF2-40B4-BE49-F238E27FC236}">
                    <a16:creationId xmlns:a16="http://schemas.microsoft.com/office/drawing/2014/main" id="{3CC0D3CA-47FB-C283-4E5C-98709FFED2AF}"/>
                  </a:ext>
                </a:extLst>
              </p:cNvPr>
              <p:cNvSpPr/>
              <p:nvPr/>
            </p:nvSpPr>
            <p:spPr>
              <a:xfrm>
                <a:off x="5976434" y="1822686"/>
                <a:ext cx="24892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544A7E-151D-0E54-1307-9C1E5240D216}"/>
                </a:ext>
              </a:extLst>
            </p:cNvPr>
            <p:cNvSpPr txBox="1"/>
            <p:nvPr/>
          </p:nvSpPr>
          <p:spPr>
            <a:xfrm>
              <a:off x="7913894" y="5323570"/>
              <a:ext cx="109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0.1 </a:t>
              </a:r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4F1664-6DDC-5EF5-C082-0BD19464CE74}"/>
                </a:ext>
              </a:extLst>
            </p:cNvPr>
            <p:cNvSpPr txBox="1"/>
            <p:nvPr/>
          </p:nvSpPr>
          <p:spPr>
            <a:xfrm>
              <a:off x="4878481" y="5246277"/>
              <a:ext cx="45861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66783EB-73B9-1B59-1834-3D28082337D8}"/>
              </a:ext>
            </a:extLst>
          </p:cNvPr>
          <p:cNvGrpSpPr/>
          <p:nvPr/>
        </p:nvGrpSpPr>
        <p:grpSpPr>
          <a:xfrm>
            <a:off x="1429411" y="5607049"/>
            <a:ext cx="3237333" cy="1065923"/>
            <a:chOff x="4878481" y="4843052"/>
            <a:chExt cx="4586140" cy="1510030"/>
          </a:xfrm>
        </p:grpSpPr>
        <p:grpSp>
          <p:nvGrpSpPr>
            <p:cNvPr id="88" name="object 19">
              <a:extLst>
                <a:ext uri="{FF2B5EF4-FFF2-40B4-BE49-F238E27FC236}">
                  <a16:creationId xmlns:a16="http://schemas.microsoft.com/office/drawing/2014/main" id="{0F4BEE18-A2CA-93C6-6447-43539CB4170F}"/>
                </a:ext>
              </a:extLst>
            </p:cNvPr>
            <p:cNvGrpSpPr/>
            <p:nvPr/>
          </p:nvGrpSpPr>
          <p:grpSpPr>
            <a:xfrm>
              <a:off x="5257800" y="4843052"/>
              <a:ext cx="2845435" cy="1510030"/>
              <a:chOff x="3561854" y="887806"/>
              <a:chExt cx="2845435" cy="1510030"/>
            </a:xfrm>
          </p:grpSpPr>
          <p:sp>
            <p:nvSpPr>
              <p:cNvPr id="91" name="object 20">
                <a:extLst>
                  <a:ext uri="{FF2B5EF4-FFF2-40B4-BE49-F238E27FC236}">
                    <a16:creationId xmlns:a16="http://schemas.microsoft.com/office/drawing/2014/main" id="{5AED31DD-AC15-80CF-F3D2-EE2AC82E8FCB}"/>
                  </a:ext>
                </a:extLst>
              </p:cNvPr>
              <p:cNvSpPr/>
              <p:nvPr/>
            </p:nvSpPr>
            <p:spPr>
              <a:xfrm>
                <a:off x="4653076" y="887806"/>
                <a:ext cx="946150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21">
                <a:extLst>
                  <a:ext uri="{FF2B5EF4-FFF2-40B4-BE49-F238E27FC236}">
                    <a16:creationId xmlns:a16="http://schemas.microsoft.com/office/drawing/2014/main" id="{93173858-D05B-0672-BAE9-A37F116C876F}"/>
                  </a:ext>
                </a:extLst>
              </p:cNvPr>
              <p:cNvSpPr/>
              <p:nvPr/>
            </p:nvSpPr>
            <p:spPr>
              <a:xfrm>
                <a:off x="4383726" y="1292795"/>
                <a:ext cx="74168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22">
                <a:extLst>
                  <a:ext uri="{FF2B5EF4-FFF2-40B4-BE49-F238E27FC236}">
                    <a16:creationId xmlns:a16="http://schemas.microsoft.com/office/drawing/2014/main" id="{5422D3A0-BDFE-7BEB-EA98-E620E4FE4882}"/>
                  </a:ext>
                </a:extLst>
              </p:cNvPr>
              <p:cNvSpPr/>
              <p:nvPr/>
            </p:nvSpPr>
            <p:spPr>
              <a:xfrm>
                <a:off x="5128115" y="1292771"/>
                <a:ext cx="695325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23">
                <a:extLst>
                  <a:ext uri="{FF2B5EF4-FFF2-40B4-BE49-F238E27FC236}">
                    <a16:creationId xmlns:a16="http://schemas.microsoft.com/office/drawing/2014/main" id="{1CBE1C5D-A8E0-820A-D432-41EC93D8C6E2}"/>
                  </a:ext>
                </a:extLst>
              </p:cNvPr>
              <p:cNvSpPr/>
              <p:nvPr/>
            </p:nvSpPr>
            <p:spPr>
              <a:xfrm>
                <a:off x="3851414" y="1560067"/>
                <a:ext cx="241427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24">
                <a:extLst>
                  <a:ext uri="{FF2B5EF4-FFF2-40B4-BE49-F238E27FC236}">
                    <a16:creationId xmlns:a16="http://schemas.microsoft.com/office/drawing/2014/main" id="{ED76623A-383B-21FD-9479-936EB8C73A2A}"/>
                  </a:ext>
                </a:extLst>
              </p:cNvPr>
              <p:cNvSpPr/>
              <p:nvPr/>
            </p:nvSpPr>
            <p:spPr>
              <a:xfrm>
                <a:off x="3561854" y="2135009"/>
                <a:ext cx="86486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25">
                <a:extLst>
                  <a:ext uri="{FF2B5EF4-FFF2-40B4-BE49-F238E27FC236}">
                    <a16:creationId xmlns:a16="http://schemas.microsoft.com/office/drawing/2014/main" id="{7B782D6E-BFCA-34C7-F1B4-46FDE6637C34}"/>
                  </a:ext>
                </a:extLst>
              </p:cNvPr>
              <p:cNvSpPr/>
              <p:nvPr/>
            </p:nvSpPr>
            <p:spPr>
              <a:xfrm>
                <a:off x="3797838" y="1827533"/>
                <a:ext cx="44640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26">
                <a:extLst>
                  <a:ext uri="{FF2B5EF4-FFF2-40B4-BE49-F238E27FC236}">
                    <a16:creationId xmlns:a16="http://schemas.microsoft.com/office/drawing/2014/main" id="{EAFC9FBE-5460-157F-6700-B237C7B80B24}"/>
                  </a:ext>
                </a:extLst>
              </p:cNvPr>
              <p:cNvSpPr/>
              <p:nvPr/>
            </p:nvSpPr>
            <p:spPr>
              <a:xfrm>
                <a:off x="5475605" y="1960765"/>
                <a:ext cx="931544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27">
                <a:extLst>
                  <a:ext uri="{FF2B5EF4-FFF2-40B4-BE49-F238E27FC236}">
                    <a16:creationId xmlns:a16="http://schemas.microsoft.com/office/drawing/2014/main" id="{CF028E00-7488-76CB-559C-4CBD6439D324}"/>
                  </a:ext>
                </a:extLst>
              </p:cNvPr>
              <p:cNvSpPr/>
              <p:nvPr/>
            </p:nvSpPr>
            <p:spPr>
              <a:xfrm>
                <a:off x="5696287" y="1822747"/>
                <a:ext cx="276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28">
                <a:extLst>
                  <a:ext uri="{FF2B5EF4-FFF2-40B4-BE49-F238E27FC236}">
                    <a16:creationId xmlns:a16="http://schemas.microsoft.com/office/drawing/2014/main" id="{9C385873-369F-8854-B476-055A79EC2960}"/>
                  </a:ext>
                </a:extLst>
              </p:cNvPr>
              <p:cNvSpPr/>
              <p:nvPr/>
            </p:nvSpPr>
            <p:spPr>
              <a:xfrm>
                <a:off x="5976434" y="1822686"/>
                <a:ext cx="24892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A2AA7D8-4AC4-26FE-8171-D50A022777AD}"/>
                </a:ext>
              </a:extLst>
            </p:cNvPr>
            <p:cNvSpPr txBox="1"/>
            <p:nvPr/>
          </p:nvSpPr>
          <p:spPr>
            <a:xfrm>
              <a:off x="7913894" y="5323570"/>
              <a:ext cx="109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0.1 </a:t>
              </a:r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2A7EA62-2664-9CD3-781E-7DBF2BEA0121}"/>
                </a:ext>
              </a:extLst>
            </p:cNvPr>
            <p:cNvSpPr txBox="1"/>
            <p:nvPr/>
          </p:nvSpPr>
          <p:spPr>
            <a:xfrm>
              <a:off x="4878481" y="5246277"/>
              <a:ext cx="45861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8E35DCF-408F-F750-6A17-B46830A90D09}"/>
              </a:ext>
            </a:extLst>
          </p:cNvPr>
          <p:cNvGrpSpPr/>
          <p:nvPr/>
        </p:nvGrpSpPr>
        <p:grpSpPr>
          <a:xfrm>
            <a:off x="4700039" y="5623774"/>
            <a:ext cx="3237333" cy="1065923"/>
            <a:chOff x="4878481" y="4843052"/>
            <a:chExt cx="4586140" cy="1510030"/>
          </a:xfrm>
        </p:grpSpPr>
        <p:grpSp>
          <p:nvGrpSpPr>
            <p:cNvPr id="101" name="object 19">
              <a:extLst>
                <a:ext uri="{FF2B5EF4-FFF2-40B4-BE49-F238E27FC236}">
                  <a16:creationId xmlns:a16="http://schemas.microsoft.com/office/drawing/2014/main" id="{1F083BD7-B1C8-2488-574F-671EF435669F}"/>
                </a:ext>
              </a:extLst>
            </p:cNvPr>
            <p:cNvGrpSpPr/>
            <p:nvPr/>
          </p:nvGrpSpPr>
          <p:grpSpPr>
            <a:xfrm>
              <a:off x="5257800" y="4843052"/>
              <a:ext cx="2845435" cy="1510030"/>
              <a:chOff x="3561854" y="887806"/>
              <a:chExt cx="2845435" cy="1510030"/>
            </a:xfrm>
          </p:grpSpPr>
          <p:sp>
            <p:nvSpPr>
              <p:cNvPr id="104" name="object 20">
                <a:extLst>
                  <a:ext uri="{FF2B5EF4-FFF2-40B4-BE49-F238E27FC236}">
                    <a16:creationId xmlns:a16="http://schemas.microsoft.com/office/drawing/2014/main" id="{B076FACE-5A5C-A6F8-BE62-C9998634459D}"/>
                  </a:ext>
                </a:extLst>
              </p:cNvPr>
              <p:cNvSpPr/>
              <p:nvPr/>
            </p:nvSpPr>
            <p:spPr>
              <a:xfrm>
                <a:off x="4653076" y="887806"/>
                <a:ext cx="946150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946150" h="403225">
                    <a:moveTo>
                      <a:pt x="945781" y="0"/>
                    </a:moveTo>
                    <a:lnTo>
                      <a:pt x="0" y="0"/>
                    </a:lnTo>
                    <a:lnTo>
                      <a:pt x="0" y="402678"/>
                    </a:lnTo>
                    <a:lnTo>
                      <a:pt x="945781" y="402678"/>
                    </a:lnTo>
                    <a:lnTo>
                      <a:pt x="945781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21">
                <a:extLst>
                  <a:ext uri="{FF2B5EF4-FFF2-40B4-BE49-F238E27FC236}">
                    <a16:creationId xmlns:a16="http://schemas.microsoft.com/office/drawing/2014/main" id="{EC3D4823-4C73-72D7-523E-4A7BA37E0E9B}"/>
                  </a:ext>
                </a:extLst>
              </p:cNvPr>
              <p:cNvSpPr/>
              <p:nvPr/>
            </p:nvSpPr>
            <p:spPr>
              <a:xfrm>
                <a:off x="4383726" y="1292795"/>
                <a:ext cx="74168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741679" h="257809">
                    <a:moveTo>
                      <a:pt x="741362" y="0"/>
                    </a:moveTo>
                    <a:lnTo>
                      <a:pt x="0" y="257606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22">
                <a:extLst>
                  <a:ext uri="{FF2B5EF4-FFF2-40B4-BE49-F238E27FC236}">
                    <a16:creationId xmlns:a16="http://schemas.microsoft.com/office/drawing/2014/main" id="{89F579AC-D9A8-1847-09A3-5DDC8D71F1C4}"/>
                  </a:ext>
                </a:extLst>
              </p:cNvPr>
              <p:cNvSpPr/>
              <p:nvPr/>
            </p:nvSpPr>
            <p:spPr>
              <a:xfrm>
                <a:off x="5128115" y="1292771"/>
                <a:ext cx="695325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695325" h="261619">
                    <a:moveTo>
                      <a:pt x="0" y="0"/>
                    </a:moveTo>
                    <a:lnTo>
                      <a:pt x="694982" y="26134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23">
                <a:extLst>
                  <a:ext uri="{FF2B5EF4-FFF2-40B4-BE49-F238E27FC236}">
                    <a16:creationId xmlns:a16="http://schemas.microsoft.com/office/drawing/2014/main" id="{5CE635D7-2577-5228-40F1-63748678EE1D}"/>
                  </a:ext>
                </a:extLst>
              </p:cNvPr>
              <p:cNvSpPr/>
              <p:nvPr/>
            </p:nvSpPr>
            <p:spPr>
              <a:xfrm>
                <a:off x="3851414" y="1560067"/>
                <a:ext cx="2414270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24142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  <a:path w="2414270" h="262255">
                    <a:moveTo>
                      <a:pt x="2413990" y="0"/>
                    </a:moveTo>
                    <a:lnTo>
                      <a:pt x="1468208" y="0"/>
                    </a:lnTo>
                    <a:lnTo>
                      <a:pt x="1468208" y="262204"/>
                    </a:lnTo>
                    <a:lnTo>
                      <a:pt x="2413990" y="262204"/>
                    </a:lnTo>
                    <a:lnTo>
                      <a:pt x="2413990" y="0"/>
                    </a:lnTo>
                    <a:close/>
                  </a:path>
                </a:pathLst>
              </a:custGeom>
              <a:solidFill>
                <a:srgbClr val="00A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24">
                <a:extLst>
                  <a:ext uri="{FF2B5EF4-FFF2-40B4-BE49-F238E27FC236}">
                    <a16:creationId xmlns:a16="http://schemas.microsoft.com/office/drawing/2014/main" id="{E647368C-C28D-119D-B4CB-F3610D86D370}"/>
                  </a:ext>
                </a:extLst>
              </p:cNvPr>
              <p:cNvSpPr/>
              <p:nvPr/>
            </p:nvSpPr>
            <p:spPr>
              <a:xfrm>
                <a:off x="3561854" y="2135009"/>
                <a:ext cx="864869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262255">
                    <a:moveTo>
                      <a:pt x="864717" y="0"/>
                    </a:moveTo>
                    <a:lnTo>
                      <a:pt x="0" y="0"/>
                    </a:lnTo>
                    <a:lnTo>
                      <a:pt x="0" y="262204"/>
                    </a:lnTo>
                    <a:lnTo>
                      <a:pt x="864717" y="262204"/>
                    </a:lnTo>
                    <a:lnTo>
                      <a:pt x="864717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25">
                <a:extLst>
                  <a:ext uri="{FF2B5EF4-FFF2-40B4-BE49-F238E27FC236}">
                    <a16:creationId xmlns:a16="http://schemas.microsoft.com/office/drawing/2014/main" id="{401EA0A5-7541-01C8-BE14-DC8756FDF8DB}"/>
                  </a:ext>
                </a:extLst>
              </p:cNvPr>
              <p:cNvSpPr/>
              <p:nvPr/>
            </p:nvSpPr>
            <p:spPr>
              <a:xfrm>
                <a:off x="3797838" y="1827533"/>
                <a:ext cx="44640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302260">
                    <a:moveTo>
                      <a:pt x="0" y="302209"/>
                    </a:moveTo>
                    <a:lnTo>
                      <a:pt x="446252" y="0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26">
                <a:extLst>
                  <a:ext uri="{FF2B5EF4-FFF2-40B4-BE49-F238E27FC236}">
                    <a16:creationId xmlns:a16="http://schemas.microsoft.com/office/drawing/2014/main" id="{A9B032E6-98B3-A0BF-D453-A562C78792BA}"/>
                  </a:ext>
                </a:extLst>
              </p:cNvPr>
              <p:cNvSpPr/>
              <p:nvPr/>
            </p:nvSpPr>
            <p:spPr>
              <a:xfrm>
                <a:off x="5475605" y="1960765"/>
                <a:ext cx="931544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215900">
                    <a:moveTo>
                      <a:pt x="399707" y="0"/>
                    </a:moveTo>
                    <a:lnTo>
                      <a:pt x="0" y="0"/>
                    </a:lnTo>
                    <a:lnTo>
                      <a:pt x="0" y="215392"/>
                    </a:lnTo>
                    <a:lnTo>
                      <a:pt x="399707" y="215392"/>
                    </a:lnTo>
                    <a:lnTo>
                      <a:pt x="399707" y="0"/>
                    </a:lnTo>
                    <a:close/>
                  </a:path>
                  <a:path w="931545" h="215900">
                    <a:moveTo>
                      <a:pt x="931113" y="0"/>
                    </a:moveTo>
                    <a:lnTo>
                      <a:pt x="531406" y="0"/>
                    </a:lnTo>
                    <a:lnTo>
                      <a:pt x="531406" y="215392"/>
                    </a:lnTo>
                    <a:lnTo>
                      <a:pt x="931113" y="215392"/>
                    </a:lnTo>
                    <a:lnTo>
                      <a:pt x="931113" y="0"/>
                    </a:lnTo>
                    <a:close/>
                  </a:path>
                </a:pathLst>
              </a:custGeom>
              <a:solidFill>
                <a:srgbClr val="40AD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27">
                <a:extLst>
                  <a:ext uri="{FF2B5EF4-FFF2-40B4-BE49-F238E27FC236}">
                    <a16:creationId xmlns:a16="http://schemas.microsoft.com/office/drawing/2014/main" id="{89210035-D9DB-3A7C-6F46-E815D0C757CE}"/>
                  </a:ext>
                </a:extLst>
              </p:cNvPr>
              <p:cNvSpPr/>
              <p:nvPr/>
            </p:nvSpPr>
            <p:spPr>
              <a:xfrm>
                <a:off x="5696287" y="1822747"/>
                <a:ext cx="276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35889">
                    <a:moveTo>
                      <a:pt x="276072" y="0"/>
                    </a:moveTo>
                    <a:lnTo>
                      <a:pt x="0" y="135839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28">
                <a:extLst>
                  <a:ext uri="{FF2B5EF4-FFF2-40B4-BE49-F238E27FC236}">
                    <a16:creationId xmlns:a16="http://schemas.microsoft.com/office/drawing/2014/main" id="{710EDBD1-B50D-1406-9A1F-A53EB5D291E8}"/>
                  </a:ext>
                </a:extLst>
              </p:cNvPr>
              <p:cNvSpPr/>
              <p:nvPr/>
            </p:nvSpPr>
            <p:spPr>
              <a:xfrm>
                <a:off x="5976434" y="1822686"/>
                <a:ext cx="24892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48920" h="136525">
                    <a:moveTo>
                      <a:pt x="0" y="0"/>
                    </a:moveTo>
                    <a:lnTo>
                      <a:pt x="248856" y="135953"/>
                    </a:lnTo>
                  </a:path>
                </a:pathLst>
              </a:custGeom>
              <a:ln w="127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4EF3275-04BC-AB30-2A97-EB6E025A8A4F}"/>
                </a:ext>
              </a:extLst>
            </p:cNvPr>
            <p:cNvSpPr txBox="1"/>
            <p:nvPr/>
          </p:nvSpPr>
          <p:spPr>
            <a:xfrm>
              <a:off x="7913894" y="5323570"/>
              <a:ext cx="109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0.1 </a:t>
              </a:r>
              <a:endParaRPr 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D813124-52B3-3561-A0EE-AF75136005CD}"/>
                </a:ext>
              </a:extLst>
            </p:cNvPr>
            <p:cNvSpPr txBox="1"/>
            <p:nvPr/>
          </p:nvSpPr>
          <p:spPr>
            <a:xfrm>
              <a:off x="4878481" y="5246277"/>
              <a:ext cx="45861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dirty="0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41A033DC-43EF-B263-0E68-1FC4EA038C9F}"/>
              </a:ext>
            </a:extLst>
          </p:cNvPr>
          <p:cNvSpPr txBox="1"/>
          <p:nvPr/>
        </p:nvSpPr>
        <p:spPr>
          <a:xfrm>
            <a:off x="7789070" y="5839723"/>
            <a:ext cx="4774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……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947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1524000" y="22368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06BF7-BFF1-3D80-571E-C6EE0EACD396}"/>
              </a:ext>
            </a:extLst>
          </p:cNvPr>
          <p:cNvSpPr txBox="1"/>
          <p:nvPr/>
        </p:nvSpPr>
        <p:spPr>
          <a:xfrm>
            <a:off x="1066800" y="3923589"/>
            <a:ext cx="739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3. Cross Validation and Grid Search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644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4921" y="2209800"/>
            <a:ext cx="6979603" cy="329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solidFill>
                  <a:srgbClr val="4F81BD"/>
                </a:solidFill>
                <a:latin typeface="Arial"/>
                <a:cs typeface="Arial"/>
              </a:rPr>
              <a:t>Cross</a:t>
            </a:r>
            <a:r>
              <a:rPr lang="en-US" sz="2400" spc="-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F81BD"/>
                </a:solidFill>
                <a:latin typeface="Arial"/>
                <a:cs typeface="Arial"/>
              </a:rPr>
              <a:t>validation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  <a:r>
              <a:rPr sz="2400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sz="2400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different</a:t>
            </a:r>
            <a:r>
              <a:rPr sz="2400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parts</a:t>
            </a:r>
            <a:r>
              <a:rPr sz="2400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400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"test"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model,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231F20"/>
                </a:solidFill>
                <a:latin typeface="Arial"/>
                <a:cs typeface="Arial"/>
              </a:rPr>
              <a:t>then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summarize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result.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endParaRPr lang="en-US" sz="24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400" b="0" i="0" dirty="0">
                <a:solidFill>
                  <a:srgbClr val="2929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 of the most common types of cross validation is </a:t>
            </a:r>
            <a:r>
              <a:rPr lang="en-US" sz="2400" b="0" i="0" dirty="0">
                <a:solidFill>
                  <a:srgbClr val="4F81B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k-fold cross validation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‘k’ is the number of folds within the dataset.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2819" y="933624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Cross</a:t>
            </a:r>
            <a:r>
              <a:rPr lang="en-US" sz="3600" spc="15" dirty="0">
                <a:solidFill>
                  <a:srgbClr val="3369E8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Validation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819" y="1905000"/>
            <a:ext cx="6979603" cy="498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Example: choosing the penalty factor in LASSO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2819" y="933624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Cross</a:t>
            </a:r>
            <a:r>
              <a:rPr lang="en-US" sz="3600" spc="15" dirty="0">
                <a:solidFill>
                  <a:srgbClr val="3369E8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Validation</a:t>
            </a:r>
            <a:endParaRPr sz="3600" dirty="0">
              <a:latin typeface="Verdana"/>
              <a:cs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E970ED-1915-4BED-88D9-654341580A60}"/>
                  </a:ext>
                </a:extLst>
              </p:cNvPr>
              <p:cNvSpPr txBox="1"/>
              <p:nvPr/>
            </p:nvSpPr>
            <p:spPr>
              <a:xfrm>
                <a:off x="304800" y="2514600"/>
                <a:ext cx="8534400" cy="124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𝑙𝑎𝑠𝑠𝑜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E970ED-1915-4BED-88D9-654341580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514600"/>
                <a:ext cx="8534400" cy="1249188"/>
              </a:xfrm>
              <a:prstGeom prst="rect">
                <a:avLst/>
              </a:prstGeom>
              <a:blipFill>
                <a:blip r:embed="rId2"/>
                <a:stretch>
                  <a:fillRect t="-73737" b="-125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75EE80-F5D2-4A95-A00C-589A33334506}"/>
                  </a:ext>
                </a:extLst>
              </p:cNvPr>
              <p:cNvSpPr txBox="1"/>
              <p:nvPr/>
            </p:nvSpPr>
            <p:spPr>
              <a:xfrm>
                <a:off x="762000" y="4293160"/>
                <a:ext cx="762000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hyperparameter in LASSO, it regularize the learning process itself, and has nothing to do with your data.</a:t>
                </a:r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endParaRPr lang="en-US" sz="2000" spc="-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too small, then not enough punishment, still overfitting</a:t>
                </a:r>
              </a:p>
              <a:p>
                <a:pPr marL="342900" indent="-342900">
                  <a:buClr>
                    <a:srgbClr val="4F81BD"/>
                  </a:buClr>
                  <a:buFont typeface="Arial" panose="020B0604020202020204" pitchFamily="34" charset="0"/>
                  <a:buChar char="•"/>
                </a:pPr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spc="-5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too large, then punish too much, underfitting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75EE80-F5D2-4A95-A00C-589A33334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293160"/>
                <a:ext cx="7620000" cy="1631216"/>
              </a:xfrm>
              <a:prstGeom prst="rect">
                <a:avLst/>
              </a:prstGeom>
              <a:blipFill>
                <a:blip r:embed="rId3"/>
                <a:stretch>
                  <a:fillRect l="-833" t="-1538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979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819" y="1905000"/>
            <a:ext cx="6979603" cy="498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Example: choosing the penalty factor in LASSO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2819" y="933624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Cross</a:t>
            </a:r>
            <a:r>
              <a:rPr lang="en-US" sz="3600" spc="15" dirty="0">
                <a:solidFill>
                  <a:srgbClr val="3369E8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3369E8"/>
                </a:solidFill>
                <a:latin typeface="Verdana"/>
                <a:cs typeface="Verdana"/>
              </a:rPr>
              <a:t>Validation</a:t>
            </a:r>
            <a:endParaRPr sz="3600" dirty="0">
              <a:latin typeface="Verdana"/>
              <a:cs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E970ED-1915-4BED-88D9-654341580A60}"/>
                  </a:ext>
                </a:extLst>
              </p:cNvPr>
              <p:cNvSpPr txBox="1"/>
              <p:nvPr/>
            </p:nvSpPr>
            <p:spPr>
              <a:xfrm>
                <a:off x="304800" y="2514600"/>
                <a:ext cx="8534400" cy="124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𝑙𝑎𝑠𝑠𝑜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E970ED-1915-4BED-88D9-654341580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514600"/>
                <a:ext cx="8534400" cy="1249188"/>
              </a:xfrm>
              <a:prstGeom prst="rect">
                <a:avLst/>
              </a:prstGeom>
              <a:blipFill>
                <a:blip r:embed="rId2"/>
                <a:stretch>
                  <a:fillRect t="-73737" b="-125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4638F-2D77-71AB-7A7B-511E2AA2297B}"/>
                  </a:ext>
                </a:extLst>
              </p:cNvPr>
              <p:cNvSpPr txBox="1"/>
              <p:nvPr/>
            </p:nvSpPr>
            <p:spPr>
              <a:xfrm>
                <a:off x="716827" y="4191000"/>
                <a:ext cx="7710346" cy="724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Goal: find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so that the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minimize the mean squared error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in the test set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4638F-2D77-71AB-7A7B-511E2AA22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27" y="4191000"/>
                <a:ext cx="7710346" cy="724622"/>
              </a:xfrm>
              <a:prstGeom prst="rect">
                <a:avLst/>
              </a:prstGeom>
              <a:blipFill>
                <a:blip r:embed="rId3"/>
                <a:stretch>
                  <a:fillRect l="-870" t="-2542" b="-14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7065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951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3369E8"/>
                </a:solidFill>
              </a:rPr>
              <a:t>Split</a:t>
            </a:r>
            <a:r>
              <a:rPr spc="50" dirty="0">
                <a:solidFill>
                  <a:srgbClr val="3369E8"/>
                </a:solidFill>
              </a:rPr>
              <a:t> </a:t>
            </a:r>
            <a:r>
              <a:rPr spc="20" dirty="0">
                <a:solidFill>
                  <a:srgbClr val="3369E8"/>
                </a:solidFill>
              </a:rPr>
              <a:t>the</a:t>
            </a:r>
            <a:r>
              <a:rPr spc="45" dirty="0">
                <a:solidFill>
                  <a:srgbClr val="3369E8"/>
                </a:solidFill>
              </a:rPr>
              <a:t> </a:t>
            </a:r>
            <a:r>
              <a:rPr spc="30" dirty="0">
                <a:solidFill>
                  <a:srgbClr val="3369E8"/>
                </a:solidFill>
              </a:rPr>
              <a:t>Dataset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102</a:t>
            </a:fld>
            <a:endParaRPr dirty="0"/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843C2F77-DB73-A9DA-F28A-89B40393FEC0}"/>
              </a:ext>
            </a:extLst>
          </p:cNvPr>
          <p:cNvGraphicFramePr>
            <a:graphicFrameLocks noGrp="1"/>
          </p:cNvGraphicFramePr>
          <p:nvPr/>
        </p:nvGraphicFramePr>
        <p:xfrm>
          <a:off x="773230" y="2971800"/>
          <a:ext cx="7942581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981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1578344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   Train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Test Set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10CF200-BF27-C2BD-3718-359DF5C0E4E6}"/>
              </a:ext>
            </a:extLst>
          </p:cNvPr>
          <p:cNvGraphicFramePr>
            <a:graphicFrameLocks noGrp="1"/>
          </p:cNvGraphicFramePr>
          <p:nvPr/>
        </p:nvGraphicFramePr>
        <p:xfrm>
          <a:off x="777241" y="2971800"/>
          <a:ext cx="794258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9982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1578344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                 Train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Test Set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05388-4A62-46A1-6155-244C6FC82A9C}"/>
                  </a:ext>
                </a:extLst>
              </p:cNvPr>
              <p:cNvSpPr txBox="1"/>
              <p:nvPr/>
            </p:nvSpPr>
            <p:spPr>
              <a:xfrm>
                <a:off x="794887" y="5334000"/>
                <a:ext cx="7710346" cy="724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Goal: find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so that the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minimize the mean squared error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in the </a:t>
                </a:r>
                <a:r>
                  <a:rPr lang="en-US" sz="20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 set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05388-4A62-46A1-6155-244C6FC82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87" y="5334000"/>
                <a:ext cx="7710346" cy="724622"/>
              </a:xfrm>
              <a:prstGeom prst="rect">
                <a:avLst/>
              </a:prstGeom>
              <a:blipFill>
                <a:blip r:embed="rId3"/>
                <a:stretch>
                  <a:fillRect l="-791" t="-168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072B2F-A606-AAC4-DAF7-DEFFB445878F}"/>
                  </a:ext>
                </a:extLst>
              </p:cNvPr>
              <p:cNvSpPr txBox="1"/>
              <p:nvPr/>
            </p:nvSpPr>
            <p:spPr>
              <a:xfrm>
                <a:off x="396905" y="3804083"/>
                <a:ext cx="8534400" cy="124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𝑙𝑎𝑠𝑠𝑜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072B2F-A606-AAC4-DAF7-DEFFB4458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05" y="3804083"/>
                <a:ext cx="8534400" cy="1249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">
            <a:extLst>
              <a:ext uri="{FF2B5EF4-FFF2-40B4-BE49-F238E27FC236}">
                <a16:creationId xmlns:a16="http://schemas.microsoft.com/office/drawing/2014/main" id="{8A5E54E2-0E3B-778C-2600-867C9A3F561B}"/>
              </a:ext>
            </a:extLst>
          </p:cNvPr>
          <p:cNvSpPr txBox="1"/>
          <p:nvPr/>
        </p:nvSpPr>
        <p:spPr>
          <a:xfrm>
            <a:off x="794887" y="2066121"/>
            <a:ext cx="6979603" cy="498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Example: choosing the penalty factor in LASSO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95E39-384D-DA77-2826-8C099DDAB8FE}"/>
                  </a:ext>
                </a:extLst>
              </p:cNvPr>
              <p:cNvSpPr txBox="1"/>
              <p:nvPr/>
            </p:nvSpPr>
            <p:spPr>
              <a:xfrm>
                <a:off x="830982" y="6108518"/>
                <a:ext cx="45864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0.1, 0.3, 1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𝑤h𝑖𝑐h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𝑏𝑒𝑠𝑡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95E39-384D-DA77-2826-8C099DDAB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982" y="6108518"/>
                <a:ext cx="4586438" cy="461665"/>
              </a:xfrm>
              <a:prstGeom prst="rect">
                <a:avLst/>
              </a:prstGeom>
              <a:blipFill>
                <a:blip r:embed="rId5"/>
                <a:stretch>
                  <a:fillRect r="-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04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951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Cross Validation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103</a:t>
            </a:fld>
            <a:endParaRPr dirty="0"/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843C2F77-DB73-A9DA-F28A-89B40393FEC0}"/>
              </a:ext>
            </a:extLst>
          </p:cNvPr>
          <p:cNvGraphicFramePr>
            <a:graphicFrameLocks noGrp="1"/>
          </p:cNvGraphicFramePr>
          <p:nvPr/>
        </p:nvGraphicFramePr>
        <p:xfrm>
          <a:off x="773230" y="2971800"/>
          <a:ext cx="7942581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981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1578344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   Train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Test Set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50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-0.181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6951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K-fold Cross Validation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104</a:t>
            </a:fld>
            <a:endParaRPr dirty="0"/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843C2F77-DB73-A9DA-F28A-89B40393FEC0}"/>
              </a:ext>
            </a:extLst>
          </p:cNvPr>
          <p:cNvGraphicFramePr>
            <a:graphicFrameLocks noGrp="1"/>
          </p:cNvGraphicFramePr>
          <p:nvPr/>
        </p:nvGraphicFramePr>
        <p:xfrm>
          <a:off x="773230" y="1752600"/>
          <a:ext cx="6189981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981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   Train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3EED8AF3-F0C3-E321-D863-DBF7CBCA7BF0}"/>
              </a:ext>
            </a:extLst>
          </p:cNvPr>
          <p:cNvGraphicFramePr>
            <a:graphicFrameLocks noGrp="1"/>
          </p:cNvGraphicFramePr>
          <p:nvPr/>
        </p:nvGraphicFramePr>
        <p:xfrm>
          <a:off x="770019" y="2494185"/>
          <a:ext cx="618998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263243976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112195233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19378007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p:graphicFrame>
        <p:nvGraphicFramePr>
          <p:cNvPr id="4" name="Table 24">
            <a:extLst>
              <a:ext uri="{FF2B5EF4-FFF2-40B4-BE49-F238E27FC236}">
                <a16:creationId xmlns:a16="http://schemas.microsoft.com/office/drawing/2014/main" id="{B3E9A1E3-CFB7-ED60-70B9-E4B7B0B67FF7}"/>
              </a:ext>
            </a:extLst>
          </p:cNvPr>
          <p:cNvGraphicFramePr>
            <a:graphicFrameLocks noGrp="1"/>
          </p:cNvGraphicFramePr>
          <p:nvPr/>
        </p:nvGraphicFramePr>
        <p:xfrm>
          <a:off x="770019" y="3289217"/>
          <a:ext cx="618998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402065213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1787572482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9000222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0F1E078-91DD-DC62-0F96-2DC176D73E06}"/>
              </a:ext>
            </a:extLst>
          </p:cNvPr>
          <p:cNvGraphicFramePr>
            <a:graphicFrameLocks noGrp="1"/>
          </p:cNvGraphicFramePr>
          <p:nvPr/>
        </p:nvGraphicFramePr>
        <p:xfrm>
          <a:off x="770019" y="4084249"/>
          <a:ext cx="618998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767263096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2741125834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181831149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p:graphicFrame>
        <p:nvGraphicFramePr>
          <p:cNvPr id="6" name="Table 24">
            <a:extLst>
              <a:ext uri="{FF2B5EF4-FFF2-40B4-BE49-F238E27FC236}">
                <a16:creationId xmlns:a16="http://schemas.microsoft.com/office/drawing/2014/main" id="{A0F98256-D631-11D9-F153-3BF9416F7C20}"/>
              </a:ext>
            </a:extLst>
          </p:cNvPr>
          <p:cNvGraphicFramePr>
            <a:graphicFrameLocks noGrp="1"/>
          </p:cNvGraphicFramePr>
          <p:nvPr/>
        </p:nvGraphicFramePr>
        <p:xfrm>
          <a:off x="770019" y="4879281"/>
          <a:ext cx="618998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1325805791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2766665858"/>
                    </a:ext>
                  </a:extLst>
                </a:gridCol>
                <a:gridCol w="1261746">
                  <a:extLst>
                    <a:ext uri="{9D8B030D-6E8A-4147-A177-3AD203B41FA5}">
                      <a16:colId xmlns:a16="http://schemas.microsoft.com/office/drawing/2014/main" val="419559692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60888717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09088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793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9DD987-80C7-F5BB-9C0F-BA22106F3A13}"/>
                  </a:ext>
                </a:extLst>
              </p:cNvPr>
              <p:cNvSpPr txBox="1"/>
              <p:nvPr/>
            </p:nvSpPr>
            <p:spPr>
              <a:xfrm>
                <a:off x="6993689" y="1926223"/>
                <a:ext cx="24877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Iteration 1: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𝑚𝑠𝑤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9DD987-80C7-F5BB-9C0F-BA22106F3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689" y="1926223"/>
                <a:ext cx="2487730" cy="338554"/>
              </a:xfrm>
              <a:prstGeom prst="rect">
                <a:avLst/>
              </a:prstGeom>
              <a:blipFill>
                <a:blip r:embed="rId3"/>
                <a:stretch>
                  <a:fillRect l="-122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D783EF-3B4D-6171-30A0-AD19F2C32212}"/>
                  </a:ext>
                </a:extLst>
              </p:cNvPr>
              <p:cNvSpPr txBox="1"/>
              <p:nvPr/>
            </p:nvSpPr>
            <p:spPr>
              <a:xfrm>
                <a:off x="6993689" y="2623070"/>
                <a:ext cx="24877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Iteration 2: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𝑚𝑠𝑤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D783EF-3B4D-6171-30A0-AD19F2C32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689" y="2623070"/>
                <a:ext cx="2487730" cy="338554"/>
              </a:xfrm>
              <a:prstGeom prst="rect">
                <a:avLst/>
              </a:prstGeom>
              <a:blipFill>
                <a:blip r:embed="rId4"/>
                <a:stretch>
                  <a:fillRect l="-122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9D6B94-816C-2BC5-CB0D-7B935BBF5D63}"/>
                  </a:ext>
                </a:extLst>
              </p:cNvPr>
              <p:cNvSpPr txBox="1"/>
              <p:nvPr/>
            </p:nvSpPr>
            <p:spPr>
              <a:xfrm>
                <a:off x="6974439" y="3429000"/>
                <a:ext cx="24877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Iteration 3: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𝑚𝑠𝑤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9D6B94-816C-2BC5-CB0D-7B935BBF5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39" y="3429000"/>
                <a:ext cx="2487730" cy="338554"/>
              </a:xfrm>
              <a:prstGeom prst="rect">
                <a:avLst/>
              </a:prstGeom>
              <a:blipFill>
                <a:blip r:embed="rId5"/>
                <a:stretch>
                  <a:fillRect l="-1225" t="-5455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6100C7-21AE-BD4E-4F00-DE9B344C970D}"/>
                  </a:ext>
                </a:extLst>
              </p:cNvPr>
              <p:cNvSpPr txBox="1"/>
              <p:nvPr/>
            </p:nvSpPr>
            <p:spPr>
              <a:xfrm>
                <a:off x="6974439" y="4257872"/>
                <a:ext cx="24877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Iteration 4: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𝑚𝑠𝑤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6100C7-21AE-BD4E-4F00-DE9B344C9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39" y="4257872"/>
                <a:ext cx="2487730" cy="338554"/>
              </a:xfrm>
              <a:prstGeom prst="rect">
                <a:avLst/>
              </a:prstGeom>
              <a:blipFill>
                <a:blip r:embed="rId6"/>
                <a:stretch>
                  <a:fillRect l="-122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CCC933-D661-FFAD-488A-524BBCEC8AD3}"/>
                  </a:ext>
                </a:extLst>
              </p:cNvPr>
              <p:cNvSpPr txBox="1"/>
              <p:nvPr/>
            </p:nvSpPr>
            <p:spPr>
              <a:xfrm>
                <a:off x="6960001" y="5064685"/>
                <a:ext cx="24877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Iteration 5: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𝑚𝑠𝑤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CCC933-D661-FFAD-488A-524BBCEC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1" y="5064685"/>
                <a:ext cx="2487730" cy="338554"/>
              </a:xfrm>
              <a:prstGeom prst="rect">
                <a:avLst/>
              </a:prstGeom>
              <a:blipFill>
                <a:blip r:embed="rId7"/>
                <a:stretch>
                  <a:fillRect l="-1471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6C663C-D52D-8D9F-9427-BC68C02E83F4}"/>
                  </a:ext>
                </a:extLst>
              </p:cNvPr>
              <p:cNvSpPr txBox="1"/>
              <p:nvPr/>
            </p:nvSpPr>
            <p:spPr>
              <a:xfrm>
                <a:off x="1371600" y="5791200"/>
                <a:ext cx="4171368" cy="52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=0.1)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6C663C-D52D-8D9F-9427-BC68C02E8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791200"/>
                <a:ext cx="4171368" cy="523861"/>
              </a:xfrm>
              <a:prstGeom prst="rect">
                <a:avLst/>
              </a:prstGeom>
              <a:blipFill>
                <a:blip r:embed="rId8"/>
                <a:stretch>
                  <a:fillRect t="-2326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27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740918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Cross Validation + Grid Search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105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6C663C-D52D-8D9F-9427-BC68C02E83F4}"/>
                  </a:ext>
                </a:extLst>
              </p:cNvPr>
              <p:cNvSpPr txBox="1"/>
              <p:nvPr/>
            </p:nvSpPr>
            <p:spPr>
              <a:xfrm>
                <a:off x="1371600" y="5791200"/>
                <a:ext cx="4171368" cy="52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=0.1)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6C663C-D52D-8D9F-9427-BC68C02E8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791200"/>
                <a:ext cx="4171368" cy="523861"/>
              </a:xfrm>
              <a:prstGeom prst="rect">
                <a:avLst/>
              </a:prstGeom>
              <a:blipFill>
                <a:blip r:embed="rId3"/>
                <a:stretch>
                  <a:fillRect t="-2326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2E84DC-224A-FAA6-86C6-158D4120B6BD}"/>
                  </a:ext>
                </a:extLst>
              </p:cNvPr>
              <p:cNvSpPr txBox="1"/>
              <p:nvPr/>
            </p:nvSpPr>
            <p:spPr>
              <a:xfrm>
                <a:off x="1143000" y="2639286"/>
                <a:ext cx="525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Replicate this process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2E84DC-224A-FAA6-86C6-158D4120B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639286"/>
                <a:ext cx="5257800" cy="369332"/>
              </a:xfrm>
              <a:prstGeom prst="rect">
                <a:avLst/>
              </a:prstGeom>
              <a:blipFill>
                <a:blip r:embed="rId4"/>
                <a:stretch>
                  <a:fillRect l="-1044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5CE32D-2309-9E4F-54F6-D2B66872C100}"/>
                  </a:ext>
                </a:extLst>
              </p:cNvPr>
              <p:cNvSpPr txBox="1"/>
              <p:nvPr/>
            </p:nvSpPr>
            <p:spPr>
              <a:xfrm>
                <a:off x="1371600" y="3320878"/>
                <a:ext cx="4171368" cy="52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=0.3)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5CE32D-2309-9E4F-54F6-D2B66872C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320878"/>
                <a:ext cx="4171368" cy="523861"/>
              </a:xfrm>
              <a:prstGeom prst="rect">
                <a:avLst/>
              </a:prstGeom>
              <a:blipFill>
                <a:blip r:embed="rId5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CE1ACE-57C3-2E73-E30F-4BE075C86026}"/>
                  </a:ext>
                </a:extLst>
              </p:cNvPr>
              <p:cNvSpPr txBox="1"/>
              <p:nvPr/>
            </p:nvSpPr>
            <p:spPr>
              <a:xfrm>
                <a:off x="1371600" y="4048220"/>
                <a:ext cx="4171368" cy="52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CE1ACE-57C3-2E73-E30F-4BE075C86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048220"/>
                <a:ext cx="4171368" cy="523861"/>
              </a:xfrm>
              <a:prstGeom prst="rect">
                <a:avLst/>
              </a:prstGeom>
              <a:blipFill>
                <a:blip r:embed="rId6"/>
                <a:stretch>
                  <a:fillRect t="-2326"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69FBF2-0E36-6051-23B5-3B441F808951}"/>
                  </a:ext>
                </a:extLst>
              </p:cNvPr>
              <p:cNvSpPr txBox="1"/>
              <p:nvPr/>
            </p:nvSpPr>
            <p:spPr>
              <a:xfrm>
                <a:off x="1143000" y="4996974"/>
                <a:ext cx="5181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pick the that gives the smallest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69FBF2-0E36-6051-23B5-3B441F808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996974"/>
                <a:ext cx="5181600" cy="369332"/>
              </a:xfrm>
              <a:prstGeom prst="rect">
                <a:avLst/>
              </a:prstGeom>
              <a:blipFill>
                <a:blip r:embed="rId7"/>
                <a:stretch>
                  <a:fillRect l="-1059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3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111E-6 L 5E-6 -0.549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/>
      <p:bldP spid="9" grpId="0"/>
      <p:bldP spid="10" grpId="0"/>
      <p:bldP spid="1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415" y="934327"/>
            <a:ext cx="8458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3369E8"/>
                </a:solidFill>
              </a:rPr>
              <a:t>Hyperparameter tuning techniques</a:t>
            </a:r>
            <a:endParaRPr spc="35" dirty="0">
              <a:solidFill>
                <a:srgbClr val="3369E8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106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E0BBE-DF74-07DD-7343-553A5CF7868D}"/>
              </a:ext>
            </a:extLst>
          </p:cNvPr>
          <p:cNvSpPr txBox="1"/>
          <p:nvPr/>
        </p:nvSpPr>
        <p:spPr>
          <a:xfrm>
            <a:off x="1155924" y="2438400"/>
            <a:ext cx="6832151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Grid search</a:t>
            </a:r>
          </a:p>
          <a:p>
            <a:pPr marL="342900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Random search</a:t>
            </a:r>
          </a:p>
          <a:p>
            <a:pPr marL="342900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Bayesian optimization</a:t>
            </a:r>
          </a:p>
          <a:p>
            <a:pPr marL="342900" indent="-342900">
              <a:lnSpc>
                <a:spcPct val="150000"/>
              </a:lnSpc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Tree-structured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Parzen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estimators (TPE)</a:t>
            </a:r>
          </a:p>
        </p:txBody>
      </p:sp>
    </p:spTree>
    <p:extLst>
      <p:ext uri="{BB962C8B-B14F-4D97-AF65-F5344CB8AC3E}">
        <p14:creationId xmlns:p14="http://schemas.microsoft.com/office/powerpoint/2010/main" val="31178149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31F4F-6253-E5EF-7ADF-7F98FA7C9DB2}"/>
              </a:ext>
            </a:extLst>
          </p:cNvPr>
          <p:cNvSpPr txBox="1"/>
          <p:nvPr/>
        </p:nvSpPr>
        <p:spPr>
          <a:xfrm>
            <a:off x="1676400" y="19812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06BF7-BFF1-3D80-571E-C6EE0EACD396}"/>
              </a:ext>
            </a:extLst>
          </p:cNvPr>
          <p:cNvSpPr txBox="1"/>
          <p:nvPr/>
        </p:nvSpPr>
        <p:spPr>
          <a:xfrm>
            <a:off x="2514600" y="3733800"/>
            <a:ext cx="411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pc="-55" dirty="0">
                <a:solidFill>
                  <a:srgbClr val="3369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3. Classification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30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Classification</a:t>
            </a:r>
            <a:endParaRPr spc="15" dirty="0">
              <a:solidFill>
                <a:srgbClr val="3369E8"/>
              </a:solidFill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FFCB700F-E44C-55CD-257E-4A95AB29E7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068" y="1821282"/>
            <a:ext cx="6793864" cy="482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013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F33D4E-C5B4-294F-0FD4-EB04686CA1F2}"/>
              </a:ext>
            </a:extLst>
          </p:cNvPr>
          <p:cNvSpPr/>
          <p:nvPr/>
        </p:nvSpPr>
        <p:spPr>
          <a:xfrm rot="6199358">
            <a:off x="5546220" y="4880631"/>
            <a:ext cx="304800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6492E-AD7C-204B-64EE-1771B0AD700D}"/>
              </a:ext>
            </a:extLst>
          </p:cNvPr>
          <p:cNvSpPr/>
          <p:nvPr/>
        </p:nvSpPr>
        <p:spPr>
          <a:xfrm>
            <a:off x="4343400" y="3429000"/>
            <a:ext cx="304800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Classification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A2FDD1-583F-E0B7-9BD5-2046EEAB32D3}"/>
              </a:ext>
            </a:extLst>
          </p:cNvPr>
          <p:cNvSpPr/>
          <p:nvPr/>
        </p:nvSpPr>
        <p:spPr>
          <a:xfrm>
            <a:off x="3453866" y="3851736"/>
            <a:ext cx="2057400" cy="2057400"/>
          </a:xfrm>
          <a:prstGeom prst="ellipse">
            <a:avLst/>
          </a:prstGeom>
          <a:solidFill>
            <a:srgbClr val="DF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Supervised Learning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D32F2B-8F78-EDF9-A5AB-EACCE20DED8B}"/>
              </a:ext>
            </a:extLst>
          </p:cNvPr>
          <p:cNvGrpSpPr/>
          <p:nvPr/>
        </p:nvGrpSpPr>
        <p:grpSpPr>
          <a:xfrm>
            <a:off x="3695700" y="1981200"/>
            <a:ext cx="1600200" cy="1600200"/>
            <a:chOff x="3695700" y="1981200"/>
            <a:chExt cx="1600200" cy="16002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E8E4E5A-DC64-C46D-2FAA-24CDADBAF0A8}"/>
                </a:ext>
              </a:extLst>
            </p:cNvPr>
            <p:cNvSpPr/>
            <p:nvPr/>
          </p:nvSpPr>
          <p:spPr>
            <a:xfrm>
              <a:off x="3695700" y="1981200"/>
              <a:ext cx="1600200" cy="1600200"/>
            </a:xfrm>
            <a:prstGeom prst="ellipse">
              <a:avLst/>
            </a:prstGeom>
            <a:solidFill>
              <a:srgbClr val="AA4E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FDB38F-BCFE-B8C8-C0F7-AC35AF856F22}"/>
                </a:ext>
              </a:extLst>
            </p:cNvPr>
            <p:cNvSpPr txBox="1"/>
            <p:nvPr/>
          </p:nvSpPr>
          <p:spPr>
            <a:xfrm>
              <a:off x="3739296" y="2596634"/>
              <a:ext cx="15130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Classification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FE1A2E-2232-DAA7-1D26-E1FD61178E75}"/>
              </a:ext>
            </a:extLst>
          </p:cNvPr>
          <p:cNvGrpSpPr/>
          <p:nvPr/>
        </p:nvGrpSpPr>
        <p:grpSpPr>
          <a:xfrm>
            <a:off x="5817279" y="4512366"/>
            <a:ext cx="1600200" cy="1600200"/>
            <a:chOff x="5786269" y="4606813"/>
            <a:chExt cx="1600200" cy="16002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53D4673-5366-DDD6-1F23-FE3F7EE2922F}"/>
                </a:ext>
              </a:extLst>
            </p:cNvPr>
            <p:cNvSpPr/>
            <p:nvPr/>
          </p:nvSpPr>
          <p:spPr>
            <a:xfrm>
              <a:off x="5786269" y="4606813"/>
              <a:ext cx="1600200" cy="1600200"/>
            </a:xfrm>
            <a:prstGeom prst="ellipse">
              <a:avLst/>
            </a:prstGeom>
            <a:solidFill>
              <a:srgbClr val="AA4E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E53536-B444-4358-A9FA-AADE8EFB0CA6}"/>
                </a:ext>
              </a:extLst>
            </p:cNvPr>
            <p:cNvSpPr txBox="1"/>
            <p:nvPr/>
          </p:nvSpPr>
          <p:spPr>
            <a:xfrm>
              <a:off x="5829865" y="5209892"/>
              <a:ext cx="15130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Regression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682A154B-1D7B-B2E1-B663-51CB7A12F9FE}"/>
              </a:ext>
            </a:extLst>
          </p:cNvPr>
          <p:cNvSpPr/>
          <p:nvPr/>
        </p:nvSpPr>
        <p:spPr>
          <a:xfrm>
            <a:off x="6343069" y="3810202"/>
            <a:ext cx="596670" cy="596670"/>
          </a:xfrm>
          <a:prstGeom prst="ellipse">
            <a:avLst/>
          </a:prstGeom>
          <a:solidFill>
            <a:srgbClr val="AA4E4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4F4D52-8129-5893-56BA-D731DF576A5C}"/>
              </a:ext>
            </a:extLst>
          </p:cNvPr>
          <p:cNvSpPr/>
          <p:nvPr/>
        </p:nvSpPr>
        <p:spPr>
          <a:xfrm>
            <a:off x="7458300" y="4446426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0D7970-CDAB-EF57-3541-1FA4AB648050}"/>
              </a:ext>
            </a:extLst>
          </p:cNvPr>
          <p:cNvSpPr/>
          <p:nvPr/>
        </p:nvSpPr>
        <p:spPr>
          <a:xfrm>
            <a:off x="7377914" y="5662870"/>
            <a:ext cx="596670" cy="596670"/>
          </a:xfrm>
          <a:prstGeom prst="ellipse">
            <a:avLst/>
          </a:prstGeom>
          <a:solidFill>
            <a:srgbClr val="AA4E4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7B4D20-4C3C-9C69-5471-3AF1332DB3C1}"/>
              </a:ext>
            </a:extLst>
          </p:cNvPr>
          <p:cNvSpPr/>
          <p:nvPr/>
        </p:nvSpPr>
        <p:spPr>
          <a:xfrm>
            <a:off x="6319044" y="6212092"/>
            <a:ext cx="596670" cy="596670"/>
          </a:xfrm>
          <a:prstGeom prst="ellipse">
            <a:avLst/>
          </a:prstGeom>
          <a:solidFill>
            <a:srgbClr val="AA4E4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6D371D-828C-D304-60A5-0C73CD7809F4}"/>
              </a:ext>
            </a:extLst>
          </p:cNvPr>
          <p:cNvSpPr/>
          <p:nvPr/>
        </p:nvSpPr>
        <p:spPr>
          <a:xfrm>
            <a:off x="6559193" y="4262598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924EFC-AC33-74F1-46A7-A7A124575873}"/>
              </a:ext>
            </a:extLst>
          </p:cNvPr>
          <p:cNvSpPr/>
          <p:nvPr/>
        </p:nvSpPr>
        <p:spPr>
          <a:xfrm>
            <a:off x="6540759" y="5977027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A24CC-4D53-9E3C-FD45-1C2B0F84F223}"/>
              </a:ext>
            </a:extLst>
          </p:cNvPr>
          <p:cNvSpPr/>
          <p:nvPr/>
        </p:nvSpPr>
        <p:spPr>
          <a:xfrm rot="3011593">
            <a:off x="7376090" y="4697487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0B160A-CE7D-68F9-8A15-5E7CF6474DB6}"/>
              </a:ext>
            </a:extLst>
          </p:cNvPr>
          <p:cNvSpPr/>
          <p:nvPr/>
        </p:nvSpPr>
        <p:spPr>
          <a:xfrm rot="18596850">
            <a:off x="7227189" y="5422639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CC93A7-EE71-62CB-825A-46E3CB353A2D}"/>
              </a:ext>
            </a:extLst>
          </p:cNvPr>
          <p:cNvSpPr txBox="1"/>
          <p:nvPr/>
        </p:nvSpPr>
        <p:spPr>
          <a:xfrm>
            <a:off x="5856121" y="3407303"/>
            <a:ext cx="1955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A4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regression</a:t>
            </a:r>
            <a:endParaRPr lang="en-US" sz="1600" dirty="0">
              <a:solidFill>
                <a:srgbClr val="AA4E44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2109B9-C6BA-1C61-1498-9BE5D95140AD}"/>
              </a:ext>
            </a:extLst>
          </p:cNvPr>
          <p:cNvSpPr txBox="1"/>
          <p:nvPr/>
        </p:nvSpPr>
        <p:spPr>
          <a:xfrm>
            <a:off x="7306938" y="3919085"/>
            <a:ext cx="1955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A4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regression with regularization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FB1ED3-54A2-2A59-88DC-B2520EC9E7E5}"/>
              </a:ext>
            </a:extLst>
          </p:cNvPr>
          <p:cNvSpPr txBox="1"/>
          <p:nvPr/>
        </p:nvSpPr>
        <p:spPr>
          <a:xfrm>
            <a:off x="7536250" y="5368431"/>
            <a:ext cx="1441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A4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2BC6E3-DAF2-2F08-77E0-A5A16E11218F}"/>
              </a:ext>
            </a:extLst>
          </p:cNvPr>
          <p:cNvSpPr txBox="1"/>
          <p:nvPr/>
        </p:nvSpPr>
        <p:spPr>
          <a:xfrm>
            <a:off x="6867688" y="6424895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A4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DA36F3-9BB1-037E-D715-819ACF67EB04}"/>
              </a:ext>
            </a:extLst>
          </p:cNvPr>
          <p:cNvSpPr/>
          <p:nvPr/>
        </p:nvSpPr>
        <p:spPr>
          <a:xfrm>
            <a:off x="5349291" y="5814231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94AF67-1B88-6A73-DBAE-0ECDE13CC77E}"/>
              </a:ext>
            </a:extLst>
          </p:cNvPr>
          <p:cNvSpPr/>
          <p:nvPr/>
        </p:nvSpPr>
        <p:spPr>
          <a:xfrm rot="3011593">
            <a:off x="5778733" y="5643729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68DA64-BE94-7A46-F80F-A543B61AB50D}"/>
              </a:ext>
            </a:extLst>
          </p:cNvPr>
          <p:cNvSpPr txBox="1"/>
          <p:nvPr/>
        </p:nvSpPr>
        <p:spPr>
          <a:xfrm>
            <a:off x="4778051" y="6379323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A4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boost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0FC2CF2-C5A9-FE02-719E-1774F10C0E5C}"/>
              </a:ext>
            </a:extLst>
          </p:cNvPr>
          <p:cNvSpPr/>
          <p:nvPr/>
        </p:nvSpPr>
        <p:spPr>
          <a:xfrm>
            <a:off x="2844045" y="2577224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10FEA8-7A1E-3E15-FCA6-9809DBD4A43C}"/>
              </a:ext>
            </a:extLst>
          </p:cNvPr>
          <p:cNvSpPr/>
          <p:nvPr/>
        </p:nvSpPr>
        <p:spPr>
          <a:xfrm>
            <a:off x="5521786" y="2596233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EC90DE8-FB09-3863-CF80-6DC21D207045}"/>
              </a:ext>
            </a:extLst>
          </p:cNvPr>
          <p:cNvSpPr/>
          <p:nvPr/>
        </p:nvSpPr>
        <p:spPr>
          <a:xfrm>
            <a:off x="5138691" y="1577641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10E5F2-5145-B86F-0637-3F9C320AC0FD}"/>
              </a:ext>
            </a:extLst>
          </p:cNvPr>
          <p:cNvSpPr/>
          <p:nvPr/>
        </p:nvSpPr>
        <p:spPr>
          <a:xfrm>
            <a:off x="3181873" y="1587060"/>
            <a:ext cx="596670" cy="596670"/>
          </a:xfrm>
          <a:prstGeom prst="ellipse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4FEEE9-507A-E9E1-0102-9A5AE84D1F54}"/>
              </a:ext>
            </a:extLst>
          </p:cNvPr>
          <p:cNvSpPr/>
          <p:nvPr/>
        </p:nvSpPr>
        <p:spPr>
          <a:xfrm rot="3011593">
            <a:off x="5064257" y="1866899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F4341F-9A54-EF5A-C808-BC9049B497D2}"/>
              </a:ext>
            </a:extLst>
          </p:cNvPr>
          <p:cNvSpPr/>
          <p:nvPr/>
        </p:nvSpPr>
        <p:spPr>
          <a:xfrm rot="18622510">
            <a:off x="3746161" y="1888557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B74308-FA45-A2E5-719E-43EB9B642058}"/>
              </a:ext>
            </a:extLst>
          </p:cNvPr>
          <p:cNvSpPr/>
          <p:nvPr/>
        </p:nvSpPr>
        <p:spPr>
          <a:xfrm rot="5400000">
            <a:off x="3491577" y="2617056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C6C4BB-3422-965E-7617-5E80C45DAD46}"/>
              </a:ext>
            </a:extLst>
          </p:cNvPr>
          <p:cNvSpPr/>
          <p:nvPr/>
        </p:nvSpPr>
        <p:spPr>
          <a:xfrm rot="5400000">
            <a:off x="5356327" y="2625537"/>
            <a:ext cx="164421" cy="533400"/>
          </a:xfrm>
          <a:prstGeom prst="rect">
            <a:avLst/>
          </a:prstGeom>
          <a:solidFill>
            <a:srgbClr val="AA4E4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536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Classification algorithm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9FAF5-783F-794E-8909-EA4AD0B0376D}"/>
              </a:ext>
            </a:extLst>
          </p:cNvPr>
          <p:cNvSpPr txBox="1"/>
          <p:nvPr/>
        </p:nvSpPr>
        <p:spPr>
          <a:xfrm>
            <a:off x="1295400" y="1981200"/>
            <a:ext cx="6057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 algorithms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Tree-based model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K-nearest neighbors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Naïve Bayes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Vector Machine(SVM)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confusion matrix and related metrics </a:t>
            </a:r>
          </a:p>
        </p:txBody>
      </p:sp>
    </p:spTree>
    <p:extLst>
      <p:ext uri="{BB962C8B-B14F-4D97-AF65-F5344CB8AC3E}">
        <p14:creationId xmlns:p14="http://schemas.microsoft.com/office/powerpoint/2010/main" val="21295606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Model evaluation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9FAF5-783F-794E-8909-EA4AD0B0376D}"/>
              </a:ext>
            </a:extLst>
          </p:cNvPr>
          <p:cNvSpPr txBox="1"/>
          <p:nvPr/>
        </p:nvSpPr>
        <p:spPr>
          <a:xfrm>
            <a:off x="1295400" y="1981200"/>
            <a:ext cx="6057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 algorithms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Tree-based model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Naïve Bayes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K-nearest neighbors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Vector Machine(SVM)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performance evaluation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confusion matrix and related metrics </a:t>
            </a:r>
          </a:p>
        </p:txBody>
      </p:sp>
    </p:spTree>
    <p:extLst>
      <p:ext uri="{BB962C8B-B14F-4D97-AF65-F5344CB8AC3E}">
        <p14:creationId xmlns:p14="http://schemas.microsoft.com/office/powerpoint/2010/main" val="26593835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Classification algorithm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9FAF5-783F-794E-8909-EA4AD0B0376D}"/>
              </a:ext>
            </a:extLst>
          </p:cNvPr>
          <p:cNvSpPr txBox="1"/>
          <p:nvPr/>
        </p:nvSpPr>
        <p:spPr>
          <a:xfrm>
            <a:off x="1295400" y="1981200"/>
            <a:ext cx="6057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performance evaluation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confusion matrix and related metrics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mortgage default </a:t>
            </a: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4F81BD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Imagine we built a model that can help to predict if a homeowner fails to </a:t>
            </a:r>
            <a:r>
              <a:rPr lang="en-US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uphold the agreed-upon terms defined in their promissory note or deed of trust they signed when taking out their mortgage (i.e., </a:t>
            </a:r>
            <a:r>
              <a:rPr lang="en-US" sz="200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lang="en-US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134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Confusion Matrix</a:t>
            </a:r>
            <a:endParaRPr spc="15" dirty="0">
              <a:solidFill>
                <a:srgbClr val="3369E8"/>
              </a:solidFill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F0C852F0-6FFF-D669-9F23-106AD8F2D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761265"/>
              </p:ext>
            </p:extLst>
          </p:nvPr>
        </p:nvGraphicFramePr>
        <p:xfrm>
          <a:off x="1905000" y="3392658"/>
          <a:ext cx="5105399" cy="29951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25300">
                  <a:extLst>
                    <a:ext uri="{9D8B030D-6E8A-4147-A177-3AD203B41FA5}">
                      <a16:colId xmlns:a16="http://schemas.microsoft.com/office/drawing/2014/main" val="4292456293"/>
                    </a:ext>
                  </a:extLst>
                </a:gridCol>
                <a:gridCol w="1500712">
                  <a:extLst>
                    <a:ext uri="{9D8B030D-6E8A-4147-A177-3AD203B41FA5}">
                      <a16:colId xmlns:a16="http://schemas.microsoft.com/office/drawing/2014/main" val="3625778839"/>
                    </a:ext>
                  </a:extLst>
                </a:gridCol>
                <a:gridCol w="1400930">
                  <a:extLst>
                    <a:ext uri="{9D8B030D-6E8A-4147-A177-3AD203B41FA5}">
                      <a16:colId xmlns:a16="http://schemas.microsoft.com/office/drawing/2014/main" val="3228640050"/>
                    </a:ext>
                  </a:extLst>
                </a:gridCol>
                <a:gridCol w="1378457">
                  <a:extLst>
                    <a:ext uri="{9D8B030D-6E8A-4147-A177-3AD203B41FA5}">
                      <a16:colId xmlns:a16="http://schemas.microsoft.com/office/drawing/2014/main" val="3147320465"/>
                    </a:ext>
                  </a:extLst>
                </a:gridCol>
              </a:tblGrid>
              <a:tr h="777431">
                <a:tc rowSpan="2" gridSpan="2">
                  <a:txBody>
                    <a:bodyPr/>
                    <a:lstStyle/>
                    <a:p>
                      <a:pPr algn="ctr"/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Prediction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737797"/>
                  </a:ext>
                </a:extLst>
              </a:tr>
              <a:tr h="728481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+mn-lt"/>
                        </a:rPr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4F81BD"/>
                          </a:solidFill>
                          <a:latin typeface="+mn-lt"/>
                        </a:rPr>
                        <a:t>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60662"/>
                  </a:ext>
                </a:extLst>
              </a:tr>
              <a:tr h="67766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</a:rPr>
                        <a:t>Observation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+mn-lt"/>
                        </a:rPr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True</a:t>
                      </a:r>
                      <a:br>
                        <a:rPr lang="en-US" sz="2000" dirty="0">
                          <a:latin typeface="+mn-lt"/>
                        </a:rPr>
                      </a:br>
                      <a:r>
                        <a:rPr lang="en-US" sz="2000" dirty="0">
                          <a:latin typeface="+mn-lt"/>
                        </a:rPr>
                        <a:t>Positive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False</a:t>
                      </a:r>
                      <a:br>
                        <a:rPr lang="en-US" sz="2000" dirty="0">
                          <a:latin typeface="+mn-lt"/>
                        </a:rPr>
                      </a:br>
                      <a:r>
                        <a:rPr lang="en-US" sz="2000" dirty="0">
                          <a:latin typeface="+mn-lt"/>
                        </a:rPr>
                        <a:t>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75598"/>
                  </a:ext>
                </a:extLst>
              </a:tr>
              <a:tr h="78822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4F81BD"/>
                          </a:solidFill>
                          <a:latin typeface="+mn-lt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False</a:t>
                      </a:r>
                      <a:br>
                        <a:rPr lang="en-US" sz="2000" dirty="0">
                          <a:latin typeface="+mn-lt"/>
                        </a:rPr>
                      </a:br>
                      <a:r>
                        <a:rPr lang="en-US" sz="2000" dirty="0">
                          <a:latin typeface="+mn-lt"/>
                        </a:rPr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True</a:t>
                      </a:r>
                      <a:br>
                        <a:rPr lang="en-US" sz="2000" dirty="0">
                          <a:latin typeface="+mn-lt"/>
                        </a:rPr>
                      </a:br>
                      <a:r>
                        <a:rPr lang="en-US" sz="2000" dirty="0">
                          <a:latin typeface="+mn-lt"/>
                        </a:rPr>
                        <a:t>Negative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474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D905AD-8C84-60E5-0CCE-19BCC5149C69}"/>
              </a:ext>
            </a:extLst>
          </p:cNvPr>
          <p:cNvSpPr txBox="1"/>
          <p:nvPr/>
        </p:nvSpPr>
        <p:spPr>
          <a:xfrm>
            <a:off x="876833" y="1951672"/>
            <a:ext cx="7200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Clearly define “positive” and “negative”</a:t>
            </a:r>
          </a:p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defaulting</a:t>
            </a:r>
          </a:p>
          <a:p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not defaulting.</a:t>
            </a:r>
          </a:p>
        </p:txBody>
      </p:sp>
    </p:spTree>
    <p:extLst>
      <p:ext uri="{BB962C8B-B14F-4D97-AF65-F5344CB8AC3E}">
        <p14:creationId xmlns:p14="http://schemas.microsoft.com/office/powerpoint/2010/main" val="49252157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cture containing lamp&#10;&#10;Description automatically generated">
            <a:extLst>
              <a:ext uri="{FF2B5EF4-FFF2-40B4-BE49-F238E27FC236}">
                <a16:creationId xmlns:a16="http://schemas.microsoft.com/office/drawing/2014/main" id="{4D5701B8-43FC-5DFD-0B57-E08157A08B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54" b="98889" l="9903" r="90805">
                        <a14:foregroundMark x1="1857" y1="96667" x2="17330" y2="91746"/>
                        <a14:foregroundMark x1="17330" y1="91746" x2="31565" y2="73968"/>
                        <a14:foregroundMark x1="31565" y1="73968" x2="44651" y2="20000"/>
                        <a14:foregroundMark x1="44651" y1="20000" x2="61538" y2="33651"/>
                        <a14:foregroundMark x1="61538" y1="33651" x2="71530" y2="67460"/>
                        <a14:foregroundMark x1="71530" y1="67460" x2="90805" y2="98889"/>
                        <a14:foregroundMark x1="47392" y1="8254" x2="51989" y2="82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105981"/>
            <a:ext cx="4038600" cy="2367664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picture containing lamp&#10;&#10;Description automatically generated">
            <a:extLst>
              <a:ext uri="{FF2B5EF4-FFF2-40B4-BE49-F238E27FC236}">
                <a16:creationId xmlns:a16="http://schemas.microsoft.com/office/drawing/2014/main" id="{EA0CA3F9-F22F-0B18-5570-6E02ADD86E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44" b="98254" l="9903" r="99469">
                        <a14:foregroundMark x1="98939" y1="96032" x2="86384" y2="96032"/>
                        <a14:foregroundMark x1="86384" y1="96032" x2="75155" y2="86190"/>
                        <a14:foregroundMark x1="75155" y1="86190" x2="56941" y2="19365"/>
                        <a14:foregroundMark x1="56941" y1="19365" x2="47569" y2="4603"/>
                        <a14:foregroundMark x1="47569" y1="4603" x2="44916" y2="9683"/>
                        <a14:foregroundMark x1="74182" y1="83175" x2="74182" y2="83175"/>
                        <a14:foregroundMark x1="76746" y1="86667" x2="76746" y2="86667"/>
                        <a14:foregroundMark x1="73740" y1="82381" x2="77277" y2="87143"/>
                        <a14:foregroundMark x1="73475" y1="82381" x2="77542" y2="88571"/>
                        <a14:foregroundMark x1="74005" y1="81429" x2="77011" y2="85873"/>
                        <a14:foregroundMark x1="85323" y1="96032" x2="99469" y2="982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877" y="4097009"/>
            <a:ext cx="4192813" cy="23676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Confusion Matrix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A968A-9CD8-2DE3-7276-8C4726F44F41}"/>
              </a:ext>
            </a:extLst>
          </p:cNvPr>
          <p:cNvSpPr txBox="1"/>
          <p:nvPr/>
        </p:nvSpPr>
        <p:spPr>
          <a:xfrm>
            <a:off x="1075195" y="1728577"/>
            <a:ext cx="73329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II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the null hypothesis is the customer will not default (i.e., normal account)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72B73-98F3-AEA8-9F2A-95CD79F7F1C9}"/>
              </a:ext>
            </a:extLst>
          </p:cNvPr>
          <p:cNvSpPr txBox="1"/>
          <p:nvPr/>
        </p:nvSpPr>
        <p:spPr>
          <a:xfrm>
            <a:off x="1075195" y="2651908"/>
            <a:ext cx="6781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 error: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mortgage default while account is normal (reject null while it is true: </a:t>
            </a:r>
            <a:r>
              <a:rPr lang="en-US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positive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II error: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normal for mortgage default cases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(accept null while it is not true: </a:t>
            </a:r>
            <a:r>
              <a:rPr lang="en-US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negative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94055E-93DC-8037-038F-5A1F0BF3534F}"/>
              </a:ext>
            </a:extLst>
          </p:cNvPr>
          <p:cNvCxnSpPr/>
          <p:nvPr/>
        </p:nvCxnSpPr>
        <p:spPr>
          <a:xfrm>
            <a:off x="1828800" y="6400800"/>
            <a:ext cx="57912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D14B72-7C24-D697-E415-C0772A24A7CA}"/>
              </a:ext>
            </a:extLst>
          </p:cNvPr>
          <p:cNvSpPr txBox="1"/>
          <p:nvPr/>
        </p:nvSpPr>
        <p:spPr>
          <a:xfrm>
            <a:off x="1367694" y="5280841"/>
            <a:ext cx="1847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(H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)Distribution 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7751D1-F97F-6874-9214-68F86B3BF290}"/>
              </a:ext>
            </a:extLst>
          </p:cNvPr>
          <p:cNvSpPr txBox="1"/>
          <p:nvPr/>
        </p:nvSpPr>
        <p:spPr>
          <a:xfrm>
            <a:off x="5874418" y="5280841"/>
            <a:ext cx="1847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(H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)Distribution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36EC35-5BDA-5BE6-0AE3-EBB5D1AD393B}"/>
              </a:ext>
            </a:extLst>
          </p:cNvPr>
          <p:cNvSpPr txBox="1"/>
          <p:nvPr/>
        </p:nvSpPr>
        <p:spPr>
          <a:xfrm>
            <a:off x="4127739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0D7CCD-A3BD-C403-9337-B0D153A9FA78}"/>
              </a:ext>
            </a:extLst>
          </p:cNvPr>
          <p:cNvSpPr txBox="1"/>
          <p:nvPr/>
        </p:nvSpPr>
        <p:spPr>
          <a:xfrm>
            <a:off x="4127739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6922B0-A521-07F1-401A-01B50EE34A42}"/>
              </a:ext>
            </a:extLst>
          </p:cNvPr>
          <p:cNvGrpSpPr/>
          <p:nvPr/>
        </p:nvGrpSpPr>
        <p:grpSpPr>
          <a:xfrm>
            <a:off x="3683928" y="5157256"/>
            <a:ext cx="1014862" cy="1237722"/>
            <a:chOff x="3683927" y="5175202"/>
            <a:chExt cx="1014863" cy="1219774"/>
          </a:xfrm>
          <a:solidFill>
            <a:srgbClr val="F79646">
              <a:alpha val="72941"/>
            </a:srgb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0B54E4E-91DB-2211-F021-ABD7DB65AE99}"/>
                </a:ext>
              </a:extLst>
            </p:cNvPr>
            <p:cNvSpPr/>
            <p:nvPr/>
          </p:nvSpPr>
          <p:spPr>
            <a:xfrm>
              <a:off x="3683927" y="5175202"/>
              <a:ext cx="1014863" cy="1219774"/>
            </a:xfrm>
            <a:custGeom>
              <a:avLst/>
              <a:gdLst>
                <a:gd name="connsiteX0" fmla="*/ 763674 w 944545"/>
                <a:gd name="connsiteY0" fmla="*/ 0 h 723481"/>
                <a:gd name="connsiteX1" fmla="*/ 944545 w 944545"/>
                <a:gd name="connsiteY1" fmla="*/ 341643 h 723481"/>
                <a:gd name="connsiteX2" fmla="*/ 939520 w 944545"/>
                <a:gd name="connsiteY2" fmla="*/ 703384 h 723481"/>
                <a:gd name="connsiteX3" fmla="*/ 0 w 944545"/>
                <a:gd name="connsiteY3" fmla="*/ 723481 h 723481"/>
                <a:gd name="connsiteX4" fmla="*/ 281353 w 944545"/>
                <a:gd name="connsiteY4" fmla="*/ 612949 h 723481"/>
                <a:gd name="connsiteX5" fmla="*/ 532562 w 944545"/>
                <a:gd name="connsiteY5" fmla="*/ 411982 h 723481"/>
                <a:gd name="connsiteX6" fmla="*/ 658167 w 944545"/>
                <a:gd name="connsiteY6" fmla="*/ 185894 h 723481"/>
                <a:gd name="connsiteX7" fmla="*/ 763674 w 944545"/>
                <a:gd name="connsiteY7" fmla="*/ 0 h 723481"/>
                <a:gd name="connsiteX0" fmla="*/ 763674 w 944545"/>
                <a:gd name="connsiteY0" fmla="*/ 0 h 723481"/>
                <a:gd name="connsiteX1" fmla="*/ 944545 w 944545"/>
                <a:gd name="connsiteY1" fmla="*/ 341643 h 723481"/>
                <a:gd name="connsiteX2" fmla="*/ 939520 w 944545"/>
                <a:gd name="connsiteY2" fmla="*/ 703384 h 723481"/>
                <a:gd name="connsiteX3" fmla="*/ 0 w 944545"/>
                <a:gd name="connsiteY3" fmla="*/ 723481 h 723481"/>
                <a:gd name="connsiteX4" fmla="*/ 284319 w 944545"/>
                <a:gd name="connsiteY4" fmla="*/ 612949 h 723481"/>
                <a:gd name="connsiteX5" fmla="*/ 532562 w 944545"/>
                <a:gd name="connsiteY5" fmla="*/ 411982 h 723481"/>
                <a:gd name="connsiteX6" fmla="*/ 658167 w 944545"/>
                <a:gd name="connsiteY6" fmla="*/ 185894 h 723481"/>
                <a:gd name="connsiteX7" fmla="*/ 763674 w 944545"/>
                <a:gd name="connsiteY7" fmla="*/ 0 h 723481"/>
                <a:gd name="connsiteX0" fmla="*/ 840776 w 1021647"/>
                <a:gd name="connsiteY0" fmla="*/ 0 h 714971"/>
                <a:gd name="connsiteX1" fmla="*/ 1021647 w 1021647"/>
                <a:gd name="connsiteY1" fmla="*/ 341643 h 714971"/>
                <a:gd name="connsiteX2" fmla="*/ 1016622 w 1021647"/>
                <a:gd name="connsiteY2" fmla="*/ 703384 h 714971"/>
                <a:gd name="connsiteX3" fmla="*/ 0 w 1021647"/>
                <a:gd name="connsiteY3" fmla="*/ 714971 h 714971"/>
                <a:gd name="connsiteX4" fmla="*/ 361421 w 1021647"/>
                <a:gd name="connsiteY4" fmla="*/ 612949 h 714971"/>
                <a:gd name="connsiteX5" fmla="*/ 609664 w 1021647"/>
                <a:gd name="connsiteY5" fmla="*/ 411982 h 714971"/>
                <a:gd name="connsiteX6" fmla="*/ 735269 w 1021647"/>
                <a:gd name="connsiteY6" fmla="*/ 185894 h 714971"/>
                <a:gd name="connsiteX7" fmla="*/ 840776 w 1021647"/>
                <a:gd name="connsiteY7" fmla="*/ 0 h 714971"/>
                <a:gd name="connsiteX0" fmla="*/ 840776 w 1021647"/>
                <a:gd name="connsiteY0" fmla="*/ 0 h 714971"/>
                <a:gd name="connsiteX1" fmla="*/ 1021647 w 1021647"/>
                <a:gd name="connsiteY1" fmla="*/ 341643 h 714971"/>
                <a:gd name="connsiteX2" fmla="*/ 1016622 w 1021647"/>
                <a:gd name="connsiteY2" fmla="*/ 711894 h 714971"/>
                <a:gd name="connsiteX3" fmla="*/ 0 w 1021647"/>
                <a:gd name="connsiteY3" fmla="*/ 714971 h 714971"/>
                <a:gd name="connsiteX4" fmla="*/ 361421 w 1021647"/>
                <a:gd name="connsiteY4" fmla="*/ 612949 h 714971"/>
                <a:gd name="connsiteX5" fmla="*/ 609664 w 1021647"/>
                <a:gd name="connsiteY5" fmla="*/ 411982 h 714971"/>
                <a:gd name="connsiteX6" fmla="*/ 735269 w 1021647"/>
                <a:gd name="connsiteY6" fmla="*/ 185894 h 714971"/>
                <a:gd name="connsiteX7" fmla="*/ 840776 w 1021647"/>
                <a:gd name="connsiteY7" fmla="*/ 0 h 714971"/>
                <a:gd name="connsiteX0" fmla="*/ 840776 w 1021647"/>
                <a:gd name="connsiteY0" fmla="*/ 0 h 714971"/>
                <a:gd name="connsiteX1" fmla="*/ 1021647 w 1021647"/>
                <a:gd name="connsiteY1" fmla="*/ 338807 h 714971"/>
                <a:gd name="connsiteX2" fmla="*/ 1016622 w 1021647"/>
                <a:gd name="connsiteY2" fmla="*/ 711894 h 714971"/>
                <a:gd name="connsiteX3" fmla="*/ 0 w 1021647"/>
                <a:gd name="connsiteY3" fmla="*/ 714971 h 714971"/>
                <a:gd name="connsiteX4" fmla="*/ 361421 w 1021647"/>
                <a:gd name="connsiteY4" fmla="*/ 612949 h 714971"/>
                <a:gd name="connsiteX5" fmla="*/ 609664 w 1021647"/>
                <a:gd name="connsiteY5" fmla="*/ 411982 h 714971"/>
                <a:gd name="connsiteX6" fmla="*/ 735269 w 1021647"/>
                <a:gd name="connsiteY6" fmla="*/ 185894 h 714971"/>
                <a:gd name="connsiteX7" fmla="*/ 840776 w 1021647"/>
                <a:gd name="connsiteY7" fmla="*/ 0 h 714971"/>
                <a:gd name="connsiteX0" fmla="*/ 840776 w 1021647"/>
                <a:gd name="connsiteY0" fmla="*/ 0 h 714971"/>
                <a:gd name="connsiteX1" fmla="*/ 1021647 w 1021647"/>
                <a:gd name="connsiteY1" fmla="*/ 338807 h 714971"/>
                <a:gd name="connsiteX2" fmla="*/ 1016622 w 1021647"/>
                <a:gd name="connsiteY2" fmla="*/ 711894 h 714971"/>
                <a:gd name="connsiteX3" fmla="*/ 0 w 1021647"/>
                <a:gd name="connsiteY3" fmla="*/ 714971 h 714971"/>
                <a:gd name="connsiteX4" fmla="*/ 361421 w 1021647"/>
                <a:gd name="connsiteY4" fmla="*/ 612949 h 714971"/>
                <a:gd name="connsiteX5" fmla="*/ 609664 w 1021647"/>
                <a:gd name="connsiteY5" fmla="*/ 411982 h 714971"/>
                <a:gd name="connsiteX6" fmla="*/ 735269 w 1021647"/>
                <a:gd name="connsiteY6" fmla="*/ 185894 h 714971"/>
                <a:gd name="connsiteX7" fmla="*/ 840776 w 1021647"/>
                <a:gd name="connsiteY7" fmla="*/ 0 h 714971"/>
                <a:gd name="connsiteX0" fmla="*/ 840776 w 1045371"/>
                <a:gd name="connsiteY0" fmla="*/ 0 h 714971"/>
                <a:gd name="connsiteX1" fmla="*/ 1045371 w 1045371"/>
                <a:gd name="connsiteY1" fmla="*/ 350153 h 714971"/>
                <a:gd name="connsiteX2" fmla="*/ 1016622 w 1045371"/>
                <a:gd name="connsiteY2" fmla="*/ 711894 h 714971"/>
                <a:gd name="connsiteX3" fmla="*/ 0 w 1045371"/>
                <a:gd name="connsiteY3" fmla="*/ 714971 h 714971"/>
                <a:gd name="connsiteX4" fmla="*/ 361421 w 1045371"/>
                <a:gd name="connsiteY4" fmla="*/ 612949 h 714971"/>
                <a:gd name="connsiteX5" fmla="*/ 609664 w 1045371"/>
                <a:gd name="connsiteY5" fmla="*/ 411982 h 714971"/>
                <a:gd name="connsiteX6" fmla="*/ 735269 w 1045371"/>
                <a:gd name="connsiteY6" fmla="*/ 185894 h 714971"/>
                <a:gd name="connsiteX7" fmla="*/ 840776 w 1045371"/>
                <a:gd name="connsiteY7" fmla="*/ 0 h 714971"/>
                <a:gd name="connsiteX0" fmla="*/ 840776 w 1049242"/>
                <a:gd name="connsiteY0" fmla="*/ 0 h 714971"/>
                <a:gd name="connsiteX1" fmla="*/ 1045371 w 1049242"/>
                <a:gd name="connsiteY1" fmla="*/ 350153 h 714971"/>
                <a:gd name="connsiteX2" fmla="*/ 1049242 w 1049242"/>
                <a:gd name="connsiteY2" fmla="*/ 700548 h 714971"/>
                <a:gd name="connsiteX3" fmla="*/ 0 w 1049242"/>
                <a:gd name="connsiteY3" fmla="*/ 714971 h 714971"/>
                <a:gd name="connsiteX4" fmla="*/ 361421 w 1049242"/>
                <a:gd name="connsiteY4" fmla="*/ 612949 h 714971"/>
                <a:gd name="connsiteX5" fmla="*/ 609664 w 1049242"/>
                <a:gd name="connsiteY5" fmla="*/ 411982 h 714971"/>
                <a:gd name="connsiteX6" fmla="*/ 735269 w 1049242"/>
                <a:gd name="connsiteY6" fmla="*/ 185894 h 714971"/>
                <a:gd name="connsiteX7" fmla="*/ 840776 w 1049242"/>
                <a:gd name="connsiteY7" fmla="*/ 0 h 714971"/>
                <a:gd name="connsiteX0" fmla="*/ 840776 w 1045518"/>
                <a:gd name="connsiteY0" fmla="*/ 0 h 714971"/>
                <a:gd name="connsiteX1" fmla="*/ 1045371 w 1045518"/>
                <a:gd name="connsiteY1" fmla="*/ 350153 h 714971"/>
                <a:gd name="connsiteX2" fmla="*/ 1040345 w 1045518"/>
                <a:gd name="connsiteY2" fmla="*/ 697711 h 714971"/>
                <a:gd name="connsiteX3" fmla="*/ 0 w 1045518"/>
                <a:gd name="connsiteY3" fmla="*/ 714971 h 714971"/>
                <a:gd name="connsiteX4" fmla="*/ 361421 w 1045518"/>
                <a:gd name="connsiteY4" fmla="*/ 612949 h 714971"/>
                <a:gd name="connsiteX5" fmla="*/ 609664 w 1045518"/>
                <a:gd name="connsiteY5" fmla="*/ 411982 h 714971"/>
                <a:gd name="connsiteX6" fmla="*/ 735269 w 1045518"/>
                <a:gd name="connsiteY6" fmla="*/ 185894 h 714971"/>
                <a:gd name="connsiteX7" fmla="*/ 840776 w 1045518"/>
                <a:gd name="connsiteY7" fmla="*/ 0 h 714971"/>
                <a:gd name="connsiteX0" fmla="*/ 1034767 w 1057878"/>
                <a:gd name="connsiteY0" fmla="*/ 0 h 1181288"/>
                <a:gd name="connsiteX1" fmla="*/ 1045371 w 1057878"/>
                <a:gd name="connsiteY1" fmla="*/ 816470 h 1181288"/>
                <a:gd name="connsiteX2" fmla="*/ 1040345 w 1057878"/>
                <a:gd name="connsiteY2" fmla="*/ 1164028 h 1181288"/>
                <a:gd name="connsiteX3" fmla="*/ 0 w 1057878"/>
                <a:gd name="connsiteY3" fmla="*/ 1181288 h 1181288"/>
                <a:gd name="connsiteX4" fmla="*/ 361421 w 1057878"/>
                <a:gd name="connsiteY4" fmla="*/ 1079266 h 1181288"/>
                <a:gd name="connsiteX5" fmla="*/ 609664 w 1057878"/>
                <a:gd name="connsiteY5" fmla="*/ 878299 h 1181288"/>
                <a:gd name="connsiteX6" fmla="*/ 735269 w 1057878"/>
                <a:gd name="connsiteY6" fmla="*/ 652211 h 1181288"/>
                <a:gd name="connsiteX7" fmla="*/ 1034767 w 1057878"/>
                <a:gd name="connsiteY7" fmla="*/ 0 h 1181288"/>
                <a:gd name="connsiteX0" fmla="*/ 1034767 w 1045518"/>
                <a:gd name="connsiteY0" fmla="*/ 0 h 1181288"/>
                <a:gd name="connsiteX1" fmla="*/ 1045371 w 1045518"/>
                <a:gd name="connsiteY1" fmla="*/ 816470 h 1181288"/>
                <a:gd name="connsiteX2" fmla="*/ 1040345 w 1045518"/>
                <a:gd name="connsiteY2" fmla="*/ 1164028 h 1181288"/>
                <a:gd name="connsiteX3" fmla="*/ 0 w 1045518"/>
                <a:gd name="connsiteY3" fmla="*/ 1181288 h 1181288"/>
                <a:gd name="connsiteX4" fmla="*/ 361421 w 1045518"/>
                <a:gd name="connsiteY4" fmla="*/ 1079266 h 1181288"/>
                <a:gd name="connsiteX5" fmla="*/ 609664 w 1045518"/>
                <a:gd name="connsiteY5" fmla="*/ 878299 h 1181288"/>
                <a:gd name="connsiteX6" fmla="*/ 735269 w 1045518"/>
                <a:gd name="connsiteY6" fmla="*/ 652211 h 1181288"/>
                <a:gd name="connsiteX7" fmla="*/ 1034767 w 1045518"/>
                <a:gd name="connsiteY7" fmla="*/ 0 h 1181288"/>
                <a:gd name="connsiteX0" fmla="*/ 1034767 w 1040345"/>
                <a:gd name="connsiteY0" fmla="*/ 0 h 1181288"/>
                <a:gd name="connsiteX1" fmla="*/ 1033247 w 1040345"/>
                <a:gd name="connsiteY1" fmla="*/ 816470 h 1181288"/>
                <a:gd name="connsiteX2" fmla="*/ 1040345 w 1040345"/>
                <a:gd name="connsiteY2" fmla="*/ 1164028 h 1181288"/>
                <a:gd name="connsiteX3" fmla="*/ 0 w 1040345"/>
                <a:gd name="connsiteY3" fmla="*/ 1181288 h 1181288"/>
                <a:gd name="connsiteX4" fmla="*/ 361421 w 1040345"/>
                <a:gd name="connsiteY4" fmla="*/ 1079266 h 1181288"/>
                <a:gd name="connsiteX5" fmla="*/ 609664 w 1040345"/>
                <a:gd name="connsiteY5" fmla="*/ 878299 h 1181288"/>
                <a:gd name="connsiteX6" fmla="*/ 735269 w 1040345"/>
                <a:gd name="connsiteY6" fmla="*/ 652211 h 1181288"/>
                <a:gd name="connsiteX7" fmla="*/ 1034767 w 1040345"/>
                <a:gd name="connsiteY7" fmla="*/ 0 h 1181288"/>
                <a:gd name="connsiteX0" fmla="*/ 1034767 w 1040345"/>
                <a:gd name="connsiteY0" fmla="*/ 0 h 1181288"/>
                <a:gd name="connsiteX1" fmla="*/ 1033247 w 1040345"/>
                <a:gd name="connsiteY1" fmla="*/ 816470 h 1181288"/>
                <a:gd name="connsiteX2" fmla="*/ 1040345 w 1040345"/>
                <a:gd name="connsiteY2" fmla="*/ 1164028 h 1181288"/>
                <a:gd name="connsiteX3" fmla="*/ 0 w 1040345"/>
                <a:gd name="connsiteY3" fmla="*/ 1181288 h 1181288"/>
                <a:gd name="connsiteX4" fmla="*/ 361421 w 1040345"/>
                <a:gd name="connsiteY4" fmla="*/ 1079266 h 1181288"/>
                <a:gd name="connsiteX5" fmla="*/ 609664 w 1040345"/>
                <a:gd name="connsiteY5" fmla="*/ 878299 h 1181288"/>
                <a:gd name="connsiteX6" fmla="*/ 735269 w 1040345"/>
                <a:gd name="connsiteY6" fmla="*/ 652211 h 1181288"/>
                <a:gd name="connsiteX7" fmla="*/ 1034767 w 1040345"/>
                <a:gd name="connsiteY7" fmla="*/ 0 h 1181288"/>
                <a:gd name="connsiteX0" fmla="*/ 1034767 w 1040345"/>
                <a:gd name="connsiteY0" fmla="*/ 0 h 1181288"/>
                <a:gd name="connsiteX1" fmla="*/ 1033247 w 1040345"/>
                <a:gd name="connsiteY1" fmla="*/ 816470 h 1181288"/>
                <a:gd name="connsiteX2" fmla="*/ 1040345 w 1040345"/>
                <a:gd name="connsiteY2" fmla="*/ 1164028 h 1181288"/>
                <a:gd name="connsiteX3" fmla="*/ 0 w 1040345"/>
                <a:gd name="connsiteY3" fmla="*/ 1181288 h 1181288"/>
                <a:gd name="connsiteX4" fmla="*/ 361421 w 1040345"/>
                <a:gd name="connsiteY4" fmla="*/ 1079266 h 1181288"/>
                <a:gd name="connsiteX5" fmla="*/ 609664 w 1040345"/>
                <a:gd name="connsiteY5" fmla="*/ 878299 h 1181288"/>
                <a:gd name="connsiteX6" fmla="*/ 735269 w 1040345"/>
                <a:gd name="connsiteY6" fmla="*/ 652211 h 1181288"/>
                <a:gd name="connsiteX7" fmla="*/ 1034767 w 1040345"/>
                <a:gd name="connsiteY7" fmla="*/ 0 h 1181288"/>
                <a:gd name="connsiteX0" fmla="*/ 1034767 w 1040345"/>
                <a:gd name="connsiteY0" fmla="*/ 0 h 1181288"/>
                <a:gd name="connsiteX1" fmla="*/ 1033247 w 1040345"/>
                <a:gd name="connsiteY1" fmla="*/ 816470 h 1181288"/>
                <a:gd name="connsiteX2" fmla="*/ 1040345 w 1040345"/>
                <a:gd name="connsiteY2" fmla="*/ 1164028 h 1181288"/>
                <a:gd name="connsiteX3" fmla="*/ 0 w 1040345"/>
                <a:gd name="connsiteY3" fmla="*/ 1181288 h 1181288"/>
                <a:gd name="connsiteX4" fmla="*/ 361421 w 1040345"/>
                <a:gd name="connsiteY4" fmla="*/ 1079266 h 1181288"/>
                <a:gd name="connsiteX5" fmla="*/ 609664 w 1040345"/>
                <a:gd name="connsiteY5" fmla="*/ 878299 h 1181288"/>
                <a:gd name="connsiteX6" fmla="*/ 735269 w 1040345"/>
                <a:gd name="connsiteY6" fmla="*/ 652211 h 1181288"/>
                <a:gd name="connsiteX7" fmla="*/ 1034767 w 1040345"/>
                <a:gd name="connsiteY7" fmla="*/ 0 h 1181288"/>
                <a:gd name="connsiteX0" fmla="*/ 1034767 w 1040345"/>
                <a:gd name="connsiteY0" fmla="*/ 0 h 1181288"/>
                <a:gd name="connsiteX1" fmla="*/ 1033247 w 1040345"/>
                <a:gd name="connsiteY1" fmla="*/ 823327 h 1181288"/>
                <a:gd name="connsiteX2" fmla="*/ 1040345 w 1040345"/>
                <a:gd name="connsiteY2" fmla="*/ 1164028 h 1181288"/>
                <a:gd name="connsiteX3" fmla="*/ 0 w 1040345"/>
                <a:gd name="connsiteY3" fmla="*/ 1181288 h 1181288"/>
                <a:gd name="connsiteX4" fmla="*/ 361421 w 1040345"/>
                <a:gd name="connsiteY4" fmla="*/ 1079266 h 1181288"/>
                <a:gd name="connsiteX5" fmla="*/ 609664 w 1040345"/>
                <a:gd name="connsiteY5" fmla="*/ 878299 h 1181288"/>
                <a:gd name="connsiteX6" fmla="*/ 735269 w 1040345"/>
                <a:gd name="connsiteY6" fmla="*/ 652211 h 1181288"/>
                <a:gd name="connsiteX7" fmla="*/ 1034767 w 1040345"/>
                <a:gd name="connsiteY7" fmla="*/ 0 h 1181288"/>
                <a:gd name="connsiteX0" fmla="*/ 1034767 w 1036598"/>
                <a:gd name="connsiteY0" fmla="*/ 0 h 1181288"/>
                <a:gd name="connsiteX1" fmla="*/ 1033247 w 1036598"/>
                <a:gd name="connsiteY1" fmla="*/ 823327 h 1181288"/>
                <a:gd name="connsiteX2" fmla="*/ 1030645 w 1036598"/>
                <a:gd name="connsiteY2" fmla="*/ 1161743 h 1181288"/>
                <a:gd name="connsiteX3" fmla="*/ 0 w 1036598"/>
                <a:gd name="connsiteY3" fmla="*/ 1181288 h 1181288"/>
                <a:gd name="connsiteX4" fmla="*/ 361421 w 1036598"/>
                <a:gd name="connsiteY4" fmla="*/ 1079266 h 1181288"/>
                <a:gd name="connsiteX5" fmla="*/ 609664 w 1036598"/>
                <a:gd name="connsiteY5" fmla="*/ 878299 h 1181288"/>
                <a:gd name="connsiteX6" fmla="*/ 735269 w 1036598"/>
                <a:gd name="connsiteY6" fmla="*/ 652211 h 1181288"/>
                <a:gd name="connsiteX7" fmla="*/ 1034767 w 1036598"/>
                <a:gd name="connsiteY7" fmla="*/ 0 h 1181288"/>
                <a:gd name="connsiteX0" fmla="*/ 1027492 w 1033455"/>
                <a:gd name="connsiteY0" fmla="*/ 0 h 1188145"/>
                <a:gd name="connsiteX1" fmla="*/ 1033247 w 1033455"/>
                <a:gd name="connsiteY1" fmla="*/ 830184 h 1188145"/>
                <a:gd name="connsiteX2" fmla="*/ 1030645 w 1033455"/>
                <a:gd name="connsiteY2" fmla="*/ 1168600 h 1188145"/>
                <a:gd name="connsiteX3" fmla="*/ 0 w 1033455"/>
                <a:gd name="connsiteY3" fmla="*/ 1188145 h 1188145"/>
                <a:gd name="connsiteX4" fmla="*/ 361421 w 1033455"/>
                <a:gd name="connsiteY4" fmla="*/ 1086123 h 1188145"/>
                <a:gd name="connsiteX5" fmla="*/ 609664 w 1033455"/>
                <a:gd name="connsiteY5" fmla="*/ 885156 h 1188145"/>
                <a:gd name="connsiteX6" fmla="*/ 735269 w 1033455"/>
                <a:gd name="connsiteY6" fmla="*/ 659068 h 1188145"/>
                <a:gd name="connsiteX7" fmla="*/ 1027492 w 1033455"/>
                <a:gd name="connsiteY7" fmla="*/ 0 h 118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3455" h="1188145">
                  <a:moveTo>
                    <a:pt x="1027492" y="0"/>
                  </a:moveTo>
                  <a:cubicBezTo>
                    <a:pt x="1032009" y="128937"/>
                    <a:pt x="1034136" y="791551"/>
                    <a:pt x="1033247" y="830184"/>
                  </a:cubicBezTo>
                  <a:cubicBezTo>
                    <a:pt x="1034538" y="958412"/>
                    <a:pt x="1029355" y="1051802"/>
                    <a:pt x="1030645" y="1168600"/>
                  </a:cubicBezTo>
                  <a:lnTo>
                    <a:pt x="0" y="1188145"/>
                  </a:lnTo>
                  <a:lnTo>
                    <a:pt x="361421" y="1086123"/>
                  </a:lnTo>
                  <a:lnTo>
                    <a:pt x="609664" y="885156"/>
                  </a:lnTo>
                  <a:lnTo>
                    <a:pt x="735269" y="659068"/>
                  </a:lnTo>
                  <a:lnTo>
                    <a:pt x="1027492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9ED712-E79D-3831-4B1B-95B5D201C682}"/>
                    </a:ext>
                  </a:extLst>
                </p:cNvPr>
                <p:cNvSpPr txBox="1"/>
                <p:nvPr/>
              </p:nvSpPr>
              <p:spPr>
                <a:xfrm>
                  <a:off x="4366420" y="6063890"/>
                  <a:ext cx="1993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9ED712-E79D-3831-4B1B-95B5D201C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6420" y="6063890"/>
                  <a:ext cx="19935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2424" t="-2174" r="-36364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B3598B0-0D1C-918A-B6A1-A9408A9D8561}"/>
              </a:ext>
            </a:extLst>
          </p:cNvPr>
          <p:cNvGrpSpPr/>
          <p:nvPr/>
        </p:nvGrpSpPr>
        <p:grpSpPr>
          <a:xfrm>
            <a:off x="4733332" y="6044085"/>
            <a:ext cx="648232" cy="356715"/>
            <a:chOff x="4733332" y="6044085"/>
            <a:chExt cx="648232" cy="356715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1FA3C09-42A0-9DA5-8EBA-E62A4F01A0C6}"/>
                </a:ext>
              </a:extLst>
            </p:cNvPr>
            <p:cNvSpPr/>
            <p:nvPr/>
          </p:nvSpPr>
          <p:spPr>
            <a:xfrm>
              <a:off x="4733332" y="6044085"/>
              <a:ext cx="648232" cy="345068"/>
            </a:xfrm>
            <a:custGeom>
              <a:avLst/>
              <a:gdLst>
                <a:gd name="connsiteX0" fmla="*/ 0 w 572756"/>
                <a:gd name="connsiteY0" fmla="*/ 0 h 336619"/>
                <a:gd name="connsiteX1" fmla="*/ 0 w 572756"/>
                <a:gd name="connsiteY1" fmla="*/ 331595 h 336619"/>
                <a:gd name="connsiteX2" fmla="*/ 572756 w 572756"/>
                <a:gd name="connsiteY2" fmla="*/ 336619 h 336619"/>
                <a:gd name="connsiteX3" fmla="*/ 346668 w 572756"/>
                <a:gd name="connsiteY3" fmla="*/ 276329 h 336619"/>
                <a:gd name="connsiteX4" fmla="*/ 145701 w 572756"/>
                <a:gd name="connsiteY4" fmla="*/ 150725 h 336619"/>
                <a:gd name="connsiteX5" fmla="*/ 0 w 572756"/>
                <a:gd name="connsiteY5" fmla="*/ 0 h 336619"/>
                <a:gd name="connsiteX0" fmla="*/ 0 w 648232"/>
                <a:gd name="connsiteY0" fmla="*/ 0 h 345068"/>
                <a:gd name="connsiteX1" fmla="*/ 0 w 648232"/>
                <a:gd name="connsiteY1" fmla="*/ 331595 h 345068"/>
                <a:gd name="connsiteX2" fmla="*/ 648232 w 648232"/>
                <a:gd name="connsiteY2" fmla="*/ 345068 h 345068"/>
                <a:gd name="connsiteX3" fmla="*/ 346668 w 648232"/>
                <a:gd name="connsiteY3" fmla="*/ 276329 h 345068"/>
                <a:gd name="connsiteX4" fmla="*/ 145701 w 648232"/>
                <a:gd name="connsiteY4" fmla="*/ 150725 h 345068"/>
                <a:gd name="connsiteX5" fmla="*/ 0 w 648232"/>
                <a:gd name="connsiteY5" fmla="*/ 0 h 34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8232" h="345068">
                  <a:moveTo>
                    <a:pt x="0" y="0"/>
                  </a:moveTo>
                  <a:lnTo>
                    <a:pt x="0" y="331595"/>
                  </a:lnTo>
                  <a:lnTo>
                    <a:pt x="648232" y="345068"/>
                  </a:lnTo>
                  <a:lnTo>
                    <a:pt x="346668" y="276329"/>
                  </a:lnTo>
                  <a:lnTo>
                    <a:pt x="145701" y="1507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1C3BC65-EAF1-9EFF-127A-7B88A7E11930}"/>
                    </a:ext>
                  </a:extLst>
                </p:cNvPr>
                <p:cNvSpPr txBox="1"/>
                <p:nvPr/>
              </p:nvSpPr>
              <p:spPr>
                <a:xfrm>
                  <a:off x="4735299" y="6123801"/>
                  <a:ext cx="1977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1C3BC65-EAF1-9EFF-127A-7B88A7E11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5299" y="6123801"/>
                  <a:ext cx="19774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8750" r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36B595-82CE-0B4A-23E2-6AF3D1DC0CB5}"/>
              </a:ext>
            </a:extLst>
          </p:cNvPr>
          <p:cNvCxnSpPr>
            <a:cxnSpLocks/>
            <a:stCxn id="32" idx="0"/>
          </p:cNvCxnSpPr>
          <p:nvPr/>
        </p:nvCxnSpPr>
        <p:spPr>
          <a:xfrm>
            <a:off x="4692934" y="5157256"/>
            <a:ext cx="20212" cy="12435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03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Confusion Matrix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3E7CB-EF8D-602B-E0D8-6DDE92AF6571}"/>
              </a:ext>
            </a:extLst>
          </p:cNvPr>
          <p:cNvSpPr txBox="1"/>
          <p:nvPr/>
        </p:nvSpPr>
        <p:spPr>
          <a:xfrm>
            <a:off x="972818" y="1828800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machine learning, what metrics shall be used to evaluate model performance?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D00A8E-96B8-8EC8-8920-55A15789C90C}"/>
              </a:ext>
            </a:extLst>
          </p:cNvPr>
          <p:cNvSpPr txBox="1"/>
          <p:nvPr/>
        </p:nvSpPr>
        <p:spPr>
          <a:xfrm>
            <a:off x="914400" y="2686963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Sensitivity (aka, recall, hit rate, or true positive rate)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40868-3CFD-5085-6F40-B0766C4EDB1C}"/>
              </a:ext>
            </a:extLst>
          </p:cNvPr>
          <p:cNvSpPr txBox="1"/>
          <p:nvPr/>
        </p:nvSpPr>
        <p:spPr>
          <a:xfrm>
            <a:off x="914400" y="370549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Specificity (aka, selectivity, or true negative rate)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5711A-283C-852B-C76A-2E631CBF2E01}"/>
              </a:ext>
            </a:extLst>
          </p:cNvPr>
          <p:cNvSpPr txBox="1"/>
          <p:nvPr/>
        </p:nvSpPr>
        <p:spPr>
          <a:xfrm>
            <a:off x="904058" y="471462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Precision (aka, positive predictive rate)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C5411B-1D8F-8AEA-6EB7-47EEC0A08A80}"/>
                  </a:ext>
                </a:extLst>
              </p:cNvPr>
              <p:cNvSpPr txBox="1"/>
              <p:nvPr/>
            </p:nvSpPr>
            <p:spPr>
              <a:xfrm>
                <a:off x="2819400" y="3056295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C5411B-1D8F-8AEA-6EB7-47EEC0A0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056295"/>
                <a:ext cx="317318" cy="523157"/>
              </a:xfrm>
              <a:prstGeom prst="rect">
                <a:avLst/>
              </a:prstGeom>
              <a:blipFill>
                <a:blip r:embed="rId3"/>
                <a:stretch>
                  <a:fillRect l="-1923" r="-17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E8F0ED-CC86-632D-C918-022E863DBDD6}"/>
                  </a:ext>
                </a:extLst>
              </p:cNvPr>
              <p:cNvSpPr txBox="1"/>
              <p:nvPr/>
            </p:nvSpPr>
            <p:spPr>
              <a:xfrm>
                <a:off x="2819400" y="4082086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E8F0ED-CC86-632D-C918-022E863DB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082086"/>
                <a:ext cx="317318" cy="523157"/>
              </a:xfrm>
              <a:prstGeom prst="rect">
                <a:avLst/>
              </a:prstGeom>
              <a:blipFill>
                <a:blip r:embed="rId4"/>
                <a:stretch>
                  <a:fillRect l="-1923" r="-17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DE3B82-625B-45C7-E676-8498D31FA885}"/>
                  </a:ext>
                </a:extLst>
              </p:cNvPr>
              <p:cNvSpPr txBox="1"/>
              <p:nvPr/>
            </p:nvSpPr>
            <p:spPr>
              <a:xfrm>
                <a:off x="2842260" y="5083960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DE3B82-625B-45C7-E676-8498D31FA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260" y="5083960"/>
                <a:ext cx="317318" cy="523157"/>
              </a:xfrm>
              <a:prstGeom prst="rect">
                <a:avLst/>
              </a:prstGeom>
              <a:blipFill>
                <a:blip r:embed="rId5"/>
                <a:stretch>
                  <a:fillRect r="-16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C456D4F-5F4A-0396-C325-DDC919488717}"/>
              </a:ext>
            </a:extLst>
          </p:cNvPr>
          <p:cNvSpPr txBox="1"/>
          <p:nvPr/>
        </p:nvSpPr>
        <p:spPr>
          <a:xfrm>
            <a:off x="904058" y="5723757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predictive value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1C337F-B6A1-BB7C-9E13-9D9502E9A23E}"/>
                  </a:ext>
                </a:extLst>
              </p:cNvPr>
              <p:cNvSpPr txBox="1"/>
              <p:nvPr/>
            </p:nvSpPr>
            <p:spPr>
              <a:xfrm>
                <a:off x="2819400" y="6117012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1C337F-B6A1-BB7C-9E13-9D9502E9A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6117012"/>
                <a:ext cx="317318" cy="523157"/>
              </a:xfrm>
              <a:prstGeom prst="rect">
                <a:avLst/>
              </a:prstGeom>
              <a:blipFill>
                <a:blip r:embed="rId6"/>
                <a:stretch>
                  <a:fillRect l="-1923" r="-18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083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Confusion Matrix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3E7CB-EF8D-602B-E0D8-6DDE92AF6571}"/>
              </a:ext>
            </a:extLst>
          </p:cNvPr>
          <p:cNvSpPr txBox="1"/>
          <p:nvPr/>
        </p:nvSpPr>
        <p:spPr>
          <a:xfrm>
            <a:off x="972818" y="1828800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machine learning, what metrics shall be used to evaluate model performance?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BE68-8412-30B0-C6DB-E024EE743CED}"/>
              </a:ext>
            </a:extLst>
          </p:cNvPr>
          <p:cNvSpPr txBox="1"/>
          <p:nvPr/>
        </p:nvSpPr>
        <p:spPr>
          <a:xfrm>
            <a:off x="972818" y="282634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Accuracy (aka, positive predictive rate)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BE6300-F3EB-2D74-2972-23EE2E7D6DDC}"/>
                  </a:ext>
                </a:extLst>
              </p:cNvPr>
              <p:cNvSpPr txBox="1"/>
              <p:nvPr/>
            </p:nvSpPr>
            <p:spPr>
              <a:xfrm>
                <a:off x="2895600" y="3400745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BE6300-F3EB-2D74-2972-23EE2E7D6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400745"/>
                <a:ext cx="317318" cy="523157"/>
              </a:xfrm>
              <a:prstGeom prst="rect">
                <a:avLst/>
              </a:prstGeom>
              <a:blipFill>
                <a:blip r:embed="rId3"/>
                <a:stretch>
                  <a:fillRect r="-5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AE297F-2D86-A370-16BD-C3D7B5BA4F88}"/>
                  </a:ext>
                </a:extLst>
              </p:cNvPr>
              <p:cNvSpPr txBox="1"/>
              <p:nvPr/>
            </p:nvSpPr>
            <p:spPr>
              <a:xfrm>
                <a:off x="3205298" y="5017010"/>
                <a:ext cx="317318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AE297F-2D86-A370-16BD-C3D7B5BA4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298" y="5017010"/>
                <a:ext cx="317318" cy="523157"/>
              </a:xfrm>
              <a:prstGeom prst="rect">
                <a:avLst/>
              </a:prstGeom>
              <a:blipFill>
                <a:blip r:embed="rId4"/>
                <a:stretch>
                  <a:fillRect l="-1923" r="-390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C9782A2-64EE-55D3-79BB-C0836F859965}"/>
              </a:ext>
            </a:extLst>
          </p:cNvPr>
          <p:cNvSpPr txBox="1"/>
          <p:nvPr/>
        </p:nvSpPr>
        <p:spPr>
          <a:xfrm>
            <a:off x="1066800" y="431926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F1 score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B04A4-45E5-4D9B-FFE2-A6755BE4B53F}"/>
              </a:ext>
            </a:extLst>
          </p:cNvPr>
          <p:cNvSpPr txBox="1"/>
          <p:nvPr/>
        </p:nvSpPr>
        <p:spPr>
          <a:xfrm>
            <a:off x="5345427" y="5091643"/>
            <a:ext cx="3599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(i.e., a combination of precision and sensitivity)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5C3622-595D-02A3-B9BD-7477115E3F93}"/>
              </a:ext>
            </a:extLst>
          </p:cNvPr>
          <p:cNvSpPr txBox="1"/>
          <p:nvPr/>
        </p:nvSpPr>
        <p:spPr>
          <a:xfrm>
            <a:off x="5337807" y="3400682"/>
            <a:ext cx="3599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(i.e., a combination of sensitivity and specificity)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369276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6565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5" dirty="0">
                <a:solidFill>
                  <a:srgbClr val="3369E8"/>
                </a:solidFill>
              </a:rPr>
              <a:t>Confusion Matrix</a:t>
            </a:r>
            <a:endParaRPr spc="15" dirty="0">
              <a:solidFill>
                <a:srgbClr val="3369E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3E7CB-EF8D-602B-E0D8-6DDE92AF6571}"/>
              </a:ext>
            </a:extLst>
          </p:cNvPr>
          <p:cNvSpPr txBox="1"/>
          <p:nvPr/>
        </p:nvSpPr>
        <p:spPr>
          <a:xfrm>
            <a:off x="972818" y="1828800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machine learning, what metrics shall be used to evaluate model performance?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BE68-8412-30B0-C6DB-E024EE743CED}"/>
              </a:ext>
            </a:extLst>
          </p:cNvPr>
          <p:cNvSpPr txBox="1"/>
          <p:nvPr/>
        </p:nvSpPr>
        <p:spPr>
          <a:xfrm>
            <a:off x="1066800" y="253498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answer depends on your goal…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782A2-64EE-55D3-79BB-C0836F859965}"/>
              </a:ext>
            </a:extLst>
          </p:cNvPr>
          <p:cNvSpPr txBox="1"/>
          <p:nvPr/>
        </p:nvSpPr>
        <p:spPr>
          <a:xfrm>
            <a:off x="1066800" y="3962400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I predict all observations as normal, what is the accuracy?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9E067-F9DF-D972-655F-0972549BC79F}"/>
              </a:ext>
            </a:extLst>
          </p:cNvPr>
          <p:cNvSpPr txBox="1"/>
          <p:nvPr/>
        </p:nvSpPr>
        <p:spPr>
          <a:xfrm>
            <a:off x="1066800" y="3030577"/>
            <a:ext cx="708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predict possible default account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training data, 98.2% normal account, 1.8% default account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69CB1-0CEF-A710-D007-92AC05A86CF6}"/>
              </a:ext>
            </a:extLst>
          </p:cNvPr>
          <p:cNvSpPr txBox="1"/>
          <p:nvPr/>
        </p:nvSpPr>
        <p:spPr>
          <a:xfrm>
            <a:off x="3657600" y="4432558"/>
            <a:ext cx="458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98.2%... a pretty good yet useless result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E6AC3-5DDB-5EC7-56FB-D86A96F90C90}"/>
              </a:ext>
            </a:extLst>
          </p:cNvPr>
          <p:cNvSpPr txBox="1"/>
          <p:nvPr/>
        </p:nvSpPr>
        <p:spPr>
          <a:xfrm>
            <a:off x="1066800" y="4994176"/>
            <a:ext cx="655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looking for maximum accuracy, F1 score is a better metrics in this case, as F1 score emphasize more on false negative and false positive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9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11696</TotalTime>
  <Words>7430</Words>
  <Application>Microsoft Macintosh PowerPoint</Application>
  <PresentationFormat>On-screen Show (4:3)</PresentationFormat>
  <Paragraphs>2218</Paragraphs>
  <Slides>117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30" baseType="lpstr">
      <vt:lpstr>Arial</vt:lpstr>
      <vt:lpstr>Bradley Hand</vt:lpstr>
      <vt:lpstr>Calibri</vt:lpstr>
      <vt:lpstr>Cambria Math</vt:lpstr>
      <vt:lpstr>Courier New</vt:lpstr>
      <vt:lpstr>Lato</vt:lpstr>
      <vt:lpstr>Lucida Handwriting</vt:lpstr>
      <vt:lpstr>Modern No. 20</vt:lpstr>
      <vt:lpstr>Source Sans Pro</vt:lpstr>
      <vt:lpstr>Times New Roman</vt:lpstr>
      <vt:lpstr>Verdana</vt:lpstr>
      <vt:lpstr>Wingdings</vt:lpstr>
      <vt:lpstr>Office Theme</vt:lpstr>
      <vt:lpstr>Computational Economics</vt:lpstr>
      <vt:lpstr>Outline</vt:lpstr>
      <vt:lpstr>Scope</vt:lpstr>
      <vt:lpstr>Different Types of Machine Learning Algorithms</vt:lpstr>
      <vt:lpstr>The Language of Econometrics and Machine Learning</vt:lpstr>
      <vt:lpstr>The Language of Machine Learning and Econometrics</vt:lpstr>
      <vt:lpstr>The Major Differences</vt:lpstr>
      <vt:lpstr>PowerPoint Presentation</vt:lpstr>
      <vt:lpstr>To explain or to predict</vt:lpstr>
      <vt:lpstr>To explain or to predict</vt:lpstr>
      <vt:lpstr>To explain or to predict</vt:lpstr>
      <vt:lpstr>To explain or to predict</vt:lpstr>
      <vt:lpstr>To explain or to predict</vt:lpstr>
      <vt:lpstr>To explain or to predict</vt:lpstr>
      <vt:lpstr>To explain or to predict</vt:lpstr>
      <vt:lpstr>To explain or to predict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Hands-on learning</vt:lpstr>
      <vt:lpstr>PowerPoint Presentation</vt:lpstr>
      <vt:lpstr>Split the Dataset (train)</vt:lpstr>
      <vt:lpstr>Split the Dataset (train)</vt:lpstr>
      <vt:lpstr>Split the Dataset (train)</vt:lpstr>
      <vt:lpstr>PowerPoint Presentation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Imputation</vt:lpstr>
      <vt:lpstr>PowerPoint Presentation</vt:lpstr>
      <vt:lpstr>Outline</vt:lpstr>
      <vt:lpstr>The role of domain knowledge</vt:lpstr>
      <vt:lpstr>Skewed data</vt:lpstr>
      <vt:lpstr>Skewed data</vt:lpstr>
      <vt:lpstr>Skewed data</vt:lpstr>
      <vt:lpstr>Convert categorical variable to numerical variables</vt:lpstr>
      <vt:lpstr>PowerPoint Presentation</vt:lpstr>
      <vt:lpstr>Linear Regression (LS)</vt:lpstr>
      <vt:lpstr>Linear Regression with Regularization</vt:lpstr>
      <vt:lpstr>LASSO</vt:lpstr>
      <vt:lpstr>LASSO</vt:lpstr>
      <vt:lpstr>LASSO and Explanatory Model</vt:lpstr>
      <vt:lpstr>Other linear model with regularization</vt:lpstr>
      <vt:lpstr>PowerPoint Presentation</vt:lpstr>
      <vt:lpstr>Tree-based models</vt:lpstr>
      <vt:lpstr>Decision Tree</vt:lpstr>
      <vt:lpstr>Decision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</vt:lpstr>
      <vt:lpstr>Overfitting</vt:lpstr>
      <vt:lpstr>Random Forest</vt:lpstr>
      <vt:lpstr>PowerPoint Presentation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PowerPoint Presentation</vt:lpstr>
      <vt:lpstr>Random Forest</vt:lpstr>
      <vt:lpstr>Random Forest</vt:lpstr>
      <vt:lpstr>Random Forest</vt:lpstr>
      <vt:lpstr>Random Forest</vt:lpstr>
      <vt:lpstr>Random Forest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Gradient Boost</vt:lpstr>
      <vt:lpstr>PowerPoint Presentation</vt:lpstr>
      <vt:lpstr>PowerPoint Presentation</vt:lpstr>
      <vt:lpstr>PowerPoint Presentation</vt:lpstr>
      <vt:lpstr>PowerPoint Presentation</vt:lpstr>
      <vt:lpstr>Split the Dataset</vt:lpstr>
      <vt:lpstr>Cross Validation</vt:lpstr>
      <vt:lpstr>K-fold Cross Validation</vt:lpstr>
      <vt:lpstr>Cross Validation + Grid Search</vt:lpstr>
      <vt:lpstr>Hyperparameter tuning techniques</vt:lpstr>
      <vt:lpstr>PowerPoint Presentation</vt:lpstr>
      <vt:lpstr>Classification</vt:lpstr>
      <vt:lpstr>Classification</vt:lpstr>
      <vt:lpstr>Classification algorithm</vt:lpstr>
      <vt:lpstr>Model evaluation</vt:lpstr>
      <vt:lpstr>Classification algorithm</vt:lpstr>
      <vt:lpstr>Confusion Matrix</vt:lpstr>
      <vt:lpstr>Confusion Matrix</vt:lpstr>
      <vt:lpstr>Confusion Matrix</vt:lpstr>
      <vt:lpstr>Confusion Matrix</vt:lpstr>
      <vt:lpstr>Confusion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Economics</dc:title>
  <cp:lastModifiedBy>Sining Wang</cp:lastModifiedBy>
  <cp:revision>53</cp:revision>
  <cp:lastPrinted>2022-11-10T03:32:20Z</cp:lastPrinted>
  <dcterms:created xsi:type="dcterms:W3CDTF">2021-11-18T16:37:29Z</dcterms:created>
  <dcterms:modified xsi:type="dcterms:W3CDTF">2026-07-04T02:59:18Z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2020-11-19T00:00:00Z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2021-11-18T00:00:00Z</vt:filetime>
  </property>
</Properties>
</file>